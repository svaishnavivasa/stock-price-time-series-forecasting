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3"/>
  </p:notesMasterIdLst>
  <p:sldIdLst>
    <p:sldId id="326" r:id="rId2"/>
    <p:sldId id="257" r:id="rId3"/>
    <p:sldId id="342" r:id="rId4"/>
    <p:sldId id="346" r:id="rId5"/>
    <p:sldId id="329" r:id="rId6"/>
    <p:sldId id="321" r:id="rId7"/>
    <p:sldId id="347" r:id="rId8"/>
    <p:sldId id="348" r:id="rId9"/>
    <p:sldId id="349" r:id="rId10"/>
    <p:sldId id="350" r:id="rId11"/>
    <p:sldId id="297" r:id="rId12"/>
    <p:sldId id="296" r:id="rId13"/>
    <p:sldId id="328" r:id="rId14"/>
    <p:sldId id="351" r:id="rId15"/>
    <p:sldId id="343" r:id="rId16"/>
    <p:sldId id="352" r:id="rId17"/>
    <p:sldId id="353" r:id="rId18"/>
    <p:sldId id="344" r:id="rId19"/>
    <p:sldId id="345" r:id="rId20"/>
    <p:sldId id="303" r:id="rId21"/>
    <p:sldId id="278" r:id="rId22"/>
  </p:sldIdLst>
  <p:sldSz cx="12192000" cy="68580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jW56pUet9wN3bWSu1GNCKmR8Df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7A94E2-A595-4EB2-A351-53F5864805CA}">
  <a:tblStyle styleId="{DF7A94E2-A595-4EB2-A351-53F5864805C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AECE6"/>
          </a:solidFill>
        </a:fill>
      </a:tcStyle>
    </a:wholeTbl>
    <a:band1H>
      <a:tcTxStyle b="off" i="off"/>
      <a:tcStyle>
        <a:tcBdr/>
        <a:fill>
          <a:solidFill>
            <a:srgbClr val="F5D8CA"/>
          </a:solidFill>
        </a:fill>
      </a:tcStyle>
    </a:band1H>
    <a:band2H>
      <a:tcTxStyle b="off" i="off"/>
      <a:tcStyle>
        <a:tcBdr/>
      </a:tcStyle>
    </a:band2H>
    <a:band1V>
      <a:tcTxStyle b="off" i="off"/>
      <a:tcStyle>
        <a:tcBdr/>
        <a:fill>
          <a:solidFill>
            <a:srgbClr val="F5D8C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866FE90F-C2F0-45A9-9EBF-AE909B26F951}"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autoAdjust="0"/>
    <p:restoredTop sz="94660"/>
  </p:normalViewPr>
  <p:slideViewPr>
    <p:cSldViewPr snapToGrid="0">
      <p:cViewPr varScale="1">
        <p:scale>
          <a:sx n="62" d="100"/>
          <a:sy n="62" d="100"/>
        </p:scale>
        <p:origin x="944"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1025" y="4415775"/>
            <a:ext cx="5608300" cy="41833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296963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2:notes"/>
          <p:cNvSpPr txBox="1">
            <a:spLocks noGrp="1"/>
          </p:cNvSpPr>
          <p:nvPr>
            <p:ph type="body" idx="1"/>
          </p:nvPr>
        </p:nvSpPr>
        <p:spPr>
          <a:xfrm>
            <a:off x="701025" y="4415775"/>
            <a:ext cx="5608300" cy="41833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1" name="Google Shape;111;p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701025" y="4415775"/>
            <a:ext cx="5608300" cy="41833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1" name="Google Shape;161;p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E45C4D25-6CD4-E93B-D404-5AFAD9DB667A}"/>
            </a:ext>
          </a:extLst>
        </p:cNvPr>
        <p:cNvGrpSpPr/>
        <p:nvPr/>
      </p:nvGrpSpPr>
      <p:grpSpPr>
        <a:xfrm>
          <a:off x="0" y="0"/>
          <a:ext cx="0" cy="0"/>
          <a:chOff x="0" y="0"/>
          <a:chExt cx="0" cy="0"/>
        </a:xfrm>
      </p:grpSpPr>
      <p:sp>
        <p:nvSpPr>
          <p:cNvPr id="160" name="Google Shape;160;p9:notes">
            <a:extLst>
              <a:ext uri="{FF2B5EF4-FFF2-40B4-BE49-F238E27FC236}">
                <a16:creationId xmlns:a16="http://schemas.microsoft.com/office/drawing/2014/main" id="{A28E52E6-83AF-9D63-B5CE-A1FB5C4CA94A}"/>
              </a:ext>
            </a:extLst>
          </p:cNvPr>
          <p:cNvSpPr txBox="1">
            <a:spLocks noGrp="1"/>
          </p:cNvSpPr>
          <p:nvPr>
            <p:ph type="body" idx="1"/>
          </p:nvPr>
        </p:nvSpPr>
        <p:spPr>
          <a:xfrm>
            <a:off x="701025" y="4415775"/>
            <a:ext cx="5608300" cy="41833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1" name="Google Shape;161;p9:notes">
            <a:extLst>
              <a:ext uri="{FF2B5EF4-FFF2-40B4-BE49-F238E27FC236}">
                <a16:creationId xmlns:a16="http://schemas.microsoft.com/office/drawing/2014/main" id="{C0A60DDF-0C3F-2E62-B4EF-31A9462EFA1B}"/>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0774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0BA59E24-FD9E-E70D-6634-974605A75BE2}"/>
            </a:ext>
          </a:extLst>
        </p:cNvPr>
        <p:cNvGrpSpPr/>
        <p:nvPr/>
      </p:nvGrpSpPr>
      <p:grpSpPr>
        <a:xfrm>
          <a:off x="0" y="0"/>
          <a:ext cx="0" cy="0"/>
          <a:chOff x="0" y="0"/>
          <a:chExt cx="0" cy="0"/>
        </a:xfrm>
      </p:grpSpPr>
      <p:sp>
        <p:nvSpPr>
          <p:cNvPr id="160" name="Google Shape;160;p9:notes">
            <a:extLst>
              <a:ext uri="{FF2B5EF4-FFF2-40B4-BE49-F238E27FC236}">
                <a16:creationId xmlns:a16="http://schemas.microsoft.com/office/drawing/2014/main" id="{1A58793B-0706-DC5A-EFE2-844FD1342883}"/>
              </a:ext>
            </a:extLst>
          </p:cNvPr>
          <p:cNvSpPr txBox="1">
            <a:spLocks noGrp="1"/>
          </p:cNvSpPr>
          <p:nvPr>
            <p:ph type="body" idx="1"/>
          </p:nvPr>
        </p:nvSpPr>
        <p:spPr>
          <a:xfrm>
            <a:off x="701025" y="4415775"/>
            <a:ext cx="5608300" cy="41833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1" name="Google Shape;161;p9:notes">
            <a:extLst>
              <a:ext uri="{FF2B5EF4-FFF2-40B4-BE49-F238E27FC236}">
                <a16:creationId xmlns:a16="http://schemas.microsoft.com/office/drawing/2014/main" id="{61C1C8C3-278B-F4A2-1E94-8A61E615EAF9}"/>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9738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EA7EC17A-E890-2C75-8C07-929C534CEB26}"/>
            </a:ext>
          </a:extLst>
        </p:cNvPr>
        <p:cNvGrpSpPr/>
        <p:nvPr/>
      </p:nvGrpSpPr>
      <p:grpSpPr>
        <a:xfrm>
          <a:off x="0" y="0"/>
          <a:ext cx="0" cy="0"/>
          <a:chOff x="0" y="0"/>
          <a:chExt cx="0" cy="0"/>
        </a:xfrm>
      </p:grpSpPr>
      <p:sp>
        <p:nvSpPr>
          <p:cNvPr id="160" name="Google Shape;160;p9:notes">
            <a:extLst>
              <a:ext uri="{FF2B5EF4-FFF2-40B4-BE49-F238E27FC236}">
                <a16:creationId xmlns:a16="http://schemas.microsoft.com/office/drawing/2014/main" id="{DAA2F58D-4CA8-9B25-F35C-A859467FAC19}"/>
              </a:ext>
            </a:extLst>
          </p:cNvPr>
          <p:cNvSpPr txBox="1">
            <a:spLocks noGrp="1"/>
          </p:cNvSpPr>
          <p:nvPr>
            <p:ph type="body" idx="1"/>
          </p:nvPr>
        </p:nvSpPr>
        <p:spPr>
          <a:xfrm>
            <a:off x="701025" y="4415775"/>
            <a:ext cx="5608300" cy="41833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61" name="Google Shape;161;p9:notes">
            <a:extLst>
              <a:ext uri="{FF2B5EF4-FFF2-40B4-BE49-F238E27FC236}">
                <a16:creationId xmlns:a16="http://schemas.microsoft.com/office/drawing/2014/main" id="{EB0485AD-7066-BCFC-780A-272BC9839D65}"/>
              </a:ext>
            </a:extLst>
          </p:cNvPr>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1717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0:notes"/>
          <p:cNvSpPr txBox="1">
            <a:spLocks noGrp="1"/>
          </p:cNvSpPr>
          <p:nvPr>
            <p:ph type="body" idx="1"/>
          </p:nvPr>
        </p:nvSpPr>
        <p:spPr>
          <a:xfrm>
            <a:off x="701025" y="4415775"/>
            <a:ext cx="5608300" cy="41833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59" name="Google Shape;259;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23"/>
        <p:cNvGrpSpPr/>
        <p:nvPr/>
      </p:nvGrpSpPr>
      <p:grpSpPr>
        <a:xfrm>
          <a:off x="0" y="0"/>
          <a:ext cx="0" cy="0"/>
          <a:chOff x="0" y="0"/>
          <a:chExt cx="0" cy="0"/>
        </a:xfrm>
      </p:grpSpPr>
      <p:sp>
        <p:nvSpPr>
          <p:cNvPr id="24" name="Google Shape;24;p23"/>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5" name="Google Shape;25;p23"/>
          <p:cNvSpPr/>
          <p:nvPr/>
        </p:nvSpPr>
        <p:spPr>
          <a:xfrm>
            <a:off x="16"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 name="Google Shape;26;p23"/>
          <p:cNvSpPr txBox="1">
            <a:spLocks noGrp="1"/>
          </p:cNvSpPr>
          <p:nvPr>
            <p:ph type="dt" idx="10"/>
          </p:nvPr>
        </p:nvSpPr>
        <p:spPr>
          <a:xfrm>
            <a:off x="1097282" y="6459786"/>
            <a:ext cx="247227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7" name="Google Shape;27;p23"/>
          <p:cNvSpPr txBox="1">
            <a:spLocks noGrp="1"/>
          </p:cNvSpPr>
          <p:nvPr>
            <p:ph type="ftr" idx="11"/>
          </p:nvPr>
        </p:nvSpPr>
        <p:spPr>
          <a:xfrm>
            <a:off x="3686186" y="6459786"/>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8" name="Google Shape;28;p23"/>
          <p:cNvSpPr txBox="1">
            <a:spLocks noGrp="1"/>
          </p:cNvSpPr>
          <p:nvPr>
            <p:ph type="sldNum" idx="12"/>
          </p:nvPr>
        </p:nvSpPr>
        <p:spPr>
          <a:xfrm>
            <a:off x="9900459" y="6459786"/>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2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1" name="Google Shape;31;p2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2" name="Google Shape;32;p24"/>
          <p:cNvSpPr txBox="1">
            <a:spLocks noGrp="1"/>
          </p:cNvSpPr>
          <p:nvPr>
            <p:ph type="dt" idx="10"/>
          </p:nvPr>
        </p:nvSpPr>
        <p:spPr>
          <a:xfrm>
            <a:off x="1097282" y="6459786"/>
            <a:ext cx="247227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3" name="Google Shape;33;p24"/>
          <p:cNvSpPr txBox="1">
            <a:spLocks noGrp="1"/>
          </p:cNvSpPr>
          <p:nvPr>
            <p:ph type="ftr" idx="11"/>
          </p:nvPr>
        </p:nvSpPr>
        <p:spPr>
          <a:xfrm>
            <a:off x="3686186" y="6459786"/>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4" name="Google Shape;34;p24"/>
          <p:cNvSpPr txBox="1">
            <a:spLocks noGrp="1"/>
          </p:cNvSpPr>
          <p:nvPr>
            <p:ph type="sldNum" idx="12"/>
          </p:nvPr>
        </p:nvSpPr>
        <p:spPr>
          <a:xfrm>
            <a:off x="9900459" y="6459786"/>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35"/>
        <p:cNvGrpSpPr/>
        <p:nvPr/>
      </p:nvGrpSpPr>
      <p:grpSpPr>
        <a:xfrm>
          <a:off x="0" y="0"/>
          <a:ext cx="0" cy="0"/>
          <a:chOff x="0" y="0"/>
          <a:chExt cx="0" cy="0"/>
        </a:xfrm>
      </p:grpSpPr>
      <p:sp>
        <p:nvSpPr>
          <p:cNvPr id="36" name="Google Shape;36;p2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7" name="Google Shape;37;p25"/>
          <p:cNvSpPr/>
          <p:nvPr/>
        </p:nvSpPr>
        <p:spPr>
          <a:xfrm>
            <a:off x="16"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8" name="Google Shape;38;p25"/>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5"/>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0" name="Google Shape;40;p25"/>
          <p:cNvSpPr txBox="1">
            <a:spLocks noGrp="1"/>
          </p:cNvSpPr>
          <p:nvPr>
            <p:ph type="dt" idx="10"/>
          </p:nvPr>
        </p:nvSpPr>
        <p:spPr>
          <a:xfrm>
            <a:off x="1097282" y="6459786"/>
            <a:ext cx="247227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1" name="Google Shape;41;p25"/>
          <p:cNvSpPr txBox="1">
            <a:spLocks noGrp="1"/>
          </p:cNvSpPr>
          <p:nvPr>
            <p:ph type="ftr" idx="11"/>
          </p:nvPr>
        </p:nvSpPr>
        <p:spPr>
          <a:xfrm>
            <a:off x="3686186" y="6459786"/>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2" name="Google Shape;42;p25"/>
          <p:cNvSpPr txBox="1">
            <a:spLocks noGrp="1"/>
          </p:cNvSpPr>
          <p:nvPr>
            <p:ph type="sldNum" idx="12"/>
          </p:nvPr>
        </p:nvSpPr>
        <p:spPr>
          <a:xfrm>
            <a:off x="9900459" y="6459786"/>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dirty="0"/>
          </a:p>
        </p:txBody>
      </p:sp>
      <p:cxnSp>
        <p:nvCxnSpPr>
          <p:cNvPr id="43" name="Google Shape;43;p25"/>
          <p:cNvCxnSpPr/>
          <p:nvPr/>
        </p:nvCxnSpPr>
        <p:spPr>
          <a:xfrm>
            <a:off x="1207659"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2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7"/>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4" name="Google Shape;54;p27"/>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5" name="Google Shape;55;p27"/>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6" name="Google Shape;56;p27"/>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7" name="Google Shape;57;p27"/>
          <p:cNvSpPr txBox="1">
            <a:spLocks noGrp="1"/>
          </p:cNvSpPr>
          <p:nvPr>
            <p:ph type="dt" idx="10"/>
          </p:nvPr>
        </p:nvSpPr>
        <p:spPr>
          <a:xfrm>
            <a:off x="1097282" y="6459786"/>
            <a:ext cx="247227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8" name="Google Shape;58;p27"/>
          <p:cNvSpPr txBox="1">
            <a:spLocks noGrp="1"/>
          </p:cNvSpPr>
          <p:nvPr>
            <p:ph type="ftr" idx="11"/>
          </p:nvPr>
        </p:nvSpPr>
        <p:spPr>
          <a:xfrm>
            <a:off x="3686186" y="6459786"/>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9" name="Google Shape;59;p27"/>
          <p:cNvSpPr txBox="1">
            <a:spLocks noGrp="1"/>
          </p:cNvSpPr>
          <p:nvPr>
            <p:ph type="sldNum" idx="12"/>
          </p:nvPr>
        </p:nvSpPr>
        <p:spPr>
          <a:xfrm>
            <a:off x="9900459" y="6459786"/>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2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8"/>
          <p:cNvSpPr txBox="1">
            <a:spLocks noGrp="1"/>
          </p:cNvSpPr>
          <p:nvPr>
            <p:ph type="dt" idx="10"/>
          </p:nvPr>
        </p:nvSpPr>
        <p:spPr>
          <a:xfrm>
            <a:off x="1097282" y="6459786"/>
            <a:ext cx="247227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3" name="Google Shape;63;p28"/>
          <p:cNvSpPr txBox="1">
            <a:spLocks noGrp="1"/>
          </p:cNvSpPr>
          <p:nvPr>
            <p:ph type="ftr" idx="11"/>
          </p:nvPr>
        </p:nvSpPr>
        <p:spPr>
          <a:xfrm>
            <a:off x="3686186" y="6459786"/>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4" name="Google Shape;64;p28"/>
          <p:cNvSpPr txBox="1">
            <a:spLocks noGrp="1"/>
          </p:cNvSpPr>
          <p:nvPr>
            <p:ph type="sldNum" idx="12"/>
          </p:nvPr>
        </p:nvSpPr>
        <p:spPr>
          <a:xfrm>
            <a:off x="9900459" y="6459786"/>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5"/>
        <p:cNvGrpSpPr/>
        <p:nvPr/>
      </p:nvGrpSpPr>
      <p:grpSpPr>
        <a:xfrm>
          <a:off x="0" y="0"/>
          <a:ext cx="0" cy="0"/>
          <a:chOff x="0" y="0"/>
          <a:chExt cx="0" cy="0"/>
        </a:xfrm>
      </p:grpSpPr>
      <p:sp>
        <p:nvSpPr>
          <p:cNvPr id="66" name="Google Shape;66;p29"/>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67" name="Google Shape;67;p29"/>
          <p:cNvSpPr/>
          <p:nvPr/>
        </p:nvSpPr>
        <p:spPr>
          <a:xfrm>
            <a:off x="4040072" y="0"/>
            <a:ext cx="64009" cy="6858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68" name="Google Shape;68;p29"/>
          <p:cNvSpPr txBox="1">
            <a:spLocks noGrp="1"/>
          </p:cNvSpPr>
          <p:nvPr>
            <p:ph type="title"/>
          </p:nvPr>
        </p:nvSpPr>
        <p:spPr>
          <a:xfrm>
            <a:off x="457201"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9"/>
          <p:cNvSpPr txBox="1">
            <a:spLocks noGrp="1"/>
          </p:cNvSpPr>
          <p:nvPr>
            <p:ph type="body" idx="1"/>
          </p:nvPr>
        </p:nvSpPr>
        <p:spPr>
          <a:xfrm>
            <a:off x="4800602"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0" name="Google Shape;70;p29"/>
          <p:cNvSpPr txBox="1">
            <a:spLocks noGrp="1"/>
          </p:cNvSpPr>
          <p:nvPr>
            <p:ph type="body" idx="2"/>
          </p:nvPr>
        </p:nvSpPr>
        <p:spPr>
          <a:xfrm>
            <a:off x="457201"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1" name="Google Shape;71;p29"/>
          <p:cNvSpPr txBox="1">
            <a:spLocks noGrp="1"/>
          </p:cNvSpPr>
          <p:nvPr>
            <p:ph type="dt" idx="10"/>
          </p:nvPr>
        </p:nvSpPr>
        <p:spPr>
          <a:xfrm>
            <a:off x="465511" y="6459786"/>
            <a:ext cx="26185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2" name="Google Shape;72;p29"/>
          <p:cNvSpPr txBox="1">
            <a:spLocks noGrp="1"/>
          </p:cNvSpPr>
          <p:nvPr>
            <p:ph type="ftr" idx="11"/>
          </p:nvPr>
        </p:nvSpPr>
        <p:spPr>
          <a:xfrm>
            <a:off x="4800600" y="6459786"/>
            <a:ext cx="464820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3" name="Google Shape;73;p29"/>
          <p:cNvSpPr txBox="1">
            <a:spLocks noGrp="1"/>
          </p:cNvSpPr>
          <p:nvPr>
            <p:ph type="sldNum" idx="12"/>
          </p:nvPr>
        </p:nvSpPr>
        <p:spPr>
          <a:xfrm>
            <a:off x="9900459" y="6459786"/>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30"/>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76" name="Google Shape;76;p30"/>
          <p:cNvSpPr/>
          <p:nvPr/>
        </p:nvSpPr>
        <p:spPr>
          <a:xfrm>
            <a:off x="16"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77" name="Google Shape;77;p30"/>
          <p:cNvSpPr txBox="1">
            <a:spLocks noGrp="1"/>
          </p:cNvSpPr>
          <p:nvPr>
            <p:ph type="title"/>
          </p:nvPr>
        </p:nvSpPr>
        <p:spPr>
          <a:xfrm>
            <a:off x="1097281"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0"/>
          <p:cNvSpPr>
            <a:spLocks noGrp="1"/>
          </p:cNvSpPr>
          <p:nvPr>
            <p:ph type="pic" idx="2"/>
          </p:nvPr>
        </p:nvSpPr>
        <p:spPr>
          <a:xfrm>
            <a:off x="14" y="0"/>
            <a:ext cx="12191986" cy="4915076"/>
          </a:xfrm>
          <a:prstGeom prst="rect">
            <a:avLst/>
          </a:prstGeom>
          <a:noFill/>
          <a:ln>
            <a:noFill/>
          </a:ln>
        </p:spPr>
      </p:sp>
      <p:sp>
        <p:nvSpPr>
          <p:cNvPr id="79" name="Google Shape;79;p30"/>
          <p:cNvSpPr txBox="1">
            <a:spLocks noGrp="1"/>
          </p:cNvSpPr>
          <p:nvPr>
            <p:ph type="body" idx="1"/>
          </p:nvPr>
        </p:nvSpPr>
        <p:spPr>
          <a:xfrm>
            <a:off x="1097281"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0" name="Google Shape;80;p30"/>
          <p:cNvSpPr txBox="1">
            <a:spLocks noGrp="1"/>
          </p:cNvSpPr>
          <p:nvPr>
            <p:ph type="dt" idx="10"/>
          </p:nvPr>
        </p:nvSpPr>
        <p:spPr>
          <a:xfrm>
            <a:off x="1097282" y="6459786"/>
            <a:ext cx="247227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1" name="Google Shape;81;p30"/>
          <p:cNvSpPr txBox="1">
            <a:spLocks noGrp="1"/>
          </p:cNvSpPr>
          <p:nvPr>
            <p:ph type="ftr" idx="11"/>
          </p:nvPr>
        </p:nvSpPr>
        <p:spPr>
          <a:xfrm>
            <a:off x="3686186" y="6459786"/>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2" name="Google Shape;82;p30"/>
          <p:cNvSpPr txBox="1">
            <a:spLocks noGrp="1"/>
          </p:cNvSpPr>
          <p:nvPr>
            <p:ph type="sldNum" idx="12"/>
          </p:nvPr>
        </p:nvSpPr>
        <p:spPr>
          <a:xfrm>
            <a:off x="9900459" y="6459786"/>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3"/>
        <p:cNvGrpSpPr/>
        <p:nvPr/>
      </p:nvGrpSpPr>
      <p:grpSpPr>
        <a:xfrm>
          <a:off x="0" y="0"/>
          <a:ext cx="0" cy="0"/>
          <a:chOff x="0" y="0"/>
          <a:chExt cx="0" cy="0"/>
        </a:xfrm>
      </p:grpSpPr>
      <p:sp>
        <p:nvSpPr>
          <p:cNvPr id="84" name="Google Shape;84;p3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1"/>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6" name="Google Shape;86;p31"/>
          <p:cNvSpPr txBox="1">
            <a:spLocks noGrp="1"/>
          </p:cNvSpPr>
          <p:nvPr>
            <p:ph type="dt" idx="10"/>
          </p:nvPr>
        </p:nvSpPr>
        <p:spPr>
          <a:xfrm>
            <a:off x="1097282" y="6459786"/>
            <a:ext cx="247227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7" name="Google Shape;87;p31"/>
          <p:cNvSpPr txBox="1">
            <a:spLocks noGrp="1"/>
          </p:cNvSpPr>
          <p:nvPr>
            <p:ph type="ftr" idx="11"/>
          </p:nvPr>
        </p:nvSpPr>
        <p:spPr>
          <a:xfrm>
            <a:off x="3686186" y="6459786"/>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8" name="Google Shape;88;p31"/>
          <p:cNvSpPr txBox="1">
            <a:spLocks noGrp="1"/>
          </p:cNvSpPr>
          <p:nvPr>
            <p:ph type="sldNum" idx="12"/>
          </p:nvPr>
        </p:nvSpPr>
        <p:spPr>
          <a:xfrm>
            <a:off x="9900459" y="6459786"/>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3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91" name="Google Shape;91;p32"/>
          <p:cNvSpPr/>
          <p:nvPr/>
        </p:nvSpPr>
        <p:spPr>
          <a:xfrm>
            <a:off x="16"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92" name="Google Shape;92;p32"/>
          <p:cNvSpPr txBox="1">
            <a:spLocks noGrp="1"/>
          </p:cNvSpPr>
          <p:nvPr>
            <p:ph type="title"/>
          </p:nvPr>
        </p:nvSpPr>
        <p:spPr>
          <a:xfrm rot="5400000">
            <a:off x="7160641"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2"/>
          <p:cNvSpPr txBox="1">
            <a:spLocks noGrp="1"/>
          </p:cNvSpPr>
          <p:nvPr>
            <p:ph type="body" idx="1"/>
          </p:nvPr>
        </p:nvSpPr>
        <p:spPr>
          <a:xfrm rot="5400000">
            <a:off x="1826640"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4" name="Google Shape;94;p32"/>
          <p:cNvSpPr txBox="1">
            <a:spLocks noGrp="1"/>
          </p:cNvSpPr>
          <p:nvPr>
            <p:ph type="dt" idx="10"/>
          </p:nvPr>
        </p:nvSpPr>
        <p:spPr>
          <a:xfrm>
            <a:off x="1097282" y="6459786"/>
            <a:ext cx="247227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5" name="Google Shape;95;p32"/>
          <p:cNvSpPr txBox="1">
            <a:spLocks noGrp="1"/>
          </p:cNvSpPr>
          <p:nvPr>
            <p:ph type="ftr" idx="11"/>
          </p:nvPr>
        </p:nvSpPr>
        <p:spPr>
          <a:xfrm>
            <a:off x="3686186" y="6459786"/>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6" name="Google Shape;96;p32"/>
          <p:cNvSpPr txBox="1">
            <a:spLocks noGrp="1"/>
          </p:cNvSpPr>
          <p:nvPr>
            <p:ph type="sldNum" idx="12"/>
          </p:nvPr>
        </p:nvSpPr>
        <p:spPr>
          <a:xfrm>
            <a:off x="9900459" y="6459786"/>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p:nvPr/>
        </p:nvSpPr>
        <p:spPr>
          <a:xfrm>
            <a:off x="2"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7" name="Google Shape;7;p21"/>
          <p:cNvSpPr/>
          <p:nvPr/>
        </p:nvSpPr>
        <p:spPr>
          <a:xfrm>
            <a:off x="1" y="6334316"/>
            <a:ext cx="12192002" cy="659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 name="Google Shape;8;p2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2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0" name="Google Shape;10;p21"/>
          <p:cNvSpPr txBox="1">
            <a:spLocks noGrp="1"/>
          </p:cNvSpPr>
          <p:nvPr>
            <p:ph type="dt" idx="10"/>
          </p:nvPr>
        </p:nvSpPr>
        <p:spPr>
          <a:xfrm>
            <a:off x="1097282" y="6459786"/>
            <a:ext cx="247227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11" name="Google Shape;11;p21"/>
          <p:cNvSpPr txBox="1">
            <a:spLocks noGrp="1"/>
          </p:cNvSpPr>
          <p:nvPr>
            <p:ph type="ftr" idx="11"/>
          </p:nvPr>
        </p:nvSpPr>
        <p:spPr>
          <a:xfrm>
            <a:off x="3686186" y="6459786"/>
            <a:ext cx="4822804"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12" name="Google Shape;12;p21"/>
          <p:cNvSpPr txBox="1">
            <a:spLocks noGrp="1"/>
          </p:cNvSpPr>
          <p:nvPr>
            <p:ph type="sldNum" idx="12"/>
          </p:nvPr>
        </p:nvSpPr>
        <p:spPr>
          <a:xfrm>
            <a:off x="9900459" y="6459786"/>
            <a:ext cx="131202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1"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fld id="{00000000-1234-1234-1234-123412341234}" type="slidenum">
              <a:rPr lang="en-IN" smtClean="0"/>
              <a:pPr/>
              <a:t>‹#›</a:t>
            </a:fld>
            <a:endParaRPr lang="en-IN" dirty="0"/>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4" r:id="rId4"/>
    <p:sldLayoutId id="2147483655" r:id="rId5"/>
    <p:sldLayoutId id="2147483656"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tinyurl.com/research-table"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tinyurl.com/research-table"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tinyurl.com/research-table"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tinyurl.com/research-table"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tinyurl.com/research-tabl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hyperlink" Target="https://docs.google.com/presentation/d/1cO7-S2yZh2ff25W0rJEPEmpSjrXXucY-QegiwBwBmHo/edit?usp=sharing" TargetMode="External"/><Relationship Id="rId2" Type="http://schemas.openxmlformats.org/officeDocument/2006/relationships/hyperlink" Target="https://docs.google.com/presentation/d/1KwmnbbVUuaTFaNHmZv5oxk0jVUT_Ps3IoYTtMxvSTNc/edit?usp=sharing" TargetMode="External"/><Relationship Id="rId1" Type="http://schemas.openxmlformats.org/officeDocument/2006/relationships/slideLayout" Target="../slideLayouts/slideLayout2.xml"/><Relationship Id="rId4" Type="http://schemas.openxmlformats.org/officeDocument/2006/relationships/hyperlink" Target="https://docs.google.com/spreadsheets/d/1SftDQfazZgzaxWYPDXQE2Cem6kQNTYJnk8-RBBf0azI/edit?usp=sharing"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25" y="286603"/>
            <a:ext cx="10720965" cy="1544105"/>
          </a:xfrm>
        </p:spPr>
        <p:txBody>
          <a:bodyPr>
            <a:normAutofit fontScale="90000"/>
          </a:bodyPr>
          <a:lstStyle/>
          <a:p>
            <a:pPr algn="ctr"/>
            <a:r>
              <a:rPr lang="en-IN" sz="2700" b="1" dirty="0">
                <a:latin typeface="Times New Roman"/>
                <a:ea typeface="Times New Roman"/>
                <a:cs typeface="Times New Roman"/>
                <a:sym typeface="Times New Roman"/>
              </a:rPr>
              <a:t>GITAM </a:t>
            </a:r>
            <a:br>
              <a:rPr lang="en-IN" sz="2700" b="1" dirty="0">
                <a:latin typeface="Times New Roman"/>
                <a:ea typeface="Times New Roman"/>
                <a:cs typeface="Times New Roman"/>
                <a:sym typeface="Times New Roman"/>
              </a:rPr>
            </a:br>
            <a:r>
              <a:rPr lang="en-IN" sz="2700" b="1" dirty="0">
                <a:latin typeface="Times New Roman"/>
                <a:ea typeface="Times New Roman"/>
                <a:cs typeface="Times New Roman"/>
                <a:sym typeface="Times New Roman"/>
              </a:rPr>
              <a:t>(Deemed to be university)</a:t>
            </a:r>
            <a:br>
              <a:rPr lang="en-IN" sz="2700" b="1" dirty="0">
                <a:latin typeface="Times New Roman"/>
                <a:ea typeface="Times New Roman"/>
                <a:cs typeface="Times New Roman"/>
                <a:sym typeface="Times New Roman"/>
              </a:rPr>
            </a:br>
            <a:r>
              <a:rPr lang="en-IN" sz="2700" b="1" dirty="0">
                <a:latin typeface="Times New Roman"/>
                <a:ea typeface="Times New Roman"/>
                <a:cs typeface="Times New Roman"/>
                <a:sym typeface="Times New Roman"/>
              </a:rPr>
              <a:t>School of Technology, Hyderabad </a:t>
            </a:r>
            <a:br>
              <a:rPr lang="en-IN" sz="2700" b="1" dirty="0">
                <a:latin typeface="Times New Roman"/>
                <a:ea typeface="Times New Roman"/>
                <a:cs typeface="Times New Roman"/>
                <a:sym typeface="Times New Roman"/>
              </a:rPr>
            </a:br>
            <a:r>
              <a:rPr lang="en-IN" sz="2700" b="1" dirty="0">
                <a:latin typeface="Times New Roman"/>
                <a:ea typeface="Times New Roman"/>
                <a:cs typeface="Times New Roman"/>
                <a:sym typeface="Times New Roman"/>
              </a:rPr>
              <a:t>Department of Computer Science and Engineering</a:t>
            </a:r>
            <a:br>
              <a:rPr lang="en-IN" sz="2700" dirty="0"/>
            </a:br>
            <a:endParaRPr lang="en-IN" sz="2700" dirty="0"/>
          </a:p>
        </p:txBody>
      </p:sp>
      <p:sp>
        <p:nvSpPr>
          <p:cNvPr id="3" name="Text Placeholder 2"/>
          <p:cNvSpPr>
            <a:spLocks noGrp="1"/>
          </p:cNvSpPr>
          <p:nvPr>
            <p:ph type="body" idx="1"/>
          </p:nvPr>
        </p:nvSpPr>
        <p:spPr>
          <a:xfrm>
            <a:off x="674892" y="1845734"/>
            <a:ext cx="10675995" cy="4023360"/>
          </a:xfrm>
        </p:spPr>
        <p:txBody>
          <a:bodyPr>
            <a:normAutofit/>
          </a:bodyPr>
          <a:lstStyle/>
          <a:p>
            <a:endParaRPr lang="en-US" sz="3800" b="1" dirty="0">
              <a:solidFill>
                <a:schemeClr val="dk1"/>
              </a:solidFill>
              <a:latin typeface="Times New Roman"/>
              <a:cs typeface="Times New Roman"/>
              <a:sym typeface="Times New Roman"/>
            </a:endParaRPr>
          </a:p>
          <a:p>
            <a:pPr algn="ctr"/>
            <a:r>
              <a:rPr lang="en-US" sz="3800" b="1" dirty="0">
                <a:solidFill>
                  <a:srgbClr val="FF0000"/>
                </a:solidFill>
                <a:latin typeface="Times New Roman"/>
                <a:cs typeface="Times New Roman"/>
                <a:sym typeface="Times New Roman"/>
              </a:rPr>
              <a:t>Leveraging Predictivity of Deep Learning Techniques on Financial Time Series Forecasting</a:t>
            </a:r>
          </a:p>
          <a:p>
            <a:endParaRPr lang="en-IN" sz="3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a:t>
            </a:fld>
            <a:endParaRPr lang="en-IN" dirty="0"/>
          </a:p>
        </p:txBody>
      </p:sp>
      <p:sp>
        <p:nvSpPr>
          <p:cNvPr id="7" name="TextBox 6"/>
          <p:cNvSpPr txBox="1"/>
          <p:nvPr/>
        </p:nvSpPr>
        <p:spPr>
          <a:xfrm>
            <a:off x="8227421" y="4838568"/>
            <a:ext cx="3539752" cy="677108"/>
          </a:xfrm>
          <a:prstGeom prst="rect">
            <a:avLst/>
          </a:prstGeom>
          <a:noFill/>
        </p:spPr>
        <p:txBody>
          <a:bodyPr wrap="none" rtlCol="0">
            <a:spAutoFit/>
          </a:bodyPr>
          <a:lstStyle/>
          <a:p>
            <a:pPr lvl="0"/>
            <a:r>
              <a:rPr lang="en-IN" sz="1900" b="1" dirty="0">
                <a:solidFill>
                  <a:srgbClr val="FF0000"/>
                </a:solidFill>
                <a:latin typeface="Times New Roman"/>
                <a:ea typeface="Times New Roman"/>
                <a:cs typeface="Times New Roman"/>
                <a:sym typeface="Times New Roman"/>
              </a:rPr>
              <a:t>Guide Name: </a:t>
            </a:r>
          </a:p>
          <a:p>
            <a:pPr lvl="0"/>
            <a:r>
              <a:rPr lang="en-IN" sz="1900" b="1" dirty="0">
                <a:solidFill>
                  <a:srgbClr val="FF0000"/>
                </a:solidFill>
                <a:latin typeface="Times New Roman"/>
                <a:ea typeface="Times New Roman"/>
                <a:cs typeface="Times New Roman"/>
                <a:sym typeface="Times New Roman"/>
              </a:rPr>
              <a:t>           </a:t>
            </a:r>
            <a:r>
              <a:rPr lang="en-IN" sz="1900" dirty="0">
                <a:solidFill>
                  <a:schemeClr val="tx1"/>
                </a:solidFill>
                <a:latin typeface="Times New Roman"/>
                <a:ea typeface="Times New Roman"/>
                <a:cs typeface="Times New Roman"/>
                <a:sym typeface="Times New Roman"/>
              </a:rPr>
              <a:t>Prof. Sarat Chandra Nayak </a:t>
            </a:r>
          </a:p>
        </p:txBody>
      </p:sp>
      <p:sp>
        <p:nvSpPr>
          <p:cNvPr id="8" name="TextBox 7"/>
          <p:cNvSpPr txBox="1"/>
          <p:nvPr/>
        </p:nvSpPr>
        <p:spPr>
          <a:xfrm>
            <a:off x="653820" y="4773744"/>
            <a:ext cx="5442180" cy="1840504"/>
          </a:xfrm>
          <a:prstGeom prst="rect">
            <a:avLst/>
          </a:prstGeom>
          <a:noFill/>
        </p:spPr>
        <p:txBody>
          <a:bodyPr wrap="square" rtlCol="0">
            <a:spAutoFit/>
          </a:bodyPr>
          <a:lstStyle/>
          <a:p>
            <a:pPr lvl="0" algn="just">
              <a:lnSpc>
                <a:spcPct val="110000"/>
              </a:lnSpc>
              <a:buClr>
                <a:srgbClr val="262626"/>
              </a:buClr>
              <a:buSzPts val="2000"/>
            </a:pPr>
            <a:r>
              <a:rPr lang="en-US" sz="1900" b="1" dirty="0">
                <a:solidFill>
                  <a:srgbClr val="FF0000"/>
                </a:solidFill>
                <a:latin typeface="Times New Roman" pitchFamily="18" charset="0"/>
                <a:cs typeface="Times New Roman" pitchFamily="18" charset="0"/>
                <a:sym typeface="Times New Roman"/>
              </a:rPr>
              <a:t>Project Batch No: </a:t>
            </a:r>
            <a:r>
              <a:rPr lang="en-US" sz="1900" dirty="0">
                <a:solidFill>
                  <a:schemeClr val="tx1"/>
                </a:solidFill>
                <a:latin typeface="Times New Roman" pitchFamily="18" charset="0"/>
                <a:cs typeface="Times New Roman" pitchFamily="18" charset="0"/>
                <a:sym typeface="Times New Roman"/>
              </a:rPr>
              <a:t>P10-15</a:t>
            </a:r>
          </a:p>
          <a:p>
            <a:pPr lvl="0" algn="just">
              <a:lnSpc>
                <a:spcPct val="110000"/>
              </a:lnSpc>
              <a:buClr>
                <a:srgbClr val="262626"/>
              </a:buClr>
              <a:buSzPts val="2000"/>
            </a:pPr>
            <a:r>
              <a:rPr lang="en-US" sz="1900" b="1" dirty="0">
                <a:solidFill>
                  <a:srgbClr val="FF0000"/>
                </a:solidFill>
                <a:latin typeface="Times New Roman" pitchFamily="18" charset="0"/>
                <a:cs typeface="Times New Roman" pitchFamily="18" charset="0"/>
                <a:sym typeface="Times New Roman"/>
              </a:rPr>
              <a:t>Name of Student(s) and Full Reg No(s):</a:t>
            </a:r>
          </a:p>
          <a:p>
            <a:pPr lvl="0" algn="just">
              <a:lnSpc>
                <a:spcPct val="110000"/>
              </a:lnSpc>
              <a:buClr>
                <a:srgbClr val="262626"/>
              </a:buClr>
              <a:buSzPts val="2000"/>
            </a:pPr>
            <a:r>
              <a:rPr lang="en-US" sz="1600" dirty="0">
                <a:solidFill>
                  <a:schemeClr val="tx1"/>
                </a:solidFill>
                <a:latin typeface="Times New Roman" pitchFamily="18" charset="0"/>
                <a:cs typeface="Times New Roman" pitchFamily="18" charset="0"/>
                <a:sym typeface="Times New Roman"/>
              </a:rPr>
              <a:t>                   Sri Vaishnavi Vasa - HU21CSEN0100673</a:t>
            </a:r>
          </a:p>
          <a:p>
            <a:pPr lvl="0" algn="just">
              <a:lnSpc>
                <a:spcPct val="110000"/>
              </a:lnSpc>
              <a:buClr>
                <a:srgbClr val="262626"/>
              </a:buClr>
              <a:buSzPts val="2000"/>
            </a:pPr>
            <a:r>
              <a:rPr lang="en-US" sz="1600" dirty="0">
                <a:solidFill>
                  <a:schemeClr val="tx1"/>
                </a:solidFill>
                <a:latin typeface="Times New Roman" pitchFamily="18" charset="0"/>
                <a:cs typeface="Times New Roman" pitchFamily="18" charset="0"/>
                <a:sym typeface="Times New Roman"/>
              </a:rPr>
              <a:t>                   Leena Deekollu       - HU21CSEN0100741</a:t>
            </a:r>
          </a:p>
          <a:p>
            <a:pPr lvl="0" algn="just">
              <a:lnSpc>
                <a:spcPct val="110000"/>
              </a:lnSpc>
              <a:buClr>
                <a:srgbClr val="262626"/>
              </a:buClr>
              <a:buSzPts val="2000"/>
            </a:pPr>
            <a:r>
              <a:rPr lang="en-US" sz="1600" dirty="0">
                <a:solidFill>
                  <a:schemeClr val="tx1"/>
                </a:solidFill>
                <a:latin typeface="Times New Roman" pitchFamily="18" charset="0"/>
                <a:cs typeface="Times New Roman" pitchFamily="18" charset="0"/>
                <a:sym typeface="Times New Roman"/>
              </a:rPr>
              <a:t>                   Y. Bindu Sri            - HU21CSEN0101184</a:t>
            </a:r>
            <a:endParaRPr lang="en-US" sz="1600" dirty="0">
              <a:solidFill>
                <a:schemeClr val="tx1"/>
              </a:solidFill>
              <a:latin typeface="Times New Roman" pitchFamily="18" charset="0"/>
              <a:cs typeface="Times New Roman" pitchFamily="18" charset="0"/>
            </a:endParaRPr>
          </a:p>
          <a:p>
            <a:endParaRPr lang="en-IN" sz="1900" b="1" dirty="0">
              <a:latin typeface="Times New Roman" pitchFamily="18" charset="0"/>
              <a:cs typeface="Times New Roman" pitchFamily="18" charset="0"/>
            </a:endParaRPr>
          </a:p>
        </p:txBody>
      </p:sp>
      <p:pic>
        <p:nvPicPr>
          <p:cNvPr id="1026" name="Picture 2" descr="Trademark Registration of GITAM DEEMED TO BE UNIVERSITY™ in |  Startupwala.com">
            <a:extLst>
              <a:ext uri="{FF2B5EF4-FFF2-40B4-BE49-F238E27FC236}">
                <a16:creationId xmlns:a16="http://schemas.microsoft.com/office/drawing/2014/main" id="{D3534495-7DA3-FF98-0AEA-323B6B77A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914" y="230803"/>
            <a:ext cx="3071009" cy="1263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1843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txBox="1"/>
          <p:nvPr/>
        </p:nvSpPr>
        <p:spPr>
          <a:xfrm>
            <a:off x="447041" y="149965"/>
            <a:ext cx="10637520" cy="824247"/>
          </a:xfrm>
          <a:prstGeom prst="rect">
            <a:avLst/>
          </a:prstGeom>
          <a:noFill/>
          <a:ln>
            <a:noFill/>
          </a:ln>
        </p:spPr>
        <p:txBody>
          <a:bodyPr spcFirstLastPara="1" wrap="square" lIns="91425" tIns="45700" rIns="91425" bIns="45700" anchor="t" anchorCtr="0">
            <a:noAutofit/>
          </a:bodyPr>
          <a:lstStyle/>
          <a:p>
            <a:pPr marL="0" marR="0" lvl="0" indent="0" algn="l" rtl="0">
              <a:lnSpc>
                <a:spcPct val="85000"/>
              </a:lnSpc>
              <a:spcBef>
                <a:spcPts val="0"/>
              </a:spcBef>
              <a:spcAft>
                <a:spcPts val="0"/>
              </a:spcAft>
              <a:buClr>
                <a:srgbClr val="3F3F3F"/>
              </a:buClr>
              <a:buSzPts val="3600"/>
              <a:buFont typeface="Times New Roman"/>
              <a:buNone/>
            </a:pPr>
            <a:r>
              <a:rPr lang="en-IN" sz="4300" b="1" i="0" u="none" strike="noStrike" cap="none" dirty="0">
                <a:solidFill>
                  <a:srgbClr val="FF0000"/>
                </a:solidFill>
                <a:latin typeface="Times New Roman"/>
                <a:ea typeface="Times New Roman"/>
                <a:cs typeface="Times New Roman"/>
                <a:sym typeface="Times New Roman"/>
              </a:rPr>
              <a:t>CONTENTS</a:t>
            </a:r>
            <a:endParaRPr sz="4300" b="0" i="0" u="none" strike="noStrike" cap="none" dirty="0">
              <a:solidFill>
                <a:srgbClr val="FF0000"/>
              </a:solidFill>
              <a:sym typeface="Arial"/>
            </a:endParaRPr>
          </a:p>
        </p:txBody>
      </p:sp>
      <p:sp>
        <p:nvSpPr>
          <p:cNvPr id="114" name="Google Shape;114;p2"/>
          <p:cNvSpPr txBox="1"/>
          <p:nvPr/>
        </p:nvSpPr>
        <p:spPr>
          <a:xfrm>
            <a:off x="612143" y="739939"/>
            <a:ext cx="9835344" cy="5804822"/>
          </a:xfrm>
          <a:prstGeom prst="rect">
            <a:avLst/>
          </a:prstGeom>
          <a:noFill/>
          <a:ln>
            <a:noFill/>
          </a:ln>
        </p:spPr>
        <p:txBody>
          <a:bodyPr spcFirstLastPara="1" wrap="square" lIns="91425" tIns="45700" rIns="91425" bIns="45700" anchor="t" anchorCtr="0">
            <a:noAutofit/>
          </a:bodyPr>
          <a:lstStyle/>
          <a:p>
            <a:pPr marL="457200" marR="0" lvl="0" indent="-457200" algn="l" rtl="0">
              <a:lnSpc>
                <a:spcPct val="200000"/>
              </a:lnSpc>
              <a:spcBef>
                <a:spcPts val="0"/>
              </a:spcBef>
              <a:spcAft>
                <a:spcPts val="0"/>
              </a:spcAft>
              <a:buClrTx/>
              <a:buFont typeface="Wingdings" panose="05000000000000000000" pitchFamily="2" charset="2"/>
              <a:buChar char="Ø"/>
            </a:pPr>
            <a:r>
              <a:rPr lang="en-US" sz="2000" b="1" i="0" u="none" strike="noStrike" cap="none" dirty="0">
                <a:solidFill>
                  <a:schemeClr val="tx1"/>
                </a:solidFill>
                <a:latin typeface="Times New Roman"/>
                <a:ea typeface="Times New Roman"/>
                <a:cs typeface="Times New Roman"/>
                <a:sym typeface="Times New Roman"/>
              </a:rPr>
              <a:t>Introduction</a:t>
            </a:r>
          </a:p>
          <a:p>
            <a:pPr marL="457200" marR="0" lvl="0" indent="-457200" algn="l" rtl="0">
              <a:lnSpc>
                <a:spcPct val="200000"/>
              </a:lnSpc>
              <a:spcBef>
                <a:spcPts val="0"/>
              </a:spcBef>
              <a:spcAft>
                <a:spcPts val="0"/>
              </a:spcAft>
              <a:buClrTx/>
              <a:buFont typeface="Wingdings" panose="05000000000000000000" pitchFamily="2" charset="2"/>
              <a:buChar char="Ø"/>
            </a:pPr>
            <a:r>
              <a:rPr lang="en-US" sz="2000" b="1" dirty="0">
                <a:solidFill>
                  <a:schemeClr val="tx1"/>
                </a:solidFill>
                <a:latin typeface="Times New Roman"/>
                <a:cs typeface="Times New Roman"/>
                <a:sym typeface="Times New Roman"/>
              </a:rPr>
              <a:t>Abstract</a:t>
            </a:r>
            <a:endParaRPr lang="en-US" dirty="0">
              <a:solidFill>
                <a:schemeClr val="tx1"/>
              </a:solidFill>
            </a:endParaRPr>
          </a:p>
          <a:p>
            <a:pPr marL="457200" marR="0" lvl="0" indent="-457200" algn="l" rtl="0">
              <a:lnSpc>
                <a:spcPct val="200000"/>
              </a:lnSpc>
              <a:spcBef>
                <a:spcPts val="0"/>
              </a:spcBef>
              <a:spcAft>
                <a:spcPts val="0"/>
              </a:spcAft>
              <a:buClrTx/>
              <a:buFont typeface="Wingdings" panose="05000000000000000000" pitchFamily="2" charset="2"/>
              <a:buChar char="Ø"/>
            </a:pPr>
            <a:r>
              <a:rPr lang="en-US" sz="2000" b="1" i="0" u="none" strike="noStrike" cap="none" dirty="0">
                <a:solidFill>
                  <a:schemeClr val="tx1"/>
                </a:solidFill>
                <a:latin typeface="Times New Roman"/>
                <a:ea typeface="Times New Roman"/>
                <a:cs typeface="Times New Roman"/>
                <a:sym typeface="Times New Roman"/>
              </a:rPr>
              <a:t>Review of literature </a:t>
            </a:r>
            <a:r>
              <a:rPr lang="en-US" sz="2000" b="1" dirty="0">
                <a:solidFill>
                  <a:schemeClr val="tx1"/>
                </a:solidFill>
                <a:latin typeface="Times New Roman"/>
                <a:ea typeface="Times New Roman"/>
                <a:cs typeface="Times New Roman"/>
                <a:sym typeface="Times New Roman"/>
              </a:rPr>
              <a:t>Survey</a:t>
            </a:r>
          </a:p>
          <a:p>
            <a:pPr marL="457200" marR="0" lvl="0" indent="-457200" algn="l" rtl="0">
              <a:lnSpc>
                <a:spcPct val="200000"/>
              </a:lnSpc>
              <a:spcBef>
                <a:spcPts val="0"/>
              </a:spcBef>
              <a:spcAft>
                <a:spcPts val="0"/>
              </a:spcAft>
              <a:buClrTx/>
              <a:buFont typeface="Wingdings" panose="05000000000000000000" pitchFamily="2" charset="2"/>
              <a:buChar char="Ø"/>
            </a:pPr>
            <a:r>
              <a:rPr lang="en-US" sz="2000" b="1" i="0" u="none" strike="noStrike" cap="none" dirty="0">
                <a:solidFill>
                  <a:schemeClr val="tx1"/>
                </a:solidFill>
                <a:latin typeface="Times New Roman"/>
                <a:ea typeface="Times New Roman"/>
                <a:cs typeface="Times New Roman"/>
                <a:sym typeface="Times New Roman"/>
              </a:rPr>
              <a:t>Problem statement </a:t>
            </a:r>
          </a:p>
          <a:p>
            <a:pPr marL="457200" marR="0" lvl="0" indent="-457200" algn="l" rtl="0">
              <a:lnSpc>
                <a:spcPct val="200000"/>
              </a:lnSpc>
              <a:spcBef>
                <a:spcPts val="0"/>
              </a:spcBef>
              <a:spcAft>
                <a:spcPts val="0"/>
              </a:spcAft>
              <a:buClrTx/>
              <a:buFont typeface="Wingdings" panose="05000000000000000000" pitchFamily="2" charset="2"/>
              <a:buChar char="Ø"/>
            </a:pPr>
            <a:r>
              <a:rPr lang="en-US" sz="2000" b="1" dirty="0">
                <a:solidFill>
                  <a:schemeClr val="tx1"/>
                </a:solidFill>
                <a:latin typeface="Times New Roman"/>
                <a:ea typeface="Times New Roman"/>
                <a:cs typeface="Times New Roman"/>
                <a:sym typeface="Times New Roman"/>
              </a:rPr>
              <a:t>Objectives</a:t>
            </a:r>
          </a:p>
          <a:p>
            <a:pPr marL="457200" marR="0" lvl="0" indent="-457200" algn="l" rtl="0">
              <a:lnSpc>
                <a:spcPct val="200000"/>
              </a:lnSpc>
              <a:spcBef>
                <a:spcPts val="0"/>
              </a:spcBef>
              <a:spcAft>
                <a:spcPts val="0"/>
              </a:spcAft>
              <a:buClrTx/>
              <a:buFont typeface="Wingdings" panose="05000000000000000000" pitchFamily="2" charset="2"/>
              <a:buChar char="Ø"/>
            </a:pPr>
            <a:r>
              <a:rPr lang="en-US" sz="2000" b="1" dirty="0">
                <a:solidFill>
                  <a:schemeClr val="tx1"/>
                </a:solidFill>
                <a:latin typeface="Times New Roman"/>
                <a:ea typeface="Times New Roman"/>
                <a:cs typeface="Times New Roman"/>
                <a:sym typeface="Times New Roman"/>
              </a:rPr>
              <a:t>Requirement analysis/Dataset</a:t>
            </a:r>
          </a:p>
          <a:p>
            <a:pPr marL="457200" marR="0" lvl="0" indent="-457200" algn="l" rtl="0">
              <a:lnSpc>
                <a:spcPct val="200000"/>
              </a:lnSpc>
              <a:spcBef>
                <a:spcPts val="0"/>
              </a:spcBef>
              <a:spcAft>
                <a:spcPts val="0"/>
              </a:spcAft>
              <a:buClrTx/>
              <a:buFont typeface="Wingdings" panose="05000000000000000000" pitchFamily="2" charset="2"/>
              <a:buChar char="Ø"/>
            </a:pPr>
            <a:r>
              <a:rPr lang="en-US" sz="2000" b="1" dirty="0">
                <a:solidFill>
                  <a:schemeClr val="tx1"/>
                </a:solidFill>
                <a:latin typeface="Times New Roman"/>
                <a:ea typeface="Times New Roman"/>
                <a:cs typeface="Times New Roman"/>
                <a:sym typeface="Times New Roman"/>
              </a:rPr>
              <a:t>Identification of Tools/Technologies</a:t>
            </a:r>
          </a:p>
          <a:p>
            <a:pPr marL="457200" marR="0" lvl="0" indent="-457200" algn="l" rtl="0">
              <a:lnSpc>
                <a:spcPct val="200000"/>
              </a:lnSpc>
              <a:spcBef>
                <a:spcPts val="0"/>
              </a:spcBef>
              <a:spcAft>
                <a:spcPts val="0"/>
              </a:spcAft>
              <a:buClrTx/>
              <a:buFont typeface="Wingdings" panose="05000000000000000000" pitchFamily="2" charset="2"/>
              <a:buChar char="Ø"/>
            </a:pPr>
            <a:r>
              <a:rPr lang="en-US" sz="2000" b="1" i="0" u="none" strike="noStrike" cap="none" dirty="0">
                <a:solidFill>
                  <a:schemeClr val="tx1"/>
                </a:solidFill>
                <a:latin typeface="Times New Roman"/>
                <a:ea typeface="Times New Roman"/>
                <a:cs typeface="Times New Roman"/>
                <a:sym typeface="Times New Roman"/>
              </a:rPr>
              <a:t>Design/Flowchart of complete project</a:t>
            </a:r>
            <a:endParaRPr lang="en-US" dirty="0">
              <a:solidFill>
                <a:schemeClr val="tx1"/>
              </a:solidFill>
              <a:ea typeface="Times New Roman"/>
            </a:endParaRPr>
          </a:p>
          <a:p>
            <a:pPr marL="457200" marR="0" lvl="0" indent="-457200" algn="l" rtl="0">
              <a:lnSpc>
                <a:spcPct val="200000"/>
              </a:lnSpc>
              <a:spcBef>
                <a:spcPts val="0"/>
              </a:spcBef>
              <a:spcAft>
                <a:spcPts val="0"/>
              </a:spcAft>
              <a:buClrTx/>
              <a:buFont typeface="Wingdings" panose="05000000000000000000" pitchFamily="2" charset="2"/>
              <a:buChar char="Ø"/>
            </a:pPr>
            <a:r>
              <a:rPr lang="en-US" sz="2000" b="1" i="0" u="none" strike="noStrike" cap="none" dirty="0">
                <a:solidFill>
                  <a:schemeClr val="tx1"/>
                </a:solidFill>
                <a:latin typeface="Times New Roman"/>
                <a:ea typeface="Times New Roman"/>
                <a:cs typeface="Times New Roman"/>
                <a:sym typeface="Times New Roman"/>
              </a:rPr>
              <a:t>References</a:t>
            </a:r>
          </a:p>
          <a:p>
            <a:pPr marL="91440" marR="0" lvl="0" indent="0" algn="l" rtl="0">
              <a:lnSpc>
                <a:spcPct val="150000"/>
              </a:lnSpc>
              <a:spcBef>
                <a:spcPts val="2000"/>
              </a:spcBef>
              <a:spcAft>
                <a:spcPts val="0"/>
              </a:spcAft>
              <a:buClr>
                <a:schemeClr val="accent1"/>
              </a:buClr>
              <a:buSzPts val="2000"/>
              <a:buFont typeface="Calibri"/>
              <a:buNone/>
            </a:pPr>
            <a:endParaRPr sz="2000" i="0" u="none" strike="noStrike" cap="none" dirty="0">
              <a:solidFill>
                <a:schemeClr val="dk1"/>
              </a:solidFill>
              <a:latin typeface="Calibri"/>
              <a:ea typeface="Calibri"/>
              <a:cs typeface="Calibri"/>
              <a:sym typeface="Calibri"/>
            </a:endParaRPr>
          </a:p>
        </p:txBody>
      </p:sp>
      <p:sp>
        <p:nvSpPr>
          <p:cNvPr id="115" name="Google Shape;115;p2"/>
          <p:cNvSpPr txBox="1">
            <a:spLocks noGrp="1"/>
          </p:cNvSpPr>
          <p:nvPr>
            <p:ph type="sldNum" idx="12"/>
          </p:nvPr>
        </p:nvSpPr>
        <p:spPr>
          <a:xfrm>
            <a:off x="9900459" y="6459785"/>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IN"/>
              <a:pPr marL="0" lvl="0" indent="0" algn="r" rtl="0">
                <a:lnSpc>
                  <a:spcPct val="100000"/>
                </a:lnSpc>
                <a:spcBef>
                  <a:spcPts val="0"/>
                </a:spcBef>
                <a:spcAft>
                  <a:spcPts val="0"/>
                </a:spcAft>
                <a:buClr>
                  <a:srgbClr val="000000"/>
                </a:buClr>
                <a:buSzPts val="1000"/>
                <a:buFont typeface="Arial"/>
                <a:buNone/>
              </a:pPr>
              <a:t>2</a:t>
            </a:fld>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9B72B3A-9CD5-A6A8-C70B-DE9AAABC4E1C}"/>
              </a:ext>
            </a:extLst>
          </p:cNvPr>
          <p:cNvSpPr/>
          <p:nvPr/>
        </p:nvSpPr>
        <p:spPr>
          <a:xfrm>
            <a:off x="7493690" y="739739"/>
            <a:ext cx="4570779" cy="5226772"/>
          </a:xfrm>
          <a:prstGeom prst="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itle 1">
            <a:extLst>
              <a:ext uri="{FF2B5EF4-FFF2-40B4-BE49-F238E27FC236}">
                <a16:creationId xmlns:a16="http://schemas.microsoft.com/office/drawing/2014/main" id="{2F3EEE30-8D63-4128-A4DE-42C043FE7B76}"/>
              </a:ext>
            </a:extLst>
          </p:cNvPr>
          <p:cNvSpPr>
            <a:spLocks noGrp="1"/>
          </p:cNvSpPr>
          <p:nvPr>
            <p:ph type="title"/>
          </p:nvPr>
        </p:nvSpPr>
        <p:spPr>
          <a:xfrm>
            <a:off x="244525" y="122219"/>
            <a:ext cx="10340469" cy="702303"/>
          </a:xfrm>
        </p:spPr>
        <p:txBody>
          <a:bodyPr>
            <a:normAutofit/>
          </a:bodyPr>
          <a:lstStyle/>
          <a:p>
            <a:r>
              <a:rPr lang="en-IN" sz="4000" b="1" dirty="0">
                <a:solidFill>
                  <a:srgbClr val="FF0000"/>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58B38F1C-DD1F-497F-9FF3-5757A9C821D5}"/>
              </a:ext>
            </a:extLst>
          </p:cNvPr>
          <p:cNvSpPr>
            <a:spLocks noGrp="1"/>
          </p:cNvSpPr>
          <p:nvPr>
            <p:ph type="body" idx="1"/>
          </p:nvPr>
        </p:nvSpPr>
        <p:spPr>
          <a:xfrm>
            <a:off x="254801" y="870080"/>
            <a:ext cx="6567240" cy="6136895"/>
          </a:xfrm>
        </p:spPr>
        <p:txBody>
          <a:bodyPr>
            <a:normAutofit/>
          </a:bodyPr>
          <a:lstStyle/>
          <a:p>
            <a:pPr marL="114300" indent="0">
              <a:buNone/>
            </a:pPr>
            <a:r>
              <a:rPr lang="en-US" sz="1800" b="1" u="sng" dirty="0"/>
              <a:t>Time Series Data</a:t>
            </a:r>
          </a:p>
          <a:p>
            <a:pPr algn="just">
              <a:buFont typeface="Wingdings" panose="05000000000000000000" pitchFamily="2" charset="2"/>
              <a:buChar char="§"/>
            </a:pPr>
            <a:r>
              <a:rPr lang="en-US" sz="1400" dirty="0"/>
              <a:t>Time series data consists of observations recorded sequentially over time. Each data point corresponds to a specific time instance, such as daily stock prices, monthly sales data, or annual rainfall measurements. </a:t>
            </a:r>
          </a:p>
          <a:p>
            <a:pPr algn="just">
              <a:buFont typeface="Wingdings" panose="05000000000000000000" pitchFamily="2" charset="2"/>
              <a:buChar char="§"/>
            </a:pPr>
            <a:r>
              <a:rPr lang="en-US" sz="1400" dirty="0"/>
              <a:t>Time series data exhibits key characteristics such as </a:t>
            </a:r>
            <a:r>
              <a:rPr lang="en-US" sz="1400" b="1" dirty="0"/>
              <a:t>trend</a:t>
            </a:r>
            <a:r>
              <a:rPr lang="en-US" sz="1400" dirty="0"/>
              <a:t> (long-term upward or downward movements), </a:t>
            </a:r>
            <a:r>
              <a:rPr lang="en-US" sz="1400" b="1" dirty="0"/>
              <a:t>seasonality</a:t>
            </a:r>
            <a:r>
              <a:rPr lang="en-US" sz="1400" dirty="0"/>
              <a:t> (repeating patterns over specific periods), </a:t>
            </a:r>
            <a:r>
              <a:rPr lang="en-US" sz="1400" b="1" dirty="0"/>
              <a:t>cyclicity</a:t>
            </a:r>
            <a:r>
              <a:rPr lang="en-US" sz="1400" dirty="0"/>
              <a:t> (irregular cycles without fixed periods), </a:t>
            </a:r>
            <a:r>
              <a:rPr lang="en-US" sz="1400" b="1" dirty="0"/>
              <a:t>autocorrelation</a:t>
            </a:r>
            <a:r>
              <a:rPr lang="en-US" sz="1400" dirty="0"/>
              <a:t> (relationship between values at different time lags), and </a:t>
            </a:r>
            <a:r>
              <a:rPr lang="en-US" sz="1400" b="1" dirty="0"/>
              <a:t>irregularities</a:t>
            </a:r>
            <a:r>
              <a:rPr lang="en-US" sz="1400" dirty="0"/>
              <a:t> (unexpected or random fluctuations like noise or outliers</a:t>
            </a:r>
          </a:p>
          <a:p>
            <a:pPr marL="114300" indent="0">
              <a:buNone/>
            </a:pPr>
            <a:endParaRPr lang="en-IN" sz="1700" dirty="0"/>
          </a:p>
          <a:p>
            <a:pPr marL="114300" indent="0">
              <a:buNone/>
            </a:pPr>
            <a:r>
              <a:rPr lang="en-US" sz="1800" b="1" u="sng" dirty="0"/>
              <a:t>Time Series Forecasting</a:t>
            </a:r>
          </a:p>
          <a:p>
            <a:pPr algn="just">
              <a:buFont typeface="Wingdings" panose="05000000000000000000" pitchFamily="2" charset="2"/>
              <a:buChar char="§"/>
            </a:pPr>
            <a:r>
              <a:rPr lang="en-US" sz="1400" dirty="0"/>
              <a:t>Time series forecasting uses historical data to predict future values. For a time series X={X1,X2,X3,……,</a:t>
            </a:r>
            <a:r>
              <a:rPr lang="en-US" sz="1400" dirty="0" err="1"/>
              <a:t>Xt</a:t>
            </a:r>
            <a:r>
              <a:rPr lang="en-US" sz="1400" dirty="0"/>
              <a:t>}, where </a:t>
            </a:r>
            <a:r>
              <a:rPr lang="en-US" sz="1400" dirty="0" err="1"/>
              <a:t>Xt</a:t>
            </a:r>
            <a:r>
              <a:rPr lang="en-US" sz="1400" dirty="0"/>
              <a:t> is represents the observation at time t, the forecast for the next period (t+1) can be expressed as:</a:t>
            </a:r>
          </a:p>
          <a:p>
            <a:pPr algn="just">
              <a:buFont typeface="Wingdings" panose="05000000000000000000" pitchFamily="2" charset="2"/>
              <a:buChar char="§"/>
            </a:pPr>
            <a:endParaRPr lang="en-US" sz="1400" dirty="0"/>
          </a:p>
          <a:p>
            <a:pPr algn="just">
              <a:buFont typeface="Wingdings" panose="05000000000000000000" pitchFamily="2" charset="2"/>
              <a:buChar char="§"/>
            </a:pPr>
            <a:endParaRPr lang="en-US" sz="1400" dirty="0"/>
          </a:p>
          <a:p>
            <a:pPr algn="just">
              <a:buFont typeface="Wingdings" panose="05000000000000000000" pitchFamily="2" charset="2"/>
              <a:buChar char="§"/>
            </a:pPr>
            <a:r>
              <a:rPr lang="en-US" sz="1400" dirty="0"/>
              <a:t>This simple method averages past observations, assuming the future will follow historical patterns. However, more complex models like ARIMA, LSTM, and CNNs are often used to account for trends, seasonality, and irregularities in the data.</a:t>
            </a:r>
          </a:p>
          <a:p>
            <a:r>
              <a:rPr lang="en-US" dirty="0"/>
              <a:t> </a:t>
            </a:r>
          </a:p>
          <a:p>
            <a:endParaRPr lang="en-IN" dirty="0"/>
          </a:p>
        </p:txBody>
      </p:sp>
      <p:sp>
        <p:nvSpPr>
          <p:cNvPr id="4" name="Slide Number Placeholder 3">
            <a:extLst>
              <a:ext uri="{FF2B5EF4-FFF2-40B4-BE49-F238E27FC236}">
                <a16:creationId xmlns:a16="http://schemas.microsoft.com/office/drawing/2014/main" id="{CA4D0222-98F7-4D32-8FCC-AF44C570A4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3</a:t>
            </a:fld>
            <a:endParaRPr lang="en-IN" dirty="0"/>
          </a:p>
        </p:txBody>
      </p:sp>
      <p:pic>
        <p:nvPicPr>
          <p:cNvPr id="2050" name="Picture 2">
            <a:extLst>
              <a:ext uri="{FF2B5EF4-FFF2-40B4-BE49-F238E27FC236}">
                <a16:creationId xmlns:a16="http://schemas.microsoft.com/office/drawing/2014/main" id="{4E212726-51D4-EDB2-971A-A8844C046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6637" y="4760275"/>
            <a:ext cx="1515081" cy="61310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9B9BF02-5CDC-D676-825D-70F29CE104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3965" y="870080"/>
            <a:ext cx="2252652" cy="148975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71C7F120-5264-DF56-5CB7-679B287D24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1688" y="2568162"/>
            <a:ext cx="2279388" cy="148975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B8FD1C68-95CA-6EF6-EE80-255BB39D2C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33674" y="881215"/>
            <a:ext cx="2145008" cy="1467481"/>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1AEDAFF3-D915-B87E-2F71-3A90167375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0459" y="2598090"/>
            <a:ext cx="2101357" cy="1467481"/>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220FD04F-278E-D127-C146-BF68A11A9DD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259" t="10954" r="6236" b="5001"/>
          <a:stretch/>
        </p:blipFill>
        <p:spPr bwMode="auto">
          <a:xfrm>
            <a:off x="7511688" y="4277382"/>
            <a:ext cx="2388771" cy="1489755"/>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a:extLst>
              <a:ext uri="{FF2B5EF4-FFF2-40B4-BE49-F238E27FC236}">
                <a16:creationId xmlns:a16="http://schemas.microsoft.com/office/drawing/2014/main" id="{9F04C328-7E72-45AB-3BDE-395E635204A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4146" t="9910" r="13606" b="5833"/>
          <a:stretch/>
        </p:blipFill>
        <p:spPr bwMode="auto">
          <a:xfrm>
            <a:off x="9888573" y="4277383"/>
            <a:ext cx="2145007" cy="14897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9E62519-F5FF-8049-A7E0-8B6AEE4722A1}"/>
              </a:ext>
            </a:extLst>
          </p:cNvPr>
          <p:cNvSpPr txBox="1"/>
          <p:nvPr/>
        </p:nvSpPr>
        <p:spPr>
          <a:xfrm>
            <a:off x="8794676" y="6018060"/>
            <a:ext cx="3832261" cy="230832"/>
          </a:xfrm>
          <a:prstGeom prst="rect">
            <a:avLst/>
          </a:prstGeom>
          <a:noFill/>
        </p:spPr>
        <p:txBody>
          <a:bodyPr wrap="square" rtlCol="0">
            <a:spAutoFit/>
          </a:bodyPr>
          <a:lstStyle/>
          <a:p>
            <a:r>
              <a:rPr lang="en-IN" sz="900" dirty="0">
                <a:solidFill>
                  <a:schemeClr val="bg1">
                    <a:lumMod val="50000"/>
                  </a:schemeClr>
                </a:solidFill>
              </a:rPr>
              <a:t>Fig : Characteristics of Time Series Data</a:t>
            </a:r>
          </a:p>
        </p:txBody>
      </p:sp>
      <p:sp>
        <p:nvSpPr>
          <p:cNvPr id="7" name="TextBox 6">
            <a:extLst>
              <a:ext uri="{FF2B5EF4-FFF2-40B4-BE49-F238E27FC236}">
                <a16:creationId xmlns:a16="http://schemas.microsoft.com/office/drawing/2014/main" id="{E1C8C25D-66B4-2A23-295B-942C8250665D}"/>
              </a:ext>
            </a:extLst>
          </p:cNvPr>
          <p:cNvSpPr txBox="1"/>
          <p:nvPr/>
        </p:nvSpPr>
        <p:spPr>
          <a:xfrm>
            <a:off x="8407037" y="2338942"/>
            <a:ext cx="980440" cy="215444"/>
          </a:xfrm>
          <a:prstGeom prst="rect">
            <a:avLst/>
          </a:prstGeom>
          <a:noFill/>
        </p:spPr>
        <p:txBody>
          <a:bodyPr wrap="square" rtlCol="0">
            <a:spAutoFit/>
          </a:bodyPr>
          <a:lstStyle/>
          <a:p>
            <a:r>
              <a:rPr lang="en-IN" sz="800" dirty="0"/>
              <a:t>TREND</a:t>
            </a:r>
          </a:p>
        </p:txBody>
      </p:sp>
      <p:sp>
        <p:nvSpPr>
          <p:cNvPr id="8" name="TextBox 7">
            <a:extLst>
              <a:ext uri="{FF2B5EF4-FFF2-40B4-BE49-F238E27FC236}">
                <a16:creationId xmlns:a16="http://schemas.microsoft.com/office/drawing/2014/main" id="{1EB5E5E1-8285-E924-16E6-BCC2D0C85ED1}"/>
              </a:ext>
            </a:extLst>
          </p:cNvPr>
          <p:cNvSpPr txBox="1"/>
          <p:nvPr/>
        </p:nvSpPr>
        <p:spPr>
          <a:xfrm>
            <a:off x="10546573" y="2332418"/>
            <a:ext cx="980440" cy="215444"/>
          </a:xfrm>
          <a:prstGeom prst="rect">
            <a:avLst/>
          </a:prstGeom>
          <a:noFill/>
        </p:spPr>
        <p:txBody>
          <a:bodyPr wrap="square" rtlCol="0">
            <a:spAutoFit/>
          </a:bodyPr>
          <a:lstStyle/>
          <a:p>
            <a:r>
              <a:rPr lang="en-IN" sz="800" dirty="0"/>
              <a:t>SEASONALITY</a:t>
            </a:r>
          </a:p>
        </p:txBody>
      </p:sp>
      <p:sp>
        <p:nvSpPr>
          <p:cNvPr id="9" name="TextBox 8">
            <a:extLst>
              <a:ext uri="{FF2B5EF4-FFF2-40B4-BE49-F238E27FC236}">
                <a16:creationId xmlns:a16="http://schemas.microsoft.com/office/drawing/2014/main" id="{77C80F9B-E4AB-82CC-669A-29AAA64AC268}"/>
              </a:ext>
            </a:extLst>
          </p:cNvPr>
          <p:cNvSpPr txBox="1"/>
          <p:nvPr/>
        </p:nvSpPr>
        <p:spPr>
          <a:xfrm>
            <a:off x="8335917" y="4042642"/>
            <a:ext cx="1122680" cy="215444"/>
          </a:xfrm>
          <a:prstGeom prst="rect">
            <a:avLst/>
          </a:prstGeom>
          <a:noFill/>
        </p:spPr>
        <p:txBody>
          <a:bodyPr wrap="square" rtlCol="0">
            <a:spAutoFit/>
          </a:bodyPr>
          <a:lstStyle/>
          <a:p>
            <a:r>
              <a:rPr lang="en-IN" sz="800" dirty="0"/>
              <a:t>CYCLICITY</a:t>
            </a:r>
          </a:p>
        </p:txBody>
      </p:sp>
      <p:sp>
        <p:nvSpPr>
          <p:cNvPr id="10" name="TextBox 9">
            <a:extLst>
              <a:ext uri="{FF2B5EF4-FFF2-40B4-BE49-F238E27FC236}">
                <a16:creationId xmlns:a16="http://schemas.microsoft.com/office/drawing/2014/main" id="{D42DD969-E17B-CDA7-F801-526370539DE7}"/>
              </a:ext>
            </a:extLst>
          </p:cNvPr>
          <p:cNvSpPr txBox="1"/>
          <p:nvPr/>
        </p:nvSpPr>
        <p:spPr>
          <a:xfrm>
            <a:off x="10436492" y="4042642"/>
            <a:ext cx="1737360" cy="215444"/>
          </a:xfrm>
          <a:prstGeom prst="rect">
            <a:avLst/>
          </a:prstGeom>
          <a:noFill/>
        </p:spPr>
        <p:txBody>
          <a:bodyPr wrap="square" rtlCol="0">
            <a:spAutoFit/>
          </a:bodyPr>
          <a:lstStyle/>
          <a:p>
            <a:r>
              <a:rPr lang="en-IN" sz="800" dirty="0"/>
              <a:t>IRREGULARITIES</a:t>
            </a:r>
          </a:p>
        </p:txBody>
      </p:sp>
      <p:sp>
        <p:nvSpPr>
          <p:cNvPr id="11" name="TextBox 10">
            <a:extLst>
              <a:ext uri="{FF2B5EF4-FFF2-40B4-BE49-F238E27FC236}">
                <a16:creationId xmlns:a16="http://schemas.microsoft.com/office/drawing/2014/main" id="{CABAD24D-AE9E-FA30-3F78-8E07A15B5D7D}"/>
              </a:ext>
            </a:extLst>
          </p:cNvPr>
          <p:cNvSpPr txBox="1"/>
          <p:nvPr/>
        </p:nvSpPr>
        <p:spPr>
          <a:xfrm>
            <a:off x="8197199" y="5747510"/>
            <a:ext cx="1203006" cy="215444"/>
          </a:xfrm>
          <a:prstGeom prst="rect">
            <a:avLst/>
          </a:prstGeom>
          <a:noFill/>
        </p:spPr>
        <p:txBody>
          <a:bodyPr wrap="square" rtlCol="0">
            <a:spAutoFit/>
          </a:bodyPr>
          <a:lstStyle/>
          <a:p>
            <a:r>
              <a:rPr lang="en-IN" sz="800" dirty="0"/>
              <a:t>AUTOCORRELATION</a:t>
            </a:r>
          </a:p>
        </p:txBody>
      </p:sp>
      <p:sp>
        <p:nvSpPr>
          <p:cNvPr id="12" name="TextBox 11">
            <a:extLst>
              <a:ext uri="{FF2B5EF4-FFF2-40B4-BE49-F238E27FC236}">
                <a16:creationId xmlns:a16="http://schemas.microsoft.com/office/drawing/2014/main" id="{8B80C6AC-084D-9457-BC34-E81A3CEC4B79}"/>
              </a:ext>
            </a:extLst>
          </p:cNvPr>
          <p:cNvSpPr txBox="1"/>
          <p:nvPr/>
        </p:nvSpPr>
        <p:spPr>
          <a:xfrm>
            <a:off x="10612613" y="5747141"/>
            <a:ext cx="1146052" cy="215444"/>
          </a:xfrm>
          <a:prstGeom prst="rect">
            <a:avLst/>
          </a:prstGeom>
          <a:noFill/>
        </p:spPr>
        <p:txBody>
          <a:bodyPr wrap="square" rtlCol="0">
            <a:spAutoFit/>
          </a:bodyPr>
          <a:lstStyle/>
          <a:p>
            <a:r>
              <a:rPr lang="en-IN" sz="800" dirty="0"/>
              <a:t>STATIONARITY</a:t>
            </a:r>
          </a:p>
        </p:txBody>
      </p:sp>
    </p:spTree>
    <p:extLst>
      <p:ext uri="{BB962C8B-B14F-4D97-AF65-F5344CB8AC3E}">
        <p14:creationId xmlns:p14="http://schemas.microsoft.com/office/powerpoint/2010/main" val="3240712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BF94D19-39C2-35D3-AC33-A3BFF8E2117A}"/>
              </a:ext>
            </a:extLst>
          </p:cNvPr>
          <p:cNvSpPr>
            <a:spLocks noGrp="1"/>
          </p:cNvSpPr>
          <p:nvPr>
            <p:ph type="body" idx="1"/>
          </p:nvPr>
        </p:nvSpPr>
        <p:spPr>
          <a:xfrm>
            <a:off x="0" y="296066"/>
            <a:ext cx="7141945" cy="6104734"/>
          </a:xfrm>
        </p:spPr>
        <p:txBody>
          <a:bodyPr>
            <a:normAutofit/>
          </a:bodyPr>
          <a:lstStyle/>
          <a:p>
            <a:r>
              <a:rPr lang="en-US" sz="1800" b="1" u="sng" dirty="0"/>
              <a:t>Financial Time Series</a:t>
            </a:r>
          </a:p>
          <a:p>
            <a:pPr algn="just"/>
            <a:r>
              <a:rPr lang="en-US" sz="1400" dirty="0"/>
              <a:t>Financial time series refers to sequences of data related to financial metrics, such as stock prices, interest rates, or exchange rates, recorded at regular intervals. This data helps investors and analysts understand market behavior and predict future movements.</a:t>
            </a:r>
          </a:p>
          <a:p>
            <a:pPr algn="just"/>
            <a:endParaRPr lang="en-US" sz="1400" dirty="0"/>
          </a:p>
          <a:p>
            <a:pPr algn="just"/>
            <a:r>
              <a:rPr lang="en-US" sz="1800" b="1" u="sng" dirty="0"/>
              <a:t>Financial Time Series Forecasting</a:t>
            </a:r>
          </a:p>
          <a:p>
            <a:pPr algn="just"/>
            <a:r>
              <a:rPr lang="en-US" sz="1400" dirty="0"/>
              <a:t>Forecasting financial time series involves predicting future financial data points based on historical trends. This helps in investment strategies, risk assessment, and market trend analysis. Advanced models like RNNs, LSTMs, and hybrid systems address complexities like non-stationarity and volatility in financial data</a:t>
            </a:r>
          </a:p>
          <a:p>
            <a:endParaRPr lang="en-IN" sz="1400" dirty="0"/>
          </a:p>
          <a:p>
            <a:r>
              <a:rPr lang="en-US" sz="1800" b="1" u="sng" dirty="0"/>
              <a:t>Application Areas of Financial Time Series Forecasting</a:t>
            </a:r>
          </a:p>
          <a:p>
            <a:pPr lvl="1" algn="just"/>
            <a:r>
              <a:rPr lang="en-US" sz="1400" u="sng" dirty="0"/>
              <a:t>Stock Market Prediction</a:t>
            </a:r>
            <a:r>
              <a:rPr lang="en-US" sz="1400" dirty="0"/>
              <a:t>: Forecasting stock prices and trends for informed investment decisions.</a:t>
            </a:r>
          </a:p>
          <a:p>
            <a:pPr lvl="1" algn="just"/>
            <a:r>
              <a:rPr lang="en-US" sz="1400" u="sng" dirty="0"/>
              <a:t>Foreign Exchange (Forex)</a:t>
            </a:r>
            <a:r>
              <a:rPr lang="en-US" sz="1400" dirty="0"/>
              <a:t>: Predicting currency exchange rates for global trading strategies.</a:t>
            </a:r>
          </a:p>
          <a:p>
            <a:pPr lvl="1" algn="just"/>
            <a:r>
              <a:rPr lang="en-US" sz="1400" u="sng" dirty="0"/>
              <a:t>Commodity Pricing</a:t>
            </a:r>
            <a:r>
              <a:rPr lang="en-US" sz="1400" dirty="0"/>
              <a:t>: Anticipating price changes in commodities like oil and gold to manage risks.</a:t>
            </a:r>
          </a:p>
          <a:p>
            <a:pPr lvl="1" algn="just"/>
            <a:r>
              <a:rPr lang="en-US" sz="1400" u="sng" dirty="0"/>
              <a:t>Cryptocurrency Analysis</a:t>
            </a:r>
            <a:r>
              <a:rPr lang="en-US" sz="1400" dirty="0"/>
              <a:t>: Analyzing trends in digital assets like Bitcoin and Ethereum.</a:t>
            </a:r>
          </a:p>
          <a:p>
            <a:pPr lvl="1" algn="just"/>
            <a:r>
              <a:rPr lang="en-US" sz="1400" u="sng" dirty="0"/>
              <a:t>Risk Management</a:t>
            </a:r>
            <a:r>
              <a:rPr lang="en-US" sz="1400" dirty="0"/>
              <a:t>: Assessing credit risk and managing portfolio risks effectively.</a:t>
            </a:r>
          </a:p>
          <a:p>
            <a:pPr lvl="1" algn="just"/>
            <a:r>
              <a:rPr lang="en-US" sz="1400" u="sng" dirty="0"/>
              <a:t>Economic Policy Planning</a:t>
            </a:r>
            <a:r>
              <a:rPr lang="en-US" sz="1400" dirty="0"/>
              <a:t>: Assisting governments and organizations in economic forecasting and planning.</a:t>
            </a:r>
          </a:p>
          <a:p>
            <a:endParaRPr lang="en-IN" dirty="0"/>
          </a:p>
        </p:txBody>
      </p:sp>
      <p:sp>
        <p:nvSpPr>
          <p:cNvPr id="4" name="Slide Number Placeholder 3">
            <a:extLst>
              <a:ext uri="{FF2B5EF4-FFF2-40B4-BE49-F238E27FC236}">
                <a16:creationId xmlns:a16="http://schemas.microsoft.com/office/drawing/2014/main" id="{DE7F3E19-D2FF-173B-A51D-7279AE434E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4</a:t>
            </a:fld>
            <a:endParaRPr lang="en-IN" dirty="0"/>
          </a:p>
        </p:txBody>
      </p:sp>
      <p:sp>
        <p:nvSpPr>
          <p:cNvPr id="7" name="Rectangle 6">
            <a:extLst>
              <a:ext uri="{FF2B5EF4-FFF2-40B4-BE49-F238E27FC236}">
                <a16:creationId xmlns:a16="http://schemas.microsoft.com/office/drawing/2014/main" id="{08B488ED-9F14-D090-BCD9-CEE182CDF2D7}"/>
              </a:ext>
            </a:extLst>
          </p:cNvPr>
          <p:cNvSpPr/>
          <p:nvPr/>
        </p:nvSpPr>
        <p:spPr>
          <a:xfrm>
            <a:off x="7729086" y="457200"/>
            <a:ext cx="4138863" cy="5096577"/>
          </a:xfrm>
          <a:prstGeom prst="rect">
            <a:avLst/>
          </a:prstGeom>
          <a:ln w="952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3074" name="Picture 2">
            <a:extLst>
              <a:ext uri="{FF2B5EF4-FFF2-40B4-BE49-F238E27FC236}">
                <a16:creationId xmlns:a16="http://schemas.microsoft.com/office/drawing/2014/main" id="{4813AE3D-4047-6678-ECDB-0E387D0CC4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2944" y="572554"/>
            <a:ext cx="3541955" cy="24325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960881B0-05A6-CDE7-9E97-FAABB0A743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1004" y="3466769"/>
            <a:ext cx="3775026" cy="195742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E5037D9-64F4-0BB5-3536-F5362E4442B2}"/>
              </a:ext>
            </a:extLst>
          </p:cNvPr>
          <p:cNvSpPr txBox="1"/>
          <p:nvPr/>
        </p:nvSpPr>
        <p:spPr>
          <a:xfrm>
            <a:off x="8739168" y="3005104"/>
            <a:ext cx="6097604" cy="461665"/>
          </a:xfrm>
          <a:prstGeom prst="rect">
            <a:avLst/>
          </a:prstGeom>
          <a:noFill/>
        </p:spPr>
        <p:txBody>
          <a:bodyPr wrap="square">
            <a:spAutoFit/>
          </a:bodyPr>
          <a:lstStyle/>
          <a:p>
            <a:pPr rtl="0"/>
            <a:r>
              <a:rPr lang="en-US" sz="800" b="0" i="1" u="none" strike="noStrike" dirty="0">
                <a:solidFill>
                  <a:srgbClr val="999999"/>
                </a:solidFill>
                <a:effectLst/>
                <a:latin typeface="Lato" panose="020F0502020204030203" pitchFamily="34" charset="0"/>
              </a:rPr>
              <a:t>Source: Yahoo finance - NIFTY 50 Chart</a:t>
            </a:r>
            <a:endParaRPr lang="en-US" sz="800" b="0" dirty="0">
              <a:effectLst/>
            </a:endParaRPr>
          </a:p>
          <a:p>
            <a:br>
              <a:rPr lang="en-US" sz="800" dirty="0"/>
            </a:br>
            <a:endParaRPr lang="en-IN" sz="800" dirty="0"/>
          </a:p>
        </p:txBody>
      </p:sp>
      <p:sp>
        <p:nvSpPr>
          <p:cNvPr id="8" name="TextBox 7">
            <a:extLst>
              <a:ext uri="{FF2B5EF4-FFF2-40B4-BE49-F238E27FC236}">
                <a16:creationId xmlns:a16="http://schemas.microsoft.com/office/drawing/2014/main" id="{AAA4D794-1699-7B0B-EB93-BC4D2F2FFB08}"/>
              </a:ext>
            </a:extLst>
          </p:cNvPr>
          <p:cNvSpPr txBox="1"/>
          <p:nvPr/>
        </p:nvSpPr>
        <p:spPr>
          <a:xfrm>
            <a:off x="7834964" y="5727032"/>
            <a:ext cx="3946358" cy="369332"/>
          </a:xfrm>
          <a:prstGeom prst="rect">
            <a:avLst/>
          </a:prstGeom>
          <a:noFill/>
        </p:spPr>
        <p:txBody>
          <a:bodyPr wrap="square" rtlCol="0">
            <a:spAutoFit/>
          </a:bodyPr>
          <a:lstStyle/>
          <a:p>
            <a:pPr algn="ctr"/>
            <a:r>
              <a:rPr lang="en-IN" sz="900" dirty="0">
                <a:solidFill>
                  <a:schemeClr val="bg1">
                    <a:lumMod val="50000"/>
                  </a:schemeClr>
                </a:solidFill>
              </a:rPr>
              <a:t>Fig : Images showing real-time financial time series forecasting example and research done in this field</a:t>
            </a:r>
          </a:p>
        </p:txBody>
      </p:sp>
    </p:spTree>
    <p:extLst>
      <p:ext uri="{BB962C8B-B14F-4D97-AF65-F5344CB8AC3E}">
        <p14:creationId xmlns:p14="http://schemas.microsoft.com/office/powerpoint/2010/main" val="3123846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308" y="315030"/>
            <a:ext cx="10058400" cy="567836"/>
          </a:xfrm>
        </p:spPr>
        <p:txBody>
          <a:bodyPr>
            <a:noAutofit/>
          </a:bodyPr>
          <a:lstStyle/>
          <a:p>
            <a:r>
              <a:rPr lang="en-IN" sz="4000" b="1" dirty="0">
                <a:solidFill>
                  <a:srgbClr val="FF0000"/>
                </a:solidFill>
                <a:latin typeface="Times New Roman" panose="02020603050405020304" pitchFamily="18" charset="0"/>
                <a:cs typeface="Times New Roman" panose="02020603050405020304" pitchFamily="18" charset="0"/>
              </a:rPr>
              <a:t>ABSTRACT</a:t>
            </a:r>
          </a:p>
        </p:txBody>
      </p:sp>
      <p:sp>
        <p:nvSpPr>
          <p:cNvPr id="3" name="Text Placeholder 2"/>
          <p:cNvSpPr>
            <a:spLocks noGrp="1"/>
          </p:cNvSpPr>
          <p:nvPr>
            <p:ph type="body" idx="1"/>
          </p:nvPr>
        </p:nvSpPr>
        <p:spPr>
          <a:xfrm>
            <a:off x="19921" y="822566"/>
            <a:ext cx="11347515" cy="4834773"/>
          </a:xfrm>
        </p:spPr>
        <p:txBody>
          <a:bodyPr>
            <a:normAutofit fontScale="92500"/>
          </a:bodyPr>
          <a:lstStyle/>
          <a:p>
            <a:pPr algn="just" rtl="0">
              <a:lnSpc>
                <a:spcPct val="150000"/>
              </a:lnSpc>
            </a:pPr>
            <a:r>
              <a:rPr lang="en-US" sz="16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Financial time series forecasting has become a vital focus within computational intelligence, engaging finance researchers in academia and industry alike due to its broad applications and substantial impact. While numerous Machine Learning (ML) models have been developed for this purpose, an extensive array of surveys already exists covering ML applications in financial forecasting.  </a:t>
            </a:r>
            <a:endParaRPr lang="en-US" sz="16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lgn="just" rtl="0">
              <a:lnSpc>
                <a:spcPct val="150000"/>
              </a:lnSpc>
            </a:pPr>
            <a:br>
              <a:rPr lang="en-US" sz="16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More recently, Deep Learning (DL) models have entered the field, showing significant performance improvements over traditional ML methods. However, despite the growing interest in DL for financial time series forecasting, there is a notable lack of research focused specifically on DL applications for finance, particularly for region-specific data. This research aims to bridge this gap by experimenting with various DL models to optimize forecasting accuracy specifically for the Bombay Stock Exchange. Through this study, we seek not only to review current DL approaches but also to identify, improve, and potentially introduce a novel model tailored to Indian stock data. In addition to providing a comprehensive review, this research highlights potential setbacks and emerging opportunities in DL for financial forecasting, offering insights valuable to future researchers in the field.</a:t>
            </a:r>
            <a:endParaRPr lang="en-US" sz="16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lgn="just"/>
            <a:br>
              <a:rPr lang="en-US" sz="1600" b="0" dirty="0">
                <a:solidFill>
                  <a:schemeClr val="tx1"/>
                </a:solidFill>
                <a:effectLst/>
              </a:rPr>
            </a:br>
            <a:endParaRPr lang="en-IN" sz="1600" dirty="0">
              <a:solidFill>
                <a:schemeClr val="tx1"/>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5</a:t>
            </a:fld>
            <a:endParaRPr lang="en-IN" dirty="0"/>
          </a:p>
        </p:txBody>
      </p:sp>
    </p:spTree>
    <p:extLst>
      <p:ext uri="{BB962C8B-B14F-4D97-AF65-F5344CB8AC3E}">
        <p14:creationId xmlns:p14="http://schemas.microsoft.com/office/powerpoint/2010/main" val="2389343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9"/>
          <p:cNvSpPr txBox="1"/>
          <p:nvPr/>
        </p:nvSpPr>
        <p:spPr>
          <a:xfrm>
            <a:off x="313295" y="167426"/>
            <a:ext cx="8628844" cy="13233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IN" sz="4000" b="1" i="0" u="none" strike="noStrike" cap="none" dirty="0">
                <a:solidFill>
                  <a:srgbClr val="FF0000"/>
                </a:solidFill>
                <a:latin typeface="Times New Roman"/>
                <a:ea typeface="Times New Roman"/>
                <a:cs typeface="Times New Roman"/>
                <a:sym typeface="Times New Roman"/>
              </a:rPr>
              <a:t>REVIEW OF LITERATURE SURVEY</a:t>
            </a:r>
            <a:endParaRPr lang="en-IN" sz="4000" b="1" i="0" u="none" strike="noStrike" cap="none" dirty="0">
              <a:solidFill>
                <a:srgbClr val="FF0000"/>
              </a:solidFill>
              <a:latin typeface="Calibri"/>
              <a:ea typeface="Calibri"/>
              <a:cs typeface="Calibri"/>
              <a:sym typeface="Calibri"/>
            </a:endParaRPr>
          </a:p>
        </p:txBody>
      </p:sp>
      <p:sp>
        <p:nvSpPr>
          <p:cNvPr id="165" name="Google Shape;165;p9"/>
          <p:cNvSpPr txBox="1">
            <a:spLocks noGrp="1"/>
          </p:cNvSpPr>
          <p:nvPr>
            <p:ph type="sldNum" idx="12"/>
          </p:nvPr>
        </p:nvSpPr>
        <p:spPr>
          <a:xfrm>
            <a:off x="9900459" y="6459785"/>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IN"/>
              <a:pPr marL="0" lvl="0" indent="0" algn="r" rtl="0">
                <a:lnSpc>
                  <a:spcPct val="100000"/>
                </a:lnSpc>
                <a:spcBef>
                  <a:spcPts val="0"/>
                </a:spcBef>
                <a:spcAft>
                  <a:spcPts val="0"/>
                </a:spcAft>
                <a:buClr>
                  <a:srgbClr val="000000"/>
                </a:buClr>
                <a:buSzPts val="1000"/>
                <a:buFont typeface="Arial"/>
                <a:buNone/>
              </a:pPr>
              <a:t>6</a:t>
            </a:fld>
            <a:endParaRPr dirty="0"/>
          </a:p>
        </p:txBody>
      </p:sp>
      <p:graphicFrame>
        <p:nvGraphicFramePr>
          <p:cNvPr id="2" name="Table 1">
            <a:extLst>
              <a:ext uri="{FF2B5EF4-FFF2-40B4-BE49-F238E27FC236}">
                <a16:creationId xmlns:a16="http://schemas.microsoft.com/office/drawing/2014/main" id="{89352C8A-8DAA-45BB-9151-440FE56D0971}"/>
              </a:ext>
            </a:extLst>
          </p:cNvPr>
          <p:cNvGraphicFramePr>
            <a:graphicFrameLocks noGrp="1"/>
          </p:cNvGraphicFramePr>
          <p:nvPr>
            <p:extLst>
              <p:ext uri="{D42A27DB-BD31-4B8C-83A1-F6EECF244321}">
                <p14:modId xmlns:p14="http://schemas.microsoft.com/office/powerpoint/2010/main" val="287080160"/>
              </p:ext>
            </p:extLst>
          </p:nvPr>
        </p:nvGraphicFramePr>
        <p:xfrm>
          <a:off x="338377" y="915317"/>
          <a:ext cx="11515248" cy="5030156"/>
        </p:xfrm>
        <a:graphic>
          <a:graphicData uri="http://schemas.openxmlformats.org/drawingml/2006/table">
            <a:tbl>
              <a:tblPr firstRow="1" bandRow="1">
                <a:tableStyleId>{DF7A94E2-A595-4EB2-A351-53F5864805CA}</a:tableStyleId>
              </a:tblPr>
              <a:tblGrid>
                <a:gridCol w="1279472">
                  <a:extLst>
                    <a:ext uri="{9D8B030D-6E8A-4147-A177-3AD203B41FA5}">
                      <a16:colId xmlns:a16="http://schemas.microsoft.com/office/drawing/2014/main" val="1173186165"/>
                    </a:ext>
                  </a:extLst>
                </a:gridCol>
                <a:gridCol w="1279472">
                  <a:extLst>
                    <a:ext uri="{9D8B030D-6E8A-4147-A177-3AD203B41FA5}">
                      <a16:colId xmlns:a16="http://schemas.microsoft.com/office/drawing/2014/main" val="2951211738"/>
                    </a:ext>
                  </a:extLst>
                </a:gridCol>
                <a:gridCol w="1279472">
                  <a:extLst>
                    <a:ext uri="{9D8B030D-6E8A-4147-A177-3AD203B41FA5}">
                      <a16:colId xmlns:a16="http://schemas.microsoft.com/office/drawing/2014/main" val="3566098310"/>
                    </a:ext>
                  </a:extLst>
                </a:gridCol>
                <a:gridCol w="1279472">
                  <a:extLst>
                    <a:ext uri="{9D8B030D-6E8A-4147-A177-3AD203B41FA5}">
                      <a16:colId xmlns:a16="http://schemas.microsoft.com/office/drawing/2014/main" val="1390438592"/>
                    </a:ext>
                  </a:extLst>
                </a:gridCol>
                <a:gridCol w="1279472">
                  <a:extLst>
                    <a:ext uri="{9D8B030D-6E8A-4147-A177-3AD203B41FA5}">
                      <a16:colId xmlns:a16="http://schemas.microsoft.com/office/drawing/2014/main" val="2359027678"/>
                    </a:ext>
                  </a:extLst>
                </a:gridCol>
                <a:gridCol w="1279472">
                  <a:extLst>
                    <a:ext uri="{9D8B030D-6E8A-4147-A177-3AD203B41FA5}">
                      <a16:colId xmlns:a16="http://schemas.microsoft.com/office/drawing/2014/main" val="288837927"/>
                    </a:ext>
                  </a:extLst>
                </a:gridCol>
                <a:gridCol w="1279472">
                  <a:extLst>
                    <a:ext uri="{9D8B030D-6E8A-4147-A177-3AD203B41FA5}">
                      <a16:colId xmlns:a16="http://schemas.microsoft.com/office/drawing/2014/main" val="2026320408"/>
                    </a:ext>
                  </a:extLst>
                </a:gridCol>
                <a:gridCol w="1279472">
                  <a:extLst>
                    <a:ext uri="{9D8B030D-6E8A-4147-A177-3AD203B41FA5}">
                      <a16:colId xmlns:a16="http://schemas.microsoft.com/office/drawing/2014/main" val="3502713478"/>
                    </a:ext>
                  </a:extLst>
                </a:gridCol>
                <a:gridCol w="1279472">
                  <a:extLst>
                    <a:ext uri="{9D8B030D-6E8A-4147-A177-3AD203B41FA5}">
                      <a16:colId xmlns:a16="http://schemas.microsoft.com/office/drawing/2014/main" val="719232654"/>
                    </a:ext>
                  </a:extLst>
                </a:gridCol>
              </a:tblGrid>
              <a:tr h="524196">
                <a:tc>
                  <a:txBody>
                    <a:bodyPr/>
                    <a:lstStyle/>
                    <a:p>
                      <a:pPr rtl="0" fontAlgn="b"/>
                      <a:r>
                        <a:rPr lang="en-IN" b="1" dirty="0">
                          <a:effectLst/>
                        </a:rPr>
                        <a:t>PUBLISHED YEAR</a:t>
                      </a:r>
                    </a:p>
                  </a:txBody>
                  <a:tcPr marL="19050" marR="19050" marT="12700" marB="12700" anchor="ctr"/>
                </a:tc>
                <a:tc>
                  <a:txBody>
                    <a:bodyPr/>
                    <a:lstStyle/>
                    <a:p>
                      <a:pPr rtl="0" fontAlgn="b"/>
                      <a:r>
                        <a:rPr lang="en-IN" b="1">
                          <a:effectLst/>
                        </a:rPr>
                        <a:t>PUBLICATION DETAILS</a:t>
                      </a:r>
                    </a:p>
                  </a:txBody>
                  <a:tcPr marL="19050" marR="19050" marT="12700" marB="12700" anchor="ctr"/>
                </a:tc>
                <a:tc>
                  <a:txBody>
                    <a:bodyPr/>
                    <a:lstStyle/>
                    <a:p>
                      <a:pPr rtl="0" fontAlgn="b"/>
                      <a:r>
                        <a:rPr lang="en-IN" b="1">
                          <a:effectLst/>
                        </a:rPr>
                        <a:t>TITLE</a:t>
                      </a:r>
                    </a:p>
                  </a:txBody>
                  <a:tcPr marL="19050" marR="19050" marT="12700" marB="12700" anchor="ctr"/>
                </a:tc>
                <a:tc>
                  <a:txBody>
                    <a:bodyPr/>
                    <a:lstStyle/>
                    <a:p>
                      <a:pPr rtl="0" fontAlgn="b"/>
                      <a:r>
                        <a:rPr lang="en-IN" b="1">
                          <a:effectLst/>
                        </a:rPr>
                        <a:t>AUTHORS</a:t>
                      </a:r>
                    </a:p>
                  </a:txBody>
                  <a:tcPr marL="19050" marR="19050" marT="12700" marB="12700" anchor="ctr"/>
                </a:tc>
                <a:tc>
                  <a:txBody>
                    <a:bodyPr/>
                    <a:lstStyle/>
                    <a:p>
                      <a:pPr rtl="0" fontAlgn="b"/>
                      <a:r>
                        <a:rPr lang="en-IN" b="1">
                          <a:effectLst/>
                        </a:rPr>
                        <a:t>MODEL PROPOSED </a:t>
                      </a:r>
                    </a:p>
                  </a:txBody>
                  <a:tcPr marL="19050" marR="19050" marT="12700" marB="12700" anchor="ctr"/>
                </a:tc>
                <a:tc>
                  <a:txBody>
                    <a:bodyPr/>
                    <a:lstStyle/>
                    <a:p>
                      <a:pPr rtl="0" fontAlgn="b"/>
                      <a:r>
                        <a:rPr lang="en-IN" b="1">
                          <a:effectLst/>
                        </a:rPr>
                        <a:t>BASELINE MODELS</a:t>
                      </a:r>
                    </a:p>
                  </a:txBody>
                  <a:tcPr marL="19050" marR="19050" marT="12700" marB="12700" anchor="ctr"/>
                </a:tc>
                <a:tc>
                  <a:txBody>
                    <a:bodyPr/>
                    <a:lstStyle/>
                    <a:p>
                      <a:pPr rtl="0" fontAlgn="b"/>
                      <a:r>
                        <a:rPr lang="en-IN" b="1">
                          <a:effectLst/>
                        </a:rPr>
                        <a:t>RESULTS</a:t>
                      </a:r>
                    </a:p>
                  </a:txBody>
                  <a:tcPr marL="19050" marR="19050" marT="12700" marB="12700" anchor="ctr"/>
                </a:tc>
                <a:tc>
                  <a:txBody>
                    <a:bodyPr/>
                    <a:lstStyle/>
                    <a:p>
                      <a:pPr rtl="0" fontAlgn="b"/>
                      <a:r>
                        <a:rPr lang="en-IN" b="1">
                          <a:effectLst/>
                        </a:rPr>
                        <a:t>RESEARCH GAP</a:t>
                      </a:r>
                    </a:p>
                  </a:txBody>
                  <a:tcPr marL="19050" marR="19050" marT="12700" marB="12700" anchor="ctr"/>
                </a:tc>
                <a:tc>
                  <a:txBody>
                    <a:bodyPr/>
                    <a:lstStyle/>
                    <a:p>
                      <a:pPr rtl="0" fontAlgn="b"/>
                      <a:r>
                        <a:rPr lang="en-IN" b="1" dirty="0">
                          <a:effectLst/>
                        </a:rPr>
                        <a:t>DATASET</a:t>
                      </a:r>
                    </a:p>
                  </a:txBody>
                  <a:tcPr marL="19050" marR="19050" marT="12700" marB="12700" anchor="ctr"/>
                </a:tc>
                <a:extLst>
                  <a:ext uri="{0D108BD9-81ED-4DB2-BD59-A6C34878D82A}">
                    <a16:rowId xmlns:a16="http://schemas.microsoft.com/office/drawing/2014/main" val="4197635534"/>
                  </a:ext>
                </a:extLst>
              </a:tr>
              <a:tr h="524196">
                <a:tc>
                  <a:txBody>
                    <a:bodyPr/>
                    <a:lstStyle/>
                    <a:p>
                      <a:pPr algn="l" rtl="0" fontAlgn="t"/>
                      <a:r>
                        <a:rPr lang="en-IN" dirty="0">
                          <a:effectLst/>
                        </a:rPr>
                        <a:t>[15/10/2024]</a:t>
                      </a:r>
                    </a:p>
                  </a:txBody>
                  <a:tcPr marL="19050" marR="19050" marT="12700" marB="12700"/>
                </a:tc>
                <a:tc>
                  <a:txBody>
                    <a:bodyPr/>
                    <a:lstStyle/>
                    <a:p>
                      <a:pPr algn="l" rtl="0" fontAlgn="t"/>
                      <a:r>
                        <a:rPr lang="en-IN" dirty="0">
                          <a:effectLst/>
                        </a:rPr>
                        <a:t>MDPI : Algorithms</a:t>
                      </a:r>
                    </a:p>
                  </a:txBody>
                  <a:tcPr marL="19050" marR="19050" marT="12700" marB="12700"/>
                </a:tc>
                <a:tc>
                  <a:txBody>
                    <a:bodyPr/>
                    <a:lstStyle/>
                    <a:p>
                      <a:pPr algn="l" rtl="0" fontAlgn="t"/>
                      <a:r>
                        <a:rPr lang="en-US" dirty="0" err="1">
                          <a:effectLst/>
                        </a:rPr>
                        <a:t>ANovelApproach</a:t>
                      </a:r>
                      <a:r>
                        <a:rPr lang="en-US" dirty="0">
                          <a:effectLst/>
                        </a:rPr>
                        <a:t> to Predict the Asian Exchange Stock Market Index Using Artificial Intelligence</a:t>
                      </a:r>
                    </a:p>
                  </a:txBody>
                  <a:tcPr marL="19050" marR="19050" marT="12700" marB="12700"/>
                </a:tc>
                <a:tc>
                  <a:txBody>
                    <a:bodyPr/>
                    <a:lstStyle/>
                    <a:p>
                      <a:pPr algn="l" rtl="0" fontAlgn="t"/>
                      <a:r>
                        <a:rPr lang="en-IN" dirty="0">
                          <a:effectLst/>
                        </a:rPr>
                        <a:t>Rohit </a:t>
                      </a:r>
                      <a:r>
                        <a:rPr lang="en-IN" dirty="0" err="1">
                          <a:effectLst/>
                        </a:rPr>
                        <a:t>Salgotra</a:t>
                      </a:r>
                      <a:r>
                        <a:rPr lang="en-IN" dirty="0">
                          <a:effectLst/>
                        </a:rPr>
                        <a:t>, </a:t>
                      </a:r>
                      <a:r>
                        <a:rPr lang="en-IN" dirty="0" err="1">
                          <a:effectLst/>
                        </a:rPr>
                        <a:t>Harmanjeet</a:t>
                      </a:r>
                      <a:r>
                        <a:rPr lang="en-IN" dirty="0">
                          <a:effectLst/>
                        </a:rPr>
                        <a:t> Singh and </a:t>
                      </a:r>
                      <a:r>
                        <a:rPr lang="en-IN" dirty="0" err="1">
                          <a:effectLst/>
                        </a:rPr>
                        <a:t>SzymonLukasik</a:t>
                      </a:r>
                      <a:r>
                        <a:rPr lang="en-IN" dirty="0">
                          <a:effectLst/>
                        </a:rPr>
                        <a:t>, Gurpreet Kaur, </a:t>
                      </a:r>
                      <a:r>
                        <a:rPr lang="en-IN" dirty="0" err="1">
                          <a:effectLst/>
                        </a:rPr>
                        <a:t>Supreet</a:t>
                      </a:r>
                      <a:r>
                        <a:rPr lang="en-IN" dirty="0">
                          <a:effectLst/>
                        </a:rPr>
                        <a:t> Singh, Pratap Singh</a:t>
                      </a:r>
                    </a:p>
                  </a:txBody>
                  <a:tcPr marL="19050" marR="19050" marT="12700" marB="12700"/>
                </a:tc>
                <a:tc>
                  <a:txBody>
                    <a:bodyPr/>
                    <a:lstStyle/>
                    <a:p>
                      <a:pPr algn="l" rtl="0" fontAlgn="t"/>
                      <a:r>
                        <a:rPr lang="en-US" dirty="0">
                          <a:effectLst/>
                        </a:rPr>
                        <a:t>A hybrid deep learning model combining Bi-directional Gated Recurrent Unit (BGRU) with a Convolutional Neural Network (CNN) for predicting the closing prices of stock indices in six Asian stock markets</a:t>
                      </a:r>
                    </a:p>
                  </a:txBody>
                  <a:tcPr marL="19050" marR="19050" marT="12700" marB="12700"/>
                </a:tc>
                <a:tc>
                  <a:txBody>
                    <a:bodyPr/>
                    <a:lstStyle/>
                    <a:p>
                      <a:pPr algn="l" rtl="0" fontAlgn="t"/>
                      <a:r>
                        <a:rPr lang="en-IN" dirty="0">
                          <a:effectLst/>
                        </a:rPr>
                        <a:t>The study compares the proposed hybrid model against Convolutional RNN, Convolutional LSTM, Convolutional GRU, Convolutional Bi-directional RNN, Convolutional Bi-directional LSTM, and Convolutional Bi-directional GRU</a:t>
                      </a:r>
                    </a:p>
                  </a:txBody>
                  <a:tcPr marL="19050" marR="19050" marT="12700" marB="12700"/>
                </a:tc>
                <a:tc>
                  <a:txBody>
                    <a:bodyPr/>
                    <a:lstStyle/>
                    <a:p>
                      <a:pPr algn="l" rtl="0" fontAlgn="t"/>
                      <a:r>
                        <a:rPr lang="en-US" dirty="0">
                          <a:effectLst/>
                        </a:rPr>
                        <a:t>The proposed hybrid model achieved the lowest Root Mean Squared Error (RMSE) and highest accuracy, outperforming the baseline models in predicting stock index values. The hybrid model produced an RMSE of 0.0122 and a Mean Absolute Percentage Error (MAPE) of 1.31% on the BSE index​</a:t>
                      </a:r>
                    </a:p>
                  </a:txBody>
                  <a:tcPr marL="19050" marR="19050" marT="12700" marB="12700"/>
                </a:tc>
                <a:tc>
                  <a:txBody>
                    <a:bodyPr/>
                    <a:lstStyle/>
                    <a:p>
                      <a:pPr algn="l" rtl="0" fontAlgn="t"/>
                      <a:r>
                        <a:rPr lang="en-US" dirty="0">
                          <a:effectLst/>
                        </a:rPr>
                        <a:t>The paper highlights the need for a hybrid model that can improve prediction accuracy by accounting for multivariable input and handling chaotic stock market data, which traditional models fail to address effectively</a:t>
                      </a:r>
                    </a:p>
                  </a:txBody>
                  <a:tcPr marL="19050" marR="19050" marT="12700" marB="12700"/>
                </a:tc>
                <a:tc>
                  <a:txBody>
                    <a:bodyPr/>
                    <a:lstStyle/>
                    <a:p>
                      <a:pPr algn="l" rtl="0" fontAlgn="t"/>
                      <a:r>
                        <a:rPr lang="en-US" dirty="0">
                          <a:effectLst/>
                        </a:rPr>
                        <a:t>Time-series data from six Asian stock exchanges (BSE, HSI, TWII, JPXGY, JKSE, and KS11) between April 2020 and March 2024, containing features such as open price, close price, high price, low price, adjusted close price, and volume​</a:t>
                      </a:r>
                    </a:p>
                  </a:txBody>
                  <a:tcPr marL="19050" marR="19050" marT="12700" marB="12700"/>
                </a:tc>
                <a:extLst>
                  <a:ext uri="{0D108BD9-81ED-4DB2-BD59-A6C34878D82A}">
                    <a16:rowId xmlns:a16="http://schemas.microsoft.com/office/drawing/2014/main" val="3566677375"/>
                  </a:ext>
                </a:extLst>
              </a:tr>
            </a:tbl>
          </a:graphicData>
        </a:graphic>
      </p:graphicFrame>
      <p:sp>
        <p:nvSpPr>
          <p:cNvPr id="4" name="TextBox 3">
            <a:extLst>
              <a:ext uri="{FF2B5EF4-FFF2-40B4-BE49-F238E27FC236}">
                <a16:creationId xmlns:a16="http://schemas.microsoft.com/office/drawing/2014/main" id="{22BD7841-24FE-94BF-BA4C-7DC7B8A234BF}"/>
              </a:ext>
            </a:extLst>
          </p:cNvPr>
          <p:cNvSpPr txBox="1"/>
          <p:nvPr/>
        </p:nvSpPr>
        <p:spPr>
          <a:xfrm>
            <a:off x="6788115" y="6072777"/>
            <a:ext cx="7536587" cy="276999"/>
          </a:xfrm>
          <a:prstGeom prst="rect">
            <a:avLst/>
          </a:prstGeom>
          <a:noFill/>
        </p:spPr>
        <p:txBody>
          <a:bodyPr wrap="square" rtlCol="0">
            <a:spAutoFit/>
          </a:bodyPr>
          <a:lstStyle/>
          <a:p>
            <a:r>
              <a:rPr lang="en-IN" sz="1200" dirty="0">
                <a:solidFill>
                  <a:schemeClr val="bg1">
                    <a:lumMod val="50000"/>
                  </a:schemeClr>
                </a:solidFill>
              </a:rPr>
              <a:t>Full table can be accessed through this link: </a:t>
            </a:r>
            <a:r>
              <a:rPr lang="en-US" sz="1200" dirty="0">
                <a:solidFill>
                  <a:schemeClr val="tx1"/>
                </a:solidFill>
                <a:hlinkClick r:id="rId3">
                  <a:extLst>
                    <a:ext uri="{A12FA001-AC4F-418D-AE19-62706E023703}">
                      <ahyp:hlinkClr xmlns:ahyp="http://schemas.microsoft.com/office/drawing/2018/hyperlinkcolor" val="tx"/>
                    </a:ext>
                  </a:extLst>
                </a:hlinkClick>
              </a:rPr>
              <a:t>https://tinyurl.com/research-table</a:t>
            </a:r>
            <a:endParaRPr lang="en-IN" sz="1200" dirty="0">
              <a:solidFill>
                <a:schemeClr val="bg1">
                  <a:lumMod val="50000"/>
                </a:schemeClr>
              </a:solidFill>
            </a:endParaRPr>
          </a:p>
        </p:txBody>
      </p:sp>
    </p:spTree>
    <p:extLst>
      <p:ext uri="{BB962C8B-B14F-4D97-AF65-F5344CB8AC3E}">
        <p14:creationId xmlns:p14="http://schemas.microsoft.com/office/powerpoint/2010/main" val="2484329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FC9F9C89-F4E2-D892-FD07-E2FDCE363530}"/>
            </a:ext>
          </a:extLst>
        </p:cNvPr>
        <p:cNvGrpSpPr/>
        <p:nvPr/>
      </p:nvGrpSpPr>
      <p:grpSpPr>
        <a:xfrm>
          <a:off x="0" y="0"/>
          <a:ext cx="0" cy="0"/>
          <a:chOff x="0" y="0"/>
          <a:chExt cx="0" cy="0"/>
        </a:xfrm>
      </p:grpSpPr>
      <p:sp>
        <p:nvSpPr>
          <p:cNvPr id="165" name="Google Shape;165;p9">
            <a:extLst>
              <a:ext uri="{FF2B5EF4-FFF2-40B4-BE49-F238E27FC236}">
                <a16:creationId xmlns:a16="http://schemas.microsoft.com/office/drawing/2014/main" id="{5D478278-4583-44B8-E6BB-3BC9FDCDE2FC}"/>
              </a:ext>
            </a:extLst>
          </p:cNvPr>
          <p:cNvSpPr txBox="1">
            <a:spLocks noGrp="1"/>
          </p:cNvSpPr>
          <p:nvPr>
            <p:ph type="sldNum" idx="12"/>
          </p:nvPr>
        </p:nvSpPr>
        <p:spPr>
          <a:xfrm>
            <a:off x="9900459" y="6459785"/>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IN"/>
              <a:pPr marL="0" lvl="0" indent="0" algn="r" rtl="0">
                <a:lnSpc>
                  <a:spcPct val="100000"/>
                </a:lnSpc>
                <a:spcBef>
                  <a:spcPts val="0"/>
                </a:spcBef>
                <a:spcAft>
                  <a:spcPts val="0"/>
                </a:spcAft>
                <a:buClr>
                  <a:srgbClr val="000000"/>
                </a:buClr>
                <a:buSzPts val="1000"/>
                <a:buFont typeface="Arial"/>
                <a:buNone/>
              </a:pPr>
              <a:t>7</a:t>
            </a:fld>
            <a:endParaRPr dirty="0"/>
          </a:p>
        </p:txBody>
      </p:sp>
      <p:graphicFrame>
        <p:nvGraphicFramePr>
          <p:cNvPr id="2" name="Table 1">
            <a:extLst>
              <a:ext uri="{FF2B5EF4-FFF2-40B4-BE49-F238E27FC236}">
                <a16:creationId xmlns:a16="http://schemas.microsoft.com/office/drawing/2014/main" id="{F4965775-6CEB-C937-B91C-2C5BD4458804}"/>
              </a:ext>
            </a:extLst>
          </p:cNvPr>
          <p:cNvGraphicFramePr>
            <a:graphicFrameLocks noGrp="1"/>
          </p:cNvGraphicFramePr>
          <p:nvPr>
            <p:extLst>
              <p:ext uri="{D42A27DB-BD31-4B8C-83A1-F6EECF244321}">
                <p14:modId xmlns:p14="http://schemas.microsoft.com/office/powerpoint/2010/main" val="1523688817"/>
              </p:ext>
            </p:extLst>
          </p:nvPr>
        </p:nvGraphicFramePr>
        <p:xfrm>
          <a:off x="338377" y="428707"/>
          <a:ext cx="11515248" cy="5567832"/>
        </p:xfrm>
        <a:graphic>
          <a:graphicData uri="http://schemas.openxmlformats.org/drawingml/2006/table">
            <a:tbl>
              <a:tblPr firstRow="1" bandRow="1">
                <a:tableStyleId>{DF7A94E2-A595-4EB2-A351-53F5864805CA}</a:tableStyleId>
              </a:tblPr>
              <a:tblGrid>
                <a:gridCol w="1279472">
                  <a:extLst>
                    <a:ext uri="{9D8B030D-6E8A-4147-A177-3AD203B41FA5}">
                      <a16:colId xmlns:a16="http://schemas.microsoft.com/office/drawing/2014/main" val="1173186165"/>
                    </a:ext>
                  </a:extLst>
                </a:gridCol>
                <a:gridCol w="1279472">
                  <a:extLst>
                    <a:ext uri="{9D8B030D-6E8A-4147-A177-3AD203B41FA5}">
                      <a16:colId xmlns:a16="http://schemas.microsoft.com/office/drawing/2014/main" val="2951211738"/>
                    </a:ext>
                  </a:extLst>
                </a:gridCol>
                <a:gridCol w="1279472">
                  <a:extLst>
                    <a:ext uri="{9D8B030D-6E8A-4147-A177-3AD203B41FA5}">
                      <a16:colId xmlns:a16="http://schemas.microsoft.com/office/drawing/2014/main" val="3566098310"/>
                    </a:ext>
                  </a:extLst>
                </a:gridCol>
                <a:gridCol w="1279472">
                  <a:extLst>
                    <a:ext uri="{9D8B030D-6E8A-4147-A177-3AD203B41FA5}">
                      <a16:colId xmlns:a16="http://schemas.microsoft.com/office/drawing/2014/main" val="1390438592"/>
                    </a:ext>
                  </a:extLst>
                </a:gridCol>
                <a:gridCol w="1279472">
                  <a:extLst>
                    <a:ext uri="{9D8B030D-6E8A-4147-A177-3AD203B41FA5}">
                      <a16:colId xmlns:a16="http://schemas.microsoft.com/office/drawing/2014/main" val="2359027678"/>
                    </a:ext>
                  </a:extLst>
                </a:gridCol>
                <a:gridCol w="1279472">
                  <a:extLst>
                    <a:ext uri="{9D8B030D-6E8A-4147-A177-3AD203B41FA5}">
                      <a16:colId xmlns:a16="http://schemas.microsoft.com/office/drawing/2014/main" val="288837927"/>
                    </a:ext>
                  </a:extLst>
                </a:gridCol>
                <a:gridCol w="1279472">
                  <a:extLst>
                    <a:ext uri="{9D8B030D-6E8A-4147-A177-3AD203B41FA5}">
                      <a16:colId xmlns:a16="http://schemas.microsoft.com/office/drawing/2014/main" val="2026320408"/>
                    </a:ext>
                  </a:extLst>
                </a:gridCol>
                <a:gridCol w="1279472">
                  <a:extLst>
                    <a:ext uri="{9D8B030D-6E8A-4147-A177-3AD203B41FA5}">
                      <a16:colId xmlns:a16="http://schemas.microsoft.com/office/drawing/2014/main" val="3502713478"/>
                    </a:ext>
                  </a:extLst>
                </a:gridCol>
                <a:gridCol w="1279472">
                  <a:extLst>
                    <a:ext uri="{9D8B030D-6E8A-4147-A177-3AD203B41FA5}">
                      <a16:colId xmlns:a16="http://schemas.microsoft.com/office/drawing/2014/main" val="719232654"/>
                    </a:ext>
                  </a:extLst>
                </a:gridCol>
              </a:tblGrid>
              <a:tr h="534855">
                <a:tc>
                  <a:txBody>
                    <a:bodyPr/>
                    <a:lstStyle/>
                    <a:p>
                      <a:pPr rtl="0" fontAlgn="b"/>
                      <a:r>
                        <a:rPr lang="en-IN" b="1" dirty="0">
                          <a:effectLst/>
                        </a:rPr>
                        <a:t>PUBLISHED YEAR</a:t>
                      </a:r>
                    </a:p>
                  </a:txBody>
                  <a:tcPr marL="19050" marR="19050" marT="12700" marB="12700" anchor="ctr"/>
                </a:tc>
                <a:tc>
                  <a:txBody>
                    <a:bodyPr/>
                    <a:lstStyle/>
                    <a:p>
                      <a:pPr rtl="0" fontAlgn="b"/>
                      <a:r>
                        <a:rPr lang="en-IN" b="1">
                          <a:effectLst/>
                        </a:rPr>
                        <a:t>PUBLICATION DETAILS</a:t>
                      </a:r>
                    </a:p>
                  </a:txBody>
                  <a:tcPr marL="19050" marR="19050" marT="12700" marB="12700" anchor="ctr"/>
                </a:tc>
                <a:tc>
                  <a:txBody>
                    <a:bodyPr/>
                    <a:lstStyle/>
                    <a:p>
                      <a:pPr rtl="0" fontAlgn="b"/>
                      <a:r>
                        <a:rPr lang="en-IN" b="1">
                          <a:effectLst/>
                        </a:rPr>
                        <a:t>TITLE</a:t>
                      </a:r>
                    </a:p>
                  </a:txBody>
                  <a:tcPr marL="19050" marR="19050" marT="12700" marB="12700" anchor="ctr"/>
                </a:tc>
                <a:tc>
                  <a:txBody>
                    <a:bodyPr/>
                    <a:lstStyle/>
                    <a:p>
                      <a:pPr rtl="0" fontAlgn="b"/>
                      <a:r>
                        <a:rPr lang="en-IN" b="1">
                          <a:effectLst/>
                        </a:rPr>
                        <a:t>AUTHORS</a:t>
                      </a:r>
                    </a:p>
                  </a:txBody>
                  <a:tcPr marL="19050" marR="19050" marT="12700" marB="12700" anchor="ctr"/>
                </a:tc>
                <a:tc>
                  <a:txBody>
                    <a:bodyPr/>
                    <a:lstStyle/>
                    <a:p>
                      <a:pPr rtl="0" fontAlgn="b"/>
                      <a:r>
                        <a:rPr lang="en-IN" b="1">
                          <a:effectLst/>
                        </a:rPr>
                        <a:t>MODEL PROPOSED </a:t>
                      </a:r>
                    </a:p>
                  </a:txBody>
                  <a:tcPr marL="19050" marR="19050" marT="12700" marB="12700" anchor="ctr"/>
                </a:tc>
                <a:tc>
                  <a:txBody>
                    <a:bodyPr/>
                    <a:lstStyle/>
                    <a:p>
                      <a:pPr rtl="0" fontAlgn="b"/>
                      <a:r>
                        <a:rPr lang="en-IN" b="1">
                          <a:effectLst/>
                        </a:rPr>
                        <a:t>BASELINE MODELS</a:t>
                      </a:r>
                    </a:p>
                  </a:txBody>
                  <a:tcPr marL="19050" marR="19050" marT="12700" marB="12700" anchor="ctr"/>
                </a:tc>
                <a:tc>
                  <a:txBody>
                    <a:bodyPr/>
                    <a:lstStyle/>
                    <a:p>
                      <a:pPr rtl="0" fontAlgn="b"/>
                      <a:r>
                        <a:rPr lang="en-IN" b="1">
                          <a:effectLst/>
                        </a:rPr>
                        <a:t>RESULTS</a:t>
                      </a:r>
                    </a:p>
                  </a:txBody>
                  <a:tcPr marL="19050" marR="19050" marT="12700" marB="12700" anchor="ctr"/>
                </a:tc>
                <a:tc>
                  <a:txBody>
                    <a:bodyPr/>
                    <a:lstStyle/>
                    <a:p>
                      <a:pPr rtl="0" fontAlgn="b"/>
                      <a:r>
                        <a:rPr lang="en-IN" b="1">
                          <a:effectLst/>
                        </a:rPr>
                        <a:t>RESEARCH GAP</a:t>
                      </a:r>
                    </a:p>
                  </a:txBody>
                  <a:tcPr marL="19050" marR="19050" marT="12700" marB="12700" anchor="ctr"/>
                </a:tc>
                <a:tc>
                  <a:txBody>
                    <a:bodyPr/>
                    <a:lstStyle/>
                    <a:p>
                      <a:pPr rtl="0" fontAlgn="b"/>
                      <a:r>
                        <a:rPr lang="en-IN" b="1" dirty="0">
                          <a:effectLst/>
                        </a:rPr>
                        <a:t>DATASET</a:t>
                      </a:r>
                    </a:p>
                  </a:txBody>
                  <a:tcPr marL="19050" marR="19050" marT="12700" marB="12700" anchor="ctr"/>
                </a:tc>
                <a:extLst>
                  <a:ext uri="{0D108BD9-81ED-4DB2-BD59-A6C34878D82A}">
                    <a16:rowId xmlns:a16="http://schemas.microsoft.com/office/drawing/2014/main" val="4197635534"/>
                  </a:ext>
                </a:extLst>
              </a:tr>
              <a:tr h="5032977">
                <a:tc>
                  <a:txBody>
                    <a:bodyPr/>
                    <a:lstStyle/>
                    <a:p>
                      <a:pPr rtl="0" fontAlgn="t"/>
                      <a:r>
                        <a:rPr lang="en-IN">
                          <a:effectLst/>
                        </a:rPr>
                        <a:t>[15/10/2024]</a:t>
                      </a:r>
                    </a:p>
                  </a:txBody>
                  <a:tcPr marL="19050" marR="19050" marT="12700" marB="12700"/>
                </a:tc>
                <a:tc>
                  <a:txBody>
                    <a:bodyPr/>
                    <a:lstStyle/>
                    <a:p>
                      <a:pPr rtl="0" fontAlgn="t"/>
                      <a:r>
                        <a:rPr lang="en-IN">
                          <a:effectLst/>
                        </a:rPr>
                        <a:t>SSRN</a:t>
                      </a:r>
                    </a:p>
                  </a:txBody>
                  <a:tcPr marL="19050" marR="19050" marT="12700" marB="12700"/>
                </a:tc>
                <a:tc>
                  <a:txBody>
                    <a:bodyPr/>
                    <a:lstStyle/>
                    <a:p>
                      <a:pPr rtl="0" fontAlgn="t"/>
                      <a:r>
                        <a:rPr lang="en-US">
                          <a:effectLst/>
                        </a:rPr>
                        <a:t>Large Language Models for Financial Time Series Forecasting</a:t>
                      </a:r>
                    </a:p>
                  </a:txBody>
                  <a:tcPr marL="19050" marR="19050" marT="12700" marB="12700"/>
                </a:tc>
                <a:tc>
                  <a:txBody>
                    <a:bodyPr/>
                    <a:lstStyle/>
                    <a:p>
                      <a:pPr rtl="0" fontAlgn="t"/>
                      <a:r>
                        <a:rPr lang="en-IN">
                          <a:effectLst/>
                        </a:rPr>
                        <a:t>Miguel Noguer i Alonso, Rodolfo Pereira Franklin (Artificial Intelligence Finance Institute)</a:t>
                      </a:r>
                    </a:p>
                  </a:txBody>
                  <a:tcPr marL="19050" marR="19050" marT="12700" marB="12700"/>
                </a:tc>
                <a:tc>
                  <a:txBody>
                    <a:bodyPr/>
                    <a:lstStyle/>
                    <a:p>
                      <a:pPr rtl="0" fontAlgn="t"/>
                      <a:r>
                        <a:rPr lang="en-US">
                          <a:effectLst/>
                        </a:rPr>
                        <a:t>The paper explores the use of Large Language Models (LLMs) for time series forecasting, focusing on a new model, Time-LLM, which reprograms time series data into textual prototypes to leverage LLM capabilities for forecasting</a:t>
                      </a:r>
                    </a:p>
                  </a:txBody>
                  <a:tcPr marL="19050" marR="19050" marT="12700" marB="12700"/>
                </a:tc>
                <a:tc>
                  <a:txBody>
                    <a:bodyPr/>
                    <a:lstStyle/>
                    <a:p>
                      <a:pPr rtl="0" fontAlgn="t"/>
                      <a:r>
                        <a:rPr lang="en-US">
                          <a:effectLst/>
                        </a:rPr>
                        <a:t>Several models were tested for comparison, including TimeGPT, NBEATS, NHITS, PatchTST, and KAN</a:t>
                      </a:r>
                    </a:p>
                  </a:txBody>
                  <a:tcPr marL="19050" marR="19050" marT="12700" marB="12700"/>
                </a:tc>
                <a:tc>
                  <a:txBody>
                    <a:bodyPr/>
                    <a:lstStyle/>
                    <a:p>
                      <a:pPr rtl="0" fontAlgn="t"/>
                      <a:r>
                        <a:rPr lang="en-IN">
                          <a:effectLst/>
                        </a:rPr>
                        <a:t>The proposed Time-LLM and other models were evaluated using Mean Absolute Error (MAE), Mean Squared Error (MSE), and Root Mean Squared Error (RMSE). TimeGPT and TimeGPT Long Horizon models performed well in stable environments, while specialized models like KAN and PatchTST excelled in handling complex data</a:t>
                      </a:r>
                    </a:p>
                  </a:txBody>
                  <a:tcPr marL="19050" marR="19050" marT="12700" marB="12700"/>
                </a:tc>
                <a:tc>
                  <a:txBody>
                    <a:bodyPr/>
                    <a:lstStyle/>
                    <a:p>
                      <a:pPr rtl="0" fontAlgn="t"/>
                      <a:r>
                        <a:rPr lang="en-US">
                          <a:effectLst/>
                        </a:rPr>
                        <a:t>The study identifies a gap in adapting LLMs to handle time series data, particularly due to the continuous nature of such data, as LLMs typically work with discrete tokens</a:t>
                      </a:r>
                    </a:p>
                  </a:txBody>
                  <a:tcPr marL="19050" marR="19050" marT="12700" marB="12700"/>
                </a:tc>
                <a:tc>
                  <a:txBody>
                    <a:bodyPr/>
                    <a:lstStyle/>
                    <a:p>
                      <a:pPr rtl="0" fontAlgn="t"/>
                      <a:r>
                        <a:rPr lang="en-US" dirty="0">
                          <a:effectLst/>
                        </a:rPr>
                        <a:t>The dataset includes stock prices from companies like Google, Apple, Amazon, JPMorgan, and Meta from September 15, 2014, to September 12, 2024, sourced from Yahoo Finance​</a:t>
                      </a:r>
                    </a:p>
                  </a:txBody>
                  <a:tcPr marL="19050" marR="19050" marT="12700" marB="12700"/>
                </a:tc>
                <a:extLst>
                  <a:ext uri="{0D108BD9-81ED-4DB2-BD59-A6C34878D82A}">
                    <a16:rowId xmlns:a16="http://schemas.microsoft.com/office/drawing/2014/main" val="3566677375"/>
                  </a:ext>
                </a:extLst>
              </a:tr>
            </a:tbl>
          </a:graphicData>
        </a:graphic>
      </p:graphicFrame>
      <p:sp>
        <p:nvSpPr>
          <p:cNvPr id="3" name="TextBox 2">
            <a:extLst>
              <a:ext uri="{FF2B5EF4-FFF2-40B4-BE49-F238E27FC236}">
                <a16:creationId xmlns:a16="http://schemas.microsoft.com/office/drawing/2014/main" id="{F09BD26E-277F-A8C7-6779-92F956B12E83}"/>
              </a:ext>
            </a:extLst>
          </p:cNvPr>
          <p:cNvSpPr txBox="1"/>
          <p:nvPr/>
        </p:nvSpPr>
        <p:spPr>
          <a:xfrm>
            <a:off x="6788115" y="6072777"/>
            <a:ext cx="7536587" cy="276999"/>
          </a:xfrm>
          <a:prstGeom prst="rect">
            <a:avLst/>
          </a:prstGeom>
          <a:noFill/>
        </p:spPr>
        <p:txBody>
          <a:bodyPr wrap="square" rtlCol="0">
            <a:spAutoFit/>
          </a:bodyPr>
          <a:lstStyle/>
          <a:p>
            <a:r>
              <a:rPr lang="en-IN" sz="1200" dirty="0">
                <a:solidFill>
                  <a:schemeClr val="bg1">
                    <a:lumMod val="50000"/>
                  </a:schemeClr>
                </a:solidFill>
              </a:rPr>
              <a:t>Full table can be accessed through this link: </a:t>
            </a:r>
            <a:r>
              <a:rPr lang="en-US" sz="1200" dirty="0">
                <a:solidFill>
                  <a:schemeClr val="tx1"/>
                </a:solidFill>
                <a:hlinkClick r:id="rId3">
                  <a:extLst>
                    <a:ext uri="{A12FA001-AC4F-418D-AE19-62706E023703}">
                      <ahyp:hlinkClr xmlns:ahyp="http://schemas.microsoft.com/office/drawing/2018/hyperlinkcolor" val="tx"/>
                    </a:ext>
                  </a:extLst>
                </a:hlinkClick>
              </a:rPr>
              <a:t>https://tinyurl.com/research-table</a:t>
            </a:r>
            <a:endParaRPr lang="en-IN" sz="1200" dirty="0">
              <a:solidFill>
                <a:schemeClr val="bg1">
                  <a:lumMod val="50000"/>
                </a:schemeClr>
              </a:solidFill>
            </a:endParaRPr>
          </a:p>
        </p:txBody>
      </p:sp>
    </p:spTree>
    <p:extLst>
      <p:ext uri="{BB962C8B-B14F-4D97-AF65-F5344CB8AC3E}">
        <p14:creationId xmlns:p14="http://schemas.microsoft.com/office/powerpoint/2010/main" val="2492778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5DDA3D29-A7E2-50C5-17AC-8C3186E4D613}"/>
            </a:ext>
          </a:extLst>
        </p:cNvPr>
        <p:cNvGrpSpPr/>
        <p:nvPr/>
      </p:nvGrpSpPr>
      <p:grpSpPr>
        <a:xfrm>
          <a:off x="0" y="0"/>
          <a:ext cx="0" cy="0"/>
          <a:chOff x="0" y="0"/>
          <a:chExt cx="0" cy="0"/>
        </a:xfrm>
      </p:grpSpPr>
      <p:sp>
        <p:nvSpPr>
          <p:cNvPr id="165" name="Google Shape;165;p9">
            <a:extLst>
              <a:ext uri="{FF2B5EF4-FFF2-40B4-BE49-F238E27FC236}">
                <a16:creationId xmlns:a16="http://schemas.microsoft.com/office/drawing/2014/main" id="{07F79A6C-3713-BAF6-9933-55CE849BD5CB}"/>
              </a:ext>
            </a:extLst>
          </p:cNvPr>
          <p:cNvSpPr txBox="1">
            <a:spLocks noGrp="1"/>
          </p:cNvSpPr>
          <p:nvPr>
            <p:ph type="sldNum" idx="12"/>
          </p:nvPr>
        </p:nvSpPr>
        <p:spPr>
          <a:xfrm>
            <a:off x="9900459" y="6459785"/>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IN"/>
              <a:pPr marL="0" lvl="0" indent="0" algn="r" rtl="0">
                <a:lnSpc>
                  <a:spcPct val="100000"/>
                </a:lnSpc>
                <a:spcBef>
                  <a:spcPts val="0"/>
                </a:spcBef>
                <a:spcAft>
                  <a:spcPts val="0"/>
                </a:spcAft>
                <a:buClr>
                  <a:srgbClr val="000000"/>
                </a:buClr>
                <a:buSzPts val="1000"/>
                <a:buFont typeface="Arial"/>
                <a:buNone/>
              </a:pPr>
              <a:t>8</a:t>
            </a:fld>
            <a:endParaRPr dirty="0"/>
          </a:p>
        </p:txBody>
      </p:sp>
      <p:graphicFrame>
        <p:nvGraphicFramePr>
          <p:cNvPr id="2" name="Table 1">
            <a:extLst>
              <a:ext uri="{FF2B5EF4-FFF2-40B4-BE49-F238E27FC236}">
                <a16:creationId xmlns:a16="http://schemas.microsoft.com/office/drawing/2014/main" id="{A477575C-BC55-5FCE-5C12-60D9E1F6F72B}"/>
              </a:ext>
            </a:extLst>
          </p:cNvPr>
          <p:cNvGraphicFramePr>
            <a:graphicFrameLocks noGrp="1"/>
          </p:cNvGraphicFramePr>
          <p:nvPr>
            <p:extLst>
              <p:ext uri="{D42A27DB-BD31-4B8C-83A1-F6EECF244321}">
                <p14:modId xmlns:p14="http://schemas.microsoft.com/office/powerpoint/2010/main" val="3661285903"/>
              </p:ext>
            </p:extLst>
          </p:nvPr>
        </p:nvGraphicFramePr>
        <p:xfrm>
          <a:off x="328752" y="351704"/>
          <a:ext cx="11515248" cy="5250197"/>
        </p:xfrm>
        <a:graphic>
          <a:graphicData uri="http://schemas.openxmlformats.org/drawingml/2006/table">
            <a:tbl>
              <a:tblPr firstRow="1" bandRow="1">
                <a:tableStyleId>{DF7A94E2-A595-4EB2-A351-53F5864805CA}</a:tableStyleId>
              </a:tblPr>
              <a:tblGrid>
                <a:gridCol w="1279472">
                  <a:extLst>
                    <a:ext uri="{9D8B030D-6E8A-4147-A177-3AD203B41FA5}">
                      <a16:colId xmlns:a16="http://schemas.microsoft.com/office/drawing/2014/main" val="1173186165"/>
                    </a:ext>
                  </a:extLst>
                </a:gridCol>
                <a:gridCol w="1279472">
                  <a:extLst>
                    <a:ext uri="{9D8B030D-6E8A-4147-A177-3AD203B41FA5}">
                      <a16:colId xmlns:a16="http://schemas.microsoft.com/office/drawing/2014/main" val="2951211738"/>
                    </a:ext>
                  </a:extLst>
                </a:gridCol>
                <a:gridCol w="1279472">
                  <a:extLst>
                    <a:ext uri="{9D8B030D-6E8A-4147-A177-3AD203B41FA5}">
                      <a16:colId xmlns:a16="http://schemas.microsoft.com/office/drawing/2014/main" val="3566098310"/>
                    </a:ext>
                  </a:extLst>
                </a:gridCol>
                <a:gridCol w="1279472">
                  <a:extLst>
                    <a:ext uri="{9D8B030D-6E8A-4147-A177-3AD203B41FA5}">
                      <a16:colId xmlns:a16="http://schemas.microsoft.com/office/drawing/2014/main" val="1390438592"/>
                    </a:ext>
                  </a:extLst>
                </a:gridCol>
                <a:gridCol w="1279472">
                  <a:extLst>
                    <a:ext uri="{9D8B030D-6E8A-4147-A177-3AD203B41FA5}">
                      <a16:colId xmlns:a16="http://schemas.microsoft.com/office/drawing/2014/main" val="2359027678"/>
                    </a:ext>
                  </a:extLst>
                </a:gridCol>
                <a:gridCol w="1279472">
                  <a:extLst>
                    <a:ext uri="{9D8B030D-6E8A-4147-A177-3AD203B41FA5}">
                      <a16:colId xmlns:a16="http://schemas.microsoft.com/office/drawing/2014/main" val="288837927"/>
                    </a:ext>
                  </a:extLst>
                </a:gridCol>
                <a:gridCol w="1279472">
                  <a:extLst>
                    <a:ext uri="{9D8B030D-6E8A-4147-A177-3AD203B41FA5}">
                      <a16:colId xmlns:a16="http://schemas.microsoft.com/office/drawing/2014/main" val="2026320408"/>
                    </a:ext>
                  </a:extLst>
                </a:gridCol>
                <a:gridCol w="1279472">
                  <a:extLst>
                    <a:ext uri="{9D8B030D-6E8A-4147-A177-3AD203B41FA5}">
                      <a16:colId xmlns:a16="http://schemas.microsoft.com/office/drawing/2014/main" val="3502713478"/>
                    </a:ext>
                  </a:extLst>
                </a:gridCol>
                <a:gridCol w="1279472">
                  <a:extLst>
                    <a:ext uri="{9D8B030D-6E8A-4147-A177-3AD203B41FA5}">
                      <a16:colId xmlns:a16="http://schemas.microsoft.com/office/drawing/2014/main" val="719232654"/>
                    </a:ext>
                  </a:extLst>
                </a:gridCol>
              </a:tblGrid>
              <a:tr h="504342">
                <a:tc>
                  <a:txBody>
                    <a:bodyPr/>
                    <a:lstStyle/>
                    <a:p>
                      <a:pPr rtl="0" fontAlgn="b"/>
                      <a:r>
                        <a:rPr lang="en-IN" sz="1200" b="1" dirty="0">
                          <a:effectLst/>
                        </a:rPr>
                        <a:t>PUBLISHED YEAR</a:t>
                      </a:r>
                    </a:p>
                  </a:txBody>
                  <a:tcPr marL="19050" marR="19050" marT="12700" marB="12700" anchor="ctr"/>
                </a:tc>
                <a:tc>
                  <a:txBody>
                    <a:bodyPr/>
                    <a:lstStyle/>
                    <a:p>
                      <a:pPr rtl="0" fontAlgn="b"/>
                      <a:r>
                        <a:rPr lang="en-IN" sz="1200" b="1">
                          <a:effectLst/>
                        </a:rPr>
                        <a:t>PUBLICATION DETAILS</a:t>
                      </a:r>
                    </a:p>
                  </a:txBody>
                  <a:tcPr marL="19050" marR="19050" marT="12700" marB="12700" anchor="ctr"/>
                </a:tc>
                <a:tc>
                  <a:txBody>
                    <a:bodyPr/>
                    <a:lstStyle/>
                    <a:p>
                      <a:pPr rtl="0" fontAlgn="b"/>
                      <a:r>
                        <a:rPr lang="en-IN" sz="1200" b="1">
                          <a:effectLst/>
                        </a:rPr>
                        <a:t>TITLE</a:t>
                      </a:r>
                    </a:p>
                  </a:txBody>
                  <a:tcPr marL="19050" marR="19050" marT="12700" marB="12700" anchor="ctr"/>
                </a:tc>
                <a:tc>
                  <a:txBody>
                    <a:bodyPr/>
                    <a:lstStyle/>
                    <a:p>
                      <a:pPr rtl="0" fontAlgn="b"/>
                      <a:r>
                        <a:rPr lang="en-IN" sz="1200" b="1">
                          <a:effectLst/>
                        </a:rPr>
                        <a:t>AUTHORS</a:t>
                      </a:r>
                    </a:p>
                  </a:txBody>
                  <a:tcPr marL="19050" marR="19050" marT="12700" marB="12700" anchor="ctr"/>
                </a:tc>
                <a:tc>
                  <a:txBody>
                    <a:bodyPr/>
                    <a:lstStyle/>
                    <a:p>
                      <a:pPr rtl="0" fontAlgn="b"/>
                      <a:r>
                        <a:rPr lang="en-IN" sz="1200" b="1">
                          <a:effectLst/>
                        </a:rPr>
                        <a:t>MODEL PROPOSED </a:t>
                      </a:r>
                    </a:p>
                  </a:txBody>
                  <a:tcPr marL="19050" marR="19050" marT="12700" marB="12700" anchor="ctr"/>
                </a:tc>
                <a:tc>
                  <a:txBody>
                    <a:bodyPr/>
                    <a:lstStyle/>
                    <a:p>
                      <a:pPr rtl="0" fontAlgn="b"/>
                      <a:r>
                        <a:rPr lang="en-IN" sz="1200" b="1">
                          <a:effectLst/>
                        </a:rPr>
                        <a:t>BASELINE MODELS</a:t>
                      </a:r>
                    </a:p>
                  </a:txBody>
                  <a:tcPr marL="19050" marR="19050" marT="12700" marB="12700" anchor="ctr"/>
                </a:tc>
                <a:tc>
                  <a:txBody>
                    <a:bodyPr/>
                    <a:lstStyle/>
                    <a:p>
                      <a:pPr rtl="0" fontAlgn="b"/>
                      <a:r>
                        <a:rPr lang="en-IN" sz="1200" b="1">
                          <a:effectLst/>
                        </a:rPr>
                        <a:t>RESULTS</a:t>
                      </a:r>
                    </a:p>
                  </a:txBody>
                  <a:tcPr marL="19050" marR="19050" marT="12700" marB="12700" anchor="ctr"/>
                </a:tc>
                <a:tc>
                  <a:txBody>
                    <a:bodyPr/>
                    <a:lstStyle/>
                    <a:p>
                      <a:pPr rtl="0" fontAlgn="b"/>
                      <a:r>
                        <a:rPr lang="en-IN" sz="1200" b="1">
                          <a:effectLst/>
                        </a:rPr>
                        <a:t>RESEARCH GAP</a:t>
                      </a:r>
                    </a:p>
                  </a:txBody>
                  <a:tcPr marL="19050" marR="19050" marT="12700" marB="12700" anchor="ctr"/>
                </a:tc>
                <a:tc>
                  <a:txBody>
                    <a:bodyPr/>
                    <a:lstStyle/>
                    <a:p>
                      <a:pPr rtl="0" fontAlgn="b"/>
                      <a:r>
                        <a:rPr lang="en-IN" sz="1200" b="1" dirty="0">
                          <a:effectLst/>
                        </a:rPr>
                        <a:t>DATASET</a:t>
                      </a:r>
                    </a:p>
                  </a:txBody>
                  <a:tcPr marL="19050" marR="19050" marT="12700" marB="12700" anchor="ctr"/>
                </a:tc>
                <a:extLst>
                  <a:ext uri="{0D108BD9-81ED-4DB2-BD59-A6C34878D82A}">
                    <a16:rowId xmlns:a16="http://schemas.microsoft.com/office/drawing/2014/main" val="4197635534"/>
                  </a:ext>
                </a:extLst>
              </a:tr>
              <a:tr h="4745855">
                <a:tc>
                  <a:txBody>
                    <a:bodyPr/>
                    <a:lstStyle/>
                    <a:p>
                      <a:pPr rtl="0" fontAlgn="t"/>
                      <a:r>
                        <a:rPr lang="en-IN" sz="1200" dirty="0">
                          <a:effectLst/>
                        </a:rPr>
                        <a:t>[26/09/2024]</a:t>
                      </a:r>
                    </a:p>
                  </a:txBody>
                  <a:tcPr marL="19050" marR="19050" marT="12700" marB="12700"/>
                </a:tc>
                <a:tc>
                  <a:txBody>
                    <a:bodyPr/>
                    <a:lstStyle/>
                    <a:p>
                      <a:pPr rtl="0" fontAlgn="t"/>
                      <a:r>
                        <a:rPr lang="en-IN" sz="1200" dirty="0" err="1">
                          <a:effectLst/>
                        </a:rPr>
                        <a:t>arXiv</a:t>
                      </a:r>
                      <a:r>
                        <a:rPr lang="en-IN" sz="1200" dirty="0">
                          <a:effectLst/>
                        </a:rPr>
                        <a:t>: Computational Finance (q-</a:t>
                      </a:r>
                      <a:r>
                        <a:rPr lang="en-IN" sz="1200" dirty="0" err="1">
                          <a:effectLst/>
                        </a:rPr>
                        <a:t>fin.CP</a:t>
                      </a:r>
                      <a:r>
                        <a:rPr lang="en-IN" sz="1200" dirty="0">
                          <a:effectLst/>
                        </a:rPr>
                        <a:t>); Machine Learning (</a:t>
                      </a:r>
                      <a:r>
                        <a:rPr lang="en-IN" sz="1200" dirty="0" err="1">
                          <a:effectLst/>
                        </a:rPr>
                        <a:t>cs.LG</a:t>
                      </a:r>
                      <a:r>
                        <a:rPr lang="en-IN" sz="1200" dirty="0">
                          <a:effectLst/>
                        </a:rPr>
                        <a:t>) [arXiv:2410.03707 [q-</a:t>
                      </a:r>
                      <a:r>
                        <a:rPr lang="en-IN" sz="1200" dirty="0" err="1">
                          <a:effectLst/>
                        </a:rPr>
                        <a:t>fin.CP</a:t>
                      </a:r>
                      <a:r>
                        <a:rPr lang="en-IN" sz="1200" dirty="0">
                          <a:effectLst/>
                        </a:rPr>
                        <a:t>]]</a:t>
                      </a:r>
                    </a:p>
                  </a:txBody>
                  <a:tcPr marL="19050" marR="19050" marT="12700" marB="12700"/>
                </a:tc>
                <a:tc>
                  <a:txBody>
                    <a:bodyPr/>
                    <a:lstStyle/>
                    <a:p>
                      <a:pPr rtl="0" fontAlgn="t"/>
                      <a:r>
                        <a:rPr lang="en-US" sz="1200" dirty="0">
                          <a:effectLst/>
                        </a:rPr>
                        <a:t>Mamba Meets Financial Markets: A Graph-Mamba Approach for Stock Price Prediction</a:t>
                      </a:r>
                    </a:p>
                  </a:txBody>
                  <a:tcPr marL="19050" marR="19050" marT="12700" marB="12700"/>
                </a:tc>
                <a:tc>
                  <a:txBody>
                    <a:bodyPr/>
                    <a:lstStyle/>
                    <a:p>
                      <a:pPr rtl="0" fontAlgn="t"/>
                      <a:r>
                        <a:rPr lang="en-IN" sz="1200" dirty="0">
                          <a:effectLst/>
                        </a:rPr>
                        <a:t>Ali Mehrabian, Ehsan </a:t>
                      </a:r>
                      <a:r>
                        <a:rPr lang="en-IN" sz="1200" dirty="0" err="1">
                          <a:effectLst/>
                        </a:rPr>
                        <a:t>Hoseinzade</a:t>
                      </a:r>
                      <a:r>
                        <a:rPr lang="en-IN" sz="1200" dirty="0">
                          <a:effectLst/>
                        </a:rPr>
                        <a:t>, Mahdi Mazloum, </a:t>
                      </a:r>
                      <a:r>
                        <a:rPr lang="en-IN" sz="1200" dirty="0" err="1">
                          <a:effectLst/>
                        </a:rPr>
                        <a:t>Xiaohong</a:t>
                      </a:r>
                      <a:r>
                        <a:rPr lang="en-IN" sz="1200" dirty="0">
                          <a:effectLst/>
                        </a:rPr>
                        <a:t> Chen</a:t>
                      </a:r>
                    </a:p>
                  </a:txBody>
                  <a:tcPr marL="19050" marR="19050" marT="12700" marB="12700"/>
                </a:tc>
                <a:tc>
                  <a:txBody>
                    <a:bodyPr/>
                    <a:lstStyle/>
                    <a:p>
                      <a:pPr rtl="0" fontAlgn="t"/>
                      <a:r>
                        <a:rPr lang="en-US" sz="1200" dirty="0">
                          <a:effectLst/>
                        </a:rPr>
                        <a:t>(SAMBA) The proposed model is SAMBA, a framework for stock price prediction. It integrates Bidirectional Mamba (BI-Mamba) for capturing long-term dependencies and Adaptive Graph Convolutional (AGC) for modeling interactions between daily stock features, significantly improving prediction accuracy and computational efficiency​</a:t>
                      </a:r>
                    </a:p>
                  </a:txBody>
                  <a:tcPr marL="19050" marR="19050" marT="12700" marB="12700"/>
                </a:tc>
                <a:tc>
                  <a:txBody>
                    <a:bodyPr/>
                    <a:lstStyle/>
                    <a:p>
                      <a:pPr rtl="0" fontAlgn="t"/>
                      <a:r>
                        <a:rPr lang="en-US" sz="1200" dirty="0">
                          <a:effectLst/>
                        </a:rPr>
                        <a:t>The paper compares SAMBA to several models, including LSTM, Transformer, </a:t>
                      </a:r>
                      <a:r>
                        <a:rPr lang="en-US" sz="1200" dirty="0" err="1">
                          <a:effectLst/>
                        </a:rPr>
                        <a:t>StockMixer</a:t>
                      </a:r>
                      <a:r>
                        <a:rPr lang="en-US" sz="1200" dirty="0">
                          <a:effectLst/>
                        </a:rPr>
                        <a:t>, AGCRN, </a:t>
                      </a:r>
                      <a:r>
                        <a:rPr lang="en-US" sz="1200" dirty="0" err="1">
                          <a:effectLst/>
                        </a:rPr>
                        <a:t>FourierGNN</a:t>
                      </a:r>
                      <a:r>
                        <a:rPr lang="en-US" sz="1200" dirty="0">
                          <a:effectLst/>
                        </a:rPr>
                        <a:t>, and </a:t>
                      </a:r>
                      <a:r>
                        <a:rPr lang="en-US" sz="1200" dirty="0" err="1">
                          <a:effectLst/>
                        </a:rPr>
                        <a:t>MambaStock</a:t>
                      </a:r>
                      <a:r>
                        <a:rPr lang="en-US" sz="1200" dirty="0">
                          <a:effectLst/>
                        </a:rPr>
                        <a:t>. Each baseline has varying degrees of success in prediction tasks</a:t>
                      </a:r>
                    </a:p>
                  </a:txBody>
                  <a:tcPr marL="19050" marR="19050" marT="12700" marB="12700"/>
                </a:tc>
                <a:tc>
                  <a:txBody>
                    <a:bodyPr/>
                    <a:lstStyle/>
                    <a:p>
                      <a:pPr rtl="0" fontAlgn="t"/>
                      <a:r>
                        <a:rPr lang="en-US" sz="1200" dirty="0">
                          <a:effectLst/>
                        </a:rPr>
                        <a:t>SAMBA outperforms all the baseline models in RMSE, Information Coefficient (IC), and Rank Information Coefficient (RIC). For example, SAMBA achieves improvements in RMSE by 11.72% (NASDAQ), 10.07% (NYSE), and 6.90% (DJIA). It also reduces training time and memory requirements compared to some models, making it suitable for real-time trading</a:t>
                      </a:r>
                    </a:p>
                  </a:txBody>
                  <a:tcPr marL="19050" marR="19050" marT="12700" marB="12700"/>
                </a:tc>
                <a:tc>
                  <a:txBody>
                    <a:bodyPr/>
                    <a:lstStyle/>
                    <a:p>
                      <a:pPr rtl="0" fontAlgn="t"/>
                      <a:r>
                        <a:rPr lang="en-US" sz="1200" dirty="0">
                          <a:effectLst/>
                        </a:rPr>
                        <a:t>he research addresses the limitations of transformer-based models, such as high computational complexity and memory usage, by proposing a model that captures long-term dependencies efficiently through BI-Mamba and interactions between stock features via AGC. SAMBA addresses these limitations with its near-linear time complexity and the ability to capture both temporal and relational dependencies</a:t>
                      </a:r>
                    </a:p>
                  </a:txBody>
                  <a:tcPr marL="19050" marR="19050" marT="12700" marB="12700"/>
                </a:tc>
                <a:tc>
                  <a:txBody>
                    <a:bodyPr/>
                    <a:lstStyle/>
                    <a:p>
                      <a:pPr rtl="0" fontAlgn="t"/>
                      <a:r>
                        <a:rPr lang="en-US" sz="1200" dirty="0">
                          <a:effectLst/>
                        </a:rPr>
                        <a:t>The model was trained and tested on three real-world stock market datasets: NASDAQ, New York Stock Exchange (NYSE), and Dow Jones Industrial Average (DJIA), covering the period from January 2010 to November 2023</a:t>
                      </a:r>
                    </a:p>
                  </a:txBody>
                  <a:tcPr marL="19050" marR="19050" marT="12700" marB="12700"/>
                </a:tc>
                <a:extLst>
                  <a:ext uri="{0D108BD9-81ED-4DB2-BD59-A6C34878D82A}">
                    <a16:rowId xmlns:a16="http://schemas.microsoft.com/office/drawing/2014/main" val="3566677375"/>
                  </a:ext>
                </a:extLst>
              </a:tr>
            </a:tbl>
          </a:graphicData>
        </a:graphic>
      </p:graphicFrame>
      <p:sp>
        <p:nvSpPr>
          <p:cNvPr id="3" name="TextBox 2">
            <a:extLst>
              <a:ext uri="{FF2B5EF4-FFF2-40B4-BE49-F238E27FC236}">
                <a16:creationId xmlns:a16="http://schemas.microsoft.com/office/drawing/2014/main" id="{1E916F20-CC06-CE9B-4996-5C87019E2008}"/>
              </a:ext>
            </a:extLst>
          </p:cNvPr>
          <p:cNvSpPr txBox="1"/>
          <p:nvPr/>
        </p:nvSpPr>
        <p:spPr>
          <a:xfrm>
            <a:off x="6788115" y="6072777"/>
            <a:ext cx="7536587" cy="276999"/>
          </a:xfrm>
          <a:prstGeom prst="rect">
            <a:avLst/>
          </a:prstGeom>
          <a:noFill/>
        </p:spPr>
        <p:txBody>
          <a:bodyPr wrap="square" rtlCol="0">
            <a:spAutoFit/>
          </a:bodyPr>
          <a:lstStyle/>
          <a:p>
            <a:r>
              <a:rPr lang="en-IN" sz="1200" dirty="0">
                <a:solidFill>
                  <a:schemeClr val="bg1">
                    <a:lumMod val="50000"/>
                  </a:schemeClr>
                </a:solidFill>
              </a:rPr>
              <a:t>Full table can be accessed through this link: </a:t>
            </a:r>
            <a:r>
              <a:rPr lang="en-US" sz="1200" dirty="0">
                <a:solidFill>
                  <a:schemeClr val="tx1"/>
                </a:solidFill>
                <a:hlinkClick r:id="rId3">
                  <a:extLst>
                    <a:ext uri="{A12FA001-AC4F-418D-AE19-62706E023703}">
                      <ahyp:hlinkClr xmlns:ahyp="http://schemas.microsoft.com/office/drawing/2018/hyperlinkcolor" val="tx"/>
                    </a:ext>
                  </a:extLst>
                </a:hlinkClick>
              </a:rPr>
              <a:t>https://tinyurl.com/research-table</a:t>
            </a:r>
            <a:endParaRPr lang="en-IN" sz="1200" dirty="0">
              <a:solidFill>
                <a:schemeClr val="bg1">
                  <a:lumMod val="50000"/>
                </a:schemeClr>
              </a:solidFill>
            </a:endParaRPr>
          </a:p>
        </p:txBody>
      </p:sp>
    </p:spTree>
    <p:extLst>
      <p:ext uri="{BB962C8B-B14F-4D97-AF65-F5344CB8AC3E}">
        <p14:creationId xmlns:p14="http://schemas.microsoft.com/office/powerpoint/2010/main" val="2317599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1AF338BA-7AB6-9E29-B251-4629EECFDC7F}"/>
            </a:ext>
          </a:extLst>
        </p:cNvPr>
        <p:cNvGrpSpPr/>
        <p:nvPr/>
      </p:nvGrpSpPr>
      <p:grpSpPr>
        <a:xfrm>
          <a:off x="0" y="0"/>
          <a:ext cx="0" cy="0"/>
          <a:chOff x="0" y="0"/>
          <a:chExt cx="0" cy="0"/>
        </a:xfrm>
      </p:grpSpPr>
      <p:sp>
        <p:nvSpPr>
          <p:cNvPr id="165" name="Google Shape;165;p9">
            <a:extLst>
              <a:ext uri="{FF2B5EF4-FFF2-40B4-BE49-F238E27FC236}">
                <a16:creationId xmlns:a16="http://schemas.microsoft.com/office/drawing/2014/main" id="{0F3D5384-6BA3-FC64-807C-8E0E8568E5BB}"/>
              </a:ext>
            </a:extLst>
          </p:cNvPr>
          <p:cNvSpPr txBox="1">
            <a:spLocks noGrp="1"/>
          </p:cNvSpPr>
          <p:nvPr>
            <p:ph type="sldNum" idx="12"/>
          </p:nvPr>
        </p:nvSpPr>
        <p:spPr>
          <a:xfrm>
            <a:off x="9900459" y="6459785"/>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IN"/>
              <a:pPr marL="0" lvl="0" indent="0" algn="r" rtl="0">
                <a:lnSpc>
                  <a:spcPct val="100000"/>
                </a:lnSpc>
                <a:spcBef>
                  <a:spcPts val="0"/>
                </a:spcBef>
                <a:spcAft>
                  <a:spcPts val="0"/>
                </a:spcAft>
                <a:buClr>
                  <a:srgbClr val="000000"/>
                </a:buClr>
                <a:buSzPts val="1000"/>
                <a:buFont typeface="Arial"/>
                <a:buNone/>
              </a:pPr>
              <a:t>9</a:t>
            </a:fld>
            <a:endParaRPr dirty="0"/>
          </a:p>
        </p:txBody>
      </p:sp>
      <p:graphicFrame>
        <p:nvGraphicFramePr>
          <p:cNvPr id="2" name="Table 1">
            <a:extLst>
              <a:ext uri="{FF2B5EF4-FFF2-40B4-BE49-F238E27FC236}">
                <a16:creationId xmlns:a16="http://schemas.microsoft.com/office/drawing/2014/main" id="{5323DFF9-1A03-7CAA-74A7-4569F9E7AC31}"/>
              </a:ext>
            </a:extLst>
          </p:cNvPr>
          <p:cNvGraphicFramePr>
            <a:graphicFrameLocks noGrp="1"/>
          </p:cNvGraphicFramePr>
          <p:nvPr>
            <p:extLst>
              <p:ext uri="{D42A27DB-BD31-4B8C-83A1-F6EECF244321}">
                <p14:modId xmlns:p14="http://schemas.microsoft.com/office/powerpoint/2010/main" val="1622145635"/>
              </p:ext>
            </p:extLst>
          </p:nvPr>
        </p:nvGraphicFramePr>
        <p:xfrm>
          <a:off x="328752" y="351704"/>
          <a:ext cx="11515248" cy="5650382"/>
        </p:xfrm>
        <a:graphic>
          <a:graphicData uri="http://schemas.openxmlformats.org/drawingml/2006/table">
            <a:tbl>
              <a:tblPr firstRow="1" bandRow="1">
                <a:tableStyleId>{DF7A94E2-A595-4EB2-A351-53F5864805CA}</a:tableStyleId>
              </a:tblPr>
              <a:tblGrid>
                <a:gridCol w="1279472">
                  <a:extLst>
                    <a:ext uri="{9D8B030D-6E8A-4147-A177-3AD203B41FA5}">
                      <a16:colId xmlns:a16="http://schemas.microsoft.com/office/drawing/2014/main" val="1173186165"/>
                    </a:ext>
                  </a:extLst>
                </a:gridCol>
                <a:gridCol w="1279472">
                  <a:extLst>
                    <a:ext uri="{9D8B030D-6E8A-4147-A177-3AD203B41FA5}">
                      <a16:colId xmlns:a16="http://schemas.microsoft.com/office/drawing/2014/main" val="2951211738"/>
                    </a:ext>
                  </a:extLst>
                </a:gridCol>
                <a:gridCol w="1279472">
                  <a:extLst>
                    <a:ext uri="{9D8B030D-6E8A-4147-A177-3AD203B41FA5}">
                      <a16:colId xmlns:a16="http://schemas.microsoft.com/office/drawing/2014/main" val="3566098310"/>
                    </a:ext>
                  </a:extLst>
                </a:gridCol>
                <a:gridCol w="1279472">
                  <a:extLst>
                    <a:ext uri="{9D8B030D-6E8A-4147-A177-3AD203B41FA5}">
                      <a16:colId xmlns:a16="http://schemas.microsoft.com/office/drawing/2014/main" val="1390438592"/>
                    </a:ext>
                  </a:extLst>
                </a:gridCol>
                <a:gridCol w="1279472">
                  <a:extLst>
                    <a:ext uri="{9D8B030D-6E8A-4147-A177-3AD203B41FA5}">
                      <a16:colId xmlns:a16="http://schemas.microsoft.com/office/drawing/2014/main" val="2359027678"/>
                    </a:ext>
                  </a:extLst>
                </a:gridCol>
                <a:gridCol w="1279472">
                  <a:extLst>
                    <a:ext uri="{9D8B030D-6E8A-4147-A177-3AD203B41FA5}">
                      <a16:colId xmlns:a16="http://schemas.microsoft.com/office/drawing/2014/main" val="288837927"/>
                    </a:ext>
                  </a:extLst>
                </a:gridCol>
                <a:gridCol w="1279472">
                  <a:extLst>
                    <a:ext uri="{9D8B030D-6E8A-4147-A177-3AD203B41FA5}">
                      <a16:colId xmlns:a16="http://schemas.microsoft.com/office/drawing/2014/main" val="2026320408"/>
                    </a:ext>
                  </a:extLst>
                </a:gridCol>
                <a:gridCol w="1279472">
                  <a:extLst>
                    <a:ext uri="{9D8B030D-6E8A-4147-A177-3AD203B41FA5}">
                      <a16:colId xmlns:a16="http://schemas.microsoft.com/office/drawing/2014/main" val="3502713478"/>
                    </a:ext>
                  </a:extLst>
                </a:gridCol>
                <a:gridCol w="1279472">
                  <a:extLst>
                    <a:ext uri="{9D8B030D-6E8A-4147-A177-3AD203B41FA5}">
                      <a16:colId xmlns:a16="http://schemas.microsoft.com/office/drawing/2014/main" val="719232654"/>
                    </a:ext>
                  </a:extLst>
                </a:gridCol>
              </a:tblGrid>
              <a:tr h="504342">
                <a:tc>
                  <a:txBody>
                    <a:bodyPr/>
                    <a:lstStyle/>
                    <a:p>
                      <a:pPr rtl="0" fontAlgn="b"/>
                      <a:r>
                        <a:rPr lang="en-IN" sz="1200" b="1" dirty="0">
                          <a:effectLst/>
                        </a:rPr>
                        <a:t>PUBLISHED YEAR</a:t>
                      </a:r>
                    </a:p>
                  </a:txBody>
                  <a:tcPr marL="19050" marR="19050" marT="12700" marB="12700" anchor="ctr"/>
                </a:tc>
                <a:tc>
                  <a:txBody>
                    <a:bodyPr/>
                    <a:lstStyle/>
                    <a:p>
                      <a:pPr rtl="0" fontAlgn="b"/>
                      <a:r>
                        <a:rPr lang="en-IN" sz="1200" b="1">
                          <a:effectLst/>
                        </a:rPr>
                        <a:t>PUBLICATION DETAILS</a:t>
                      </a:r>
                    </a:p>
                  </a:txBody>
                  <a:tcPr marL="19050" marR="19050" marT="12700" marB="12700" anchor="ctr"/>
                </a:tc>
                <a:tc>
                  <a:txBody>
                    <a:bodyPr/>
                    <a:lstStyle/>
                    <a:p>
                      <a:pPr rtl="0" fontAlgn="b"/>
                      <a:r>
                        <a:rPr lang="en-IN" sz="1200" b="1">
                          <a:effectLst/>
                        </a:rPr>
                        <a:t>TITLE</a:t>
                      </a:r>
                    </a:p>
                  </a:txBody>
                  <a:tcPr marL="19050" marR="19050" marT="12700" marB="12700" anchor="ctr"/>
                </a:tc>
                <a:tc>
                  <a:txBody>
                    <a:bodyPr/>
                    <a:lstStyle/>
                    <a:p>
                      <a:pPr rtl="0" fontAlgn="b"/>
                      <a:r>
                        <a:rPr lang="en-IN" sz="1200" b="1">
                          <a:effectLst/>
                        </a:rPr>
                        <a:t>AUTHORS</a:t>
                      </a:r>
                    </a:p>
                  </a:txBody>
                  <a:tcPr marL="19050" marR="19050" marT="12700" marB="12700" anchor="ctr"/>
                </a:tc>
                <a:tc>
                  <a:txBody>
                    <a:bodyPr/>
                    <a:lstStyle/>
                    <a:p>
                      <a:pPr rtl="0" fontAlgn="b"/>
                      <a:r>
                        <a:rPr lang="en-IN" sz="1200" b="1">
                          <a:effectLst/>
                        </a:rPr>
                        <a:t>MODEL PROPOSED </a:t>
                      </a:r>
                    </a:p>
                  </a:txBody>
                  <a:tcPr marL="19050" marR="19050" marT="12700" marB="12700" anchor="ctr"/>
                </a:tc>
                <a:tc>
                  <a:txBody>
                    <a:bodyPr/>
                    <a:lstStyle/>
                    <a:p>
                      <a:pPr rtl="0" fontAlgn="b"/>
                      <a:r>
                        <a:rPr lang="en-IN" sz="1200" b="1">
                          <a:effectLst/>
                        </a:rPr>
                        <a:t>BASELINE MODELS</a:t>
                      </a:r>
                    </a:p>
                  </a:txBody>
                  <a:tcPr marL="19050" marR="19050" marT="12700" marB="12700" anchor="ctr"/>
                </a:tc>
                <a:tc>
                  <a:txBody>
                    <a:bodyPr/>
                    <a:lstStyle/>
                    <a:p>
                      <a:pPr rtl="0" fontAlgn="b"/>
                      <a:r>
                        <a:rPr lang="en-IN" sz="1200" b="1">
                          <a:effectLst/>
                        </a:rPr>
                        <a:t>RESULTS</a:t>
                      </a:r>
                    </a:p>
                  </a:txBody>
                  <a:tcPr marL="19050" marR="19050" marT="12700" marB="12700" anchor="ctr"/>
                </a:tc>
                <a:tc>
                  <a:txBody>
                    <a:bodyPr/>
                    <a:lstStyle/>
                    <a:p>
                      <a:pPr rtl="0" fontAlgn="b"/>
                      <a:r>
                        <a:rPr lang="en-IN" sz="1200" b="1">
                          <a:effectLst/>
                        </a:rPr>
                        <a:t>RESEARCH GAP</a:t>
                      </a:r>
                    </a:p>
                  </a:txBody>
                  <a:tcPr marL="19050" marR="19050" marT="12700" marB="12700" anchor="ctr"/>
                </a:tc>
                <a:tc>
                  <a:txBody>
                    <a:bodyPr/>
                    <a:lstStyle/>
                    <a:p>
                      <a:pPr rtl="0" fontAlgn="b"/>
                      <a:r>
                        <a:rPr lang="en-IN" sz="1200" b="1" dirty="0">
                          <a:effectLst/>
                        </a:rPr>
                        <a:t>DATASET</a:t>
                      </a:r>
                    </a:p>
                  </a:txBody>
                  <a:tcPr marL="19050" marR="19050" marT="12700" marB="12700" anchor="ctr"/>
                </a:tc>
                <a:extLst>
                  <a:ext uri="{0D108BD9-81ED-4DB2-BD59-A6C34878D82A}">
                    <a16:rowId xmlns:a16="http://schemas.microsoft.com/office/drawing/2014/main" val="4197635534"/>
                  </a:ext>
                </a:extLst>
              </a:tr>
              <a:tr h="4745855">
                <a:tc>
                  <a:txBody>
                    <a:bodyPr/>
                    <a:lstStyle/>
                    <a:p>
                      <a:pPr rtl="0" fontAlgn="t"/>
                      <a:r>
                        <a:rPr lang="en-IN">
                          <a:effectLst/>
                        </a:rPr>
                        <a:t>[19/09/2024]</a:t>
                      </a:r>
                    </a:p>
                  </a:txBody>
                  <a:tcPr marL="19050" marR="19050" marT="12700" marB="12700"/>
                </a:tc>
                <a:tc>
                  <a:txBody>
                    <a:bodyPr/>
                    <a:lstStyle/>
                    <a:p>
                      <a:pPr rtl="0" fontAlgn="t"/>
                      <a:r>
                        <a:rPr lang="en-IN">
                          <a:effectLst/>
                        </a:rPr>
                        <a:t>Elsevier: Scientific African</a:t>
                      </a:r>
                    </a:p>
                  </a:txBody>
                  <a:tcPr marL="19050" marR="19050" marT="12700" marB="12700"/>
                </a:tc>
                <a:tc>
                  <a:txBody>
                    <a:bodyPr/>
                    <a:lstStyle/>
                    <a:p>
                      <a:pPr rtl="0" fontAlgn="t"/>
                      <a:r>
                        <a:rPr lang="en-US">
                          <a:effectLst/>
                        </a:rPr>
                        <a:t>Stock price prediction using combined GARCH-AI models</a:t>
                      </a:r>
                    </a:p>
                  </a:txBody>
                  <a:tcPr marL="19050" marR="19050" marT="12700" marB="12700"/>
                </a:tc>
                <a:tc>
                  <a:txBody>
                    <a:bodyPr/>
                    <a:lstStyle/>
                    <a:p>
                      <a:pPr rtl="0" fontAlgn="t"/>
                      <a:r>
                        <a:rPr lang="en-IN">
                          <a:effectLst/>
                        </a:rPr>
                        <a:t>John Kamwele Mutinda, Amos Kipkorir Langat</a:t>
                      </a:r>
                    </a:p>
                  </a:txBody>
                  <a:tcPr marL="19050" marR="19050" marT="12700" marB="12700"/>
                </a:tc>
                <a:tc>
                  <a:txBody>
                    <a:bodyPr/>
                    <a:lstStyle/>
                    <a:p>
                      <a:pPr rtl="0" fontAlgn="t"/>
                      <a:r>
                        <a:rPr lang="en-US">
                          <a:effectLst/>
                        </a:rPr>
                        <a:t>The paper proposes GARCH-AI hybrid models, integrating GARCH with advanced AI models like LSTM, GRU, and Transformer. These models combine statistical properties of volatility (captured by GARCH) with long-term dependencies in time series (handled by AI models) for stock price prediction</a:t>
                      </a:r>
                    </a:p>
                  </a:txBody>
                  <a:tcPr marL="19050" marR="19050" marT="12700" marB="12700"/>
                </a:tc>
                <a:tc>
                  <a:txBody>
                    <a:bodyPr/>
                    <a:lstStyle/>
                    <a:p>
                      <a:pPr rtl="0" fontAlgn="t"/>
                      <a:r>
                        <a:rPr lang="en-US">
                          <a:effectLst/>
                        </a:rPr>
                        <a:t>Standalone models like LSTM, GRU, and Transformer are used as baselines to compare the performance of hybrid models</a:t>
                      </a:r>
                    </a:p>
                  </a:txBody>
                  <a:tcPr marL="19050" marR="19050" marT="12700" marB="12700"/>
                </a:tc>
                <a:tc>
                  <a:txBody>
                    <a:bodyPr/>
                    <a:lstStyle/>
                    <a:p>
                      <a:pPr rtl="0" fontAlgn="t"/>
                      <a:r>
                        <a:rPr lang="en-US">
                          <a:effectLst/>
                        </a:rPr>
                        <a:t>The hybrid models, particularly GARCH-LSTM, outperform the standalone models, achieving the best performance with the lowest RMSE, MAE, and MAPE, and the highest R-squared values​</a:t>
                      </a:r>
                    </a:p>
                  </a:txBody>
                  <a:tcPr marL="19050" marR="19050" marT="12700" marB="12700"/>
                </a:tc>
                <a:tc>
                  <a:txBody>
                    <a:bodyPr/>
                    <a:lstStyle/>
                    <a:p>
                      <a:pPr rtl="0" fontAlgn="t"/>
                      <a:r>
                        <a:rPr lang="en-US">
                          <a:effectLst/>
                        </a:rPr>
                        <a:t>The paper identifies a lack of research on combining GARCH with AI models, especially in direct stock price forecasting, as most previous studies focus on volatility prediction. It aims to fill this gap by developing and testing hybrid models</a:t>
                      </a:r>
                    </a:p>
                  </a:txBody>
                  <a:tcPr marL="19050" marR="19050" marT="12700" marB="12700"/>
                </a:tc>
                <a:tc>
                  <a:txBody>
                    <a:bodyPr/>
                    <a:lstStyle/>
                    <a:p>
                      <a:pPr rtl="0" fontAlgn="t"/>
                      <a:r>
                        <a:rPr lang="en-US" dirty="0">
                          <a:effectLst/>
                        </a:rPr>
                        <a:t>The dataset consists of Airtel stock data from June 28, 2019, to May 8, 2024, including daily trading information such as open, high, low, close, adjusted close, and volume</a:t>
                      </a:r>
                    </a:p>
                  </a:txBody>
                  <a:tcPr marL="19050" marR="19050" marT="12700" marB="12700"/>
                </a:tc>
                <a:extLst>
                  <a:ext uri="{0D108BD9-81ED-4DB2-BD59-A6C34878D82A}">
                    <a16:rowId xmlns:a16="http://schemas.microsoft.com/office/drawing/2014/main" val="3566677375"/>
                  </a:ext>
                </a:extLst>
              </a:tr>
            </a:tbl>
          </a:graphicData>
        </a:graphic>
      </p:graphicFrame>
      <p:sp>
        <p:nvSpPr>
          <p:cNvPr id="3" name="TextBox 2">
            <a:extLst>
              <a:ext uri="{FF2B5EF4-FFF2-40B4-BE49-F238E27FC236}">
                <a16:creationId xmlns:a16="http://schemas.microsoft.com/office/drawing/2014/main" id="{06F964A3-0466-BE2C-7E47-337E92E4CC32}"/>
              </a:ext>
            </a:extLst>
          </p:cNvPr>
          <p:cNvSpPr txBox="1"/>
          <p:nvPr/>
        </p:nvSpPr>
        <p:spPr>
          <a:xfrm>
            <a:off x="6788115" y="6072777"/>
            <a:ext cx="7536587" cy="276999"/>
          </a:xfrm>
          <a:prstGeom prst="rect">
            <a:avLst/>
          </a:prstGeom>
          <a:noFill/>
        </p:spPr>
        <p:txBody>
          <a:bodyPr wrap="square" rtlCol="0">
            <a:spAutoFit/>
          </a:bodyPr>
          <a:lstStyle/>
          <a:p>
            <a:r>
              <a:rPr lang="en-IN" sz="1200" dirty="0">
                <a:solidFill>
                  <a:schemeClr val="bg1">
                    <a:lumMod val="50000"/>
                  </a:schemeClr>
                </a:solidFill>
              </a:rPr>
              <a:t>Full table can be accessed through this link: </a:t>
            </a:r>
            <a:r>
              <a:rPr lang="en-US" sz="1200" dirty="0">
                <a:solidFill>
                  <a:schemeClr val="tx1"/>
                </a:solidFill>
                <a:hlinkClick r:id="rId3">
                  <a:extLst>
                    <a:ext uri="{A12FA001-AC4F-418D-AE19-62706E023703}">
                      <ahyp:hlinkClr xmlns:ahyp="http://schemas.microsoft.com/office/drawing/2018/hyperlinkcolor" val="tx"/>
                    </a:ext>
                  </a:extLst>
                </a:hlinkClick>
              </a:rPr>
              <a:t>https://tinyurl.com/research-table</a:t>
            </a:r>
            <a:endParaRPr lang="en-IN" sz="1200" dirty="0">
              <a:solidFill>
                <a:schemeClr val="bg1">
                  <a:lumMod val="50000"/>
                </a:schemeClr>
              </a:solidFill>
            </a:endParaRPr>
          </a:p>
        </p:txBody>
      </p:sp>
    </p:spTree>
    <p:extLst>
      <p:ext uri="{BB962C8B-B14F-4D97-AF65-F5344CB8AC3E}">
        <p14:creationId xmlns:p14="http://schemas.microsoft.com/office/powerpoint/2010/main" val="3141804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34C6195-C1BB-BE57-54D3-685FAA2C2A32}"/>
              </a:ext>
            </a:extLst>
          </p:cNvPr>
          <p:cNvSpPr>
            <a:spLocks noGrp="1"/>
          </p:cNvSpPr>
          <p:nvPr>
            <p:ph type="body" idx="1"/>
          </p:nvPr>
        </p:nvSpPr>
        <p:spPr>
          <a:xfrm>
            <a:off x="0" y="139700"/>
            <a:ext cx="11899900" cy="6286500"/>
          </a:xfrm>
        </p:spPr>
        <p:txBody>
          <a:bodyPr>
            <a:normAutofit/>
          </a:bodyPr>
          <a:lstStyle/>
          <a:p>
            <a:pPr>
              <a:lnSpc>
                <a:spcPct val="100000"/>
              </a:lnSpc>
            </a:pPr>
            <a:r>
              <a:rPr lang="en-US" sz="1600" b="1" dirty="0"/>
              <a:t>1. Comprehensive Review of Deep Learning Models (2005–2019):</a:t>
            </a:r>
          </a:p>
          <a:p>
            <a:pPr lvl="1">
              <a:lnSpc>
                <a:spcPct val="100000"/>
              </a:lnSpc>
            </a:pPr>
            <a:r>
              <a:rPr lang="en-US" sz="1400" u="sng" dirty="0"/>
              <a:t>Objective</a:t>
            </a:r>
            <a:r>
              <a:rPr lang="en-US" sz="1400" dirty="0"/>
              <a:t>: This review categorizes 200 studies on financial time series forecasting, covering indices, forex, and commodities.</a:t>
            </a:r>
          </a:p>
          <a:p>
            <a:pPr lvl="1">
              <a:lnSpc>
                <a:spcPct val="100000"/>
              </a:lnSpc>
            </a:pPr>
            <a:r>
              <a:rPr lang="en-US" sz="1400" u="sng" dirty="0"/>
              <a:t>Models</a:t>
            </a:r>
            <a:r>
              <a:rPr lang="en-US" sz="1400" dirty="0"/>
              <a:t>: CNNs, LSTMs, DBNs, and other deep learning architectures.</a:t>
            </a:r>
          </a:p>
          <a:p>
            <a:pPr lvl="1">
              <a:lnSpc>
                <a:spcPct val="100000"/>
              </a:lnSpc>
            </a:pPr>
            <a:r>
              <a:rPr lang="en-US" sz="1400" u="sng" dirty="0"/>
              <a:t>Findings</a:t>
            </a:r>
            <a:r>
              <a:rPr lang="en-US" sz="1400" dirty="0"/>
              <a:t>: Deep learning models significantly outperform traditional ML models in capturing complex patterns.</a:t>
            </a:r>
          </a:p>
          <a:p>
            <a:pPr lvl="1">
              <a:lnSpc>
                <a:spcPct val="100000"/>
              </a:lnSpc>
            </a:pPr>
            <a:r>
              <a:rPr lang="en-US" sz="1400" u="sng" dirty="0"/>
              <a:t>Challenges</a:t>
            </a:r>
            <a:r>
              <a:rPr lang="en-US" sz="1400" dirty="0"/>
              <a:t>: Limited review papers focus exclusively on DL for financial forecasting, with gaps in model interpretability and real-world applications.</a:t>
            </a:r>
          </a:p>
          <a:p>
            <a:pPr lvl="1">
              <a:lnSpc>
                <a:spcPct val="100000"/>
              </a:lnSpc>
            </a:pPr>
            <a:r>
              <a:rPr lang="en-US" sz="1400" u="sng" dirty="0"/>
              <a:t>Datasets</a:t>
            </a:r>
            <a:r>
              <a:rPr lang="en-US" sz="1400" dirty="0"/>
              <a:t>: Examples include S&amp;P 500 and Chinese stock markets.</a:t>
            </a:r>
          </a:p>
          <a:p>
            <a:pPr lvl="1">
              <a:lnSpc>
                <a:spcPct val="100000"/>
              </a:lnSpc>
            </a:pPr>
            <a:endParaRPr lang="en-US" sz="1400" dirty="0"/>
          </a:p>
          <a:p>
            <a:pPr>
              <a:lnSpc>
                <a:spcPct val="100000"/>
              </a:lnSpc>
            </a:pPr>
            <a:r>
              <a:rPr lang="en-US" sz="1600" b="1" dirty="0"/>
              <a:t>2. Advancements in Deep Learning (2020–2022):</a:t>
            </a:r>
          </a:p>
          <a:p>
            <a:pPr lvl="1">
              <a:lnSpc>
                <a:spcPct val="100000"/>
              </a:lnSpc>
            </a:pPr>
            <a:r>
              <a:rPr lang="en-US" sz="1400" u="sng" dirty="0"/>
              <a:t>Focus</a:t>
            </a:r>
            <a:r>
              <a:rPr lang="en-US" sz="1400" dirty="0"/>
              <a:t>: Recent studies explore models like Transformers, GANs, Graph Neural Networks (GNNs), and Deep Quantum Neural Networks (DQNNs).</a:t>
            </a:r>
          </a:p>
          <a:p>
            <a:pPr lvl="1">
              <a:lnSpc>
                <a:spcPct val="100000"/>
              </a:lnSpc>
            </a:pPr>
            <a:r>
              <a:rPr lang="en-US" sz="1400" u="sng" dirty="0"/>
              <a:t>Findings</a:t>
            </a:r>
            <a:r>
              <a:rPr lang="en-US" sz="1400" dirty="0"/>
              <a:t>: Transformers and GANs show promise for price forecasting but require larger datasets and improved hardware/software.</a:t>
            </a:r>
          </a:p>
          <a:p>
            <a:pPr lvl="1">
              <a:lnSpc>
                <a:spcPct val="100000"/>
              </a:lnSpc>
            </a:pPr>
            <a:r>
              <a:rPr lang="en-US" sz="1400" u="sng" dirty="0"/>
              <a:t>Challenges</a:t>
            </a:r>
            <a:r>
              <a:rPr lang="en-US" sz="1400" dirty="0"/>
              <a:t>: Insufficient interval predictions and lack of standardized benchmarks.</a:t>
            </a:r>
          </a:p>
          <a:p>
            <a:pPr lvl="1">
              <a:lnSpc>
                <a:spcPct val="100000"/>
              </a:lnSpc>
            </a:pPr>
            <a:r>
              <a:rPr lang="en-US" sz="1400" u="sng" dirty="0"/>
              <a:t>Future Directions</a:t>
            </a:r>
            <a:r>
              <a:rPr lang="en-US" sz="1400" dirty="0"/>
              <a:t>: Expand interval forecasting, validate decomposition models, and optimize Transformer models for financial applications.</a:t>
            </a:r>
          </a:p>
          <a:p>
            <a:pPr lvl="1">
              <a:lnSpc>
                <a:spcPct val="100000"/>
              </a:lnSpc>
            </a:pPr>
            <a:endParaRPr lang="en-US" sz="1400" dirty="0"/>
          </a:p>
          <a:p>
            <a:pPr>
              <a:lnSpc>
                <a:spcPct val="100000"/>
              </a:lnSpc>
            </a:pPr>
            <a:r>
              <a:rPr lang="en-US" sz="1600" b="1" dirty="0"/>
              <a:t>3. Machine Learning and Deep Learning Applications (2023):</a:t>
            </a:r>
          </a:p>
          <a:p>
            <a:pPr lvl="1">
              <a:lnSpc>
                <a:spcPct val="100000"/>
              </a:lnSpc>
            </a:pPr>
            <a:r>
              <a:rPr lang="en-US" sz="1400" u="sng" dirty="0"/>
              <a:t>Scope</a:t>
            </a:r>
            <a:r>
              <a:rPr lang="en-US" sz="1400" dirty="0"/>
              <a:t>: This review examines the integration of ML and DL in various financial domains, including stock markets, portfolio management, and cryptocurrency.</a:t>
            </a:r>
          </a:p>
          <a:p>
            <a:pPr lvl="1">
              <a:lnSpc>
                <a:spcPct val="100000"/>
              </a:lnSpc>
            </a:pPr>
            <a:r>
              <a:rPr lang="en-US" sz="1400" u="sng" dirty="0"/>
              <a:t>Findings</a:t>
            </a:r>
            <a:r>
              <a:rPr lang="en-US" sz="1400" dirty="0"/>
              <a:t>: Enhanced forecasting accuracy and scalability through advanced models like hybrid architectures.</a:t>
            </a:r>
          </a:p>
          <a:p>
            <a:pPr lvl="1">
              <a:lnSpc>
                <a:spcPct val="100000"/>
              </a:lnSpc>
            </a:pPr>
            <a:r>
              <a:rPr lang="en-US" sz="1400" u="sng" dirty="0"/>
              <a:t>Challenges</a:t>
            </a:r>
            <a:r>
              <a:rPr lang="en-US" sz="1400" dirty="0"/>
              <a:t>: Issues with data quality, overfitting, and generalization persist.</a:t>
            </a:r>
          </a:p>
          <a:p>
            <a:pPr lvl="1">
              <a:lnSpc>
                <a:spcPct val="100000"/>
              </a:lnSpc>
            </a:pPr>
            <a:r>
              <a:rPr lang="en-US" sz="1400" u="sng" dirty="0"/>
              <a:t>Opportunities</a:t>
            </a:r>
            <a:r>
              <a:rPr lang="en-US" sz="1400" dirty="0"/>
              <a:t>: Improved sentiment analysis, feature selection methods, and reinforcement learning for financial applications.</a:t>
            </a:r>
          </a:p>
          <a:p>
            <a:pPr>
              <a:lnSpc>
                <a:spcPct val="100000"/>
              </a:lnSpc>
            </a:pPr>
            <a:endParaRPr lang="en-US" sz="1400" dirty="0"/>
          </a:p>
          <a:p>
            <a:pPr>
              <a:lnSpc>
                <a:spcPct val="100000"/>
              </a:lnSpc>
            </a:pPr>
            <a:r>
              <a:rPr lang="en-US" sz="1400" dirty="0"/>
              <a:t>Overall, the reviews highlight the growing importance of deep learning in financial forecasting, emphasizing its potential to outperform traditional methods while addressing challenges like model complexity and computational costs</a:t>
            </a:r>
          </a:p>
          <a:p>
            <a:pPr>
              <a:lnSpc>
                <a:spcPct val="100000"/>
              </a:lnSpc>
            </a:pPr>
            <a:endParaRPr lang="en-IN" sz="1400" dirty="0"/>
          </a:p>
        </p:txBody>
      </p:sp>
      <p:sp>
        <p:nvSpPr>
          <p:cNvPr id="4" name="Slide Number Placeholder 3">
            <a:extLst>
              <a:ext uri="{FF2B5EF4-FFF2-40B4-BE49-F238E27FC236}">
                <a16:creationId xmlns:a16="http://schemas.microsoft.com/office/drawing/2014/main" id="{7695C69B-1B44-F074-54CA-4118382718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10</a:t>
            </a:fld>
            <a:endParaRPr lang="en-IN" dirty="0"/>
          </a:p>
        </p:txBody>
      </p:sp>
    </p:spTree>
    <p:extLst>
      <p:ext uri="{BB962C8B-B14F-4D97-AF65-F5344CB8AC3E}">
        <p14:creationId xmlns:p14="http://schemas.microsoft.com/office/powerpoint/2010/main" val="1815945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 y="108804"/>
            <a:ext cx="10058400" cy="640497"/>
          </a:xfrm>
        </p:spPr>
        <p:txBody>
          <a:bodyPr>
            <a:normAutofit/>
          </a:bodyPr>
          <a:lstStyle/>
          <a:p>
            <a:r>
              <a:rPr lang="en-IN" sz="3600" b="1" dirty="0">
                <a:solidFill>
                  <a:srgbClr val="FF0000"/>
                </a:solidFill>
                <a:latin typeface="Times New Roman" pitchFamily="18" charset="0"/>
                <a:cs typeface="Times New Roman" pitchFamily="18" charset="0"/>
              </a:rPr>
              <a:t>LITERATURE SUMMARY</a:t>
            </a:r>
          </a:p>
        </p:txBody>
      </p:sp>
      <p:sp>
        <p:nvSpPr>
          <p:cNvPr id="3" name="Text Placeholder 2"/>
          <p:cNvSpPr>
            <a:spLocks noGrp="1"/>
          </p:cNvSpPr>
          <p:nvPr>
            <p:ph type="body" idx="1"/>
          </p:nvPr>
        </p:nvSpPr>
        <p:spPr>
          <a:xfrm>
            <a:off x="749507" y="1066799"/>
            <a:ext cx="11075699" cy="5179017"/>
          </a:xfrm>
        </p:spPr>
        <p:txBody>
          <a:bodyPr>
            <a:normAutofit/>
          </a:bodyPr>
          <a:lstStyle/>
          <a:p>
            <a:pPr marL="342900">
              <a:lnSpc>
                <a:spcPct val="100000"/>
              </a:lnSpc>
              <a:spcAft>
                <a:spcPts val="800"/>
              </a:spcAft>
              <a:buFont typeface="Arial" pitchFamily="34" charset="0"/>
              <a:buChar char="•"/>
              <a:tabLst>
                <a:tab pos="457200" algn="l"/>
              </a:tabLst>
            </a:pPr>
            <a:endParaRPr lang="en-IN" dirty="0">
              <a:latin typeface="Times New Roman" pitchFamily="18" charset="0"/>
              <a:cs typeface="Times New Roman" pitchFamily="18" charset="0"/>
            </a:endParaRPr>
          </a:p>
          <a:p>
            <a:pPr marL="0" lvl="0" indent="0">
              <a:lnSpc>
                <a:spcPct val="100000"/>
              </a:lnSpc>
              <a:spcAft>
                <a:spcPts val="800"/>
              </a:spcAft>
              <a:buNone/>
              <a:tabLst>
                <a:tab pos="457200" algn="l"/>
              </a:tabLst>
            </a:pPr>
            <a:endParaRPr lang="en-US" dirty="0">
              <a:latin typeface="Times New Roman" pitchFamily="18" charset="0"/>
              <a:ea typeface="Calibri" panose="020F0502020204030204" pitchFamily="34" charset="0"/>
              <a:cs typeface="Times New Roman" pitchFamily="18" charset="0"/>
            </a:endParaRPr>
          </a:p>
          <a:p>
            <a:pPr marL="0" indent="0">
              <a:lnSpc>
                <a:spcPct val="100000"/>
              </a:lnSpc>
              <a:spcAft>
                <a:spcPts val="800"/>
              </a:spcAft>
              <a:buNone/>
              <a:tabLst>
                <a:tab pos="457200" algn="l"/>
              </a:tabLst>
            </a:pPr>
            <a:endParaRPr lang="en-IN" dirty="0">
              <a:latin typeface="Times New Roman"/>
              <a:ea typeface="Times New Roman"/>
              <a:cs typeface="Times New Roman"/>
              <a:sym typeface="Times New Roman"/>
            </a:endParaRPr>
          </a:p>
          <a:p>
            <a:pPr marL="0" lvl="0" indent="0">
              <a:lnSpc>
                <a:spcPct val="100000"/>
              </a:lnSpc>
              <a:spcAft>
                <a:spcPts val="800"/>
              </a:spcAft>
              <a:buNone/>
              <a:tabLst>
                <a:tab pos="457200" algn="l"/>
              </a:tabLst>
            </a:pPr>
            <a:endParaRPr lang="en-IN" dirty="0">
              <a:latin typeface="Times New Roman" pitchFamily="18" charset="0"/>
              <a:ea typeface="Calibri" panose="020F0502020204030204" pitchFamily="34" charset="0"/>
              <a:cs typeface="Times New Roman"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11</a:t>
            </a:fld>
            <a:endParaRPr lang="en-IN" dirty="0"/>
          </a:p>
        </p:txBody>
      </p:sp>
      <p:sp>
        <p:nvSpPr>
          <p:cNvPr id="5" name="TextBox 4">
            <a:extLst>
              <a:ext uri="{FF2B5EF4-FFF2-40B4-BE49-F238E27FC236}">
                <a16:creationId xmlns:a16="http://schemas.microsoft.com/office/drawing/2014/main" id="{33C84334-5C77-DE5A-82B1-4D4B89DE039B}"/>
              </a:ext>
            </a:extLst>
          </p:cNvPr>
          <p:cNvSpPr txBox="1"/>
          <p:nvPr/>
        </p:nvSpPr>
        <p:spPr>
          <a:xfrm>
            <a:off x="315994" y="838200"/>
            <a:ext cx="11075699" cy="5044907"/>
          </a:xfrm>
          <a:prstGeom prst="rect">
            <a:avLst/>
          </a:prstGeom>
          <a:noFill/>
        </p:spPr>
        <p:txBody>
          <a:bodyPr wrap="square" rtlCol="0">
            <a:spAutoFit/>
          </a:bodyPr>
          <a:lstStyle/>
          <a:p>
            <a:pPr>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Recent advancements in financial time series forecasting leverage deep learning and hybrid models to address challenges in accuracy and efficiency:</a:t>
            </a:r>
          </a:p>
          <a:p>
            <a:pPr>
              <a:lnSpc>
                <a:spcPct val="150000"/>
              </a:lnSpc>
            </a:pPr>
            <a:r>
              <a:rPr lang="en-US" sz="1600" b="1" dirty="0">
                <a:latin typeface="Calibri" panose="020F0502020204030204" pitchFamily="34" charset="0"/>
                <a:ea typeface="Calibri" panose="020F0502020204030204" pitchFamily="34" charset="0"/>
                <a:cs typeface="Calibri" panose="020F0502020204030204" pitchFamily="34" charset="0"/>
              </a:rPr>
              <a:t>Hybrid Models:</a:t>
            </a:r>
          </a:p>
          <a:p>
            <a:pPr marL="285750" lvl="8"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Combining Bi-GRU and CNN models has significantly improved prediction accuracy for chaotic stock market data (e.g., Asian stock exchanges)​.</a:t>
            </a:r>
          </a:p>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Hybrid GARCH-AI models integrate statistical properties with deep learning (LSTM, GRU) to enhance volatility and price prediction.</a:t>
            </a:r>
          </a:p>
          <a:p>
            <a:pPr>
              <a:lnSpc>
                <a:spcPct val="150000"/>
              </a:lnSpc>
            </a:pPr>
            <a:endParaRPr lang="en-US"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600" b="1" dirty="0">
                <a:latin typeface="Calibri" panose="020F0502020204030204" pitchFamily="34" charset="0"/>
                <a:ea typeface="Calibri" panose="020F0502020204030204" pitchFamily="34" charset="0"/>
                <a:cs typeface="Calibri" panose="020F0502020204030204" pitchFamily="34" charset="0"/>
              </a:rPr>
              <a:t>Innovative Architectures:</a:t>
            </a:r>
          </a:p>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SAMBA, a Graph-Mamba model, captures long-term dependencies and stock feature interactions efficiently using Adaptive Graph Convolutions​.</a:t>
            </a:r>
          </a:p>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Time-LLM employs transformers, adapting financial time series data into textual prototypes for superior forecasting​.</a:t>
            </a:r>
          </a:p>
          <a:p>
            <a:pPr>
              <a:lnSpc>
                <a:spcPct val="150000"/>
              </a:lnSpc>
            </a:pPr>
            <a:endParaRPr lang="en-US"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600" b="1" dirty="0">
                <a:latin typeface="Calibri" panose="020F0502020204030204" pitchFamily="34" charset="0"/>
                <a:ea typeface="Calibri" panose="020F0502020204030204" pitchFamily="34" charset="0"/>
                <a:cs typeface="Calibri" panose="020F0502020204030204" pitchFamily="34" charset="0"/>
              </a:rPr>
              <a:t>Challenges Addressed:</a:t>
            </a:r>
          </a:p>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Non-linearity, volatility, and computational complexities in traditional models are effectively managed.</a:t>
            </a:r>
          </a:p>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Larger datasets, better interval predictions, and hardware optimizations remain areas for improvement.</a:t>
            </a:r>
          </a:p>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These advancements highlight the growing potential of deep learning and hybrid systems in financial forecasting while addressing critical limitations of traditional methods.</a:t>
            </a:r>
          </a:p>
          <a:p>
            <a:pPr>
              <a:lnSpc>
                <a:spcPct val="150000"/>
              </a:lnSpc>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B8516C4A-08A9-8BCF-2272-B6C9DE36137D}"/>
              </a:ext>
            </a:extLst>
          </p:cNvPr>
          <p:cNvSpPr txBox="1"/>
          <p:nvPr/>
        </p:nvSpPr>
        <p:spPr>
          <a:xfrm>
            <a:off x="6788115" y="6072777"/>
            <a:ext cx="7536587" cy="276999"/>
          </a:xfrm>
          <a:prstGeom prst="rect">
            <a:avLst/>
          </a:prstGeom>
          <a:noFill/>
        </p:spPr>
        <p:txBody>
          <a:bodyPr wrap="square" rtlCol="0">
            <a:spAutoFit/>
          </a:bodyPr>
          <a:lstStyle/>
          <a:p>
            <a:r>
              <a:rPr lang="en-IN" sz="1200" dirty="0">
                <a:solidFill>
                  <a:schemeClr val="bg1">
                    <a:lumMod val="50000"/>
                  </a:schemeClr>
                </a:solidFill>
              </a:rPr>
              <a:t>Full table can be accessed through this link: </a:t>
            </a:r>
            <a:r>
              <a:rPr lang="en-US" sz="1200" dirty="0">
                <a:solidFill>
                  <a:schemeClr val="tx1"/>
                </a:solidFill>
                <a:hlinkClick r:id="rId2">
                  <a:extLst>
                    <a:ext uri="{A12FA001-AC4F-418D-AE19-62706E023703}">
                      <ahyp:hlinkClr xmlns:ahyp="http://schemas.microsoft.com/office/drawing/2018/hyperlinkcolor" val="tx"/>
                    </a:ext>
                  </a:extLst>
                </a:hlinkClick>
              </a:rPr>
              <a:t>https://tinyurl.com/research-table</a:t>
            </a:r>
            <a:endParaRPr lang="en-IN" sz="1200" dirty="0">
              <a:solidFill>
                <a:schemeClr val="bg1">
                  <a:lumMod val="50000"/>
                </a:schemeClr>
              </a:solidFill>
            </a:endParaRPr>
          </a:p>
        </p:txBody>
      </p:sp>
    </p:spTree>
    <p:extLst>
      <p:ext uri="{BB962C8B-B14F-4D97-AF65-F5344CB8AC3E}">
        <p14:creationId xmlns:p14="http://schemas.microsoft.com/office/powerpoint/2010/main" val="2261991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880" y="121503"/>
            <a:ext cx="10058400" cy="716697"/>
          </a:xfrm>
        </p:spPr>
        <p:txBody>
          <a:bodyPr>
            <a:normAutofit/>
          </a:bodyPr>
          <a:lstStyle/>
          <a:p>
            <a:r>
              <a:rPr lang="en-IN" sz="4000" b="1" dirty="0">
                <a:solidFill>
                  <a:srgbClr val="FF0000"/>
                </a:solidFill>
                <a:latin typeface="Times New Roman" pitchFamily="18" charset="0"/>
                <a:cs typeface="Times New Roman" pitchFamily="18" charset="0"/>
              </a:rPr>
              <a:t>PROBLEM STATEMENT</a:t>
            </a:r>
          </a:p>
        </p:txBody>
      </p:sp>
      <p:sp>
        <p:nvSpPr>
          <p:cNvPr id="3" name="Text Placeholder 2"/>
          <p:cNvSpPr>
            <a:spLocks noGrp="1"/>
          </p:cNvSpPr>
          <p:nvPr>
            <p:ph type="body" idx="1"/>
          </p:nvPr>
        </p:nvSpPr>
        <p:spPr>
          <a:xfrm>
            <a:off x="0" y="952501"/>
            <a:ext cx="11861800" cy="5321300"/>
          </a:xfrm>
        </p:spPr>
        <p:txBody>
          <a:bodyPr>
            <a:normAutofit/>
          </a:bodyPr>
          <a:lstStyle/>
          <a:p>
            <a:pPr algn="just" rtl="0">
              <a:lnSpc>
                <a:spcPct val="150000"/>
              </a:lnSpc>
              <a:spcBef>
                <a:spcPts val="1200"/>
              </a:spcBef>
              <a:spcAft>
                <a:spcPts val="1200"/>
              </a:spcAft>
            </a:pPr>
            <a:r>
              <a:rPr lang="en-US" sz="1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Financial time series forecasting faces significant challenges that can compromise the accuracy and reliability of predictions. Issues such as data quality, including missing values and gaps in historical records, pose considerable hurdles for forecasting models. Additionally, </a:t>
            </a:r>
            <a:r>
              <a:rPr lang="en-US" sz="1400" b="0" i="0" u="none" strike="noStrike"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nonstationarity</a:t>
            </a:r>
            <a:r>
              <a:rPr lang="en-US" sz="1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in financial data, often caused by structural breaks from market regulations or global events, complicates the modeling process. The inherent volatility and uncertainty of financial markets further necessitate advanced modeling techniques capable of capturing the complex, nonlinear relationships among variables, as traditional linear models may not adequately reflect the dynamics of these systems.</a:t>
            </a:r>
            <a:endParaRPr lang="en-US" sz="14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lgn="just" rtl="0">
              <a:lnSpc>
                <a:spcPct val="150000"/>
              </a:lnSpc>
              <a:spcBef>
                <a:spcPts val="1200"/>
              </a:spcBef>
              <a:spcAft>
                <a:spcPts val="1200"/>
              </a:spcAft>
            </a:pPr>
            <a:r>
              <a:rPr lang="en-US" sz="1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Despite the increasing interest in deep learning (DL) techniques, there is a notable lack of comprehensive literature reviews focusing on their implementation and effectiveness in financial time series forecasting. This research aims to fill this gap by systematically reviewing existing DL methodologies, highlighting their strengths and weaknesses, and evaluating their predictability in overcoming common challenges such as overfitting and model generalization. Furthermore, we will experiment with various DL models on financial datasets, specifically focusing on the Bombay Stock Exchange, to identify an optimized model for this context. By leveraging the predictive capabilities of DL, this study seeks to enhance forecasting accuracy, ultimately contributing to improved decision-making processes within the finance industry.</a:t>
            </a:r>
            <a:endParaRPr lang="en-US" sz="14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b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12</a:t>
            </a:fld>
            <a:endParaRPr lang="en-IN" dirty="0"/>
          </a:p>
        </p:txBody>
      </p:sp>
    </p:spTree>
    <p:extLst>
      <p:ext uri="{BB962C8B-B14F-4D97-AF65-F5344CB8AC3E}">
        <p14:creationId xmlns:p14="http://schemas.microsoft.com/office/powerpoint/2010/main" val="3953076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080" y="58003"/>
            <a:ext cx="10058400" cy="777699"/>
          </a:xfrm>
        </p:spPr>
        <p:txBody>
          <a:bodyPr>
            <a:normAutofit/>
          </a:bodyPr>
          <a:lstStyle/>
          <a:p>
            <a:r>
              <a:rPr lang="en-IN" sz="4000" b="1" dirty="0">
                <a:solidFill>
                  <a:srgbClr val="FF0000"/>
                </a:solidFill>
                <a:latin typeface="Times New Roman" pitchFamily="18" charset="0"/>
                <a:cs typeface="Times New Roman" pitchFamily="18" charset="0"/>
              </a:rPr>
              <a:t>OBJECTIVES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13</a:t>
            </a:fld>
            <a:endParaRPr lang="en-IN" dirty="0"/>
          </a:p>
        </p:txBody>
      </p:sp>
      <p:sp>
        <p:nvSpPr>
          <p:cNvPr id="5" name="Rectangle 1">
            <a:extLst>
              <a:ext uri="{FF2B5EF4-FFF2-40B4-BE49-F238E27FC236}">
                <a16:creationId xmlns:a16="http://schemas.microsoft.com/office/drawing/2014/main" id="{C2125E46-5D9A-616F-7547-32F21CDAAC2F}"/>
              </a:ext>
            </a:extLst>
          </p:cNvPr>
          <p:cNvSpPr>
            <a:spLocks noGrp="1" noChangeArrowheads="1"/>
          </p:cNvSpPr>
          <p:nvPr>
            <p:ph type="body" idx="1"/>
          </p:nvPr>
        </p:nvSpPr>
        <p:spPr bwMode="auto">
          <a:xfrm>
            <a:off x="474980" y="1055332"/>
            <a:ext cx="11590019"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Enhance Forecasting Accuracy:</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 develop and optimize deep learning models for financial time series forecasting, focusing on improving prediction accuracy for the Bombay Stock Exchange.</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Review and Analyze Existing DL Models:</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 systematically review current deep learning methodologies used in financial forecasting, highlighting their strengths, limitations, and potential for improvement.</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Address Key Challenges:</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 tackle common forecasting issues, such as non-stationarity, missing data, and market volatility, by leveraging advanced deep learning techniques.</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Experiment with Region-Specific Data:</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 tailor forecasting models specifically for Indian financial markets, utilizing datasets from the Bombay Stock Exchange to capture region-specific patterns.</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8405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3E990B7-E112-2DBF-CAAB-F6156C0E3297}"/>
              </a:ext>
            </a:extLst>
          </p:cNvPr>
          <p:cNvSpPr>
            <a:spLocks noGrp="1"/>
          </p:cNvSpPr>
          <p:nvPr>
            <p:ph type="body" idx="1"/>
          </p:nvPr>
        </p:nvSpPr>
        <p:spPr>
          <a:xfrm>
            <a:off x="228600" y="342900"/>
            <a:ext cx="11874500" cy="6515100"/>
          </a:xfrm>
        </p:spPr>
        <p:txBody>
          <a:bodyPr>
            <a:normAutofit fontScale="70000" lnSpcReduction="20000"/>
          </a:bodyPr>
          <a:lstStyle/>
          <a:p>
            <a:pPr marL="0" indent="0" eaLnBrk="0" fontAlgn="base" hangingPunct="0">
              <a:lnSpc>
                <a:spcPct val="150000"/>
              </a:lnSpc>
              <a:spcBef>
                <a:spcPct val="0"/>
              </a:spcBef>
              <a:spcAft>
                <a:spcPct val="0"/>
              </a:spcAft>
              <a:buClrTx/>
              <a:buSzTx/>
              <a:buNone/>
            </a:pPr>
            <a:r>
              <a:rPr lang="en-US" sz="2300" b="1" dirty="0">
                <a:solidFill>
                  <a:schemeClr val="tx1"/>
                </a:solidFill>
              </a:rPr>
              <a:t>         Introduce Hybrid Approaches</a:t>
            </a:r>
            <a:r>
              <a:rPr lang="en-US" sz="2100" b="1" dirty="0">
                <a:solidFill>
                  <a:schemeClr val="tx1"/>
                </a:solidFill>
              </a:rPr>
              <a:t>:</a:t>
            </a:r>
          </a:p>
          <a:p>
            <a:pPr marL="114300" indent="0">
              <a:buNone/>
            </a:pPr>
            <a:r>
              <a:rPr lang="en-US" dirty="0">
                <a:solidFill>
                  <a:schemeClr val="tx1"/>
                </a:solidFill>
              </a:rPr>
              <a:t>        To explore hybrid models that integrate deep learning with traditional statistical methods for enhanced feature extraction and forecasting.</a:t>
            </a:r>
          </a:p>
          <a:p>
            <a:pPr marL="114300" indent="0">
              <a:buNone/>
            </a:pPr>
            <a:endParaRPr lang="en-US" sz="2300" b="1" dirty="0">
              <a:solidFill>
                <a:schemeClr val="tx1"/>
              </a:solidFill>
            </a:endParaRPr>
          </a:p>
          <a:p>
            <a:pPr marL="114300" indent="0">
              <a:buNone/>
            </a:pPr>
            <a:r>
              <a:rPr lang="en-US" sz="2300" b="1" dirty="0">
                <a:solidFill>
                  <a:schemeClr val="tx1"/>
                </a:solidFill>
              </a:rPr>
              <a:t>       Incorporate External Factors:</a:t>
            </a:r>
          </a:p>
          <a:p>
            <a:r>
              <a:rPr lang="en-US" dirty="0">
                <a:solidFill>
                  <a:schemeClr val="tx1"/>
                </a:solidFill>
              </a:rPr>
              <a:t>To enhance model performance by integrating external data, such as economic indicators, news sentiment, and social media trends.</a:t>
            </a:r>
          </a:p>
          <a:p>
            <a:endParaRPr lang="en-US" dirty="0">
              <a:solidFill>
                <a:schemeClr val="tx1"/>
              </a:solidFill>
            </a:endParaRPr>
          </a:p>
          <a:p>
            <a:r>
              <a:rPr lang="en-US" sz="2300" b="1" dirty="0">
                <a:solidFill>
                  <a:schemeClr val="tx1"/>
                </a:solidFill>
              </a:rPr>
              <a:t>Promote Explainability:</a:t>
            </a:r>
          </a:p>
          <a:p>
            <a:r>
              <a:rPr lang="en-US" dirty="0">
                <a:solidFill>
                  <a:schemeClr val="tx1"/>
                </a:solidFill>
              </a:rPr>
              <a:t>To develop explainable AI models that offer insights into the decision-making process and feature importance, ensuring transparency and trust.</a:t>
            </a:r>
          </a:p>
          <a:p>
            <a:endParaRPr lang="en-US" dirty="0">
              <a:solidFill>
                <a:schemeClr val="tx1"/>
              </a:solidFill>
            </a:endParaRPr>
          </a:p>
          <a:p>
            <a:r>
              <a:rPr lang="en-US" sz="2300" b="1" dirty="0">
                <a:solidFill>
                  <a:schemeClr val="tx1"/>
                </a:solidFill>
              </a:rPr>
              <a:t>Explore Real-Time Applications:</a:t>
            </a:r>
          </a:p>
          <a:p>
            <a:r>
              <a:rPr lang="en-US" dirty="0">
                <a:solidFill>
                  <a:schemeClr val="tx1"/>
                </a:solidFill>
              </a:rPr>
              <a:t>To create adaptable models capable of online learning and low-latency inference for real-time financial forecasting and decision-making.</a:t>
            </a:r>
          </a:p>
          <a:p>
            <a:endParaRPr lang="en-US" dirty="0">
              <a:solidFill>
                <a:schemeClr val="tx1"/>
              </a:solidFill>
            </a:endParaRPr>
          </a:p>
          <a:p>
            <a:r>
              <a:rPr lang="en-US" sz="2300" b="1" dirty="0">
                <a:solidFill>
                  <a:schemeClr val="tx1"/>
                </a:solidFill>
              </a:rPr>
              <a:t>Contribute to Ethical AI Practices:</a:t>
            </a:r>
          </a:p>
          <a:p>
            <a:r>
              <a:rPr lang="en-US" dirty="0">
                <a:solidFill>
                  <a:schemeClr val="tx1"/>
                </a:solidFill>
              </a:rPr>
              <a:t>To address fairness, bias, and responsible AI deployment in financial systems, ensuring equitable and ethical predictions.</a:t>
            </a:r>
          </a:p>
          <a:p>
            <a:endParaRPr lang="en-US" dirty="0">
              <a:solidFill>
                <a:schemeClr val="tx1"/>
              </a:solidFill>
            </a:endParaRPr>
          </a:p>
          <a:p>
            <a:pPr>
              <a:lnSpc>
                <a:spcPct val="170000"/>
              </a:lnSpc>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Evaluate and Compare Models:</a:t>
            </a:r>
            <a:b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 experiment with and compare various deep learning models (e.g., LSTM, GRU, Transformers) to identify the most effective model for the given context.</a:t>
            </a:r>
            <a:endParaRPr lang="en-IN" dirty="0">
              <a:solidFill>
                <a:schemeClr val="tx1"/>
              </a:solidFill>
            </a:endParaRPr>
          </a:p>
        </p:txBody>
      </p:sp>
      <p:sp>
        <p:nvSpPr>
          <p:cNvPr id="4" name="Slide Number Placeholder 3">
            <a:extLst>
              <a:ext uri="{FF2B5EF4-FFF2-40B4-BE49-F238E27FC236}">
                <a16:creationId xmlns:a16="http://schemas.microsoft.com/office/drawing/2014/main" id="{2782294C-0724-796A-E2CC-B36E490D9D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14</a:t>
            </a:fld>
            <a:endParaRPr lang="en-IN" dirty="0"/>
          </a:p>
        </p:txBody>
      </p:sp>
    </p:spTree>
    <p:extLst>
      <p:ext uri="{BB962C8B-B14F-4D97-AF65-F5344CB8AC3E}">
        <p14:creationId xmlns:p14="http://schemas.microsoft.com/office/powerpoint/2010/main" val="2680857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6B009-257E-B2E5-4279-A1F0F106C364}"/>
              </a:ext>
            </a:extLst>
          </p:cNvPr>
          <p:cNvSpPr>
            <a:spLocks noGrp="1"/>
          </p:cNvSpPr>
          <p:nvPr>
            <p:ph type="title"/>
          </p:nvPr>
        </p:nvSpPr>
        <p:spPr>
          <a:xfrm>
            <a:off x="246380" y="-68997"/>
            <a:ext cx="10058400" cy="856397"/>
          </a:xfrm>
        </p:spPr>
        <p:txBody>
          <a:bodyPr>
            <a:normAutofit/>
          </a:bodyPr>
          <a:lstStyle/>
          <a:p>
            <a:r>
              <a:rPr lang="en-IN" sz="4000" b="1" dirty="0">
                <a:solidFill>
                  <a:srgbClr val="FF0000"/>
                </a:solidFill>
                <a:latin typeface="Times New Roman" panose="02020603050405020304" pitchFamily="18" charset="0"/>
                <a:cs typeface="Times New Roman" panose="02020603050405020304" pitchFamily="18" charset="0"/>
              </a:rPr>
              <a:t>DATASET</a:t>
            </a:r>
          </a:p>
        </p:txBody>
      </p:sp>
      <p:sp>
        <p:nvSpPr>
          <p:cNvPr id="3" name="Text Placeholder 2">
            <a:extLst>
              <a:ext uri="{FF2B5EF4-FFF2-40B4-BE49-F238E27FC236}">
                <a16:creationId xmlns:a16="http://schemas.microsoft.com/office/drawing/2014/main" id="{6CDEE4B6-51C6-F784-7AD5-DDB8E1A6F198}"/>
              </a:ext>
            </a:extLst>
          </p:cNvPr>
          <p:cNvSpPr>
            <a:spLocks noGrp="1"/>
          </p:cNvSpPr>
          <p:nvPr>
            <p:ph type="body" idx="1"/>
          </p:nvPr>
        </p:nvSpPr>
        <p:spPr>
          <a:xfrm>
            <a:off x="330200" y="1048808"/>
            <a:ext cx="11366500" cy="5161492"/>
          </a:xfrm>
        </p:spPr>
        <p:txBody>
          <a:bodyPr>
            <a:normAutofit/>
          </a:bodyPr>
          <a:lstStyle/>
          <a:p>
            <a:pPr marL="114300" indent="0" rtl="0">
              <a:spcAft>
                <a:spcPts val="1200"/>
              </a:spcAft>
              <a:buNone/>
            </a:pPr>
            <a:r>
              <a:rPr lang="en-US" sz="16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Selected Dataset : BSE (Bombay Stock Exchange) SENSEX Next 50</a:t>
            </a:r>
            <a:endParaRPr lang="en-US" sz="16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rtl="0" fontAlgn="base">
              <a:buFont typeface="Arial" panose="020B0604020202020204" pitchFamily="34" charset="0"/>
              <a:buChar char="•"/>
            </a:pPr>
            <a:r>
              <a:rPr lang="en-US" sz="1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BSE SENSEX Next 50 TMC is designed to measure the performance of the 50 largest and most liquid companies within the BSE 500 that are not members of the BSE SENSEX 50 TMC.</a:t>
            </a:r>
          </a:p>
          <a:p>
            <a:pPr rtl="0" fontAlgn="base">
              <a:buFont typeface="Arial" panose="020B0604020202020204" pitchFamily="34" charset="0"/>
              <a:buChar char="•"/>
            </a:pPr>
            <a:r>
              <a:rPr lang="en-US" sz="1400" b="0" i="0" u="sng"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Long Historical Data</a:t>
            </a:r>
            <a:r>
              <a:rPr lang="en-US" sz="1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Established in 1875, BSE offers extensive historical data, beneficial for identifying long-term trends and cycles.</a:t>
            </a:r>
          </a:p>
          <a:p>
            <a:pPr rtl="0" fontAlgn="base">
              <a:buFont typeface="Arial" panose="020B0604020202020204" pitchFamily="34" charset="0"/>
              <a:buChar char="•"/>
            </a:pPr>
            <a:r>
              <a:rPr lang="en-US" sz="1400" b="0" i="0" u="sng"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Diverse Company Listings</a:t>
            </a:r>
            <a:r>
              <a:rPr lang="en-US" sz="1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Includes a broad range of industries, especially small and mid-cap companies, providing a more comprehensive view of the Indian economy.</a:t>
            </a:r>
          </a:p>
          <a:p>
            <a:pPr rtl="0" fontAlgn="base">
              <a:buFont typeface="Arial" panose="020B0604020202020204" pitchFamily="34" charset="0"/>
              <a:buChar char="•"/>
            </a:pPr>
            <a:r>
              <a:rPr lang="en-US" sz="1400" b="0" i="0" u="sng"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Broader Market Representation</a:t>
            </a:r>
            <a:r>
              <a:rPr lang="en-US" sz="1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BSE’s SENSEX index reflects general market sentiment and serves as an economic barometer.</a:t>
            </a:r>
          </a:p>
          <a:p>
            <a:pPr rtl="0" fontAlgn="base">
              <a:buFont typeface="Arial" panose="020B0604020202020204" pitchFamily="34" charset="0"/>
              <a:buChar char="•"/>
            </a:pPr>
            <a:r>
              <a:rPr lang="en-US" sz="1400" b="0" i="0" u="sng"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Greater Volatility</a:t>
            </a:r>
            <a:r>
              <a:rPr lang="en-US" sz="1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The inclusion of smaller stocks introduces more volatility, useful for forecasting market sentiment and risk.</a:t>
            </a:r>
          </a:p>
          <a:p>
            <a:pPr rtl="0" fontAlgn="base">
              <a:buFont typeface="Arial" panose="020B0604020202020204" pitchFamily="34" charset="0"/>
              <a:buChar char="•"/>
            </a:pPr>
            <a:r>
              <a:rPr lang="en-US" sz="1400" b="0" i="0" u="sng"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Unique Insights from Trading Volumes</a:t>
            </a:r>
            <a:r>
              <a:rPr lang="en-US" sz="1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BSE’s data includes lower-volume trades, helping model less-liquid asset behavior.</a:t>
            </a:r>
          </a:p>
          <a:p>
            <a:pPr rtl="0" fontAlgn="base">
              <a:buFont typeface="Arial" panose="020B0604020202020204" pitchFamily="34" charset="0"/>
              <a:buChar char="•"/>
            </a:pPr>
            <a:r>
              <a:rPr lang="en-US" sz="1400" b="0" i="0" u="sng"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Event Sensitivity</a:t>
            </a:r>
            <a:r>
              <a:rPr lang="en-US" sz="1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BSE data reflects responses to major events like COVID-19, financial scams, and policy shifts, providing insight into how markets react to crises.</a:t>
            </a:r>
          </a:p>
          <a:p>
            <a:endPar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99F62B2-CC2F-2673-806C-45D03F14AC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15</a:t>
            </a:fld>
            <a:endParaRPr lang="en-IN" dirty="0"/>
          </a:p>
        </p:txBody>
      </p:sp>
    </p:spTree>
    <p:extLst>
      <p:ext uri="{BB962C8B-B14F-4D97-AF65-F5344CB8AC3E}">
        <p14:creationId xmlns:p14="http://schemas.microsoft.com/office/powerpoint/2010/main" val="1406028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655B78-5C1B-7B21-C4F0-29676E0D3E05}"/>
              </a:ext>
            </a:extLst>
          </p:cNvPr>
          <p:cNvPicPr>
            <a:picLocks noChangeAspect="1"/>
          </p:cNvPicPr>
          <p:nvPr/>
        </p:nvPicPr>
        <p:blipFill>
          <a:blip r:embed="rId2"/>
          <a:stretch>
            <a:fillRect/>
          </a:stretch>
        </p:blipFill>
        <p:spPr>
          <a:xfrm>
            <a:off x="550299" y="341692"/>
            <a:ext cx="4351901" cy="2619010"/>
          </a:xfrm>
          <a:prstGeom prst="rect">
            <a:avLst/>
          </a:prstGeom>
        </p:spPr>
      </p:pic>
      <p:pic>
        <p:nvPicPr>
          <p:cNvPr id="5" name="Picture 4">
            <a:extLst>
              <a:ext uri="{FF2B5EF4-FFF2-40B4-BE49-F238E27FC236}">
                <a16:creationId xmlns:a16="http://schemas.microsoft.com/office/drawing/2014/main" id="{61054435-CD92-D0D2-2A67-E4F92F3B2D18}"/>
              </a:ext>
            </a:extLst>
          </p:cNvPr>
          <p:cNvPicPr>
            <a:picLocks noChangeAspect="1"/>
          </p:cNvPicPr>
          <p:nvPr/>
        </p:nvPicPr>
        <p:blipFill>
          <a:blip r:embed="rId3"/>
          <a:stretch>
            <a:fillRect/>
          </a:stretch>
        </p:blipFill>
        <p:spPr>
          <a:xfrm>
            <a:off x="5435483" y="434619"/>
            <a:ext cx="2756133" cy="2225239"/>
          </a:xfrm>
          <a:prstGeom prst="rect">
            <a:avLst/>
          </a:prstGeom>
        </p:spPr>
      </p:pic>
      <p:pic>
        <p:nvPicPr>
          <p:cNvPr id="7" name="Picture 6">
            <a:extLst>
              <a:ext uri="{FF2B5EF4-FFF2-40B4-BE49-F238E27FC236}">
                <a16:creationId xmlns:a16="http://schemas.microsoft.com/office/drawing/2014/main" id="{EA72CDCF-717F-5A23-1B97-56D810722028}"/>
              </a:ext>
            </a:extLst>
          </p:cNvPr>
          <p:cNvPicPr>
            <a:picLocks noChangeAspect="1"/>
          </p:cNvPicPr>
          <p:nvPr/>
        </p:nvPicPr>
        <p:blipFill>
          <a:blip r:embed="rId4"/>
          <a:stretch>
            <a:fillRect/>
          </a:stretch>
        </p:blipFill>
        <p:spPr>
          <a:xfrm>
            <a:off x="8724899" y="416650"/>
            <a:ext cx="2616200" cy="2375156"/>
          </a:xfrm>
          <a:prstGeom prst="rect">
            <a:avLst/>
          </a:prstGeom>
        </p:spPr>
      </p:pic>
      <p:pic>
        <p:nvPicPr>
          <p:cNvPr id="11" name="Picture 10">
            <a:extLst>
              <a:ext uri="{FF2B5EF4-FFF2-40B4-BE49-F238E27FC236}">
                <a16:creationId xmlns:a16="http://schemas.microsoft.com/office/drawing/2014/main" id="{F54C32D7-D15D-C2B6-C7E5-DCD23B92C7A3}"/>
              </a:ext>
            </a:extLst>
          </p:cNvPr>
          <p:cNvPicPr>
            <a:picLocks noChangeAspect="1"/>
          </p:cNvPicPr>
          <p:nvPr/>
        </p:nvPicPr>
        <p:blipFill>
          <a:blip r:embed="rId5"/>
          <a:stretch>
            <a:fillRect/>
          </a:stretch>
        </p:blipFill>
        <p:spPr>
          <a:xfrm>
            <a:off x="550299" y="3291261"/>
            <a:ext cx="3653401" cy="2814951"/>
          </a:xfrm>
          <a:prstGeom prst="rect">
            <a:avLst/>
          </a:prstGeom>
        </p:spPr>
      </p:pic>
      <p:pic>
        <p:nvPicPr>
          <p:cNvPr id="15" name="Picture 14">
            <a:extLst>
              <a:ext uri="{FF2B5EF4-FFF2-40B4-BE49-F238E27FC236}">
                <a16:creationId xmlns:a16="http://schemas.microsoft.com/office/drawing/2014/main" id="{76DC10BE-B765-D44F-A5D4-B2E74F70441A}"/>
              </a:ext>
            </a:extLst>
          </p:cNvPr>
          <p:cNvPicPr>
            <a:picLocks noChangeAspect="1"/>
          </p:cNvPicPr>
          <p:nvPr/>
        </p:nvPicPr>
        <p:blipFill>
          <a:blip r:embed="rId6"/>
          <a:stretch>
            <a:fillRect/>
          </a:stretch>
        </p:blipFill>
        <p:spPr>
          <a:xfrm>
            <a:off x="4337049" y="3291260"/>
            <a:ext cx="4781551" cy="2906339"/>
          </a:xfrm>
          <a:prstGeom prst="rect">
            <a:avLst/>
          </a:prstGeom>
        </p:spPr>
      </p:pic>
      <p:pic>
        <p:nvPicPr>
          <p:cNvPr id="17" name="Picture 16">
            <a:extLst>
              <a:ext uri="{FF2B5EF4-FFF2-40B4-BE49-F238E27FC236}">
                <a16:creationId xmlns:a16="http://schemas.microsoft.com/office/drawing/2014/main" id="{1274335A-CA8B-FD09-DB50-17F943C29285}"/>
              </a:ext>
            </a:extLst>
          </p:cNvPr>
          <p:cNvPicPr>
            <a:picLocks noChangeAspect="1"/>
          </p:cNvPicPr>
          <p:nvPr/>
        </p:nvPicPr>
        <p:blipFill>
          <a:blip r:embed="rId7"/>
          <a:stretch>
            <a:fillRect/>
          </a:stretch>
        </p:blipFill>
        <p:spPr>
          <a:xfrm>
            <a:off x="9469296" y="3429000"/>
            <a:ext cx="2481404" cy="2768599"/>
          </a:xfrm>
          <a:prstGeom prst="rect">
            <a:avLst/>
          </a:prstGeom>
        </p:spPr>
      </p:pic>
    </p:spTree>
    <p:extLst>
      <p:ext uri="{BB962C8B-B14F-4D97-AF65-F5344CB8AC3E}">
        <p14:creationId xmlns:p14="http://schemas.microsoft.com/office/powerpoint/2010/main" val="138071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83B339-DC12-5AF6-F133-064F8C9037DD}"/>
              </a:ext>
            </a:extLst>
          </p:cNvPr>
          <p:cNvPicPr>
            <a:picLocks noChangeAspect="1"/>
          </p:cNvPicPr>
          <p:nvPr/>
        </p:nvPicPr>
        <p:blipFill>
          <a:blip r:embed="rId2"/>
          <a:stretch>
            <a:fillRect/>
          </a:stretch>
        </p:blipFill>
        <p:spPr>
          <a:xfrm>
            <a:off x="3018772" y="283866"/>
            <a:ext cx="6366528" cy="2898002"/>
          </a:xfrm>
          <a:prstGeom prst="rect">
            <a:avLst/>
          </a:prstGeom>
        </p:spPr>
      </p:pic>
      <p:pic>
        <p:nvPicPr>
          <p:cNvPr id="5" name="Picture 4">
            <a:extLst>
              <a:ext uri="{FF2B5EF4-FFF2-40B4-BE49-F238E27FC236}">
                <a16:creationId xmlns:a16="http://schemas.microsoft.com/office/drawing/2014/main" id="{9F4A5B26-71D3-1A73-99EB-E47D1A7E189E}"/>
              </a:ext>
            </a:extLst>
          </p:cNvPr>
          <p:cNvPicPr>
            <a:picLocks noChangeAspect="1"/>
          </p:cNvPicPr>
          <p:nvPr/>
        </p:nvPicPr>
        <p:blipFill>
          <a:blip r:embed="rId3"/>
          <a:stretch>
            <a:fillRect/>
          </a:stretch>
        </p:blipFill>
        <p:spPr>
          <a:xfrm>
            <a:off x="2738480" y="3429000"/>
            <a:ext cx="6927112" cy="2829012"/>
          </a:xfrm>
          <a:prstGeom prst="rect">
            <a:avLst/>
          </a:prstGeom>
        </p:spPr>
      </p:pic>
    </p:spTree>
    <p:extLst>
      <p:ext uri="{BB962C8B-B14F-4D97-AF65-F5344CB8AC3E}">
        <p14:creationId xmlns:p14="http://schemas.microsoft.com/office/powerpoint/2010/main" val="3850292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ABF8C-5D3F-2D68-669C-95CDD8092CB1}"/>
              </a:ext>
            </a:extLst>
          </p:cNvPr>
          <p:cNvSpPr>
            <a:spLocks noGrp="1"/>
          </p:cNvSpPr>
          <p:nvPr>
            <p:ph type="title"/>
          </p:nvPr>
        </p:nvSpPr>
        <p:spPr>
          <a:xfrm>
            <a:off x="127000" y="7203"/>
            <a:ext cx="11722100" cy="1450757"/>
          </a:xfrm>
        </p:spPr>
        <p:txBody>
          <a:bodyPr>
            <a:normAutofit/>
          </a:bodyPr>
          <a:lstStyle/>
          <a:p>
            <a:r>
              <a:rPr lang="en-US" sz="4000" b="1" dirty="0">
                <a:solidFill>
                  <a:srgbClr val="FF0000"/>
                </a:solidFill>
                <a:latin typeface="Times New Roman"/>
                <a:ea typeface="Times New Roman"/>
                <a:cs typeface="Times New Roman"/>
                <a:sym typeface="Times New Roman"/>
              </a:rPr>
              <a:t>IDENTIFICATION OF TOOLS/TECHNOLOGIES</a:t>
            </a:r>
            <a:br>
              <a:rPr lang="en-US" sz="4000" b="1" dirty="0">
                <a:solidFill>
                  <a:srgbClr val="FF0000"/>
                </a:solidFill>
                <a:latin typeface="Times New Roman"/>
                <a:ea typeface="Times New Roman"/>
                <a:cs typeface="Times New Roman"/>
                <a:sym typeface="Times New Roman"/>
              </a:rPr>
            </a:br>
            <a:endParaRPr lang="en-IN" sz="4000" dirty="0">
              <a:solidFill>
                <a:srgbClr val="FF0000"/>
              </a:solidFill>
            </a:endParaRPr>
          </a:p>
        </p:txBody>
      </p:sp>
      <p:sp>
        <p:nvSpPr>
          <p:cNvPr id="4" name="Slide Number Placeholder 3">
            <a:extLst>
              <a:ext uri="{FF2B5EF4-FFF2-40B4-BE49-F238E27FC236}">
                <a16:creationId xmlns:a16="http://schemas.microsoft.com/office/drawing/2014/main" id="{651D13FC-1180-6B99-AF9D-9CF2460EA6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18</a:t>
            </a:fld>
            <a:endParaRPr lang="en-IN" dirty="0"/>
          </a:p>
        </p:txBody>
      </p:sp>
      <p:sp>
        <p:nvSpPr>
          <p:cNvPr id="11" name="Rectangle 10">
            <a:extLst>
              <a:ext uri="{FF2B5EF4-FFF2-40B4-BE49-F238E27FC236}">
                <a16:creationId xmlns:a16="http://schemas.microsoft.com/office/drawing/2014/main" id="{378B1E07-525D-17DD-4147-8EFA4C8E5D22}"/>
              </a:ext>
            </a:extLst>
          </p:cNvPr>
          <p:cNvSpPr/>
          <p:nvPr/>
        </p:nvSpPr>
        <p:spPr>
          <a:xfrm>
            <a:off x="7785100" y="1457961"/>
            <a:ext cx="3949700" cy="4066540"/>
          </a:xfrm>
          <a:prstGeom prst="rect">
            <a:avLst/>
          </a:prstGeom>
          <a:ln w="952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5" name="Rectangle 1">
            <a:extLst>
              <a:ext uri="{FF2B5EF4-FFF2-40B4-BE49-F238E27FC236}">
                <a16:creationId xmlns:a16="http://schemas.microsoft.com/office/drawing/2014/main" id="{CC4D3B9C-8BB2-9090-062F-BB984E0728E9}"/>
              </a:ext>
            </a:extLst>
          </p:cNvPr>
          <p:cNvSpPr>
            <a:spLocks noGrp="1" noChangeArrowheads="1"/>
          </p:cNvSpPr>
          <p:nvPr>
            <p:ph type="body" idx="1"/>
          </p:nvPr>
        </p:nvSpPr>
        <p:spPr bwMode="auto">
          <a:xfrm>
            <a:off x="254000" y="1074510"/>
            <a:ext cx="70485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600" b="1" i="0" u="sng"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Regression Test Parameters</a:t>
            </a: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Average absolute error between predicted and actual values; lower is better.</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MSE: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Average squared error, penalizing larger deviations; useful for reducing large errors.</a:t>
            </a:r>
          </a:p>
          <a:p>
            <a:pPr marL="0" marR="0" lvl="0" indent="0" algn="just" defTabSz="914400" rtl="0" eaLnBrk="0" fontAlgn="base" latinLnBrk="0" hangingPunct="0">
              <a:lnSpc>
                <a:spcPct val="150000"/>
              </a:lnSpc>
              <a:spcBef>
                <a:spcPct val="0"/>
              </a:spcBef>
              <a:spcAft>
                <a:spcPct val="0"/>
              </a:spcAft>
              <a:buClrTx/>
              <a:buSzTx/>
              <a:buFontTx/>
              <a:buAutoNum type="arabicPeriod" startAt="3"/>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RMSE: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Square root of MSE, providing error in the same unit as the target variable.</a:t>
            </a:r>
          </a:p>
          <a:p>
            <a:pPr marL="0" marR="0" lvl="0" indent="0" algn="just" defTabSz="914400" rtl="0" eaLnBrk="0" fontAlgn="base" latinLnBrk="0" hangingPunct="0">
              <a:lnSpc>
                <a:spcPct val="150000"/>
              </a:lnSpc>
              <a:spcBef>
                <a:spcPct val="0"/>
              </a:spcBef>
              <a:spcAft>
                <a:spcPct val="0"/>
              </a:spcAft>
              <a:buClrTx/>
              <a:buSzTx/>
              <a:buFontTx/>
              <a:buAutoNum type="arabicPeriod" startAt="4"/>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MAPE: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Average percentage error, scale-independent; lower values indicate higher accuracy.</a:t>
            </a:r>
          </a:p>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600" b="1" i="0" u="sng"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Binary Classifier Metrics</a:t>
            </a: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Accuracy:</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Percentage of correct predictions; suitable for balanced datasets.</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Precision: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True positives among predicted positives; minimizes false positives.</a:t>
            </a:r>
          </a:p>
          <a:p>
            <a:pPr marL="0" marR="0" lvl="0" indent="0" algn="just" defTabSz="914400" rtl="0" eaLnBrk="0" fontAlgn="base" latinLnBrk="0" hangingPunct="0">
              <a:lnSpc>
                <a:spcPct val="150000"/>
              </a:lnSpc>
              <a:spcBef>
                <a:spcPct val="0"/>
              </a:spcBef>
              <a:spcAft>
                <a:spcPct val="0"/>
              </a:spcAft>
              <a:buClrTx/>
              <a:buSzTx/>
              <a:buFontTx/>
              <a:buAutoNum type="arabicPeriod" startAt="3"/>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Recall (Sensitivity):</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True positives among actual positives; minimizes false negatives.</a:t>
            </a:r>
          </a:p>
          <a:p>
            <a:pPr marL="0" marR="0" lvl="0" indent="0" algn="just" defTabSz="914400" rtl="0" eaLnBrk="0" fontAlgn="base" latinLnBrk="0" hangingPunct="0">
              <a:lnSpc>
                <a:spcPct val="150000"/>
              </a:lnSpc>
              <a:spcBef>
                <a:spcPct val="0"/>
              </a:spcBef>
              <a:spcAft>
                <a:spcPct val="0"/>
              </a:spcAft>
              <a:buClrTx/>
              <a:buSzTx/>
              <a:buFontTx/>
              <a:buAutoNum type="arabicPeriod" startAt="4"/>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F1 Score: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Harmonic mean of precision and recall; balances both metrics for uneven classes.</a:t>
            </a:r>
          </a:p>
          <a:p>
            <a:pPr marL="0" marR="0" lvl="0" indent="0" algn="just" defTabSz="914400" rtl="0" eaLnBrk="0" fontAlgn="base" latinLnBrk="0" hangingPunct="0">
              <a:lnSpc>
                <a:spcPct val="150000"/>
              </a:lnSpc>
              <a:spcBef>
                <a:spcPct val="0"/>
              </a:spcBef>
              <a:spcAft>
                <a:spcPct val="0"/>
              </a:spcAft>
              <a:buClrTx/>
              <a:buSzTx/>
              <a:buFontTx/>
              <a:buAutoNum type="arabicPeriod" startAt="5"/>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ROC-AUC:</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Measures model's ability to distinguish classes; higher values reflect better performance.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5123" name="Picture 3" descr="What is Python Coding? | Juni Learning">
            <a:extLst>
              <a:ext uri="{FF2B5EF4-FFF2-40B4-BE49-F238E27FC236}">
                <a16:creationId xmlns:a16="http://schemas.microsoft.com/office/drawing/2014/main" id="{8932FBEB-8C4F-064B-7066-BE4F4E8D73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519" t="19815" r="18888" b="20926"/>
          <a:stretch/>
        </p:blipFill>
        <p:spPr bwMode="auto">
          <a:xfrm>
            <a:off x="8358674" y="1737565"/>
            <a:ext cx="1041400" cy="985941"/>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5" descr="Working with Google Colab for Python and Machine Learning: A Comprehensive  Guide">
            <a:extLst>
              <a:ext uri="{FF2B5EF4-FFF2-40B4-BE49-F238E27FC236}">
                <a16:creationId xmlns:a16="http://schemas.microsoft.com/office/drawing/2014/main" id="{BB9CCFCC-5664-44A7-3D86-801A763A09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r="10735" b="1061"/>
          <a:stretch/>
        </p:blipFill>
        <p:spPr bwMode="auto">
          <a:xfrm>
            <a:off x="9601200" y="1737565"/>
            <a:ext cx="2006600" cy="951397"/>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descr="Scikit-Learn v0.24 Docs - Apps on Google Play">
            <a:extLst>
              <a:ext uri="{FF2B5EF4-FFF2-40B4-BE49-F238E27FC236}">
                <a16:creationId xmlns:a16="http://schemas.microsoft.com/office/drawing/2014/main" id="{98481A9E-839E-9C44-7E30-3711A670B3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073" t="26228" r="8073" b="26728"/>
          <a:stretch/>
        </p:blipFill>
        <p:spPr bwMode="auto">
          <a:xfrm>
            <a:off x="7959558" y="3123207"/>
            <a:ext cx="1773602" cy="995036"/>
          </a:xfrm>
          <a:prstGeom prst="rect">
            <a:avLst/>
          </a:prstGeom>
          <a:noFill/>
          <a:extLst>
            <a:ext uri="{909E8E84-426E-40DD-AFC4-6F175D3DCCD1}">
              <a14:hiddenFill xmlns:a14="http://schemas.microsoft.com/office/drawing/2010/main">
                <a:solidFill>
                  <a:srgbClr val="FFFFFF"/>
                </a:solidFill>
              </a14:hiddenFill>
            </a:ext>
          </a:extLst>
        </p:spPr>
      </p:pic>
      <p:pic>
        <p:nvPicPr>
          <p:cNvPr id="5129" name="Picture 9" descr="numpy - freeCodeCamp.org">
            <a:extLst>
              <a:ext uri="{FF2B5EF4-FFF2-40B4-BE49-F238E27FC236}">
                <a16:creationId xmlns:a16="http://schemas.microsoft.com/office/drawing/2014/main" id="{16DE5FA1-A83E-78E4-D479-6678DAEC09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0459" y="3365257"/>
            <a:ext cx="1558793" cy="701457"/>
          </a:xfrm>
          <a:prstGeom prst="rect">
            <a:avLst/>
          </a:prstGeom>
          <a:noFill/>
          <a:extLst>
            <a:ext uri="{909E8E84-426E-40DD-AFC4-6F175D3DCCD1}">
              <a14:hiddenFill xmlns:a14="http://schemas.microsoft.com/office/drawing/2010/main">
                <a:solidFill>
                  <a:srgbClr val="FFFFFF"/>
                </a:solidFill>
              </a14:hiddenFill>
            </a:ext>
          </a:extLst>
        </p:spPr>
      </p:pic>
      <p:pic>
        <p:nvPicPr>
          <p:cNvPr id="5131" name="Picture 11" descr="pandas (software) - Wikipedia">
            <a:extLst>
              <a:ext uri="{FF2B5EF4-FFF2-40B4-BE49-F238E27FC236}">
                <a16:creationId xmlns:a16="http://schemas.microsoft.com/office/drawing/2014/main" id="{A248F548-0B22-BFE3-8BE0-20D03AE55C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40700" y="4542283"/>
            <a:ext cx="1477349" cy="598473"/>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7" descr="statsmodels 0.14.4">
            <a:extLst>
              <a:ext uri="{FF2B5EF4-FFF2-40B4-BE49-F238E27FC236}">
                <a16:creationId xmlns:a16="http://schemas.microsoft.com/office/drawing/2014/main" id="{AD08F106-CBA1-EE78-2836-591040127B9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143" name="Picture 23" descr="Statsmodels">
            <a:extLst>
              <a:ext uri="{FF2B5EF4-FFF2-40B4-BE49-F238E27FC236}">
                <a16:creationId xmlns:a16="http://schemas.microsoft.com/office/drawing/2014/main" id="{E7504152-77F0-630B-84F9-72682D1647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03507" y="4404180"/>
            <a:ext cx="1208977" cy="87467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CE825C1-E3E3-47B5-3F4B-156CE29C0F83}"/>
              </a:ext>
            </a:extLst>
          </p:cNvPr>
          <p:cNvSpPr txBox="1"/>
          <p:nvPr/>
        </p:nvSpPr>
        <p:spPr>
          <a:xfrm>
            <a:off x="9067800" y="5631091"/>
            <a:ext cx="3822700" cy="246221"/>
          </a:xfrm>
          <a:prstGeom prst="rect">
            <a:avLst/>
          </a:prstGeom>
          <a:noFill/>
        </p:spPr>
        <p:txBody>
          <a:bodyPr wrap="square" rtlCol="0">
            <a:spAutoFit/>
          </a:bodyPr>
          <a:lstStyle/>
          <a:p>
            <a:r>
              <a:rPr lang="en-IN" sz="1000" dirty="0">
                <a:solidFill>
                  <a:schemeClr val="bg1">
                    <a:lumMod val="50000"/>
                  </a:schemeClr>
                </a:solidFill>
              </a:rPr>
              <a:t>Fig: Implementation Tools</a:t>
            </a:r>
          </a:p>
        </p:txBody>
      </p:sp>
    </p:spTree>
    <p:extLst>
      <p:ext uri="{BB962C8B-B14F-4D97-AF65-F5344CB8AC3E}">
        <p14:creationId xmlns:p14="http://schemas.microsoft.com/office/powerpoint/2010/main" val="1663298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BF02A-4355-FEF9-1317-144B3E176C5E}"/>
              </a:ext>
            </a:extLst>
          </p:cNvPr>
          <p:cNvSpPr>
            <a:spLocks noGrp="1"/>
          </p:cNvSpPr>
          <p:nvPr>
            <p:ph type="title"/>
          </p:nvPr>
        </p:nvSpPr>
        <p:spPr>
          <a:xfrm>
            <a:off x="152400" y="-38100"/>
            <a:ext cx="12496800" cy="778934"/>
          </a:xfrm>
        </p:spPr>
        <p:txBody>
          <a:bodyPr>
            <a:noAutofit/>
          </a:bodyPr>
          <a:lstStyle/>
          <a:p>
            <a:r>
              <a:rPr lang="en-US" sz="3900" b="1" i="0" u="none" strike="noStrike" cap="none" dirty="0">
                <a:solidFill>
                  <a:srgbClr val="FF0000"/>
                </a:solidFill>
                <a:latin typeface="Times New Roman"/>
                <a:ea typeface="Times New Roman"/>
                <a:cs typeface="Times New Roman"/>
                <a:sym typeface="Times New Roman"/>
              </a:rPr>
              <a:t>DESIGN/FLOWCHART OF COMPLETE PROJECT</a:t>
            </a:r>
            <a:endParaRPr lang="en-IN" sz="3900" dirty="0">
              <a:solidFill>
                <a:srgbClr val="FF0000"/>
              </a:solidFill>
            </a:endParaRPr>
          </a:p>
        </p:txBody>
      </p:sp>
      <p:sp>
        <p:nvSpPr>
          <p:cNvPr id="4" name="Slide Number Placeholder 3">
            <a:extLst>
              <a:ext uri="{FF2B5EF4-FFF2-40B4-BE49-F238E27FC236}">
                <a16:creationId xmlns:a16="http://schemas.microsoft.com/office/drawing/2014/main" id="{E96DFB56-B3DF-0421-5C79-58639575DF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19</a:t>
            </a:fld>
            <a:endParaRPr lang="en-IN" dirty="0"/>
          </a:p>
        </p:txBody>
      </p:sp>
      <p:pic>
        <p:nvPicPr>
          <p:cNvPr id="6" name="Picture 5">
            <a:extLst>
              <a:ext uri="{FF2B5EF4-FFF2-40B4-BE49-F238E27FC236}">
                <a16:creationId xmlns:a16="http://schemas.microsoft.com/office/drawing/2014/main" id="{F0FF843D-D61A-2F22-825B-23416B0570EE}"/>
              </a:ext>
            </a:extLst>
          </p:cNvPr>
          <p:cNvPicPr>
            <a:picLocks noChangeAspect="1"/>
          </p:cNvPicPr>
          <p:nvPr/>
        </p:nvPicPr>
        <p:blipFill>
          <a:blip r:embed="rId2"/>
          <a:stretch>
            <a:fillRect/>
          </a:stretch>
        </p:blipFill>
        <p:spPr>
          <a:xfrm>
            <a:off x="1027082" y="878748"/>
            <a:ext cx="2378080" cy="5216164"/>
          </a:xfrm>
          <a:prstGeom prst="rect">
            <a:avLst/>
          </a:prstGeom>
        </p:spPr>
      </p:pic>
      <p:pic>
        <p:nvPicPr>
          <p:cNvPr id="8" name="Picture 7">
            <a:extLst>
              <a:ext uri="{FF2B5EF4-FFF2-40B4-BE49-F238E27FC236}">
                <a16:creationId xmlns:a16="http://schemas.microsoft.com/office/drawing/2014/main" id="{6C5D78A8-F224-C8E1-2B96-F643E8A22240}"/>
              </a:ext>
            </a:extLst>
          </p:cNvPr>
          <p:cNvPicPr>
            <a:picLocks noChangeAspect="1"/>
          </p:cNvPicPr>
          <p:nvPr/>
        </p:nvPicPr>
        <p:blipFill>
          <a:blip r:embed="rId3"/>
          <a:srcRect b="24593"/>
          <a:stretch/>
        </p:blipFill>
        <p:spPr>
          <a:xfrm>
            <a:off x="4675190" y="903525"/>
            <a:ext cx="2841620" cy="5238567"/>
          </a:xfrm>
          <a:prstGeom prst="rect">
            <a:avLst/>
          </a:prstGeom>
        </p:spPr>
      </p:pic>
      <p:pic>
        <p:nvPicPr>
          <p:cNvPr id="10" name="Picture 9">
            <a:extLst>
              <a:ext uri="{FF2B5EF4-FFF2-40B4-BE49-F238E27FC236}">
                <a16:creationId xmlns:a16="http://schemas.microsoft.com/office/drawing/2014/main" id="{3ABF3BD9-54E4-1D25-9AE9-61528E405875}"/>
              </a:ext>
            </a:extLst>
          </p:cNvPr>
          <p:cNvPicPr>
            <a:picLocks noChangeAspect="1"/>
          </p:cNvPicPr>
          <p:nvPr/>
        </p:nvPicPr>
        <p:blipFill>
          <a:blip r:embed="rId4"/>
          <a:stretch>
            <a:fillRect/>
          </a:stretch>
        </p:blipFill>
        <p:spPr>
          <a:xfrm>
            <a:off x="8693959" y="878748"/>
            <a:ext cx="2413000" cy="5310524"/>
          </a:xfrm>
          <a:prstGeom prst="rect">
            <a:avLst/>
          </a:prstGeom>
        </p:spPr>
      </p:pic>
      <p:cxnSp>
        <p:nvCxnSpPr>
          <p:cNvPr id="12" name="Straight Connector 11">
            <a:extLst>
              <a:ext uri="{FF2B5EF4-FFF2-40B4-BE49-F238E27FC236}">
                <a16:creationId xmlns:a16="http://schemas.microsoft.com/office/drawing/2014/main" id="{B613AB74-A7F9-3A40-EA49-2472F78E46F0}"/>
              </a:ext>
            </a:extLst>
          </p:cNvPr>
          <p:cNvCxnSpPr>
            <a:cxnSpLocks/>
            <a:stCxn id="6" idx="2"/>
          </p:cNvCxnSpPr>
          <p:nvPr/>
        </p:nvCxnSpPr>
        <p:spPr>
          <a:xfrm>
            <a:off x="2216122" y="6094912"/>
            <a:ext cx="0" cy="9436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1EDBD3A-8A2C-140C-8776-F497D1DE4481}"/>
              </a:ext>
            </a:extLst>
          </p:cNvPr>
          <p:cNvCxnSpPr/>
          <p:nvPr/>
        </p:nvCxnSpPr>
        <p:spPr>
          <a:xfrm>
            <a:off x="2216122" y="6189272"/>
            <a:ext cx="1730403"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55EC911C-5186-C04A-0BB2-3B5E763E6EB8}"/>
              </a:ext>
            </a:extLst>
          </p:cNvPr>
          <p:cNvCxnSpPr>
            <a:cxnSpLocks/>
          </p:cNvCxnSpPr>
          <p:nvPr/>
        </p:nvCxnSpPr>
        <p:spPr>
          <a:xfrm flipV="1">
            <a:off x="3953370" y="740834"/>
            <a:ext cx="58443" cy="5448438"/>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D4CE5A87-50C0-B470-690B-8A69124DD872}"/>
              </a:ext>
            </a:extLst>
          </p:cNvPr>
          <p:cNvCxnSpPr>
            <a:cxnSpLocks/>
          </p:cNvCxnSpPr>
          <p:nvPr/>
        </p:nvCxnSpPr>
        <p:spPr>
          <a:xfrm>
            <a:off x="4011813" y="740834"/>
            <a:ext cx="2109587" cy="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006F599B-27B4-2E11-62D3-D5662D8672EF}"/>
              </a:ext>
            </a:extLst>
          </p:cNvPr>
          <p:cNvCxnSpPr>
            <a:stCxn id="8" idx="2"/>
          </p:cNvCxnSpPr>
          <p:nvPr/>
        </p:nvCxnSpPr>
        <p:spPr>
          <a:xfrm>
            <a:off x="6096000" y="6142092"/>
            <a:ext cx="0" cy="89375"/>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7091BD57-A65F-FE9E-CF70-ADAE225BBDDB}"/>
              </a:ext>
            </a:extLst>
          </p:cNvPr>
          <p:cNvCxnSpPr/>
          <p:nvPr/>
        </p:nvCxnSpPr>
        <p:spPr>
          <a:xfrm>
            <a:off x="6096000" y="6235700"/>
            <a:ext cx="1989667" cy="0"/>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20B7D524-4C2A-3B36-9C9A-7E34C8BC06AB}"/>
              </a:ext>
            </a:extLst>
          </p:cNvPr>
          <p:cNvCxnSpPr>
            <a:cxnSpLocks/>
          </p:cNvCxnSpPr>
          <p:nvPr/>
        </p:nvCxnSpPr>
        <p:spPr>
          <a:xfrm flipV="1">
            <a:off x="8089900" y="740834"/>
            <a:ext cx="0" cy="5490633"/>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D15A1A5A-B28A-39F6-EEB0-615F412A19D5}"/>
              </a:ext>
            </a:extLst>
          </p:cNvPr>
          <p:cNvCxnSpPr/>
          <p:nvPr/>
        </p:nvCxnSpPr>
        <p:spPr>
          <a:xfrm>
            <a:off x="8085667" y="740834"/>
            <a:ext cx="1814792" cy="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740D54D3-01F4-A75E-23DD-0CA02729906F}"/>
              </a:ext>
            </a:extLst>
          </p:cNvPr>
          <p:cNvCxnSpPr>
            <a:endCxn id="10" idx="0"/>
          </p:cNvCxnSpPr>
          <p:nvPr/>
        </p:nvCxnSpPr>
        <p:spPr>
          <a:xfrm>
            <a:off x="9900459" y="740834"/>
            <a:ext cx="0" cy="1379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120E24A3-4107-4A5D-7D9C-90CE0891BEAC}"/>
              </a:ext>
            </a:extLst>
          </p:cNvPr>
          <p:cNvCxnSpPr>
            <a:cxnSpLocks/>
            <a:endCxn id="8" idx="0"/>
          </p:cNvCxnSpPr>
          <p:nvPr/>
        </p:nvCxnSpPr>
        <p:spPr>
          <a:xfrm>
            <a:off x="6096000" y="740834"/>
            <a:ext cx="0" cy="162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99881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13" y="101672"/>
            <a:ext cx="10058400" cy="665897"/>
          </a:xfrm>
        </p:spPr>
        <p:txBody>
          <a:bodyPr>
            <a:normAutofit/>
          </a:bodyPr>
          <a:lstStyle/>
          <a:p>
            <a:r>
              <a:rPr lang="en-IN" sz="4000" b="1" dirty="0">
                <a:solidFill>
                  <a:srgbClr val="FF0000"/>
                </a:solidFill>
                <a:latin typeface="Times New Roman" pitchFamily="18" charset="0"/>
                <a:cs typeface="Times New Roman" pitchFamily="18" charset="0"/>
              </a:rPr>
              <a:t>REFERENCES</a:t>
            </a:r>
          </a:p>
        </p:txBody>
      </p:sp>
      <p:sp>
        <p:nvSpPr>
          <p:cNvPr id="3" name="Text Placeholder 2"/>
          <p:cNvSpPr>
            <a:spLocks noGrp="1"/>
          </p:cNvSpPr>
          <p:nvPr>
            <p:ph type="body" idx="1"/>
          </p:nvPr>
        </p:nvSpPr>
        <p:spPr>
          <a:xfrm>
            <a:off x="1097280" y="1130300"/>
            <a:ext cx="10058400" cy="4738794"/>
          </a:xfrm>
        </p:spPr>
        <p:txBody>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20</a:t>
            </a:fld>
            <a:endParaRPr lang="en-IN" dirty="0"/>
          </a:p>
        </p:txBody>
      </p:sp>
      <p:sp>
        <p:nvSpPr>
          <p:cNvPr id="6" name="TextBox 5">
            <a:extLst>
              <a:ext uri="{FF2B5EF4-FFF2-40B4-BE49-F238E27FC236}">
                <a16:creationId xmlns:a16="http://schemas.microsoft.com/office/drawing/2014/main" id="{97A4A74D-3A44-F87C-E477-9CF0166331B4}"/>
              </a:ext>
            </a:extLst>
          </p:cNvPr>
          <p:cNvSpPr txBox="1"/>
          <p:nvPr/>
        </p:nvSpPr>
        <p:spPr>
          <a:xfrm>
            <a:off x="195209" y="955495"/>
            <a:ext cx="11383766" cy="2062103"/>
          </a:xfrm>
          <a:prstGeom prst="rect">
            <a:avLst/>
          </a:prstGeom>
          <a:noFill/>
        </p:spPr>
        <p:txBody>
          <a:bodyPr wrap="square" rtlCol="0">
            <a:spAutoFit/>
          </a:bodyPr>
          <a:lstStyle/>
          <a:p>
            <a:pPr marL="285750" indent="-285750" rtl="0">
              <a:spcAft>
                <a:spcPts val="1200"/>
              </a:spcAft>
              <a:buFont typeface="Arial" panose="020B0604020202020204" pitchFamily="34" charset="0"/>
              <a:buChar char="•"/>
            </a:pP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Rohit </a:t>
            </a:r>
            <a:r>
              <a:rPr lang="en-IN"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Salgotra</a:t>
            </a: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IN"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Harmanjeet</a:t>
            </a: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Singh, Szymon Lukasik, Gurpreet Kaur, </a:t>
            </a:r>
            <a:r>
              <a:rPr lang="en-IN"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Supreet</a:t>
            </a: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Singh, Pratap Singh</a:t>
            </a:r>
            <a:r>
              <a:rPr lang="en-IN"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(2024). "A hybrid deep learning model combining Bi-directional Gated Recurrent Unit (BGRU) with a Convolutional Neural Network (CNN) for predicting the closing prices of stock indices in six Asian stock markets." </a:t>
            </a:r>
            <a:r>
              <a:rPr lang="en-IN"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MDPI: Algorithms</a:t>
            </a:r>
            <a:r>
              <a:rPr lang="en-IN"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rtl="0">
              <a:spcAft>
                <a:spcPts val="1200"/>
              </a:spcAft>
              <a:buFont typeface="Arial" panose="020B0604020202020204" pitchFamily="34" charset="0"/>
              <a:buChar char="•"/>
            </a:pP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Miguel </a:t>
            </a:r>
            <a:r>
              <a:rPr lang="en-IN"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Noguer</a:t>
            </a: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IN"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i</a:t>
            </a: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Alonso, Rodolfo Pereira Franklin</a:t>
            </a:r>
            <a:r>
              <a:rPr lang="en-IN"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(2024). "Large Language Models for Financial Time Series Forecasting." </a:t>
            </a:r>
            <a:r>
              <a:rPr lang="en-IN"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SSRN</a:t>
            </a:r>
            <a:r>
              <a:rPr lang="en-IN"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IN" b="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rtl="0">
              <a:spcAft>
                <a:spcPts val="1200"/>
              </a:spcAft>
              <a:buFont typeface="Arial" panose="020B0604020202020204" pitchFamily="34" charset="0"/>
              <a:buChar char="•"/>
            </a:pP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Ali Mehrabian, Ehsan </a:t>
            </a:r>
            <a:r>
              <a:rPr lang="en-IN"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Hoseinzade</a:t>
            </a: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Mahdi Mazloum, </a:t>
            </a:r>
            <a:r>
              <a:rPr lang="en-IN"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Xiaohong</a:t>
            </a: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Chen</a:t>
            </a:r>
            <a:r>
              <a:rPr lang="en-IN"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(2024). "Mamba Meets Financial Markets: A Graph-Mamba Approach for Stock Price Prediction." </a:t>
            </a:r>
            <a:r>
              <a:rPr lang="en-IN" b="0" i="1"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arXiv</a:t>
            </a:r>
            <a:r>
              <a:rPr lang="en-IN"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Computational Finance</a:t>
            </a:r>
            <a:r>
              <a:rPr lang="en-IN"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rtl="0">
              <a:spcAft>
                <a:spcPts val="1200"/>
              </a:spcAft>
              <a:buFont typeface="Arial" panose="020B0604020202020204" pitchFamily="34" charset="0"/>
              <a:buChar char="•"/>
            </a:pP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John </a:t>
            </a:r>
            <a:r>
              <a:rPr lang="en-IN"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Kamwele</a:t>
            </a: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IN"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Mutinda</a:t>
            </a: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Amos </a:t>
            </a:r>
            <a:r>
              <a:rPr lang="en-IN"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Kipkorir</a:t>
            </a:r>
            <a:r>
              <a:rPr lang="en-IN"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Langat</a:t>
            </a:r>
            <a:r>
              <a:rPr lang="en-IN"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(2024). "Stock price prediction using combined GARCH-AI models." </a:t>
            </a:r>
            <a:r>
              <a:rPr lang="en-IN"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Elsevier: Scientific African</a:t>
            </a:r>
            <a:r>
              <a:rPr lang="en-IN"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IN"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1723FD56-CEB0-F170-BE7F-DB76A7148EC5}"/>
              </a:ext>
            </a:extLst>
          </p:cNvPr>
          <p:cNvSpPr txBox="1"/>
          <p:nvPr/>
        </p:nvSpPr>
        <p:spPr>
          <a:xfrm>
            <a:off x="308225" y="5189355"/>
            <a:ext cx="11383766" cy="984885"/>
          </a:xfrm>
          <a:prstGeom prst="rect">
            <a:avLst/>
          </a:prstGeom>
          <a:solidFill>
            <a:schemeClr val="bg1">
              <a:lumMod val="85000"/>
            </a:schemeClr>
          </a:solidFill>
        </p:spPr>
        <p:txBody>
          <a:bodyPr wrap="square" rtlCol="0">
            <a:spAutoFit/>
          </a:bodyPr>
          <a:lstStyle/>
          <a:p>
            <a:r>
              <a:rPr lang="en-IN" sz="1600" b="1" u="sng" dirty="0"/>
              <a:t>ADDITIONAL LINKS:</a:t>
            </a:r>
          </a:p>
          <a:p>
            <a:r>
              <a:rPr lang="en-IN" dirty="0"/>
              <a:t>Review 1 Presentation - </a:t>
            </a:r>
            <a:r>
              <a:rPr lang="en-IN" dirty="0">
                <a:hlinkClick r:id="rId2"/>
              </a:rPr>
              <a:t>https://docs.google.com/presentation/d/1KwmnbbVUuaTFaNHmZv5oxk0jVUT_Ps3IoYTtMxvSTNc/edit?usp=sharing</a:t>
            </a:r>
            <a:endParaRPr lang="en-IN" dirty="0"/>
          </a:p>
          <a:p>
            <a:r>
              <a:rPr lang="en-IN" dirty="0"/>
              <a:t>Review 2 Presentation - </a:t>
            </a:r>
            <a:r>
              <a:rPr lang="en-IN" dirty="0">
                <a:hlinkClick r:id="rId3"/>
              </a:rPr>
              <a:t>https://docs.google.com/presentation/d/1cO7-S2yZh2ff25W0rJEPEmpSjrXXucY-QegiwBwBmHo/edit?usp=sharing</a:t>
            </a:r>
            <a:endParaRPr lang="en-IN" dirty="0"/>
          </a:p>
          <a:p>
            <a:r>
              <a:rPr lang="en-IN" dirty="0"/>
              <a:t>Research Papers Table - </a:t>
            </a:r>
            <a:r>
              <a:rPr lang="en-IN" dirty="0">
                <a:hlinkClick r:id="rId4"/>
              </a:rPr>
              <a:t>https://docs.google.com/spreadsheets/d/1SftDQfazZgzaxWYPDXQE2Cem6kQNTYJnk8-RBBf0azI/edit?usp=sharing</a:t>
            </a:r>
            <a:endParaRPr lang="en-IN" dirty="0"/>
          </a:p>
        </p:txBody>
      </p:sp>
    </p:spTree>
    <p:extLst>
      <p:ext uri="{BB962C8B-B14F-4D97-AF65-F5344CB8AC3E}">
        <p14:creationId xmlns:p14="http://schemas.microsoft.com/office/powerpoint/2010/main" val="940318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0"/>
          <p:cNvSpPr txBox="1">
            <a:spLocks noGrp="1"/>
          </p:cNvSpPr>
          <p:nvPr>
            <p:ph type="body" idx="1"/>
          </p:nvPr>
        </p:nvSpPr>
        <p:spPr>
          <a:xfrm>
            <a:off x="1200976" y="2500298"/>
            <a:ext cx="9347620" cy="3353747"/>
          </a:xfrm>
          <a:prstGeom prst="rect">
            <a:avLst/>
          </a:prstGeom>
          <a:noFill/>
          <a:ln>
            <a:noFill/>
          </a:ln>
        </p:spPr>
        <p:txBody>
          <a:bodyPr spcFirstLastPara="1" wrap="square" lIns="0" tIns="45700" rIns="0" bIns="45700" anchor="t" anchorCtr="0">
            <a:normAutofit/>
          </a:bodyPr>
          <a:lstStyle/>
          <a:p>
            <a:pPr marL="0" lvl="0" indent="0" algn="ctr" rtl="0">
              <a:lnSpc>
                <a:spcPct val="90000"/>
              </a:lnSpc>
              <a:spcBef>
                <a:spcPts val="0"/>
              </a:spcBef>
              <a:spcAft>
                <a:spcPts val="0"/>
              </a:spcAft>
              <a:buSzPts val="8800"/>
              <a:buNone/>
            </a:pPr>
            <a:r>
              <a:rPr lang="en-IN" sz="8800" b="1" dirty="0">
                <a:solidFill>
                  <a:srgbClr val="FF0000"/>
                </a:solidFill>
              </a:rPr>
              <a:t>THANK YOU</a:t>
            </a:r>
            <a:endParaRPr b="1" dirty="0">
              <a:solidFill>
                <a:srgbClr val="FF0000"/>
              </a:solidFill>
            </a:endParaRPr>
          </a:p>
          <a:p>
            <a:pPr marL="0" lvl="0" indent="0" algn="ctr" rtl="0">
              <a:lnSpc>
                <a:spcPct val="90000"/>
              </a:lnSpc>
              <a:spcBef>
                <a:spcPts val="1400"/>
              </a:spcBef>
              <a:spcAft>
                <a:spcPts val="0"/>
              </a:spcAft>
              <a:buSzPts val="8800"/>
              <a:buNone/>
            </a:pPr>
            <a:endParaRPr sz="8800" dirty="0"/>
          </a:p>
          <a:p>
            <a:pPr marL="0" lvl="0" indent="0" algn="ctr" rtl="0">
              <a:lnSpc>
                <a:spcPct val="90000"/>
              </a:lnSpc>
              <a:spcBef>
                <a:spcPts val="1400"/>
              </a:spcBef>
              <a:spcAft>
                <a:spcPts val="0"/>
              </a:spcAft>
              <a:buSzPts val="8800"/>
              <a:buNone/>
            </a:pPr>
            <a:endParaRPr sz="8800" dirty="0"/>
          </a:p>
        </p:txBody>
      </p:sp>
      <p:sp>
        <p:nvSpPr>
          <p:cNvPr id="262" name="Google Shape;262;p20" descr="Handshake"/>
          <p:cNvSpPr/>
          <p:nvPr/>
        </p:nvSpPr>
        <p:spPr>
          <a:xfrm>
            <a:off x="4751078" y="3271854"/>
            <a:ext cx="2243612" cy="2751872"/>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3" name="Google Shape;263;p20"/>
          <p:cNvSpPr txBox="1">
            <a:spLocks noGrp="1"/>
          </p:cNvSpPr>
          <p:nvPr>
            <p:ph type="sldNum" idx="12"/>
          </p:nvPr>
        </p:nvSpPr>
        <p:spPr>
          <a:xfrm>
            <a:off x="9900459" y="6459785"/>
            <a:ext cx="1311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IN"/>
              <a:pPr marL="0" lvl="0" indent="0" algn="r" rtl="0">
                <a:lnSpc>
                  <a:spcPct val="100000"/>
                </a:lnSpc>
                <a:spcBef>
                  <a:spcPts val="0"/>
                </a:spcBef>
                <a:spcAft>
                  <a:spcPts val="0"/>
                </a:spcAft>
                <a:buClr>
                  <a:srgbClr val="000000"/>
                </a:buClr>
                <a:buSzPts val="1000"/>
                <a:buFont typeface="Arial"/>
                <a:buNone/>
              </a:pPr>
              <a:t>21</a:t>
            </a:fld>
            <a:endParaRPr dirty="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3627</TotalTime>
  <Words>3347</Words>
  <Application>Microsoft Office PowerPoint</Application>
  <PresentationFormat>Widescreen</PresentationFormat>
  <Paragraphs>268</Paragraphs>
  <Slides>21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Lato</vt:lpstr>
      <vt:lpstr>Times New Roman</vt:lpstr>
      <vt:lpstr>Wingdings</vt:lpstr>
      <vt:lpstr>Retrospect</vt:lpstr>
      <vt:lpstr>GITAM  (Deemed to be university) School of Technology, Hyderabad  Department of Computer Science and Engineering </vt:lpstr>
      <vt:lpstr>PowerPoint Presentation</vt:lpstr>
      <vt:lpstr>INTRODUCTION</vt:lpstr>
      <vt:lpstr>PowerPoint Presentation</vt:lpstr>
      <vt:lpstr>ABSTRACT</vt:lpstr>
      <vt:lpstr>PowerPoint Presentation</vt:lpstr>
      <vt:lpstr>PowerPoint Presentation</vt:lpstr>
      <vt:lpstr>PowerPoint Presentation</vt:lpstr>
      <vt:lpstr>PowerPoint Presentation</vt:lpstr>
      <vt:lpstr>PowerPoint Presentation</vt:lpstr>
      <vt:lpstr>LITERATURE SUMMARY</vt:lpstr>
      <vt:lpstr>PROBLEM STATEMENT</vt:lpstr>
      <vt:lpstr>OBJECTIVES</vt:lpstr>
      <vt:lpstr>PowerPoint Presentation</vt:lpstr>
      <vt:lpstr>DATASET</vt:lpstr>
      <vt:lpstr>PowerPoint Presentation</vt:lpstr>
      <vt:lpstr>PowerPoint Presentation</vt:lpstr>
      <vt:lpstr>IDENTIFICATION OF TOOLS/TECHNOLOGIES </vt:lpstr>
      <vt:lpstr>DESIGN/FLOWCHART OF COMPLETE PROJECT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GITAM  (Deemed to be university) SCHOOL OF TECHNOLOGY, BENGALURU  DEPARTMENT OF COMPUTER SCIENCE AND ENGINEERING</dc:title>
  <dc:creator>Vijay Kumar</dc:creator>
  <cp:lastModifiedBy>SRI VAISHNAVI VASA</cp:lastModifiedBy>
  <cp:revision>220</cp:revision>
  <dcterms:created xsi:type="dcterms:W3CDTF">2021-04-15T07:10:06Z</dcterms:created>
  <dcterms:modified xsi:type="dcterms:W3CDTF">2024-11-16T17:58:42Z</dcterms:modified>
</cp:coreProperties>
</file>