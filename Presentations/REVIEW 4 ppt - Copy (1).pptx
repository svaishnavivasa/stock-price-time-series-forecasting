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7" r:id="rId3"/>
    <p:sldId id="257" r:id="rId4"/>
    <p:sldId id="261" r:id="rId5"/>
    <p:sldId id="266" r:id="rId6"/>
    <p:sldId id="291" r:id="rId7"/>
    <p:sldId id="293" r:id="rId8"/>
    <p:sldId id="292" r:id="rId9"/>
    <p:sldId id="295" r:id="rId10"/>
    <p:sldId id="301" r:id="rId11"/>
    <p:sldId id="286" r:id="rId12"/>
    <p:sldId id="258" r:id="rId13"/>
    <p:sldId id="281" r:id="rId14"/>
    <p:sldId id="282" r:id="rId15"/>
    <p:sldId id="294" r:id="rId16"/>
    <p:sldId id="283" r:id="rId17"/>
    <p:sldId id="296" r:id="rId18"/>
    <p:sldId id="297" r:id="rId19"/>
    <p:sldId id="302" r:id="rId20"/>
    <p:sldId id="298" r:id="rId21"/>
    <p:sldId id="299" r:id="rId22"/>
    <p:sldId id="259" r:id="rId23"/>
    <p:sldId id="300" r:id="rId24"/>
    <p:sldId id="260" r:id="rId25"/>
  </p:sldIdLst>
  <p:sldSz cx="12192000" cy="6858000"/>
  <p:notesSz cx="6858000" cy="9144000"/>
  <p:embeddedFontLst>
    <p:embeddedFont>
      <p:font typeface="Inter" panose="020B0604020202020204" charset="0"/>
      <p:regular r:id="rId27"/>
      <p:bold r:id="rId28"/>
    </p:embeddedFont>
    <p:embeddedFont>
      <p:font typeface="Open Sans" panose="020B0606030504020204" pitchFamily="34" charset="0"/>
      <p:regular r:id="rId29"/>
      <p:bold r:id="rId30"/>
      <p:italic r:id="rId31"/>
      <p:boldItalic r:id="rId32"/>
    </p:embeddedFont>
    <p:embeddedFont>
      <p:font typeface="Play" panose="020B0604020202020204" charset="0"/>
      <p:regular r:id="rId33"/>
      <p:bold r:id="rId34"/>
    </p:embeddedFont>
    <p:embeddedFont>
      <p:font typeface="Plus Jakarta Sans"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368615E-E500-4DCC-A775-01C41AEB6EDF}">
          <p14:sldIdLst>
            <p14:sldId id="256"/>
            <p14:sldId id="287"/>
            <p14:sldId id="257"/>
            <p14:sldId id="261"/>
            <p14:sldId id="266"/>
            <p14:sldId id="291"/>
            <p14:sldId id="293"/>
            <p14:sldId id="292"/>
            <p14:sldId id="295"/>
            <p14:sldId id="301"/>
            <p14:sldId id="286"/>
            <p14:sldId id="258"/>
            <p14:sldId id="281"/>
            <p14:sldId id="282"/>
            <p14:sldId id="294"/>
            <p14:sldId id="283"/>
            <p14:sldId id="296"/>
            <p14:sldId id="297"/>
            <p14:sldId id="302"/>
            <p14:sldId id="298"/>
            <p14:sldId id="299"/>
            <p14:sldId id="259"/>
            <p14:sldId id="300"/>
            <p14:sldId id="260"/>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haw7R1ZIsv2CMvKNaVklE+ELCC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4C9"/>
    <a:srgbClr val="FFF2CC"/>
    <a:srgbClr val="0073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C1A5F2-C7F4-42EF-8194-A367FB17F6C2}">
  <a:tblStyle styleId="{B1C1A5F2-C7F4-42EF-8194-A367FB17F6C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62" d="100"/>
          <a:sy n="62" d="100"/>
        </p:scale>
        <p:origin x="86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058EE2-DD4B-4C65-8471-2B77B259FFE3}" type="doc">
      <dgm:prSet loTypeId="urn:microsoft.com/office/officeart/2005/8/layout/list1" loCatId="list" qsTypeId="urn:microsoft.com/office/officeart/2005/8/quickstyle/simple1" qsCatId="simple" csTypeId="urn:microsoft.com/office/officeart/2005/8/colors/accent4_2" csCatId="accent4" phldr="1"/>
      <dgm:spPr/>
      <dgm:t>
        <a:bodyPr/>
        <a:lstStyle/>
        <a:p>
          <a:endParaRPr lang="en-IN"/>
        </a:p>
      </dgm:t>
    </dgm:pt>
    <dgm:pt modelId="{08EEF9B4-9887-4C1E-9022-E9A6CD895F0C}">
      <dgm:prSet phldrT="[Text]" custT="1"/>
      <dgm:spPr/>
      <dgm:t>
        <a:bodyPr/>
        <a:lstStyle/>
        <a:p>
          <a:pPr>
            <a:buAutoNum type="arabicPeriod"/>
          </a:pPr>
          <a:r>
            <a:rPr lang="en-US" sz="2400" dirty="0">
              <a:latin typeface="Times New Roman" panose="02020603050405020304" pitchFamily="18" charset="0"/>
              <a:cs typeface="Times New Roman" panose="02020603050405020304" pitchFamily="18" charset="0"/>
            </a:rPr>
            <a:t>Significantly Lower MAE, MSE, and RMSE</a:t>
          </a:r>
          <a:endParaRPr lang="en-IN" sz="2400" dirty="0"/>
        </a:p>
      </dgm:t>
    </dgm:pt>
    <dgm:pt modelId="{1E589566-0A0B-4943-BB1E-1F0B92B7E661}" type="parTrans" cxnId="{40F77044-39DC-4976-A867-C0420161EF5F}">
      <dgm:prSet/>
      <dgm:spPr/>
      <dgm:t>
        <a:bodyPr/>
        <a:lstStyle/>
        <a:p>
          <a:endParaRPr lang="en-IN"/>
        </a:p>
      </dgm:t>
    </dgm:pt>
    <dgm:pt modelId="{747C9DB7-E2F5-43F8-A2EC-BDEE47877EF9}" type="sibTrans" cxnId="{40F77044-39DC-4976-A867-C0420161EF5F}">
      <dgm:prSet/>
      <dgm:spPr/>
      <dgm:t>
        <a:bodyPr/>
        <a:lstStyle/>
        <a:p>
          <a:endParaRPr lang="en-IN"/>
        </a:p>
      </dgm:t>
    </dgm:pt>
    <dgm:pt modelId="{7706B29E-B8C8-4520-9571-C81C2C8879F8}">
      <dgm:prSet phldrT="[Text]" custT="1"/>
      <dgm:spPr/>
      <dgm:t>
        <a:bodyPr/>
        <a:lstStyle/>
        <a:p>
          <a:pPr>
            <a:buAutoNum type="arabicPeriod"/>
          </a:pPr>
          <a:r>
            <a:rPr lang="en-IN" sz="2400" dirty="0">
              <a:latin typeface="Times New Roman" panose="02020603050405020304" pitchFamily="18" charset="0"/>
              <a:cs typeface="Times New Roman" panose="02020603050405020304" pitchFamily="18" charset="0"/>
            </a:rPr>
            <a:t>Comparable MAPE </a:t>
          </a:r>
          <a:endParaRPr lang="en-IN" sz="2400" dirty="0"/>
        </a:p>
      </dgm:t>
    </dgm:pt>
    <dgm:pt modelId="{B09703F4-FA79-4EE7-95FA-2AA38BBD62EA}" type="parTrans" cxnId="{5DFD3EEC-EAC5-404E-ABCD-BD5B1E5CE260}">
      <dgm:prSet/>
      <dgm:spPr/>
      <dgm:t>
        <a:bodyPr/>
        <a:lstStyle/>
        <a:p>
          <a:endParaRPr lang="en-IN"/>
        </a:p>
      </dgm:t>
    </dgm:pt>
    <dgm:pt modelId="{64B309BE-3D2E-460A-9D97-EFD6B7C1A265}" type="sibTrans" cxnId="{5DFD3EEC-EAC5-404E-ABCD-BD5B1E5CE260}">
      <dgm:prSet/>
      <dgm:spPr/>
      <dgm:t>
        <a:bodyPr/>
        <a:lstStyle/>
        <a:p>
          <a:endParaRPr lang="en-IN"/>
        </a:p>
      </dgm:t>
    </dgm:pt>
    <dgm:pt modelId="{6D21D552-01C9-4ED0-901A-21DFD648CA43}">
      <dgm:prSet phldrT="[Text]" custT="1"/>
      <dgm:spPr/>
      <dgm:t>
        <a:bodyPr/>
        <a:lstStyle/>
        <a:p>
          <a:pPr>
            <a:buAutoNum type="arabicPeriod"/>
          </a:pPr>
          <a:r>
            <a:rPr lang="en-US" sz="2400" dirty="0">
              <a:latin typeface="Times New Roman" panose="02020603050405020304" pitchFamily="18" charset="0"/>
              <a:cs typeface="Times New Roman" panose="02020603050405020304" pitchFamily="18" charset="0"/>
            </a:rPr>
            <a:t>Better Overall Performance for Real-World Applications </a:t>
          </a:r>
          <a:endParaRPr lang="en-IN" sz="2400" dirty="0"/>
        </a:p>
      </dgm:t>
    </dgm:pt>
    <dgm:pt modelId="{5031FF5B-076B-48A3-B03B-295074079686}" type="parTrans" cxnId="{6551A6C6-4084-4633-A384-E96A124AD109}">
      <dgm:prSet/>
      <dgm:spPr/>
      <dgm:t>
        <a:bodyPr/>
        <a:lstStyle/>
        <a:p>
          <a:endParaRPr lang="en-IN"/>
        </a:p>
      </dgm:t>
    </dgm:pt>
    <dgm:pt modelId="{9B19BAA6-3EE1-403D-BEA1-9A46B22192F7}" type="sibTrans" cxnId="{6551A6C6-4084-4633-A384-E96A124AD109}">
      <dgm:prSet/>
      <dgm:spPr/>
      <dgm:t>
        <a:bodyPr/>
        <a:lstStyle/>
        <a:p>
          <a:endParaRPr lang="en-IN"/>
        </a:p>
      </dgm:t>
    </dgm:pt>
    <dgm:pt modelId="{B91E51BB-1AAC-4634-A51B-1361968A5F8E}" type="pres">
      <dgm:prSet presAssocID="{39058EE2-DD4B-4C65-8471-2B77B259FFE3}" presName="linear" presStyleCnt="0">
        <dgm:presLayoutVars>
          <dgm:dir/>
          <dgm:animLvl val="lvl"/>
          <dgm:resizeHandles val="exact"/>
        </dgm:presLayoutVars>
      </dgm:prSet>
      <dgm:spPr/>
    </dgm:pt>
    <dgm:pt modelId="{7B9CBC8E-D625-4A12-889D-1EC9B4D00438}" type="pres">
      <dgm:prSet presAssocID="{08EEF9B4-9887-4C1E-9022-E9A6CD895F0C}" presName="parentLin" presStyleCnt="0"/>
      <dgm:spPr/>
    </dgm:pt>
    <dgm:pt modelId="{8D47314C-D773-49EF-93E2-15E9B793B0FA}" type="pres">
      <dgm:prSet presAssocID="{08EEF9B4-9887-4C1E-9022-E9A6CD895F0C}" presName="parentLeftMargin" presStyleLbl="node1" presStyleIdx="0" presStyleCnt="3"/>
      <dgm:spPr/>
    </dgm:pt>
    <dgm:pt modelId="{0BCD4B4B-CA46-4EB7-99CE-C656631B9DB1}" type="pres">
      <dgm:prSet presAssocID="{08EEF9B4-9887-4C1E-9022-E9A6CD895F0C}" presName="parentText" presStyleLbl="node1" presStyleIdx="0" presStyleCnt="3">
        <dgm:presLayoutVars>
          <dgm:chMax val="0"/>
          <dgm:bulletEnabled val="1"/>
        </dgm:presLayoutVars>
      </dgm:prSet>
      <dgm:spPr/>
    </dgm:pt>
    <dgm:pt modelId="{B5B4BA5C-99E3-4806-9DD2-BBB2121B0B63}" type="pres">
      <dgm:prSet presAssocID="{08EEF9B4-9887-4C1E-9022-E9A6CD895F0C}" presName="negativeSpace" presStyleCnt="0"/>
      <dgm:spPr/>
    </dgm:pt>
    <dgm:pt modelId="{2A91A73A-BF03-428E-8FBA-1E71E04FD907}" type="pres">
      <dgm:prSet presAssocID="{08EEF9B4-9887-4C1E-9022-E9A6CD895F0C}" presName="childText" presStyleLbl="conFgAcc1" presStyleIdx="0" presStyleCnt="3">
        <dgm:presLayoutVars>
          <dgm:bulletEnabled val="1"/>
        </dgm:presLayoutVars>
      </dgm:prSet>
      <dgm:spPr/>
    </dgm:pt>
    <dgm:pt modelId="{6A1AF3A2-CB5D-443C-B4F5-09D6A989FD63}" type="pres">
      <dgm:prSet presAssocID="{747C9DB7-E2F5-43F8-A2EC-BDEE47877EF9}" presName="spaceBetweenRectangles" presStyleCnt="0"/>
      <dgm:spPr/>
    </dgm:pt>
    <dgm:pt modelId="{8FB999CE-A200-44D1-8A8F-07BA74F6065B}" type="pres">
      <dgm:prSet presAssocID="{7706B29E-B8C8-4520-9571-C81C2C8879F8}" presName="parentLin" presStyleCnt="0"/>
      <dgm:spPr/>
    </dgm:pt>
    <dgm:pt modelId="{8A6C3220-1171-4F51-B81D-551914CBAAAC}" type="pres">
      <dgm:prSet presAssocID="{7706B29E-B8C8-4520-9571-C81C2C8879F8}" presName="parentLeftMargin" presStyleLbl="node1" presStyleIdx="0" presStyleCnt="3"/>
      <dgm:spPr/>
    </dgm:pt>
    <dgm:pt modelId="{00FD6090-F627-4413-9309-193C57DB8990}" type="pres">
      <dgm:prSet presAssocID="{7706B29E-B8C8-4520-9571-C81C2C8879F8}" presName="parentText" presStyleLbl="node1" presStyleIdx="1" presStyleCnt="3">
        <dgm:presLayoutVars>
          <dgm:chMax val="0"/>
          <dgm:bulletEnabled val="1"/>
        </dgm:presLayoutVars>
      </dgm:prSet>
      <dgm:spPr/>
    </dgm:pt>
    <dgm:pt modelId="{219709D2-558F-4290-B05C-92B7864D9662}" type="pres">
      <dgm:prSet presAssocID="{7706B29E-B8C8-4520-9571-C81C2C8879F8}" presName="negativeSpace" presStyleCnt="0"/>
      <dgm:spPr/>
    </dgm:pt>
    <dgm:pt modelId="{CC0A9897-DE8E-4AEC-9597-61B1C4EFD6E0}" type="pres">
      <dgm:prSet presAssocID="{7706B29E-B8C8-4520-9571-C81C2C8879F8}" presName="childText" presStyleLbl="conFgAcc1" presStyleIdx="1" presStyleCnt="3">
        <dgm:presLayoutVars>
          <dgm:bulletEnabled val="1"/>
        </dgm:presLayoutVars>
      </dgm:prSet>
      <dgm:spPr/>
    </dgm:pt>
    <dgm:pt modelId="{05B15DDB-681B-43E4-AF76-F8EFE221ABCF}" type="pres">
      <dgm:prSet presAssocID="{64B309BE-3D2E-460A-9D97-EFD6B7C1A265}" presName="spaceBetweenRectangles" presStyleCnt="0"/>
      <dgm:spPr/>
    </dgm:pt>
    <dgm:pt modelId="{4209E7BD-77B7-426C-855E-4ADB587E691F}" type="pres">
      <dgm:prSet presAssocID="{6D21D552-01C9-4ED0-901A-21DFD648CA43}" presName="parentLin" presStyleCnt="0"/>
      <dgm:spPr/>
    </dgm:pt>
    <dgm:pt modelId="{0D2AC27C-647A-4749-930C-12582B8562FB}" type="pres">
      <dgm:prSet presAssocID="{6D21D552-01C9-4ED0-901A-21DFD648CA43}" presName="parentLeftMargin" presStyleLbl="node1" presStyleIdx="1" presStyleCnt="3"/>
      <dgm:spPr/>
    </dgm:pt>
    <dgm:pt modelId="{AB113D85-35FE-42ED-A0E3-9F427EF8C27C}" type="pres">
      <dgm:prSet presAssocID="{6D21D552-01C9-4ED0-901A-21DFD648CA43}" presName="parentText" presStyleLbl="node1" presStyleIdx="2" presStyleCnt="3">
        <dgm:presLayoutVars>
          <dgm:chMax val="0"/>
          <dgm:bulletEnabled val="1"/>
        </dgm:presLayoutVars>
      </dgm:prSet>
      <dgm:spPr/>
    </dgm:pt>
    <dgm:pt modelId="{69A75976-A1BB-49E9-83D5-F27202CBC70B}" type="pres">
      <dgm:prSet presAssocID="{6D21D552-01C9-4ED0-901A-21DFD648CA43}" presName="negativeSpace" presStyleCnt="0"/>
      <dgm:spPr/>
    </dgm:pt>
    <dgm:pt modelId="{6C15CD0A-1B65-4661-8648-CA1AD6E2BAFC}" type="pres">
      <dgm:prSet presAssocID="{6D21D552-01C9-4ED0-901A-21DFD648CA43}" presName="childText" presStyleLbl="conFgAcc1" presStyleIdx="2" presStyleCnt="3">
        <dgm:presLayoutVars>
          <dgm:bulletEnabled val="1"/>
        </dgm:presLayoutVars>
      </dgm:prSet>
      <dgm:spPr/>
    </dgm:pt>
  </dgm:ptLst>
  <dgm:cxnLst>
    <dgm:cxn modelId="{2FEC0D20-49CD-45F2-928D-7BA03726071A}" type="presOf" srcId="{7706B29E-B8C8-4520-9571-C81C2C8879F8}" destId="{00FD6090-F627-4413-9309-193C57DB8990}" srcOrd="1" destOrd="0" presId="urn:microsoft.com/office/officeart/2005/8/layout/list1"/>
    <dgm:cxn modelId="{4A90C05D-DE80-4278-AEA8-9098CEB60A52}" type="presOf" srcId="{08EEF9B4-9887-4C1E-9022-E9A6CD895F0C}" destId="{0BCD4B4B-CA46-4EB7-99CE-C656631B9DB1}" srcOrd="1" destOrd="0" presId="urn:microsoft.com/office/officeart/2005/8/layout/list1"/>
    <dgm:cxn modelId="{4F23B160-487D-43AF-B4DB-0D9560A9C124}" type="presOf" srcId="{08EEF9B4-9887-4C1E-9022-E9A6CD895F0C}" destId="{8D47314C-D773-49EF-93E2-15E9B793B0FA}" srcOrd="0" destOrd="0" presId="urn:microsoft.com/office/officeart/2005/8/layout/list1"/>
    <dgm:cxn modelId="{40F77044-39DC-4976-A867-C0420161EF5F}" srcId="{39058EE2-DD4B-4C65-8471-2B77B259FFE3}" destId="{08EEF9B4-9887-4C1E-9022-E9A6CD895F0C}" srcOrd="0" destOrd="0" parTransId="{1E589566-0A0B-4943-BB1E-1F0B92B7E661}" sibTransId="{747C9DB7-E2F5-43F8-A2EC-BDEE47877EF9}"/>
    <dgm:cxn modelId="{9430F069-441C-4E5C-9EC9-C51A4E0EE7ED}" type="presOf" srcId="{39058EE2-DD4B-4C65-8471-2B77B259FFE3}" destId="{B91E51BB-1AAC-4634-A51B-1361968A5F8E}" srcOrd="0" destOrd="0" presId="urn:microsoft.com/office/officeart/2005/8/layout/list1"/>
    <dgm:cxn modelId="{1110E34F-0E46-4D9D-A14D-1239A18E4D6E}" type="presOf" srcId="{6D21D552-01C9-4ED0-901A-21DFD648CA43}" destId="{0D2AC27C-647A-4749-930C-12582B8562FB}" srcOrd="0" destOrd="0" presId="urn:microsoft.com/office/officeart/2005/8/layout/list1"/>
    <dgm:cxn modelId="{64BA8553-8C42-4B4D-AC59-5EA6C7A16029}" type="presOf" srcId="{7706B29E-B8C8-4520-9571-C81C2C8879F8}" destId="{8A6C3220-1171-4F51-B81D-551914CBAAAC}" srcOrd="0" destOrd="0" presId="urn:microsoft.com/office/officeart/2005/8/layout/list1"/>
    <dgm:cxn modelId="{6551A6C6-4084-4633-A384-E96A124AD109}" srcId="{39058EE2-DD4B-4C65-8471-2B77B259FFE3}" destId="{6D21D552-01C9-4ED0-901A-21DFD648CA43}" srcOrd="2" destOrd="0" parTransId="{5031FF5B-076B-48A3-B03B-295074079686}" sibTransId="{9B19BAA6-3EE1-403D-BEA1-9A46B22192F7}"/>
    <dgm:cxn modelId="{5B9D6ED3-8405-4FC9-B2D3-6F8C46A73DDF}" type="presOf" srcId="{6D21D552-01C9-4ED0-901A-21DFD648CA43}" destId="{AB113D85-35FE-42ED-A0E3-9F427EF8C27C}" srcOrd="1" destOrd="0" presId="urn:microsoft.com/office/officeart/2005/8/layout/list1"/>
    <dgm:cxn modelId="{5DFD3EEC-EAC5-404E-ABCD-BD5B1E5CE260}" srcId="{39058EE2-DD4B-4C65-8471-2B77B259FFE3}" destId="{7706B29E-B8C8-4520-9571-C81C2C8879F8}" srcOrd="1" destOrd="0" parTransId="{B09703F4-FA79-4EE7-95FA-2AA38BBD62EA}" sibTransId="{64B309BE-3D2E-460A-9D97-EFD6B7C1A265}"/>
    <dgm:cxn modelId="{854216C2-6B8B-4377-8EF7-DD0150146490}" type="presParOf" srcId="{B91E51BB-1AAC-4634-A51B-1361968A5F8E}" destId="{7B9CBC8E-D625-4A12-889D-1EC9B4D00438}" srcOrd="0" destOrd="0" presId="urn:microsoft.com/office/officeart/2005/8/layout/list1"/>
    <dgm:cxn modelId="{51500980-6BD3-4313-93A8-A724524B35F1}" type="presParOf" srcId="{7B9CBC8E-D625-4A12-889D-1EC9B4D00438}" destId="{8D47314C-D773-49EF-93E2-15E9B793B0FA}" srcOrd="0" destOrd="0" presId="urn:microsoft.com/office/officeart/2005/8/layout/list1"/>
    <dgm:cxn modelId="{E695A99D-6FA9-4F3A-B287-8D2790D9D95B}" type="presParOf" srcId="{7B9CBC8E-D625-4A12-889D-1EC9B4D00438}" destId="{0BCD4B4B-CA46-4EB7-99CE-C656631B9DB1}" srcOrd="1" destOrd="0" presId="urn:microsoft.com/office/officeart/2005/8/layout/list1"/>
    <dgm:cxn modelId="{2180B56D-AFA2-408F-9AC9-A0A24D0BD83A}" type="presParOf" srcId="{B91E51BB-1AAC-4634-A51B-1361968A5F8E}" destId="{B5B4BA5C-99E3-4806-9DD2-BBB2121B0B63}" srcOrd="1" destOrd="0" presId="urn:microsoft.com/office/officeart/2005/8/layout/list1"/>
    <dgm:cxn modelId="{7796C5C4-A8AA-40E6-BD8C-3DA03E97CED6}" type="presParOf" srcId="{B91E51BB-1AAC-4634-A51B-1361968A5F8E}" destId="{2A91A73A-BF03-428E-8FBA-1E71E04FD907}" srcOrd="2" destOrd="0" presId="urn:microsoft.com/office/officeart/2005/8/layout/list1"/>
    <dgm:cxn modelId="{8E6D04B0-26E3-4E66-80D1-EF2812BF79EF}" type="presParOf" srcId="{B91E51BB-1AAC-4634-A51B-1361968A5F8E}" destId="{6A1AF3A2-CB5D-443C-B4F5-09D6A989FD63}" srcOrd="3" destOrd="0" presId="urn:microsoft.com/office/officeart/2005/8/layout/list1"/>
    <dgm:cxn modelId="{71856080-5E60-40A7-A728-EBA353E7F889}" type="presParOf" srcId="{B91E51BB-1AAC-4634-A51B-1361968A5F8E}" destId="{8FB999CE-A200-44D1-8A8F-07BA74F6065B}" srcOrd="4" destOrd="0" presId="urn:microsoft.com/office/officeart/2005/8/layout/list1"/>
    <dgm:cxn modelId="{76D45CAF-52A4-4C2B-B284-4534EE2E69A0}" type="presParOf" srcId="{8FB999CE-A200-44D1-8A8F-07BA74F6065B}" destId="{8A6C3220-1171-4F51-B81D-551914CBAAAC}" srcOrd="0" destOrd="0" presId="urn:microsoft.com/office/officeart/2005/8/layout/list1"/>
    <dgm:cxn modelId="{4AE50619-F9C4-44FC-A433-8C784D50A109}" type="presParOf" srcId="{8FB999CE-A200-44D1-8A8F-07BA74F6065B}" destId="{00FD6090-F627-4413-9309-193C57DB8990}" srcOrd="1" destOrd="0" presId="urn:microsoft.com/office/officeart/2005/8/layout/list1"/>
    <dgm:cxn modelId="{615DCCD8-3FE3-4482-ABCE-0D1242D3BE0B}" type="presParOf" srcId="{B91E51BB-1AAC-4634-A51B-1361968A5F8E}" destId="{219709D2-558F-4290-B05C-92B7864D9662}" srcOrd="5" destOrd="0" presId="urn:microsoft.com/office/officeart/2005/8/layout/list1"/>
    <dgm:cxn modelId="{9B80E953-F6DE-4AC9-AC6F-E90C526378E2}" type="presParOf" srcId="{B91E51BB-1AAC-4634-A51B-1361968A5F8E}" destId="{CC0A9897-DE8E-4AEC-9597-61B1C4EFD6E0}" srcOrd="6" destOrd="0" presId="urn:microsoft.com/office/officeart/2005/8/layout/list1"/>
    <dgm:cxn modelId="{ECF2D646-B577-437D-93BE-472D855BE680}" type="presParOf" srcId="{B91E51BB-1AAC-4634-A51B-1361968A5F8E}" destId="{05B15DDB-681B-43E4-AF76-F8EFE221ABCF}" srcOrd="7" destOrd="0" presId="urn:microsoft.com/office/officeart/2005/8/layout/list1"/>
    <dgm:cxn modelId="{81D8B594-9B2A-4336-AF4D-4C968FA646E1}" type="presParOf" srcId="{B91E51BB-1AAC-4634-A51B-1361968A5F8E}" destId="{4209E7BD-77B7-426C-855E-4ADB587E691F}" srcOrd="8" destOrd="0" presId="urn:microsoft.com/office/officeart/2005/8/layout/list1"/>
    <dgm:cxn modelId="{F4F92677-F029-4BCD-8BE9-9CF13C9419D0}" type="presParOf" srcId="{4209E7BD-77B7-426C-855E-4ADB587E691F}" destId="{0D2AC27C-647A-4749-930C-12582B8562FB}" srcOrd="0" destOrd="0" presId="urn:microsoft.com/office/officeart/2005/8/layout/list1"/>
    <dgm:cxn modelId="{A614A456-5579-45EC-BAF9-8041D77DFC13}" type="presParOf" srcId="{4209E7BD-77B7-426C-855E-4ADB587E691F}" destId="{AB113D85-35FE-42ED-A0E3-9F427EF8C27C}" srcOrd="1" destOrd="0" presId="urn:microsoft.com/office/officeart/2005/8/layout/list1"/>
    <dgm:cxn modelId="{4C019DA1-2630-46F4-8D9A-645DD7E1E49C}" type="presParOf" srcId="{B91E51BB-1AAC-4634-A51B-1361968A5F8E}" destId="{69A75976-A1BB-49E9-83D5-F27202CBC70B}" srcOrd="9" destOrd="0" presId="urn:microsoft.com/office/officeart/2005/8/layout/list1"/>
    <dgm:cxn modelId="{320BFE29-6FC5-48FB-BF39-90547B546754}" type="presParOf" srcId="{B91E51BB-1AAC-4634-A51B-1361968A5F8E}" destId="{6C15CD0A-1B65-4661-8648-CA1AD6E2BAFC}"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91A73A-BF03-428E-8FBA-1E71E04FD907}">
      <dsp:nvSpPr>
        <dsp:cNvPr id="0" name=""/>
        <dsp:cNvSpPr/>
      </dsp:nvSpPr>
      <dsp:spPr>
        <a:xfrm>
          <a:off x="0" y="282634"/>
          <a:ext cx="10882045" cy="4284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CD4B4B-CA46-4EB7-99CE-C656631B9DB1}">
      <dsp:nvSpPr>
        <dsp:cNvPr id="0" name=""/>
        <dsp:cNvSpPr/>
      </dsp:nvSpPr>
      <dsp:spPr>
        <a:xfrm>
          <a:off x="544102" y="31714"/>
          <a:ext cx="7617431" cy="50184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7921" tIns="0" rIns="287921"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Significantly Lower MAE, MSE, and RMSE</a:t>
          </a:r>
          <a:endParaRPr lang="en-IN" sz="2400" kern="1200" dirty="0"/>
        </a:p>
      </dsp:txBody>
      <dsp:txXfrm>
        <a:off x="568600" y="56212"/>
        <a:ext cx="7568435" cy="452844"/>
      </dsp:txXfrm>
    </dsp:sp>
    <dsp:sp modelId="{CC0A9897-DE8E-4AEC-9597-61B1C4EFD6E0}">
      <dsp:nvSpPr>
        <dsp:cNvPr id="0" name=""/>
        <dsp:cNvSpPr/>
      </dsp:nvSpPr>
      <dsp:spPr>
        <a:xfrm>
          <a:off x="0" y="1053754"/>
          <a:ext cx="10882045" cy="4284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FD6090-F627-4413-9309-193C57DB8990}">
      <dsp:nvSpPr>
        <dsp:cNvPr id="0" name=""/>
        <dsp:cNvSpPr/>
      </dsp:nvSpPr>
      <dsp:spPr>
        <a:xfrm>
          <a:off x="544102" y="802834"/>
          <a:ext cx="7617431" cy="50184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7921" tIns="0" rIns="287921" bIns="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Times New Roman" panose="02020603050405020304" pitchFamily="18" charset="0"/>
              <a:cs typeface="Times New Roman" panose="02020603050405020304" pitchFamily="18" charset="0"/>
            </a:rPr>
            <a:t>Comparable MAPE </a:t>
          </a:r>
          <a:endParaRPr lang="en-IN" sz="2400" kern="1200" dirty="0"/>
        </a:p>
      </dsp:txBody>
      <dsp:txXfrm>
        <a:off x="568600" y="827332"/>
        <a:ext cx="7568435" cy="452844"/>
      </dsp:txXfrm>
    </dsp:sp>
    <dsp:sp modelId="{6C15CD0A-1B65-4661-8648-CA1AD6E2BAFC}">
      <dsp:nvSpPr>
        <dsp:cNvPr id="0" name=""/>
        <dsp:cNvSpPr/>
      </dsp:nvSpPr>
      <dsp:spPr>
        <a:xfrm>
          <a:off x="0" y="1824874"/>
          <a:ext cx="10882045" cy="4284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113D85-35FE-42ED-A0E3-9F427EF8C27C}">
      <dsp:nvSpPr>
        <dsp:cNvPr id="0" name=""/>
        <dsp:cNvSpPr/>
      </dsp:nvSpPr>
      <dsp:spPr>
        <a:xfrm>
          <a:off x="544102" y="1573954"/>
          <a:ext cx="7617431" cy="50184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7921" tIns="0" rIns="287921"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Better Overall Performance for Real-World Applications </a:t>
          </a:r>
          <a:endParaRPr lang="en-IN" sz="2400" kern="1200" dirty="0"/>
        </a:p>
      </dsp:txBody>
      <dsp:txXfrm>
        <a:off x="568600" y="1598452"/>
        <a:ext cx="7568435"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71304874-F360-3AD3-DADE-931F26AD05CA}"/>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BE951962-53F1-B45A-EFDA-91A3671199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D4BA8C37-3B0E-0E4F-D99B-B1F5C17018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6871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B576F8AC-605F-37C7-5C50-BD1FFA39DAFE}"/>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B43A5D77-8A7E-3740-54CD-AF0D233A53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5FEA1442-90DD-E205-DDBA-74EA8FB8DB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0795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08EBEBF3-C0BA-23BA-8DD6-20FCC69FAC9B}"/>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DF248C38-60C8-61A6-5715-751A494D73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D9B4DF6F-574F-C200-DFB5-04EB4C98FC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6662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142C7EBA-C77A-ECA1-FA8F-9D7EDA4E7C0E}"/>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346CD344-BF3D-36F7-F9E4-9419A245AD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0BF0C3A9-5019-7334-DFA5-9EA3DCDE98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7176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1D5615EA-0E8F-1A84-89DE-11210F015EF0}"/>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D3E9CDFB-5E5F-D8BD-6669-B6305D8F23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3690A08C-E0E7-0033-159E-3DA2BC2AF6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2697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F1DDF9AF-50C2-3570-93C8-9E1D1105664C}"/>
            </a:ext>
          </a:extLst>
        </p:cNvPr>
        <p:cNvGrpSpPr/>
        <p:nvPr/>
      </p:nvGrpSpPr>
      <p:grpSpPr>
        <a:xfrm>
          <a:off x="0" y="0"/>
          <a:ext cx="0" cy="0"/>
          <a:chOff x="0" y="0"/>
          <a:chExt cx="0" cy="0"/>
        </a:xfrm>
      </p:grpSpPr>
      <p:sp>
        <p:nvSpPr>
          <p:cNvPr id="50" name="Google Shape;50;p3:notes">
            <a:extLst>
              <a:ext uri="{FF2B5EF4-FFF2-40B4-BE49-F238E27FC236}">
                <a16:creationId xmlns:a16="http://schemas.microsoft.com/office/drawing/2014/main" id="{1D32B3DA-A7F9-BC07-F5CF-117ED9A693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3:notes">
            <a:extLst>
              <a:ext uri="{FF2B5EF4-FFF2-40B4-BE49-F238E27FC236}">
                <a16:creationId xmlns:a16="http://schemas.microsoft.com/office/drawing/2014/main" id="{D2A9CA36-0AE7-292F-F2DA-EC35A562EA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4353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6E39E9BD-0033-6E62-F47F-B07798D86757}"/>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3FF07FB9-9009-A076-C376-C34DCA2985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54EA3044-EB79-464B-E6A7-F1B9004C24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6746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FF9D1D52-BBDA-B510-C872-318293A05FC4}"/>
            </a:ext>
          </a:extLst>
        </p:cNvPr>
        <p:cNvGrpSpPr/>
        <p:nvPr/>
      </p:nvGrpSpPr>
      <p:grpSpPr>
        <a:xfrm>
          <a:off x="0" y="0"/>
          <a:ext cx="0" cy="0"/>
          <a:chOff x="0" y="0"/>
          <a:chExt cx="0" cy="0"/>
        </a:xfrm>
      </p:grpSpPr>
      <p:sp>
        <p:nvSpPr>
          <p:cNvPr id="50" name="Google Shape;50;p3:notes">
            <a:extLst>
              <a:ext uri="{FF2B5EF4-FFF2-40B4-BE49-F238E27FC236}">
                <a16:creationId xmlns:a16="http://schemas.microsoft.com/office/drawing/2014/main" id="{FFBC51C9-4416-70EF-DB43-364AB7DB4A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3:notes">
            <a:extLst>
              <a:ext uri="{FF2B5EF4-FFF2-40B4-BE49-F238E27FC236}">
                <a16:creationId xmlns:a16="http://schemas.microsoft.com/office/drawing/2014/main" id="{71833F84-69DF-080E-DE25-AF98D99AD4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8261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8E7080AD-DD2A-2F3D-5753-A6F59FC724EF}"/>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44C970C2-0413-A73B-5356-4D1706AE4A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D46C19DB-F79E-612B-AC22-A71F61AA37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00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Plus Jakarta Sans"/>
              <a:buNone/>
            </a:pPr>
            <a:endParaRPr/>
          </a:p>
        </p:txBody>
      </p:sp>
      <p:sp>
        <p:nvSpPr>
          <p:cNvPr id="57" name="Google Shape;5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F2EF7425-771C-9D40-4946-4475A42C476C}"/>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27226F79-4247-2D3A-68F5-F5B83E2AD6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78DE35C8-0028-E348-A0E4-7B7D2C1797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1033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3"/>
        <p:cNvGrpSpPr/>
        <p:nvPr/>
      </p:nvGrpSpPr>
      <p:grpSpPr>
        <a:xfrm>
          <a:off x="0" y="0"/>
          <a:ext cx="0" cy="0"/>
          <a:chOff x="0" y="0"/>
          <a:chExt cx="0" cy="0"/>
        </a:xfrm>
      </p:grpSpPr>
      <p:sp>
        <p:nvSpPr>
          <p:cNvPr id="14" name="Google Shape;14;p8"/>
          <p:cNvSpPr>
            <a:spLocks noGrp="1"/>
          </p:cNvSpPr>
          <p:nvPr>
            <p:ph type="pic" idx="2"/>
          </p:nvPr>
        </p:nvSpPr>
        <p:spPr>
          <a:xfrm>
            <a:off x="1055687" y="1268413"/>
            <a:ext cx="4319586" cy="5040312"/>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6"/>
        <p:cNvGrpSpPr/>
        <p:nvPr/>
      </p:nvGrpSpPr>
      <p:grpSpPr>
        <a:xfrm>
          <a:off x="0" y="0"/>
          <a:ext cx="0" cy="0"/>
          <a:chOff x="0" y="0"/>
          <a:chExt cx="0" cy="0"/>
        </a:xfrm>
      </p:grpSpPr>
      <p:sp>
        <p:nvSpPr>
          <p:cNvPr id="17" name="Google Shape;17;p10"/>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22"/>
        <p:cNvGrpSpPr/>
        <p:nvPr/>
      </p:nvGrpSpPr>
      <p:grpSpPr>
        <a:xfrm>
          <a:off x="0" y="0"/>
          <a:ext cx="0" cy="0"/>
          <a:chOff x="0" y="0"/>
          <a:chExt cx="0" cy="0"/>
        </a:xfrm>
      </p:grpSpPr>
      <p:sp>
        <p:nvSpPr>
          <p:cNvPr id="23" name="Google Shape;23;p15"/>
          <p:cNvSpPr>
            <a:spLocks noGrp="1"/>
          </p:cNvSpPr>
          <p:nvPr>
            <p:ph type="pic" idx="2"/>
          </p:nvPr>
        </p:nvSpPr>
        <p:spPr>
          <a:xfrm>
            <a:off x="-1" y="0"/>
            <a:ext cx="9696450" cy="4868863"/>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24"/>
        <p:cNvGrpSpPr/>
        <p:nvPr/>
      </p:nvGrpSpPr>
      <p:grpSpPr>
        <a:xfrm>
          <a:off x="0" y="0"/>
          <a:ext cx="0" cy="0"/>
          <a:chOff x="0" y="0"/>
          <a:chExt cx="0" cy="0"/>
        </a:xfrm>
      </p:grpSpPr>
      <p:sp>
        <p:nvSpPr>
          <p:cNvPr id="25" name="Google Shape;25;p16"/>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us Jakarta Sans"/>
              <a:ea typeface="Plus Jakarta Sans"/>
              <a:cs typeface="Plus Jakarta Sans"/>
              <a:sym typeface="Plus Jakarta Sans"/>
            </a:endParaRPr>
          </a:p>
        </p:txBody>
      </p:sp>
      <p:sp>
        <p:nvSpPr>
          <p:cNvPr id="26" name="Google Shape;26;p16"/>
          <p:cNvSpPr>
            <a:spLocks noGrp="1"/>
          </p:cNvSpPr>
          <p:nvPr>
            <p:ph type="pic" idx="2"/>
          </p:nvPr>
        </p:nvSpPr>
        <p:spPr>
          <a:xfrm>
            <a:off x="6816725" y="1268413"/>
            <a:ext cx="2381023" cy="2976935"/>
          </a:xfrm>
          <a:prstGeom prst="rect">
            <a:avLst/>
          </a:prstGeom>
          <a:solidFill>
            <a:srgbClr val="F2F2F2"/>
          </a:solidFill>
          <a:ln>
            <a:noFill/>
          </a:ln>
        </p:spPr>
      </p:sp>
      <p:sp>
        <p:nvSpPr>
          <p:cNvPr id="27" name="Google Shape;27;p16"/>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8"/>
        <p:cNvGrpSpPr/>
        <p:nvPr/>
      </p:nvGrpSpPr>
      <p:grpSpPr>
        <a:xfrm>
          <a:off x="0" y="0"/>
          <a:ext cx="0" cy="0"/>
          <a:chOff x="0" y="0"/>
          <a:chExt cx="0" cy="0"/>
        </a:xfrm>
      </p:grpSpPr>
      <p:sp>
        <p:nvSpPr>
          <p:cNvPr id="29" name="Google Shape;29;p17"/>
          <p:cNvSpPr>
            <a:spLocks noGrp="1"/>
          </p:cNvSpPr>
          <p:nvPr>
            <p:ph type="pic" idx="2"/>
          </p:nvPr>
        </p:nvSpPr>
        <p:spPr>
          <a:xfrm>
            <a:off x="-1" y="549274"/>
            <a:ext cx="4995082" cy="5759450"/>
          </a:xfrm>
          <a:prstGeom prst="rect">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30"/>
        <p:cNvGrpSpPr/>
        <p:nvPr/>
      </p:nvGrpSpPr>
      <p:grpSpPr>
        <a:xfrm>
          <a:off x="0" y="0"/>
          <a:ext cx="0" cy="0"/>
          <a:chOff x="0" y="0"/>
          <a:chExt cx="0" cy="0"/>
        </a:xfrm>
      </p:grpSpPr>
      <p:sp>
        <p:nvSpPr>
          <p:cNvPr id="31" name="Google Shape;31;p18"/>
          <p:cNvSpPr>
            <a:spLocks noGrp="1"/>
          </p:cNvSpPr>
          <p:nvPr>
            <p:ph type="pic" idx="2"/>
          </p:nvPr>
        </p:nvSpPr>
        <p:spPr>
          <a:xfrm>
            <a:off x="6095999" y="1270000"/>
            <a:ext cx="6096001" cy="4319588"/>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596491" y="2010119"/>
            <a:ext cx="10263290" cy="21697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500" b="1" dirty="0">
                <a:solidFill>
                  <a:srgbClr val="007069"/>
                </a:solidFill>
                <a:latin typeface="Inter"/>
                <a:ea typeface="Inter"/>
                <a:cs typeface="Inter"/>
                <a:sym typeface="Inter"/>
              </a:rPr>
              <a:t>Leveraging predictability of </a:t>
            </a:r>
          </a:p>
          <a:p>
            <a:pPr marL="0" marR="0" lvl="0" indent="0" algn="l" rtl="0">
              <a:spcBef>
                <a:spcPts val="0"/>
              </a:spcBef>
              <a:spcAft>
                <a:spcPts val="0"/>
              </a:spcAft>
              <a:buNone/>
            </a:pPr>
            <a:r>
              <a:rPr lang="en-US" sz="4500" b="1" dirty="0">
                <a:solidFill>
                  <a:srgbClr val="007069"/>
                </a:solidFill>
                <a:latin typeface="Inter"/>
                <a:ea typeface="Inter"/>
                <a:cs typeface="Inter"/>
                <a:sym typeface="Inter"/>
              </a:rPr>
              <a:t>Deep Learning techniques on financial time series forecasting </a:t>
            </a:r>
            <a:r>
              <a:rPr lang="en-US" sz="4500" b="1" i="0" u="none" strike="noStrike" cap="none" dirty="0">
                <a:solidFill>
                  <a:srgbClr val="007069"/>
                </a:solidFill>
                <a:latin typeface="Inter"/>
                <a:ea typeface="Inter"/>
                <a:cs typeface="Inter"/>
                <a:sym typeface="Inter"/>
              </a:rPr>
              <a:t> </a:t>
            </a:r>
          </a:p>
        </p:txBody>
      </p:sp>
      <p:grpSp>
        <p:nvGrpSpPr>
          <p:cNvPr id="37" name="Google Shape;37;p1"/>
          <p:cNvGrpSpPr/>
          <p:nvPr/>
        </p:nvGrpSpPr>
        <p:grpSpPr>
          <a:xfrm>
            <a:off x="596491" y="1903208"/>
            <a:ext cx="9965343" cy="2383605"/>
            <a:chOff x="894442" y="2675335"/>
            <a:chExt cx="7570108" cy="940767"/>
          </a:xfrm>
        </p:grpSpPr>
        <p:sp>
          <p:nvSpPr>
            <p:cNvPr id="38" name="Google Shape;38;p1"/>
            <p:cNvSpPr/>
            <p:nvPr/>
          </p:nvSpPr>
          <p:spPr>
            <a:xfrm>
              <a:off x="894442" y="2675335"/>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Inter"/>
                <a:ea typeface="Inter"/>
                <a:cs typeface="Inter"/>
                <a:sym typeface="Inter"/>
              </a:endParaRPr>
            </a:p>
          </p:txBody>
        </p:sp>
        <p:sp>
          <p:nvSpPr>
            <p:cNvPr id="39" name="Google Shape;39;p1"/>
            <p:cNvSpPr/>
            <p:nvPr/>
          </p:nvSpPr>
          <p:spPr>
            <a:xfrm>
              <a:off x="894442" y="3570383"/>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Inter"/>
                <a:ea typeface="Inter"/>
                <a:cs typeface="Inter"/>
                <a:sym typeface="Inter"/>
              </a:endParaRPr>
            </a:p>
          </p:txBody>
        </p:sp>
      </p:grpSp>
      <p:sp>
        <p:nvSpPr>
          <p:cNvPr id="40" name="Google Shape;40;p1"/>
          <p:cNvSpPr txBox="1"/>
          <p:nvPr/>
        </p:nvSpPr>
        <p:spPr>
          <a:xfrm>
            <a:off x="596491" y="4683287"/>
            <a:ext cx="7879686"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none" dirty="0">
                <a:solidFill>
                  <a:srgbClr val="004740"/>
                </a:solidFill>
                <a:latin typeface="Inter"/>
                <a:ea typeface="Inter"/>
                <a:cs typeface="Inter"/>
                <a:sym typeface="Inter"/>
              </a:rPr>
              <a:t>GUIDE NAME: Prof. SARAT CHANDRA NAYAK</a:t>
            </a:r>
          </a:p>
          <a:p>
            <a:pPr marL="0" marR="0" lvl="0" indent="0" algn="l" rtl="0">
              <a:spcBef>
                <a:spcPts val="0"/>
              </a:spcBef>
              <a:spcAft>
                <a:spcPts val="0"/>
              </a:spcAft>
              <a:buNone/>
            </a:pPr>
            <a:r>
              <a:rPr lang="en-US" sz="2000" u="none" dirty="0">
                <a:solidFill>
                  <a:srgbClr val="004740"/>
                </a:solidFill>
                <a:latin typeface="Inter"/>
                <a:ea typeface="Inter"/>
                <a:cs typeface="Inter"/>
                <a:sym typeface="Inter"/>
              </a:rPr>
              <a:t>PROJECT GROUP: P10-15</a:t>
            </a:r>
          </a:p>
          <a:p>
            <a:pPr marL="0" marR="0" lvl="0" indent="0" algn="l" rtl="0">
              <a:spcBef>
                <a:spcPts val="0"/>
              </a:spcBef>
              <a:spcAft>
                <a:spcPts val="0"/>
              </a:spcAft>
              <a:buNone/>
            </a:pPr>
            <a:r>
              <a:rPr lang="en-US" sz="1600" dirty="0">
                <a:solidFill>
                  <a:srgbClr val="004740"/>
                </a:solidFill>
                <a:latin typeface="Inter"/>
                <a:ea typeface="Inter"/>
                <a:cs typeface="Inter"/>
                <a:sym typeface="Inter"/>
              </a:rPr>
              <a:t>	SRI VAISHNAVI VASA HU21CSEN0100673</a:t>
            </a:r>
          </a:p>
          <a:p>
            <a:pPr marL="0" marR="0" lvl="0" indent="0" algn="l" rtl="0">
              <a:spcBef>
                <a:spcPts val="0"/>
              </a:spcBef>
              <a:spcAft>
                <a:spcPts val="0"/>
              </a:spcAft>
              <a:buNone/>
            </a:pPr>
            <a:r>
              <a:rPr lang="en-US" sz="1600" dirty="0">
                <a:solidFill>
                  <a:srgbClr val="004740"/>
                </a:solidFill>
                <a:latin typeface="Inter"/>
                <a:ea typeface="Inter"/>
                <a:cs typeface="Inter"/>
                <a:sym typeface="Inter"/>
              </a:rPr>
              <a:t>	LEENA DEEKOLLU       HU21CSEN0100741</a:t>
            </a:r>
          </a:p>
          <a:p>
            <a:pPr marL="0" marR="0" lvl="0" indent="0" algn="l" rtl="0">
              <a:spcBef>
                <a:spcPts val="0"/>
              </a:spcBef>
              <a:spcAft>
                <a:spcPts val="0"/>
              </a:spcAft>
              <a:buNone/>
            </a:pPr>
            <a:r>
              <a:rPr lang="en-US" sz="1600" dirty="0">
                <a:solidFill>
                  <a:srgbClr val="004740"/>
                </a:solidFill>
                <a:latin typeface="Inter"/>
                <a:ea typeface="Inter"/>
                <a:cs typeface="Inter"/>
                <a:sym typeface="Inter"/>
              </a:rPr>
              <a:t>	BINDU SRI                     HU21CSEN0101184</a:t>
            </a:r>
          </a:p>
        </p:txBody>
      </p:sp>
      <p:sp>
        <p:nvSpPr>
          <p:cNvPr id="10" name="Google Shape;10;p6"/>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2" name="Google Shape;11;p6">
            <a:extLst>
              <a:ext uri="{FF2B5EF4-FFF2-40B4-BE49-F238E27FC236}">
                <a16:creationId xmlns:a16="http://schemas.microsoft.com/office/drawing/2014/main" id="{0324EE09-1FE3-83CC-CB40-F6F37CD2801E}"/>
              </a:ext>
            </a:extLst>
          </p:cNvPr>
          <p:cNvPicPr preferRelativeResize="0"/>
          <p:nvPr/>
        </p:nvPicPr>
        <p:blipFill rotWithShape="1">
          <a:blip r:embed="rId3">
            <a:alphaModFix/>
          </a:blip>
          <a:srcRect/>
          <a:stretch/>
        </p:blipFill>
        <p:spPr>
          <a:xfrm>
            <a:off x="9657588" y="5780138"/>
            <a:ext cx="2100001" cy="90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59A47F27-6A03-1F10-9999-AAFC1734927B}"/>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DDA15AA7-FD21-1024-A88A-4841ED27164A}"/>
              </a:ext>
            </a:extLst>
          </p:cNvPr>
          <p:cNvSpPr txBox="1"/>
          <p:nvPr/>
        </p:nvSpPr>
        <p:spPr>
          <a:xfrm>
            <a:off x="491533" y="303192"/>
            <a:ext cx="47898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CONTENTS</a:t>
            </a:r>
            <a:endParaRPr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8F360B40-3B24-47B7-019E-2C0778B5C901}"/>
              </a:ext>
            </a:extLst>
          </p:cNvPr>
          <p:cNvSpPr txBox="1"/>
          <p:nvPr/>
        </p:nvSpPr>
        <p:spPr>
          <a:xfrm>
            <a:off x="491533" y="924736"/>
            <a:ext cx="10996461" cy="4401164"/>
          </a:xfrm>
          <a:prstGeom prst="rect">
            <a:avLst/>
          </a:prstGeom>
          <a:noFill/>
          <a:ln>
            <a:noFill/>
          </a:ln>
        </p:spPr>
        <p:txBody>
          <a:bodyPr spcFirstLastPara="1" wrap="square" lIns="91425" tIns="45700" rIns="91425" bIns="45700" anchor="t" anchorCtr="0">
            <a:spAutoFit/>
          </a:bodyPr>
          <a:lstStyle/>
          <a:p>
            <a:pPr>
              <a:lnSpc>
                <a:spcPct val="200000"/>
              </a:lnSpc>
            </a:pP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a:t>
            </a:r>
            <a:r>
              <a:rPr lang="en-US" sz="2000" dirty="0">
                <a:solidFill>
                  <a:schemeClr val="tx1"/>
                </a:solidFill>
                <a:latin typeface="Inter" panose="020B0604020202020204" charset="0"/>
                <a:ea typeface="Inter" panose="020B0604020202020204" charset="0"/>
                <a:cs typeface="Inter"/>
                <a:sym typeface="Inter"/>
              </a:rPr>
              <a:t>OVERVIEW</a:t>
            </a:r>
          </a:p>
          <a:p>
            <a:pPr>
              <a:lnSpc>
                <a:spcPct val="200000"/>
              </a:lnSpc>
            </a:pPr>
            <a:r>
              <a:rPr lang="en-US" sz="2000" dirty="0">
                <a:solidFill>
                  <a:schemeClr val="tx1"/>
                </a:solidFill>
                <a:latin typeface="Inter" panose="020B0604020202020204" charset="0"/>
                <a:ea typeface="Inter" panose="020B0604020202020204" charset="0"/>
                <a:cs typeface="Inter"/>
                <a:sym typeface="Inter"/>
              </a:rPr>
              <a:t>	</a:t>
            </a: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a:t>
            </a:r>
            <a:r>
              <a:rPr lang="en-US" sz="2000" dirty="0">
                <a:solidFill>
                  <a:schemeClr val="tx1"/>
                </a:solidFill>
                <a:latin typeface="Inter" panose="020B0604020202020204" charset="0"/>
                <a:ea typeface="Inter" panose="020B0604020202020204" charset="0"/>
                <a:cs typeface="Inter"/>
                <a:sym typeface="Inter"/>
              </a:rPr>
              <a:t>ABSTRACT</a:t>
            </a:r>
          </a:p>
          <a:p>
            <a:pPr>
              <a:lnSpc>
                <a:spcPct val="200000"/>
              </a:lnSpc>
            </a:pPr>
            <a:r>
              <a:rPr lang="en-US" sz="2000" dirty="0">
                <a:solidFill>
                  <a:schemeClr val="tx1"/>
                </a:solidFill>
                <a:latin typeface="Inter" panose="020B0604020202020204" charset="0"/>
                <a:ea typeface="Inter" panose="020B0604020202020204" charset="0"/>
                <a:cs typeface="Inter"/>
                <a:sym typeface="Inter"/>
              </a:rPr>
              <a:t>	</a:t>
            </a: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a:t>
            </a:r>
            <a:r>
              <a:rPr lang="en-US" sz="2000" dirty="0">
                <a:solidFill>
                  <a:schemeClr val="tx1"/>
                </a:solidFill>
                <a:latin typeface="Inter" panose="020B0604020202020204" charset="0"/>
                <a:ea typeface="Inter" panose="020B0604020202020204" charset="0"/>
                <a:cs typeface="Inter"/>
                <a:sym typeface="Inter"/>
              </a:rPr>
              <a:t>PROBLEM STATEMENT</a:t>
            </a:r>
          </a:p>
          <a:p>
            <a:pPr>
              <a:lnSpc>
                <a:spcPct val="200000"/>
              </a:lnSpc>
            </a:pP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a:t>
            </a:r>
            <a:r>
              <a:rPr lang="en-US" sz="2000" dirty="0">
                <a:solidFill>
                  <a:schemeClr val="tx1"/>
                </a:solidFill>
                <a:latin typeface="Inter" panose="020B0604020202020204" charset="0"/>
                <a:ea typeface="Inter" panose="020B0604020202020204" charset="0"/>
                <a:cs typeface="Inter"/>
                <a:sym typeface="Inter"/>
              </a:rPr>
              <a:t>PROPOSED MODEL</a:t>
            </a:r>
          </a:p>
          <a:p>
            <a:pPr>
              <a:lnSpc>
                <a:spcPct val="200000"/>
              </a:lnSpc>
            </a:pP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RESULTS SUMMARY</a:t>
            </a:r>
          </a:p>
          <a:p>
            <a:pPr>
              <a:lnSpc>
                <a:spcPct val="200000"/>
              </a:lnSpc>
            </a:pP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MODEL PERFORMANCE RESULTS</a:t>
            </a:r>
            <a:endParaRPr lang="en-US" sz="2000" dirty="0">
              <a:solidFill>
                <a:schemeClr val="tx1"/>
              </a:solidFill>
              <a:latin typeface="Inter" panose="020B0604020202020204" charset="0"/>
              <a:ea typeface="Inter" panose="020B0604020202020204" charset="0"/>
              <a:cs typeface="Inter"/>
              <a:sym typeface="Inter"/>
            </a:endParaRPr>
          </a:p>
          <a:p>
            <a:pPr>
              <a:lnSpc>
                <a:spcPct val="200000"/>
              </a:lnSpc>
            </a:pPr>
            <a:r>
              <a:rPr lang="en-US" sz="2000" dirty="0">
                <a:solidFill>
                  <a:schemeClr val="tx1"/>
                </a:solidFill>
                <a:latin typeface="Inter" panose="020B0604020202020204" charset="0"/>
                <a:ea typeface="Inter" panose="020B0604020202020204" charset="0"/>
                <a:cs typeface="Inter"/>
                <a:sym typeface="Wingdings" panose="05000000000000000000" pitchFamily="2" charset="2"/>
              </a:rPr>
              <a:t></a:t>
            </a:r>
            <a:r>
              <a:rPr lang="en-US" sz="2000" dirty="0">
                <a:solidFill>
                  <a:schemeClr val="tx1"/>
                </a:solidFill>
                <a:latin typeface="Inter" panose="020B0604020202020204" charset="0"/>
                <a:ea typeface="Inter" panose="020B0604020202020204" charset="0"/>
                <a:cs typeface="Inter"/>
                <a:sym typeface="Inter"/>
              </a:rPr>
              <a:t>CONCLUSION</a:t>
            </a:r>
          </a:p>
        </p:txBody>
      </p:sp>
      <p:pic>
        <p:nvPicPr>
          <p:cNvPr id="4" name="Google Shape;11;p6">
            <a:extLst>
              <a:ext uri="{FF2B5EF4-FFF2-40B4-BE49-F238E27FC236}">
                <a16:creationId xmlns:a16="http://schemas.microsoft.com/office/drawing/2014/main" id="{F2A4D79F-4214-69ED-5F29-5AF05495261A}"/>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AE7C231C-6C82-19B7-0E12-331524E7F48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4145579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2"/>
          <p:cNvSpPr txBox="1"/>
          <p:nvPr/>
        </p:nvSpPr>
        <p:spPr>
          <a:xfrm>
            <a:off x="459224" y="430192"/>
            <a:ext cx="47898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ABSTRACT</a:t>
            </a:r>
            <a:endParaRPr dirty="0">
              <a:latin typeface="Inter"/>
              <a:ea typeface="Inter"/>
              <a:cs typeface="Inter"/>
              <a:sym typeface="Inter"/>
            </a:endParaRPr>
          </a:p>
        </p:txBody>
      </p:sp>
      <p:pic>
        <p:nvPicPr>
          <p:cNvPr id="4" name="Google Shape;11;p6">
            <a:extLst>
              <a:ext uri="{FF2B5EF4-FFF2-40B4-BE49-F238E27FC236}">
                <a16:creationId xmlns:a16="http://schemas.microsoft.com/office/drawing/2014/main" id="{E61D169B-34FA-ECBC-A6D4-A92F233B5E3F}"/>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D6E4952B-7552-BC21-AE9F-17E06473808B}"/>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3" name="Rectangle 2">
            <a:extLst>
              <a:ext uri="{FF2B5EF4-FFF2-40B4-BE49-F238E27FC236}">
                <a16:creationId xmlns:a16="http://schemas.microsoft.com/office/drawing/2014/main" id="{871494AB-801E-6491-40A6-349C68F99B84}"/>
              </a:ext>
            </a:extLst>
          </p:cNvPr>
          <p:cNvSpPr>
            <a:spLocks noChangeArrowheads="1"/>
          </p:cNvSpPr>
          <p:nvPr/>
        </p:nvSpPr>
        <p:spPr bwMode="auto">
          <a:xfrm>
            <a:off x="459224" y="1216525"/>
            <a:ext cx="958890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Financial time series forecasting is challenging due to market volatility, especially in emerging economies like India. Traditional models struggle with complex, non-linear dependencies. This study proposes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Bi-LSTM + Dense Network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where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captures sequential dependencies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Dense layers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 non-temporal relationships, improving predictive accuracy. Extensive experiments with deep learning and probabilistic models highlight challenges in fluctuating stock dynamics. To enhance interpretability,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(XAI)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techniques are integrated, ensuring transparency in feature significance. The findings demonstrate the effectiveness of combining sequential and non-sequential learning for financial forecasting, contributing to AI-driven financial modeling.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54EDF25F-BD06-3DD0-D889-774521C22FE9}"/>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D32DCC8C-300D-B2F0-523C-E4871C5938E2}"/>
              </a:ext>
            </a:extLst>
          </p:cNvPr>
          <p:cNvSpPr txBox="1"/>
          <p:nvPr/>
        </p:nvSpPr>
        <p:spPr>
          <a:xfrm>
            <a:off x="393315" y="538489"/>
            <a:ext cx="6218981"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PROBLEM</a:t>
            </a:r>
            <a:r>
              <a:rPr lang="en-US" sz="3600" b="1" dirty="0">
                <a:solidFill>
                  <a:schemeClr val="dk1"/>
                </a:solidFill>
                <a:latin typeface="Inter"/>
                <a:ea typeface="Inter"/>
                <a:cs typeface="Inter"/>
                <a:sym typeface="Inter"/>
              </a:rPr>
              <a:t> </a:t>
            </a:r>
            <a:r>
              <a:rPr lang="en-US" sz="3600" b="1" dirty="0">
                <a:solidFill>
                  <a:srgbClr val="A58255"/>
                </a:solidFill>
                <a:latin typeface="Inter"/>
                <a:ea typeface="Inter"/>
                <a:cs typeface="Inter"/>
                <a:sym typeface="Inter"/>
              </a:rPr>
              <a:t>STATEMENT</a:t>
            </a:r>
            <a:endParaRPr dirty="0">
              <a:latin typeface="Inter"/>
              <a:ea typeface="Inter"/>
              <a:cs typeface="Inter"/>
              <a:sym typeface="Inter"/>
            </a:endParaRPr>
          </a:p>
        </p:txBody>
      </p:sp>
      <p:pic>
        <p:nvPicPr>
          <p:cNvPr id="4" name="Google Shape;11;p6">
            <a:extLst>
              <a:ext uri="{FF2B5EF4-FFF2-40B4-BE49-F238E27FC236}">
                <a16:creationId xmlns:a16="http://schemas.microsoft.com/office/drawing/2014/main" id="{D5E4E307-626A-B654-9817-9C6E2E9AEC89}"/>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D8780390-C7C5-86F2-948E-95A2E827CA52}"/>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2" name="Rectangle 1">
            <a:extLst>
              <a:ext uri="{FF2B5EF4-FFF2-40B4-BE49-F238E27FC236}">
                <a16:creationId xmlns:a16="http://schemas.microsoft.com/office/drawing/2014/main" id="{CA0D2AE2-276B-AF5F-50AF-16854FD21E0E}"/>
              </a:ext>
            </a:extLst>
          </p:cNvPr>
          <p:cNvSpPr>
            <a:spLocks noChangeArrowheads="1"/>
          </p:cNvSpPr>
          <p:nvPr/>
        </p:nvSpPr>
        <p:spPr bwMode="auto">
          <a:xfrm>
            <a:off x="0" y="1316368"/>
            <a:ext cx="587801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algn="just" rtl="0">
              <a:spcBef>
                <a:spcPts val="1200"/>
              </a:spcBef>
              <a:spcAft>
                <a:spcPts val="1200"/>
              </a:spcAft>
              <a:buNone/>
            </a:pPr>
            <a:r>
              <a:rPr lang="en-US" sz="1800" b="0" i="0" u="none" strike="noStrike" dirty="0">
                <a:solidFill>
                  <a:srgbClr val="000000"/>
                </a:solidFill>
                <a:effectLst/>
                <a:latin typeface="Times New Roman" panose="02020603050405020304" pitchFamily="18" charset="0"/>
              </a:rPr>
              <a:t>Stock price prediction is challenging due to market volatility and non-linearity. Traditional models struggle with complex financial patterns, leading to unreliable forecasts, while deep learning remains underexplored in the Indian market. Additionally, most AI models lack interpretability, limiting their adoption in financial decision-making.</a:t>
            </a:r>
            <a:endParaRPr lang="en-US" sz="2400" b="0" dirty="0">
              <a:effectLst/>
            </a:endParaRPr>
          </a:p>
          <a:p>
            <a:pPr marL="457200" algn="just" rtl="0">
              <a:spcBef>
                <a:spcPts val="1200"/>
              </a:spcBef>
              <a:spcAft>
                <a:spcPts val="1200"/>
              </a:spcAft>
              <a:buNone/>
            </a:pPr>
            <a:r>
              <a:rPr lang="en-US" sz="1800" b="0" i="0" u="none" strike="noStrike" dirty="0">
                <a:solidFill>
                  <a:srgbClr val="000000"/>
                </a:solidFill>
                <a:effectLst/>
                <a:latin typeface="Times New Roman" panose="02020603050405020304" pitchFamily="18" charset="0"/>
              </a:rPr>
              <a:t>This project evaluates a hybrid Bi-LSTM + Dense Network for forecasting stock prices in the Indian market using BSE SENSEX NEXT50 data (2014–2024). By modeling sequential dependencies and integrating Explainable AI (XAI), it aims to enhance predictive accuracy and transparency, improving trust in AI-driven forecasts.</a:t>
            </a:r>
            <a:endParaRPr lang="en-US" sz="2400" b="0" dirty="0">
              <a:effectLst/>
            </a:endParaRPr>
          </a:p>
          <a:p>
            <a:pPr>
              <a:buNone/>
            </a:pPr>
            <a:br>
              <a:rPr lang="en-US" sz="2400" dirty="0"/>
            </a:b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28286B3-ADC9-F515-E01F-79552382B13B}"/>
              </a:ext>
            </a:extLst>
          </p:cNvPr>
          <p:cNvPicPr>
            <a:picLocks noChangeAspect="1"/>
          </p:cNvPicPr>
          <p:nvPr/>
        </p:nvPicPr>
        <p:blipFill>
          <a:blip r:embed="rId4"/>
          <a:srcRect t="16356"/>
          <a:stretch/>
        </p:blipFill>
        <p:spPr>
          <a:xfrm>
            <a:off x="6096000" y="2050661"/>
            <a:ext cx="5861923" cy="2756678"/>
          </a:xfrm>
          <a:prstGeom prst="rect">
            <a:avLst/>
          </a:prstGeom>
        </p:spPr>
      </p:pic>
      <p:sp>
        <p:nvSpPr>
          <p:cNvPr id="3" name="TextBox 2">
            <a:extLst>
              <a:ext uri="{FF2B5EF4-FFF2-40B4-BE49-F238E27FC236}">
                <a16:creationId xmlns:a16="http://schemas.microsoft.com/office/drawing/2014/main" id="{985CD365-E050-1837-10DB-87B2D294DB79}"/>
              </a:ext>
            </a:extLst>
          </p:cNvPr>
          <p:cNvSpPr txBox="1"/>
          <p:nvPr/>
        </p:nvSpPr>
        <p:spPr>
          <a:xfrm>
            <a:off x="6612296" y="4807339"/>
            <a:ext cx="5218076" cy="738664"/>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1: Challenges and Limitations of Time Series Analysis </a:t>
            </a:r>
          </a:p>
          <a:p>
            <a:pPr algn="ctr"/>
            <a:r>
              <a:rPr lang="en-IN" dirty="0">
                <a:latin typeface="Times New Roman" panose="02020603050405020304" pitchFamily="18" charset="0"/>
                <a:cs typeface="Times New Roman" panose="02020603050405020304" pitchFamily="18" charset="0"/>
              </a:rPr>
              <a:t>(Source: https://fastercapital.com/topics/challenges-and-limitations-of-time-series-analysis.html)</a:t>
            </a:r>
          </a:p>
        </p:txBody>
      </p:sp>
    </p:spTree>
    <p:extLst>
      <p:ext uri="{BB962C8B-B14F-4D97-AF65-F5344CB8AC3E}">
        <p14:creationId xmlns:p14="http://schemas.microsoft.com/office/powerpoint/2010/main" val="2841039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8D9D04A-F20D-EC1A-1227-DD4A891BD003}"/>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480FC4F7-F54B-0E8D-9C94-FD2ABEC7A866}"/>
              </a:ext>
            </a:extLst>
          </p:cNvPr>
          <p:cNvSpPr txBox="1"/>
          <p:nvPr/>
        </p:nvSpPr>
        <p:spPr>
          <a:xfrm>
            <a:off x="434411" y="410763"/>
            <a:ext cx="88168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BI LSTM</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(BI-DIRECTIONAL LSTM)</a:t>
            </a:r>
            <a:endParaRPr sz="2800" dirty="0">
              <a:latin typeface="Inter"/>
              <a:ea typeface="Inter"/>
              <a:cs typeface="Inter"/>
              <a:sym typeface="Inter"/>
            </a:endParaRPr>
          </a:p>
        </p:txBody>
      </p:sp>
      <p:sp>
        <p:nvSpPr>
          <p:cNvPr id="4" name="Rectangle 1">
            <a:extLst>
              <a:ext uri="{FF2B5EF4-FFF2-40B4-BE49-F238E27FC236}">
                <a16:creationId xmlns:a16="http://schemas.microsoft.com/office/drawing/2014/main" id="{D8DD5669-8927-4B84-99AD-79637C9AF621}"/>
              </a:ext>
            </a:extLst>
          </p:cNvPr>
          <p:cNvSpPr>
            <a:spLocks noChangeArrowheads="1"/>
          </p:cNvSpPr>
          <p:nvPr/>
        </p:nvSpPr>
        <p:spPr bwMode="auto">
          <a:xfrm>
            <a:off x="434411" y="1361761"/>
            <a:ext cx="4682119"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rPr>
              <a:t>Bi-LSTM (Bidirectional Long Short-Term Memory) </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is a recurrent neural network architecture that enhances traditional LSTM models by processing input sequences in both forward and backward directions which helps to capture both past and future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rPr>
              <a:t>Architecture Highlights:</a:t>
            </a: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000" i="0" strike="noStrike" cap="none" normalizeH="0" baseline="0" dirty="0">
                <a:ln>
                  <a:noFill/>
                </a:ln>
                <a:solidFill>
                  <a:schemeClr val="tx1"/>
                </a:solidFill>
                <a:effectLst/>
                <a:latin typeface="Inter" panose="020B0604020202020204" charset="0"/>
                <a:ea typeface="Inter" panose="020B0604020202020204" charset="0"/>
              </a:rPr>
              <a:t>Two LSTM Layers</a:t>
            </a:r>
            <a:endParaRPr lang="en-US" altLang="en-US" sz="2000" dirty="0">
              <a:solidFill>
                <a:schemeClr val="tx1"/>
              </a:solidFill>
              <a:latin typeface="Inter" panose="020B0604020202020204" charset="0"/>
              <a:ea typeface="Inter" panose="020B0604020202020204" charset="0"/>
            </a:endParaRP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000" i="0" strike="noStrike" cap="none" normalizeH="0" baseline="0" dirty="0">
                <a:ln>
                  <a:noFill/>
                </a:ln>
                <a:solidFill>
                  <a:schemeClr val="tx1"/>
                </a:solidFill>
                <a:effectLst/>
                <a:latin typeface="Inter" panose="020B0604020202020204" charset="0"/>
                <a:ea typeface="Inter" panose="020B0604020202020204" charset="0"/>
              </a:rPr>
              <a:t>Concatenation of Outputs</a:t>
            </a:r>
            <a:endParaRPr lang="en-US" altLang="en-US" sz="2000" dirty="0">
              <a:solidFill>
                <a:schemeClr val="tx1"/>
              </a:solidFill>
              <a:latin typeface="Inter" panose="020B0604020202020204" charset="0"/>
              <a:ea typeface="Inter" panose="020B0604020202020204" charset="0"/>
            </a:endParaRP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000" i="0" strike="noStrike" cap="none" normalizeH="0" baseline="0" dirty="0">
                <a:ln>
                  <a:noFill/>
                </a:ln>
                <a:solidFill>
                  <a:schemeClr val="tx1"/>
                </a:solidFill>
                <a:effectLst/>
                <a:latin typeface="Inter" panose="020B0604020202020204" charset="0"/>
                <a:ea typeface="Inter" panose="020B0604020202020204" charset="0"/>
              </a:rPr>
              <a:t>Memory Cells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Inter" panose="020B0604020202020204" charset="0"/>
              <a:ea typeface="Inter" panose="020B0604020202020204" charset="0"/>
            </a:endParaRPr>
          </a:p>
        </p:txBody>
      </p:sp>
      <p:pic>
        <p:nvPicPr>
          <p:cNvPr id="5" name="Google Shape;11;p6">
            <a:extLst>
              <a:ext uri="{FF2B5EF4-FFF2-40B4-BE49-F238E27FC236}">
                <a16:creationId xmlns:a16="http://schemas.microsoft.com/office/drawing/2014/main" id="{8FE4CC82-E736-95D2-93A7-BDC732791984}"/>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7" name="Google Shape;10;p6">
            <a:extLst>
              <a:ext uri="{FF2B5EF4-FFF2-40B4-BE49-F238E27FC236}">
                <a16:creationId xmlns:a16="http://schemas.microsoft.com/office/drawing/2014/main" id="{5B803476-175F-0893-8E39-E7190F69BFF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3" name="TextBox 2">
            <a:extLst>
              <a:ext uri="{FF2B5EF4-FFF2-40B4-BE49-F238E27FC236}">
                <a16:creationId xmlns:a16="http://schemas.microsoft.com/office/drawing/2014/main" id="{C95EACF0-ECAE-242A-47C8-ED1B5EF1E3BC}"/>
              </a:ext>
            </a:extLst>
          </p:cNvPr>
          <p:cNvSpPr txBox="1"/>
          <p:nvPr/>
        </p:nvSpPr>
        <p:spPr>
          <a:xfrm>
            <a:off x="5815173" y="5190161"/>
            <a:ext cx="5798578" cy="738664"/>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2: Working of  Bi-LSTM model </a:t>
            </a:r>
          </a:p>
          <a:p>
            <a:pPr algn="ctr"/>
            <a:r>
              <a:rPr lang="en-IN" dirty="0">
                <a:latin typeface="Times New Roman" panose="02020603050405020304" pitchFamily="18" charset="0"/>
                <a:cs typeface="Times New Roman" panose="02020603050405020304" pitchFamily="18" charset="0"/>
              </a:rPr>
              <a:t>(Source: https://www.researchgate.net/figure/The-unfolded-architecture-of-Bidirectional-LSTM-BiLSTM-with-three-consecutive-steps_fig2_344751031)</a:t>
            </a:r>
          </a:p>
        </p:txBody>
      </p:sp>
      <p:pic>
        <p:nvPicPr>
          <p:cNvPr id="2" name="Picture 1">
            <a:extLst>
              <a:ext uri="{FF2B5EF4-FFF2-40B4-BE49-F238E27FC236}">
                <a16:creationId xmlns:a16="http://schemas.microsoft.com/office/drawing/2014/main" id="{19A91DB0-8FA1-95E9-3D8E-32F5E16F107A}"/>
              </a:ext>
            </a:extLst>
          </p:cNvPr>
          <p:cNvPicPr>
            <a:picLocks noChangeAspect="1"/>
          </p:cNvPicPr>
          <p:nvPr/>
        </p:nvPicPr>
        <p:blipFill>
          <a:blip r:embed="rId4"/>
          <a:stretch>
            <a:fillRect/>
          </a:stretch>
        </p:blipFill>
        <p:spPr>
          <a:xfrm>
            <a:off x="5710702" y="1361761"/>
            <a:ext cx="5903049" cy="3828400"/>
          </a:xfrm>
          <a:prstGeom prst="rect">
            <a:avLst/>
          </a:prstGeom>
        </p:spPr>
      </p:pic>
    </p:spTree>
    <p:extLst>
      <p:ext uri="{BB962C8B-B14F-4D97-AF65-F5344CB8AC3E}">
        <p14:creationId xmlns:p14="http://schemas.microsoft.com/office/powerpoint/2010/main" val="1433087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F5E00B0-E790-8141-83EE-2428CFE7E301}"/>
              </a:ext>
            </a:extLst>
          </p:cNvPr>
          <p:cNvSpPr>
            <a:spLocks noChangeArrowheads="1"/>
          </p:cNvSpPr>
          <p:nvPr/>
        </p:nvSpPr>
        <p:spPr bwMode="auto">
          <a:xfrm>
            <a:off x="145263" y="783756"/>
            <a:ext cx="11901474"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For each time step 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Forget gate</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a:t>
            </a:r>
            <a:r>
              <a:rPr lang="en-US" altLang="en-US" sz="2000" dirty="0">
                <a:solidFill>
                  <a:schemeClr val="tx1"/>
                </a:solidFill>
                <a:latin typeface="Inter" panose="020B0604020202020204" charset="0"/>
                <a:ea typeface="Inter" panose="020B0604020202020204"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=σ(W</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f</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x</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+U</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f</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t−1</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f</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 Decides what to forget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Input gate</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i</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=σ(W</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x</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+U</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t−1</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 Controls new memory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Cell state update</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t−1</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+i</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r>
              <a:rPr lang="en-IN" sz="2000" i="0" dirty="0" err="1">
                <a:solidFill>
                  <a:srgbClr val="202122"/>
                </a:solidFill>
                <a:effectLst/>
                <a:latin typeface="Inter" panose="020B0604020202020204" charset="0"/>
                <a:ea typeface="Inter" panose="020B0604020202020204" charset="0"/>
                <a:cs typeface="Times New Roman" panose="02020603050405020304" pitchFamily="18" charset="0"/>
              </a:rPr>
              <a:t>ĉ</a:t>
            </a:r>
            <a:r>
              <a:rPr lang="en-IN" sz="2000" i="0" baseline="-25000" dirty="0" err="1">
                <a:solidFill>
                  <a:srgbClr val="202122"/>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where </a:t>
            </a:r>
            <a:r>
              <a:rPr lang="en-IN" sz="2000" i="0" dirty="0" err="1">
                <a:solidFill>
                  <a:srgbClr val="202122"/>
                </a:solidFill>
                <a:effectLst/>
                <a:latin typeface="Inter" panose="020B0604020202020204" charset="0"/>
                <a:ea typeface="Inter" panose="020B0604020202020204" charset="0"/>
                <a:cs typeface="Times New Roman" panose="02020603050405020304" pitchFamily="18" charset="0"/>
              </a:rPr>
              <a:t>ĉ</a:t>
            </a:r>
            <a:r>
              <a:rPr lang="en-IN" sz="2000" i="0" baseline="-25000" dirty="0" err="1">
                <a:solidFill>
                  <a:srgbClr val="202122"/>
                </a:solidFill>
                <a:effectLst/>
                <a:latin typeface="Inter" panose="020B0604020202020204" charset="0"/>
                <a:ea typeface="Inter" panose="020B0604020202020204" charset="0"/>
                <a:cs typeface="Times New Roman" panose="02020603050405020304" pitchFamily="18" charset="0"/>
              </a:rPr>
              <a:t>t</a:t>
            </a:r>
            <a:r>
              <a:rPr lang="en-IN" sz="2000" i="0" baseline="-25000" dirty="0">
                <a:solidFill>
                  <a:srgbClr val="202122"/>
                </a:solidFill>
                <a:effectLst/>
                <a:latin typeface="Inter" panose="020B0604020202020204" charset="0"/>
                <a:ea typeface="Inter" panose="020B0604020202020204"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=tanh(W</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x</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+U</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t−1</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Output gate</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o</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=σ(W</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o</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x</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+U</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o</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t−1</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000" i="0" u="none" strike="noStrike" cap="none" normalizeH="0" baseline="-25000" dirty="0">
                <a:ln>
                  <a:noFill/>
                </a:ln>
                <a:solidFill>
                  <a:schemeClr val="tx1"/>
                </a:solidFill>
                <a:effectLst/>
                <a:latin typeface="Inter" panose="020B0604020202020204" charset="0"/>
                <a:ea typeface="Inter" panose="020B0604020202020204" charset="0"/>
                <a:cs typeface="Times New Roman" panose="02020603050405020304" pitchFamily="18" charset="0"/>
              </a:rPr>
              <a:t>o</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 Determines final hidden state </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o</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⊙tanh</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In Bi-LSTM, a second LSTM runs backward, producing another hidden state </a:t>
            </a:r>
            <a:r>
              <a:rPr kumimoji="0" lang="en-US" altLang="en-US" sz="18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18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1800" i="0" u="none" strike="noStrike" cap="none" normalizeH="0" baseline="30000" dirty="0" err="1">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18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The final output is the concatenation: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30000" dirty="0" err="1">
                <a:ln>
                  <a:noFill/>
                </a:ln>
                <a:solidFill>
                  <a:schemeClr val="tx1"/>
                </a:solidFill>
                <a:effectLst/>
                <a:latin typeface="Inter" panose="020B0604020202020204" charset="0"/>
                <a:ea typeface="Inter" panose="020B0604020202020204" charset="0"/>
                <a:cs typeface="Times New Roman" panose="02020603050405020304" pitchFamily="18" charset="0"/>
              </a:rPr>
              <a:t>f</a:t>
            </a:r>
            <a:r>
              <a:rPr lang="en-US" altLang="en-US" sz="2000" dirty="0" err="1">
                <a:solidFill>
                  <a:schemeClr val="tx1"/>
                </a:solidFill>
                <a:latin typeface="Inter" panose="020B0604020202020204" charset="0"/>
                <a:ea typeface="Inter" panose="020B0604020202020204"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0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2000" i="0" u="none" strike="noStrike" cap="none" normalizeH="0" baseline="30000" dirty="0" err="1">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Explanation of Terms: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x</a:t>
            </a:r>
            <a:r>
              <a:rPr kumimoji="0" lang="en-US" altLang="en-US" sz="16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Input at time 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16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Hidden state (memory of LSTM).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c</a:t>
            </a:r>
            <a:r>
              <a:rPr kumimoji="0" lang="en-US" altLang="en-US" sz="1600" i="0" u="none" strike="noStrike" cap="none" normalizeH="0" baseline="-25000" dirty="0" err="1">
                <a:ln>
                  <a:noFill/>
                </a:ln>
                <a:solidFill>
                  <a:schemeClr val="tx1"/>
                </a:solidFill>
                <a:effectLst/>
                <a:latin typeface="Inter" panose="020B0604020202020204" charset="0"/>
                <a:ea typeface="Inter" panose="020B0604020202020204" charset="0"/>
                <a:cs typeface="Times New Roman" panose="02020603050405020304" pitchFamily="18" charset="0"/>
              </a:rPr>
              <a:t>t</a:t>
            </a: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Cell state (stores long-term memory).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σ (Sigmoid): Activation function that outputs values between 0 and 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tanh: Activation function that outputs values between -1 and 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W,U,b</a:t>
            </a:r>
            <a:r>
              <a:rPr kumimoji="0" lang="en-US" altLang="en-US" sz="16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Trainable weight matrices and biases. </a:t>
            </a:r>
          </a:p>
        </p:txBody>
      </p:sp>
      <p:sp>
        <p:nvSpPr>
          <p:cNvPr id="6" name="Google Shape;10;p6">
            <a:extLst>
              <a:ext uri="{FF2B5EF4-FFF2-40B4-BE49-F238E27FC236}">
                <a16:creationId xmlns:a16="http://schemas.microsoft.com/office/drawing/2014/main" id="{CD8CE6B1-3F8B-56D6-9F86-7C5E01583C6B}"/>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7" name="Google Shape;11;p6">
            <a:extLst>
              <a:ext uri="{FF2B5EF4-FFF2-40B4-BE49-F238E27FC236}">
                <a16:creationId xmlns:a16="http://schemas.microsoft.com/office/drawing/2014/main" id="{18AA3D41-F671-0803-4B25-4E96228D8220}"/>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Tree>
    <p:extLst>
      <p:ext uri="{BB962C8B-B14F-4D97-AF65-F5344CB8AC3E}">
        <p14:creationId xmlns:p14="http://schemas.microsoft.com/office/powerpoint/2010/main" val="1509464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10F00C2A-957E-AA6C-51CF-CF42C4A30B3F}"/>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19B1DE49-5092-5895-7887-BBF550B3D516}"/>
              </a:ext>
            </a:extLst>
          </p:cNvPr>
          <p:cNvSpPr txBox="1"/>
          <p:nvPr/>
        </p:nvSpPr>
        <p:spPr>
          <a:xfrm>
            <a:off x="434410" y="320085"/>
            <a:ext cx="1400324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DENSE NETWORK </a:t>
            </a:r>
            <a:endParaRPr sz="2800" dirty="0">
              <a:latin typeface="Inter"/>
              <a:ea typeface="Inter"/>
              <a:cs typeface="Inter"/>
              <a:sym typeface="Inter"/>
            </a:endParaRPr>
          </a:p>
        </p:txBody>
      </p:sp>
      <p:pic>
        <p:nvPicPr>
          <p:cNvPr id="4" name="Google Shape;11;p6">
            <a:extLst>
              <a:ext uri="{FF2B5EF4-FFF2-40B4-BE49-F238E27FC236}">
                <a16:creationId xmlns:a16="http://schemas.microsoft.com/office/drawing/2014/main" id="{079F82C1-94E2-0D18-FCE8-1BA2646A48F3}"/>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164FB230-98A8-698F-BB00-969411409010}"/>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2" name="Rectangle 1">
            <a:extLst>
              <a:ext uri="{FF2B5EF4-FFF2-40B4-BE49-F238E27FC236}">
                <a16:creationId xmlns:a16="http://schemas.microsoft.com/office/drawing/2014/main" id="{4E281ADF-619D-619B-2B6D-DB1CE62115D1}"/>
              </a:ext>
            </a:extLst>
          </p:cNvPr>
          <p:cNvSpPr>
            <a:spLocks noChangeArrowheads="1"/>
          </p:cNvSpPr>
          <p:nvPr/>
        </p:nvSpPr>
        <p:spPr bwMode="auto">
          <a:xfrm>
            <a:off x="434410" y="1496052"/>
            <a:ext cx="494313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000" dirty="0">
                <a:latin typeface="Times New Roman" panose="02020603050405020304" pitchFamily="18" charset="0"/>
                <a:cs typeface="Times New Roman" panose="02020603050405020304" pitchFamily="18" charset="0"/>
              </a:rPr>
              <a:t>A Dense Network, also called a Fully Connected (FC) Network, is a type of neural network where each neuron in one layer is connected to every neuron in the next layer. </a:t>
            </a:r>
          </a:p>
          <a:p>
            <a:pPr marL="0" marR="0" lvl="0" indent="0" algn="just" defTabSz="914400" rtl="0" eaLnBrk="0" fontAlgn="base" latinLnBrk="0" hangingPunct="0">
              <a:lnSpc>
                <a:spcPct val="100000"/>
              </a:lnSpc>
              <a:spcBef>
                <a:spcPct val="0"/>
              </a:spcBef>
              <a:spcAft>
                <a:spcPct val="0"/>
              </a:spcAft>
              <a:buClrTx/>
              <a:buSzTx/>
              <a:buFontTx/>
              <a:buNone/>
              <a:tabLst/>
            </a:pPr>
            <a:r>
              <a:rPr lang="en-US" sz="2000" dirty="0">
                <a:latin typeface="Times New Roman" panose="02020603050405020304" pitchFamily="18" charset="0"/>
                <a:cs typeface="Times New Roman" panose="02020603050405020304" pitchFamily="18" charset="0"/>
              </a:rPr>
              <a:t>The architecture consists of:-</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Layer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 </a:t>
            </a: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R</a:t>
            </a:r>
            <a:r>
              <a:rPr lang="en-IN" sz="2000" dirty="0">
                <a:latin typeface="Times New Roman" panose="02020603050405020304" pitchFamily="18" charset="0"/>
                <a:cs typeface="Times New Roman" panose="02020603050405020304" pitchFamily="18" charset="0"/>
              </a:rPr>
              <a:t>eceives raw data</a:t>
            </a:r>
            <a:endParaRPr lang="en-US" sz="2000" dirty="0">
              <a:solidFill>
                <a:schemeClr val="tx1"/>
              </a:solidFill>
              <a:latin typeface="Times New Roman" panose="02020603050405020304" pitchFamily="18" charset="0"/>
              <a:cs typeface="Times New Roman" panose="02020603050405020304" pitchFamily="18"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Hidden Layers</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 A</a:t>
            </a:r>
            <a:r>
              <a:rPr lang="en-US" sz="2000" dirty="0">
                <a:latin typeface="Times New Roman" panose="02020603050405020304" pitchFamily="18" charset="0"/>
                <a:cs typeface="Times New Roman" panose="02020603050405020304" pitchFamily="18" charset="0"/>
              </a:rPr>
              <a:t>pply linear transformations with non-linear activations (e.g.,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Sigmoid) to extract features</a:t>
            </a:r>
            <a:endParaRPr lang="en-US" sz="2000" dirty="0">
              <a:solidFill>
                <a:schemeClr val="tx1"/>
              </a:solidFill>
              <a:latin typeface="Times New Roman" panose="02020603050405020304" pitchFamily="18" charset="0"/>
              <a:cs typeface="Times New Roman" panose="02020603050405020304" pitchFamily="18"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Layer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 G</a:t>
            </a:r>
            <a:r>
              <a:rPr lang="en-US" sz="2000" dirty="0">
                <a:latin typeface="Times New Roman" panose="02020603050405020304" pitchFamily="18" charset="0"/>
                <a:cs typeface="Times New Roman" panose="02020603050405020304" pitchFamily="18" charset="0"/>
              </a:rPr>
              <a:t>enerates the final prediction using an appropriate activation function (e.g.,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for classification, Linear for regression).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6" name="Picture 2" descr="Keras Dense Layer Example in Shallow Neural Network">
            <a:extLst>
              <a:ext uri="{FF2B5EF4-FFF2-40B4-BE49-F238E27FC236}">
                <a16:creationId xmlns:a16="http://schemas.microsoft.com/office/drawing/2014/main" id="{06777180-D2AD-5998-6EDE-6A1F02CF311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085" t="16998" r="16598" b="8047"/>
          <a:stretch/>
        </p:blipFill>
        <p:spPr bwMode="auto">
          <a:xfrm>
            <a:off x="5691883" y="1140431"/>
            <a:ext cx="6065707" cy="40423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1A4ACE4-E067-43DF-1D32-CB1E07132249}"/>
              </a:ext>
            </a:extLst>
          </p:cNvPr>
          <p:cNvSpPr txBox="1"/>
          <p:nvPr/>
        </p:nvSpPr>
        <p:spPr>
          <a:xfrm>
            <a:off x="6096000" y="5182826"/>
            <a:ext cx="5798578" cy="738664"/>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3: Working of  Dense Network model</a:t>
            </a:r>
          </a:p>
          <a:p>
            <a:pPr algn="ctr"/>
            <a:r>
              <a:rPr lang="en-IN" dirty="0">
                <a:latin typeface="Times New Roman" panose="02020603050405020304" pitchFamily="18" charset="0"/>
                <a:cs typeface="Times New Roman" panose="02020603050405020304" pitchFamily="18" charset="0"/>
              </a:rPr>
              <a:t>(Source: https://machinelearningknowledge.ai/keras-dense-layer-explained-for-beginners/)</a:t>
            </a:r>
          </a:p>
        </p:txBody>
      </p:sp>
    </p:spTree>
    <p:extLst>
      <p:ext uri="{BB962C8B-B14F-4D97-AF65-F5344CB8AC3E}">
        <p14:creationId xmlns:p14="http://schemas.microsoft.com/office/powerpoint/2010/main" val="2718451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C7955D0-F637-7D30-AE84-BF64C3ADCEFC}"/>
              </a:ext>
            </a:extLst>
          </p:cNvPr>
          <p:cNvSpPr>
            <a:spLocks noChangeArrowheads="1"/>
          </p:cNvSpPr>
          <p:nvPr/>
        </p:nvSpPr>
        <p:spPr bwMode="auto">
          <a:xfrm>
            <a:off x="226032" y="427545"/>
            <a:ext cx="1189017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 Dense Network (Fully Connected Neural Network) can be mathematically represented as follows: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For a given layer </a:t>
            </a:r>
            <a:r>
              <a:rPr lang="en-US" altLang="en-US" sz="2400" dirty="0">
                <a:solidFill>
                  <a:schemeClr val="tx1"/>
                </a:solidFill>
                <a:latin typeface="Inter" panose="020B0604020202020204" charset="0"/>
                <a:ea typeface="Inter" panose="020B0604020202020204" charset="0"/>
                <a:cs typeface="Times New Roman" panose="02020603050405020304" pitchFamily="18" charset="0"/>
              </a:rPr>
              <a:t>l</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the output h</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lang="en-US" altLang="en-US" sz="2400" dirty="0">
                <a:solidFill>
                  <a:schemeClr val="tx1"/>
                </a:solidFill>
                <a:latin typeface="Inter" panose="020B0604020202020204" charset="0"/>
                <a:ea typeface="Inter" panose="020B0604020202020204"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is computed as: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=f(W</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(l−1)</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where: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h</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 output of layer l (activations)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W</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 weight matrix of layer 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h</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(l−1)</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input from the previous layer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b</a:t>
            </a:r>
            <a:r>
              <a:rPr kumimoji="0" lang="en-US" altLang="en-US" sz="2400" i="0" u="none" strike="noStrike" cap="none" normalizeH="0" baseline="30000" dirty="0">
                <a:ln>
                  <a:noFill/>
                </a:ln>
                <a:solidFill>
                  <a:schemeClr val="tx1"/>
                </a:solidFill>
                <a:effectLst/>
                <a:latin typeface="Inter" panose="020B0604020202020204" charset="0"/>
                <a:ea typeface="Inter" panose="020B0604020202020204" charset="0"/>
                <a:cs typeface="Times New Roman" panose="02020603050405020304" pitchFamily="18" charset="0"/>
              </a:rPr>
              <a:t>(l)</a:t>
            </a:r>
            <a:r>
              <a:rPr lang="en-US" altLang="en-US" sz="2400" dirty="0">
                <a:solidFill>
                  <a:schemeClr val="tx1"/>
                </a:solidFill>
                <a:latin typeface="Inter" panose="020B0604020202020204" charset="0"/>
                <a:ea typeface="Inter" panose="020B0604020202020204"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bias vector of layer 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a:t>
            </a:r>
            <a:r>
              <a:rPr lang="en-US" altLang="en-US" sz="2400" dirty="0">
                <a:solidFill>
                  <a:schemeClr val="tx1"/>
                </a:solidFill>
                <a:latin typeface="Inter" panose="020B0604020202020204" charset="0"/>
                <a:ea typeface="Inter" panose="020B0604020202020204"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activation function (e.g., </a:t>
            </a:r>
            <a:r>
              <a:rPr kumimoji="0" lang="en-US" altLang="en-US" sz="2400" i="0" u="none" strike="noStrike" cap="none" normalizeH="0" baseline="0" dirty="0" err="1">
                <a:ln>
                  <a:noFill/>
                </a:ln>
                <a:solidFill>
                  <a:schemeClr val="tx1"/>
                </a:solidFill>
                <a:effectLst/>
                <a:latin typeface="Inter" panose="020B0604020202020204" charset="0"/>
                <a:ea typeface="Inter" panose="020B0604020202020204" charset="0"/>
                <a:cs typeface="Times New Roman" panose="02020603050405020304" pitchFamily="18" charset="0"/>
              </a:rPr>
              <a:t>ReLU</a:t>
            </a: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 Sigmoid, Tanh)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chemeClr val="tx1"/>
              </a:solidFill>
              <a:latin typeface="Inter" panose="020B0604020202020204" charset="0"/>
              <a:ea typeface="Inter" panose="020B060402020202020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Inter" panose="020B0604020202020204" charset="0"/>
                <a:ea typeface="Inter" panose="020B0604020202020204" charset="0"/>
                <a:cs typeface="Times New Roman" panose="02020603050405020304" pitchFamily="18" charset="0"/>
              </a:rPr>
              <a:t>For multi-layer networks, this equation is applied iteratively across all layers until the output layer produces the final prediction.</a:t>
            </a:r>
          </a:p>
        </p:txBody>
      </p:sp>
      <p:sp>
        <p:nvSpPr>
          <p:cNvPr id="2" name="Google Shape;10;p6">
            <a:extLst>
              <a:ext uri="{FF2B5EF4-FFF2-40B4-BE49-F238E27FC236}">
                <a16:creationId xmlns:a16="http://schemas.microsoft.com/office/drawing/2014/main" id="{F0E8A4F3-A407-485C-F219-0F9B913C1765}"/>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9A7839DF-B14E-80F6-C87D-957555AFFD82}"/>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Tree>
    <p:extLst>
      <p:ext uri="{BB962C8B-B14F-4D97-AF65-F5344CB8AC3E}">
        <p14:creationId xmlns:p14="http://schemas.microsoft.com/office/powerpoint/2010/main" val="3140793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47B44268-059A-1883-736A-968897F498B1}"/>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6553BF8B-6A46-96CC-5958-C03E7D0FB962}"/>
              </a:ext>
            </a:extLst>
          </p:cNvPr>
          <p:cNvSpPr txBox="1"/>
          <p:nvPr/>
        </p:nvSpPr>
        <p:spPr>
          <a:xfrm>
            <a:off x="381381" y="388627"/>
            <a:ext cx="88168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BI LSTM</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 DENSE NETWORK</a:t>
            </a:r>
            <a:endParaRPr sz="2800" dirty="0">
              <a:latin typeface="Inter"/>
              <a:ea typeface="Inter"/>
              <a:cs typeface="Inter"/>
              <a:sym typeface="Inter"/>
            </a:endParaRPr>
          </a:p>
        </p:txBody>
      </p:sp>
      <p:pic>
        <p:nvPicPr>
          <p:cNvPr id="5" name="Google Shape;11;p6">
            <a:extLst>
              <a:ext uri="{FF2B5EF4-FFF2-40B4-BE49-F238E27FC236}">
                <a16:creationId xmlns:a16="http://schemas.microsoft.com/office/drawing/2014/main" id="{0AF0B99B-4B44-00EA-845B-CB2DE5B7B811}"/>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7" name="Google Shape;10;p6">
            <a:extLst>
              <a:ext uri="{FF2B5EF4-FFF2-40B4-BE49-F238E27FC236}">
                <a16:creationId xmlns:a16="http://schemas.microsoft.com/office/drawing/2014/main" id="{B5423604-9BEE-0158-9918-4DAA073D2491}"/>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6" name="Picture 5">
            <a:extLst>
              <a:ext uri="{FF2B5EF4-FFF2-40B4-BE49-F238E27FC236}">
                <a16:creationId xmlns:a16="http://schemas.microsoft.com/office/drawing/2014/main" id="{3DA0311E-0A2C-EB1A-F76D-ECFA064AF776}"/>
              </a:ext>
            </a:extLst>
          </p:cNvPr>
          <p:cNvPicPr>
            <a:picLocks noChangeAspect="1"/>
          </p:cNvPicPr>
          <p:nvPr/>
        </p:nvPicPr>
        <p:blipFill>
          <a:blip r:embed="rId4"/>
          <a:stretch>
            <a:fillRect/>
          </a:stretch>
        </p:blipFill>
        <p:spPr>
          <a:xfrm>
            <a:off x="7089169" y="911807"/>
            <a:ext cx="4413226" cy="4526386"/>
          </a:xfrm>
          <a:prstGeom prst="rect">
            <a:avLst/>
          </a:prstGeom>
        </p:spPr>
      </p:pic>
      <p:sp>
        <p:nvSpPr>
          <p:cNvPr id="8" name="Rectangle 3">
            <a:extLst>
              <a:ext uri="{FF2B5EF4-FFF2-40B4-BE49-F238E27FC236}">
                <a16:creationId xmlns:a16="http://schemas.microsoft.com/office/drawing/2014/main" id="{2BC0DD9D-EA22-73B7-0916-7CC4DD3F7838}"/>
              </a:ext>
            </a:extLst>
          </p:cNvPr>
          <p:cNvSpPr>
            <a:spLocks noChangeArrowheads="1"/>
          </p:cNvSpPr>
          <p:nvPr/>
        </p:nvSpPr>
        <p:spPr bwMode="auto">
          <a:xfrm>
            <a:off x="381381" y="1116729"/>
            <a:ext cx="6194080"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This model integrates </a:t>
            </a:r>
            <a:r>
              <a:rPr kumimoji="0" lang="en-US" altLang="en-US" sz="2000" b="1" i="0" u="none" strike="noStrike" cap="none" normalizeH="0" baseline="0" dirty="0">
                <a:ln>
                  <a:noFill/>
                </a:ln>
                <a:solidFill>
                  <a:schemeClr val="tx1"/>
                </a:solidFill>
                <a:effectLst/>
                <a:latin typeface="Inter" panose="020B0604020202020204" charset="0"/>
                <a:ea typeface="Inter" panose="020B0604020202020204" charset="0"/>
              </a:rPr>
              <a:t>Bi-LSTM</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and </a:t>
            </a:r>
            <a:r>
              <a:rPr kumimoji="0" lang="en-US" altLang="en-US" sz="2000" b="1" i="0" u="none" strike="noStrike" cap="none" normalizeH="0" baseline="0" dirty="0">
                <a:ln>
                  <a:noFill/>
                </a:ln>
                <a:solidFill>
                  <a:schemeClr val="tx1"/>
                </a:solidFill>
                <a:effectLst/>
                <a:latin typeface="Inter" panose="020B0604020202020204" charset="0"/>
                <a:ea typeface="Inter" panose="020B0604020202020204" charset="0"/>
              </a:rPr>
              <a:t>Dense layers</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to capture both sequential and static features, enhancing predictive performance. </a:t>
            </a:r>
            <a:r>
              <a:rPr lang="en-US" sz="2000" b="0" i="0" u="none" strike="noStrike" dirty="0">
                <a:solidFill>
                  <a:srgbClr val="000000"/>
                </a:solidFill>
                <a:effectLst/>
                <a:latin typeface="Inter" panose="020B0604020202020204" charset="0"/>
                <a:ea typeface="Inter" panose="020B0604020202020204" charset="0"/>
              </a:rPr>
              <a:t>This model effectively captures both temporal dependencies and feature-based representations to improve forecasting accuracy.</a:t>
            </a:r>
            <a:endPar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defTabSz="914400" rtl="0" eaLnBrk="0" fontAlgn="base" latinLnBrk="0" hangingPunct="0">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defTabSz="914400" rtl="0" eaLnBrk="0" fontAlgn="base" latinLnBrk="0" hangingPunct="0">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rPr>
              <a:t>Bi-LSTM Layer</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Captures temporal dependencies in both directions. </a:t>
            </a:r>
          </a:p>
          <a:p>
            <a:pPr marL="0" marR="0" lvl="0" indent="0" defTabSz="914400" rtl="0" eaLnBrk="0" fontAlgn="base" latinLnBrk="0" hangingPunct="0">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rPr>
              <a:t>Dense Layer</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Learns static feature representations. </a:t>
            </a:r>
          </a:p>
          <a:p>
            <a:pPr marL="0" marR="0" lvl="0" indent="0" defTabSz="914400" rtl="0" eaLnBrk="0" fontAlgn="base" latinLnBrk="0" hangingPunct="0">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rPr>
              <a:t>Concatenation Layer</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Merges Bi-LSTM and Dense outputs. </a:t>
            </a:r>
          </a:p>
          <a:p>
            <a:pPr marL="0" marR="0" lvl="0" indent="0" defTabSz="914400" rtl="0" eaLnBrk="0" fontAlgn="base" latinLnBrk="0" hangingPunct="0">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rPr>
              <a:t>Dropout</a:t>
            </a:r>
            <a:r>
              <a:rPr kumimoji="0" lang="en-US" altLang="en-US" sz="2000" b="1" i="0" u="none" strike="noStrike" cap="none" normalizeH="0" baseline="0" dirty="0">
                <a:ln>
                  <a:noFill/>
                </a:ln>
                <a:solidFill>
                  <a:schemeClr val="tx1"/>
                </a:solidFill>
                <a:effectLst/>
                <a:latin typeface="Inter" panose="020B0604020202020204" charset="0"/>
                <a:ea typeface="Inter" panose="020B0604020202020204" charset="0"/>
              </a:rPr>
              <a:t> </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Reduces overfitting. </a:t>
            </a:r>
          </a:p>
          <a:p>
            <a:pPr marL="0" marR="0" lvl="0" indent="0" defTabSz="914400" rtl="0" eaLnBrk="0" fontAlgn="base" latinLnBrk="0" hangingPunct="0">
              <a:spcBef>
                <a:spcPct val="0"/>
              </a:spcBef>
              <a:spcAft>
                <a:spcPct val="0"/>
              </a:spcAft>
              <a:buClrTx/>
              <a:buSzTx/>
              <a:buFontTx/>
              <a:buChar char="•"/>
              <a:tabLst/>
            </a:pPr>
            <a:r>
              <a:rPr kumimoji="0" lang="en-US" altLang="en-US" sz="2000" i="0" u="sng" strike="noStrike" cap="none" normalizeH="0" baseline="0" dirty="0">
                <a:ln>
                  <a:noFill/>
                </a:ln>
                <a:solidFill>
                  <a:schemeClr val="tx1"/>
                </a:solidFill>
                <a:effectLst/>
                <a:latin typeface="Inter" panose="020B0604020202020204" charset="0"/>
                <a:ea typeface="Inter" panose="020B0604020202020204" charset="0"/>
              </a:rPr>
              <a:t>Final Dense</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 Outputs the final prediction.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1B1596F-F73E-E821-E948-D91774A34746}"/>
              </a:ext>
            </a:extLst>
          </p:cNvPr>
          <p:cNvSpPr txBox="1"/>
          <p:nvPr/>
        </p:nvSpPr>
        <p:spPr>
          <a:xfrm>
            <a:off x="6975712" y="5438193"/>
            <a:ext cx="4640140" cy="523220"/>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4: Architecture flowchart of </a:t>
            </a:r>
          </a:p>
          <a:p>
            <a:pPr algn="ctr"/>
            <a:r>
              <a:rPr lang="en-IN" b="1" dirty="0">
                <a:latin typeface="Times New Roman" panose="02020603050405020304" pitchFamily="18" charset="0"/>
                <a:cs typeface="Times New Roman" panose="02020603050405020304" pitchFamily="18" charset="0"/>
              </a:rPr>
              <a:t>Bi LSTM + Dense Network model</a:t>
            </a:r>
          </a:p>
        </p:txBody>
      </p:sp>
    </p:spTree>
    <p:extLst>
      <p:ext uri="{BB962C8B-B14F-4D97-AF65-F5344CB8AC3E}">
        <p14:creationId xmlns:p14="http://schemas.microsoft.com/office/powerpoint/2010/main" val="123321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99140C-7750-522B-FD5F-66ACBD522267}"/>
              </a:ext>
            </a:extLst>
          </p:cNvPr>
          <p:cNvGraphicFramePr>
            <a:graphicFrameLocks noGrp="1"/>
          </p:cNvGraphicFramePr>
          <p:nvPr>
            <p:extLst>
              <p:ext uri="{D42A27DB-BD31-4B8C-83A1-F6EECF244321}">
                <p14:modId xmlns:p14="http://schemas.microsoft.com/office/powerpoint/2010/main" val="1986446588"/>
              </p:ext>
            </p:extLst>
          </p:nvPr>
        </p:nvGraphicFramePr>
        <p:xfrm>
          <a:off x="308224" y="718473"/>
          <a:ext cx="11609798" cy="5421054"/>
        </p:xfrm>
        <a:graphic>
          <a:graphicData uri="http://schemas.openxmlformats.org/drawingml/2006/table">
            <a:tbl>
              <a:tblPr firstRow="1" bandRow="1">
                <a:tableStyleId>{775DCB02-9BB8-47FD-8907-85C794F793BA}</a:tableStyleId>
              </a:tblPr>
              <a:tblGrid>
                <a:gridCol w="2719702">
                  <a:extLst>
                    <a:ext uri="{9D8B030D-6E8A-4147-A177-3AD203B41FA5}">
                      <a16:colId xmlns:a16="http://schemas.microsoft.com/office/drawing/2014/main" val="1703338776"/>
                    </a:ext>
                  </a:extLst>
                </a:gridCol>
                <a:gridCol w="3085196">
                  <a:extLst>
                    <a:ext uri="{9D8B030D-6E8A-4147-A177-3AD203B41FA5}">
                      <a16:colId xmlns:a16="http://schemas.microsoft.com/office/drawing/2014/main" val="1380262112"/>
                    </a:ext>
                  </a:extLst>
                </a:gridCol>
                <a:gridCol w="2902450">
                  <a:extLst>
                    <a:ext uri="{9D8B030D-6E8A-4147-A177-3AD203B41FA5}">
                      <a16:colId xmlns:a16="http://schemas.microsoft.com/office/drawing/2014/main" val="3612928304"/>
                    </a:ext>
                  </a:extLst>
                </a:gridCol>
                <a:gridCol w="2902450">
                  <a:extLst>
                    <a:ext uri="{9D8B030D-6E8A-4147-A177-3AD203B41FA5}">
                      <a16:colId xmlns:a16="http://schemas.microsoft.com/office/drawing/2014/main" val="661177151"/>
                    </a:ext>
                  </a:extLst>
                </a:gridCol>
              </a:tblGrid>
              <a:tr h="863007">
                <a:tc>
                  <a:txBody>
                    <a:bodyPr/>
                    <a:lstStyle/>
                    <a:p>
                      <a:pPr algn="ctr"/>
                      <a:r>
                        <a:rPr lang="en-IN" sz="1800" dirty="0">
                          <a:latin typeface="Inter" panose="020B0604020202020204" charset="0"/>
                          <a:ea typeface="Inter" panose="020B0604020202020204" charset="0"/>
                        </a:rPr>
                        <a:t>FEATURE</a:t>
                      </a:r>
                    </a:p>
                  </a:txBody>
                  <a:tcPr/>
                </a:tc>
                <a:tc>
                  <a:txBody>
                    <a:bodyPr/>
                    <a:lstStyle/>
                    <a:p>
                      <a:pPr algn="ctr"/>
                      <a:r>
                        <a:rPr lang="en-IN" sz="1800" dirty="0">
                          <a:latin typeface="Inter" panose="020B0604020202020204" charset="0"/>
                          <a:ea typeface="Inter" panose="020B0604020202020204" charset="0"/>
                        </a:rPr>
                        <a:t>BI-LSTM ONLY</a:t>
                      </a:r>
                    </a:p>
                  </a:txBody>
                  <a:tcPr/>
                </a:tc>
                <a:tc>
                  <a:txBody>
                    <a:bodyPr/>
                    <a:lstStyle/>
                    <a:p>
                      <a:pPr algn="ctr"/>
                      <a:r>
                        <a:rPr lang="en-IN" sz="1800" dirty="0">
                          <a:latin typeface="Inter" panose="020B0604020202020204" charset="0"/>
                          <a:ea typeface="Inter" panose="020B0604020202020204" charset="0"/>
                        </a:rPr>
                        <a:t>DENSE NETWORK</a:t>
                      </a:r>
                    </a:p>
                  </a:txBody>
                  <a:tcPr/>
                </a:tc>
                <a:tc>
                  <a:txBody>
                    <a:bodyPr/>
                    <a:lstStyle/>
                    <a:p>
                      <a:pPr algn="ctr"/>
                      <a:r>
                        <a:rPr lang="en-IN" sz="1800" dirty="0">
                          <a:latin typeface="Inter" panose="020B0604020202020204" charset="0"/>
                          <a:ea typeface="Inter" panose="020B0604020202020204" charset="0"/>
                        </a:rPr>
                        <a:t>BI-LSTM + DENSE NETWORK </a:t>
                      </a:r>
                    </a:p>
                    <a:p>
                      <a:pPr algn="ctr"/>
                      <a:r>
                        <a:rPr lang="en-IN" sz="1800" dirty="0">
                          <a:latin typeface="Inter" panose="020B0604020202020204" charset="0"/>
                          <a:ea typeface="Inter" panose="020B0604020202020204" charset="0"/>
                        </a:rPr>
                        <a:t>(HYBRID MODEL)</a:t>
                      </a:r>
                    </a:p>
                  </a:txBody>
                  <a:tcPr/>
                </a:tc>
                <a:extLst>
                  <a:ext uri="{0D108BD9-81ED-4DB2-BD59-A6C34878D82A}">
                    <a16:rowId xmlns:a16="http://schemas.microsoft.com/office/drawing/2014/main" val="4197424020"/>
                  </a:ext>
                </a:extLst>
              </a:tr>
              <a:tr h="1121909">
                <a:tc>
                  <a:txBody>
                    <a:bodyPr/>
                    <a:lstStyle/>
                    <a:p>
                      <a:r>
                        <a:rPr lang="en-IN" sz="1800" dirty="0">
                          <a:latin typeface="Inter" panose="020B0604020202020204" charset="0"/>
                          <a:ea typeface="Inter" panose="020B0604020202020204" charset="0"/>
                        </a:rPr>
                        <a:t>Sequential Learning</a:t>
                      </a:r>
                    </a:p>
                  </a:txBody>
                  <a:tcPr/>
                </a:tc>
                <a:tc>
                  <a:txBody>
                    <a:bodyPr/>
                    <a:lstStyle/>
                    <a:p>
                      <a:r>
                        <a:rPr lang="en-US" sz="1800" dirty="0">
                          <a:latin typeface="Inter" panose="020B0604020202020204" charset="0"/>
                          <a:ea typeface="Inter" panose="020B0604020202020204" charset="0"/>
                        </a:rPr>
                        <a:t>Captures temporal dependencies well but lacks transformation for final predictions.</a:t>
                      </a:r>
                      <a:endParaRPr lang="en-IN" sz="1800" dirty="0">
                        <a:latin typeface="Inter" panose="020B0604020202020204" charset="0"/>
                        <a:ea typeface="Inter"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Cannot handle sequential data effectively.</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Learns sequential patterns via Bi-LSTM and refines them with Dense layers.</a:t>
                      </a:r>
                    </a:p>
                  </a:txBody>
                  <a:tcPr/>
                </a:tc>
                <a:extLst>
                  <a:ext uri="{0D108BD9-81ED-4DB2-BD59-A6C34878D82A}">
                    <a16:rowId xmlns:a16="http://schemas.microsoft.com/office/drawing/2014/main" val="3085170272"/>
                  </a:ext>
                </a:extLst>
              </a:tr>
              <a:tr h="1121909">
                <a:tc>
                  <a:txBody>
                    <a:bodyPr/>
                    <a:lstStyle/>
                    <a:p>
                      <a:r>
                        <a:rPr lang="en-IN" sz="1800" dirty="0">
                          <a:latin typeface="Inter" panose="020B0604020202020204" charset="0"/>
                          <a:ea typeface="Inter" panose="020B0604020202020204" charset="0"/>
                        </a:rPr>
                        <a:t>Feature Extraction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Extracts temporal features but may not generalize well.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Good at nonlinear transformations but fails on sequences.</a:t>
                      </a:r>
                    </a:p>
                    <a:p>
                      <a:endParaRPr lang="en-IN" sz="1800" dirty="0">
                        <a:latin typeface="Inter" panose="020B0604020202020204" charset="0"/>
                        <a:ea typeface="Inter"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Combines Bi-LSTM’s memory with Dense layers' feature refinement.</a:t>
                      </a:r>
                    </a:p>
                  </a:txBody>
                  <a:tcPr/>
                </a:tc>
                <a:extLst>
                  <a:ext uri="{0D108BD9-81ED-4DB2-BD59-A6C34878D82A}">
                    <a16:rowId xmlns:a16="http://schemas.microsoft.com/office/drawing/2014/main" val="448924359"/>
                  </a:ext>
                </a:extLst>
              </a:tr>
              <a:tr h="1214814">
                <a:tc>
                  <a:txBody>
                    <a:bodyPr/>
                    <a:lstStyle/>
                    <a:p>
                      <a:r>
                        <a:rPr lang="en-IN" sz="1800" dirty="0">
                          <a:latin typeface="Inter" panose="020B0604020202020204" charset="0"/>
                          <a:ea typeface="Inter" panose="020B0604020202020204" charset="0"/>
                        </a:rPr>
                        <a:t>Prediction Accuracy</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May struggle with final classification or regression. </a:t>
                      </a:r>
                    </a:p>
                  </a:txBody>
                  <a:tcPr/>
                </a:tc>
                <a:tc>
                  <a:txBody>
                    <a:bodyPr/>
                    <a:lstStyle/>
                    <a:p>
                      <a:r>
                        <a:rPr lang="en-US" sz="1800" dirty="0">
                          <a:latin typeface="Inter" panose="020B0604020202020204" charset="0"/>
                          <a:ea typeface="Inter" panose="020B0604020202020204" charset="0"/>
                        </a:rPr>
                        <a:t>Limited in handling time-dependent relationships.</a:t>
                      </a:r>
                      <a:endParaRPr lang="en-IN" sz="1800" dirty="0">
                        <a:latin typeface="Inter" panose="020B0604020202020204" charset="0"/>
                        <a:ea typeface="Inter"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Achieves superior accuracy by balancing sequence learning and feature extraction.</a:t>
                      </a:r>
                    </a:p>
                  </a:txBody>
                  <a:tcPr/>
                </a:tc>
                <a:extLst>
                  <a:ext uri="{0D108BD9-81ED-4DB2-BD59-A6C34878D82A}">
                    <a16:rowId xmlns:a16="http://schemas.microsoft.com/office/drawing/2014/main" val="1354477307"/>
                  </a:ext>
                </a:extLst>
              </a:tr>
              <a:tr h="868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dirty="0">
                          <a:latin typeface="Inter" panose="020B0604020202020204" charset="0"/>
                          <a:ea typeface="Inter" panose="020B0604020202020204" charset="0"/>
                        </a:rPr>
                        <a:t>Efficiency &amp; Generalization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Computationally expensive and prone to overfitting.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Efficient but lacks memory for past data.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Inter" panose="020B0604020202020204" charset="0"/>
                          <a:ea typeface="Inter" panose="020B0604020202020204" charset="0"/>
                        </a:rPr>
                        <a:t>Optimized for better generalization and efficient learning.</a:t>
                      </a:r>
                    </a:p>
                  </a:txBody>
                  <a:tcPr/>
                </a:tc>
                <a:extLst>
                  <a:ext uri="{0D108BD9-81ED-4DB2-BD59-A6C34878D82A}">
                    <a16:rowId xmlns:a16="http://schemas.microsoft.com/office/drawing/2014/main" val="2198147029"/>
                  </a:ext>
                </a:extLst>
              </a:tr>
            </a:tbl>
          </a:graphicData>
        </a:graphic>
      </p:graphicFrame>
      <p:sp>
        <p:nvSpPr>
          <p:cNvPr id="3" name="Google Shape;10;p6">
            <a:extLst>
              <a:ext uri="{FF2B5EF4-FFF2-40B4-BE49-F238E27FC236}">
                <a16:creationId xmlns:a16="http://schemas.microsoft.com/office/drawing/2014/main" id="{D7BD30C1-947F-B693-FF79-F16575BF710D}"/>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4" name="Google Shape;11;p6">
            <a:extLst>
              <a:ext uri="{FF2B5EF4-FFF2-40B4-BE49-F238E27FC236}">
                <a16:creationId xmlns:a16="http://schemas.microsoft.com/office/drawing/2014/main" id="{83292645-EA00-480C-3E20-EE3449B0B6CE}"/>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Tree>
    <p:extLst>
      <p:ext uri="{BB962C8B-B14F-4D97-AF65-F5344CB8AC3E}">
        <p14:creationId xmlns:p14="http://schemas.microsoft.com/office/powerpoint/2010/main" val="2925777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C1276-A413-CB30-8351-E19644DA7764}"/>
              </a:ext>
            </a:extLst>
          </p:cNvPr>
          <p:cNvSpPr txBox="1"/>
          <p:nvPr/>
        </p:nvSpPr>
        <p:spPr>
          <a:xfrm>
            <a:off x="208818" y="1323276"/>
            <a:ext cx="1806056" cy="4832092"/>
          </a:xfrm>
          <a:prstGeom prst="rect">
            <a:avLst/>
          </a:prstGeom>
          <a:solidFill>
            <a:srgbClr val="007367"/>
          </a:solidFill>
        </p:spPr>
        <p:txBody>
          <a:bodyPr wrap="square" rtlCol="0">
            <a:spAutoFit/>
          </a:bodyPr>
          <a:lstStyle/>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input data (features Open, High, Low) is first processed by the Bi-LSTM layer. This layer captures the temporal dependencies from the time-series data.</a:t>
            </a:r>
          </a:p>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output of the Bi-LSTM layer is a vector (size 64), which represents the sequential information extracted from the input data.</a:t>
            </a:r>
          </a:p>
          <a:p>
            <a:endParaRPr lang="en-US" dirty="0">
              <a:solidFill>
                <a:schemeClr val="bg1"/>
              </a:solidFill>
              <a:latin typeface="Inter" panose="020B0604020202020204" charset="0"/>
              <a:ea typeface="Inter" panose="020B0604020202020204" charset="0"/>
            </a:endParaRPr>
          </a:p>
        </p:txBody>
      </p:sp>
      <p:cxnSp>
        <p:nvCxnSpPr>
          <p:cNvPr id="4" name="Straight Arrow Connector 3">
            <a:extLst>
              <a:ext uri="{FF2B5EF4-FFF2-40B4-BE49-F238E27FC236}">
                <a16:creationId xmlns:a16="http://schemas.microsoft.com/office/drawing/2014/main" id="{E88E21A1-8978-F675-5B40-DB2426C01E9E}"/>
              </a:ext>
            </a:extLst>
          </p:cNvPr>
          <p:cNvCxnSpPr>
            <a:cxnSpLocks/>
          </p:cNvCxnSpPr>
          <p:nvPr/>
        </p:nvCxnSpPr>
        <p:spPr>
          <a:xfrm>
            <a:off x="2034284" y="3675580"/>
            <a:ext cx="601578" cy="0"/>
          </a:xfrm>
          <a:prstGeom prst="straightConnector1">
            <a:avLst/>
          </a:prstGeom>
          <a:ln w="38100">
            <a:solidFill>
              <a:schemeClr val="bg2"/>
            </a:solidFill>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D396364C-87CC-19EA-E050-A8CD69435EE2}"/>
              </a:ext>
            </a:extLst>
          </p:cNvPr>
          <p:cNvSpPr txBox="1"/>
          <p:nvPr/>
        </p:nvSpPr>
        <p:spPr>
          <a:xfrm>
            <a:off x="2592421" y="1323276"/>
            <a:ext cx="1806056" cy="4616648"/>
          </a:xfrm>
          <a:prstGeom prst="rect">
            <a:avLst/>
          </a:prstGeom>
          <a:solidFill>
            <a:srgbClr val="007367"/>
          </a:solidFill>
        </p:spPr>
        <p:txBody>
          <a:bodyPr wrap="square" rtlCol="0">
            <a:spAutoFit/>
          </a:bodyPr>
          <a:lstStyle/>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input data (features Open, High, Low) is processed by a fully connected Dense network, which captures non-sequential feature interactions.</a:t>
            </a:r>
          </a:p>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output of the Dense network is a vector (size 32), which represents the extracted feature embeddings from the input data.</a:t>
            </a:r>
          </a:p>
        </p:txBody>
      </p:sp>
      <p:cxnSp>
        <p:nvCxnSpPr>
          <p:cNvPr id="9" name="Straight Arrow Connector 8">
            <a:extLst>
              <a:ext uri="{FF2B5EF4-FFF2-40B4-BE49-F238E27FC236}">
                <a16:creationId xmlns:a16="http://schemas.microsoft.com/office/drawing/2014/main" id="{4E19CECF-A75D-96F0-82A1-6BD0CC11AC66}"/>
              </a:ext>
            </a:extLst>
          </p:cNvPr>
          <p:cNvCxnSpPr>
            <a:cxnSpLocks/>
          </p:cNvCxnSpPr>
          <p:nvPr/>
        </p:nvCxnSpPr>
        <p:spPr>
          <a:xfrm>
            <a:off x="4319446" y="3739322"/>
            <a:ext cx="577516" cy="0"/>
          </a:xfrm>
          <a:prstGeom prst="straightConnector1">
            <a:avLst/>
          </a:prstGeom>
          <a:ln w="38100">
            <a:solidFill>
              <a:schemeClr val="bg2"/>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9F565CB-4FE0-ED46-E668-5E01ECDEDA11}"/>
              </a:ext>
            </a:extLst>
          </p:cNvPr>
          <p:cNvSpPr txBox="1"/>
          <p:nvPr/>
        </p:nvSpPr>
        <p:spPr>
          <a:xfrm>
            <a:off x="4841267" y="1337776"/>
            <a:ext cx="1919566" cy="4401205"/>
          </a:xfrm>
          <a:prstGeom prst="rect">
            <a:avLst/>
          </a:prstGeom>
          <a:solidFill>
            <a:srgbClr val="007367"/>
          </a:solidFill>
        </p:spPr>
        <p:txBody>
          <a:bodyPr wrap="square" rtlCol="0">
            <a:spAutoFit/>
          </a:bodyPr>
          <a:lstStyle/>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output vectors from the Bi-LSTM and Dense network are concatenated to form a unified representation (size 96).</a:t>
            </a:r>
          </a:p>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concatenated feature vector is passed to a final Dense layer, which predicts the target stock price based on the combined learned information.</a:t>
            </a:r>
          </a:p>
        </p:txBody>
      </p:sp>
      <p:sp>
        <p:nvSpPr>
          <p:cNvPr id="16" name="TextBox 15">
            <a:extLst>
              <a:ext uri="{FF2B5EF4-FFF2-40B4-BE49-F238E27FC236}">
                <a16:creationId xmlns:a16="http://schemas.microsoft.com/office/drawing/2014/main" id="{83E565AA-CBEF-8B1D-0AFB-63E0DC2116C6}"/>
              </a:ext>
            </a:extLst>
          </p:cNvPr>
          <p:cNvSpPr txBox="1"/>
          <p:nvPr/>
        </p:nvSpPr>
        <p:spPr>
          <a:xfrm>
            <a:off x="-57624" y="924333"/>
            <a:ext cx="2338939" cy="338554"/>
          </a:xfrm>
          <a:prstGeom prst="rect">
            <a:avLst/>
          </a:prstGeom>
          <a:noFill/>
        </p:spPr>
        <p:txBody>
          <a:bodyPr wrap="square" rtlCol="0">
            <a:spAutoFit/>
          </a:bodyPr>
          <a:lstStyle/>
          <a:p>
            <a:pPr algn="ctr"/>
            <a:r>
              <a:rPr lang="en-IN" sz="1600" b="1" dirty="0">
                <a:latin typeface="Inter" panose="020B0604020202020204" charset="0"/>
                <a:ea typeface="Inter" panose="020B0604020202020204" charset="0"/>
              </a:rPr>
              <a:t>Bi LSTM BRANCH</a:t>
            </a:r>
          </a:p>
        </p:txBody>
      </p:sp>
      <p:sp>
        <p:nvSpPr>
          <p:cNvPr id="17" name="TextBox 16">
            <a:extLst>
              <a:ext uri="{FF2B5EF4-FFF2-40B4-BE49-F238E27FC236}">
                <a16:creationId xmlns:a16="http://schemas.microsoft.com/office/drawing/2014/main" id="{D2466911-180E-1BAD-FF3E-CF32CC57A468}"/>
              </a:ext>
            </a:extLst>
          </p:cNvPr>
          <p:cNvSpPr txBox="1"/>
          <p:nvPr/>
        </p:nvSpPr>
        <p:spPr>
          <a:xfrm>
            <a:off x="2182970" y="924333"/>
            <a:ext cx="2606838" cy="338554"/>
          </a:xfrm>
          <a:prstGeom prst="rect">
            <a:avLst/>
          </a:prstGeom>
          <a:noFill/>
        </p:spPr>
        <p:txBody>
          <a:bodyPr wrap="square" rtlCol="0">
            <a:spAutoFit/>
          </a:bodyPr>
          <a:lstStyle/>
          <a:p>
            <a:pPr algn="ctr"/>
            <a:r>
              <a:rPr lang="en-IN" sz="1600" b="1" dirty="0">
                <a:latin typeface="Inter" panose="020B0604020202020204" charset="0"/>
                <a:ea typeface="Inter" panose="020B0604020202020204" charset="0"/>
              </a:rPr>
              <a:t>Dense Net BRANCH</a:t>
            </a:r>
          </a:p>
        </p:txBody>
      </p:sp>
      <p:sp>
        <p:nvSpPr>
          <p:cNvPr id="18" name="TextBox 17">
            <a:extLst>
              <a:ext uri="{FF2B5EF4-FFF2-40B4-BE49-F238E27FC236}">
                <a16:creationId xmlns:a16="http://schemas.microsoft.com/office/drawing/2014/main" id="{199443E0-4D1B-ECD3-39DC-BBD370527347}"/>
              </a:ext>
            </a:extLst>
          </p:cNvPr>
          <p:cNvSpPr txBox="1"/>
          <p:nvPr/>
        </p:nvSpPr>
        <p:spPr>
          <a:xfrm>
            <a:off x="4521909" y="924333"/>
            <a:ext cx="2338939" cy="338554"/>
          </a:xfrm>
          <a:prstGeom prst="rect">
            <a:avLst/>
          </a:prstGeom>
          <a:noFill/>
        </p:spPr>
        <p:txBody>
          <a:bodyPr wrap="square" rtlCol="0">
            <a:spAutoFit/>
          </a:bodyPr>
          <a:lstStyle/>
          <a:p>
            <a:pPr algn="ctr"/>
            <a:r>
              <a:rPr lang="en-IN" sz="1600" b="1" dirty="0">
                <a:latin typeface="Inter" panose="020B0604020202020204" charset="0"/>
                <a:ea typeface="Inter" panose="020B0604020202020204" charset="0"/>
              </a:rPr>
              <a:t>CONCATENATE</a:t>
            </a:r>
          </a:p>
        </p:txBody>
      </p:sp>
      <p:sp>
        <p:nvSpPr>
          <p:cNvPr id="19" name="Google Shape;10;p6">
            <a:extLst>
              <a:ext uri="{FF2B5EF4-FFF2-40B4-BE49-F238E27FC236}">
                <a16:creationId xmlns:a16="http://schemas.microsoft.com/office/drawing/2014/main" id="{3829C5AB-FA77-1ACA-D445-A3EE733F9074}"/>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20" name="Google Shape;11;p6">
            <a:extLst>
              <a:ext uri="{FF2B5EF4-FFF2-40B4-BE49-F238E27FC236}">
                <a16:creationId xmlns:a16="http://schemas.microsoft.com/office/drawing/2014/main" id="{4A6B754B-2C38-80E5-EC5A-7A92B2002BFB}"/>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cxnSp>
        <p:nvCxnSpPr>
          <p:cNvPr id="6" name="Straight Arrow Connector 5">
            <a:extLst>
              <a:ext uri="{FF2B5EF4-FFF2-40B4-BE49-F238E27FC236}">
                <a16:creationId xmlns:a16="http://schemas.microsoft.com/office/drawing/2014/main" id="{863B6CBC-5F75-440D-692D-3BF83D98C990}"/>
              </a:ext>
            </a:extLst>
          </p:cNvPr>
          <p:cNvCxnSpPr>
            <a:cxnSpLocks/>
          </p:cNvCxnSpPr>
          <p:nvPr/>
        </p:nvCxnSpPr>
        <p:spPr>
          <a:xfrm>
            <a:off x="6760833" y="3738851"/>
            <a:ext cx="577516" cy="0"/>
          </a:xfrm>
          <a:prstGeom prst="straightConnector1">
            <a:avLst/>
          </a:prstGeom>
          <a:ln w="38100">
            <a:solidFill>
              <a:schemeClr val="bg2"/>
            </a:solidFill>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E5E55A09-88E4-CD8A-D0C3-DA448FC6A80B}"/>
              </a:ext>
            </a:extLst>
          </p:cNvPr>
          <p:cNvSpPr txBox="1"/>
          <p:nvPr/>
        </p:nvSpPr>
        <p:spPr>
          <a:xfrm>
            <a:off x="7314389" y="1337776"/>
            <a:ext cx="1971288" cy="4832092"/>
          </a:xfrm>
          <a:prstGeom prst="rect">
            <a:avLst/>
          </a:prstGeom>
          <a:solidFill>
            <a:srgbClr val="007367"/>
          </a:solidFill>
        </p:spPr>
        <p:txBody>
          <a:bodyPr wrap="square" rtlCol="0">
            <a:spAutoFit/>
          </a:bodyPr>
          <a:lstStyle/>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Bayesian Optimization is used to fine-tune hyperparameters such as learning rate, number of units in Bi-LSTM, and dropout rate, ensuring optimal model performance.</a:t>
            </a:r>
          </a:p>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It iteratively selects hyperparameters by balancing exploration and exploitation, leading to a more efficient search compared to random or grid search methods.</a:t>
            </a:r>
          </a:p>
        </p:txBody>
      </p:sp>
      <p:sp>
        <p:nvSpPr>
          <p:cNvPr id="11" name="TextBox 10">
            <a:extLst>
              <a:ext uri="{FF2B5EF4-FFF2-40B4-BE49-F238E27FC236}">
                <a16:creationId xmlns:a16="http://schemas.microsoft.com/office/drawing/2014/main" id="{AA4056B0-DFF6-942C-BC45-9B1EFE8EC372}"/>
              </a:ext>
            </a:extLst>
          </p:cNvPr>
          <p:cNvSpPr txBox="1"/>
          <p:nvPr/>
        </p:nvSpPr>
        <p:spPr>
          <a:xfrm>
            <a:off x="7130563" y="738501"/>
            <a:ext cx="2338939" cy="584775"/>
          </a:xfrm>
          <a:prstGeom prst="rect">
            <a:avLst/>
          </a:prstGeom>
          <a:noFill/>
        </p:spPr>
        <p:txBody>
          <a:bodyPr wrap="square" rtlCol="0">
            <a:spAutoFit/>
          </a:bodyPr>
          <a:lstStyle/>
          <a:p>
            <a:pPr algn="ctr"/>
            <a:r>
              <a:rPr lang="en-IN" sz="1600" b="1" dirty="0">
                <a:latin typeface="Inter" panose="020B0604020202020204" charset="0"/>
                <a:ea typeface="Inter" panose="020B0604020202020204" charset="0"/>
              </a:rPr>
              <a:t>BAYESIAN OPTIMIZATION</a:t>
            </a:r>
          </a:p>
        </p:txBody>
      </p:sp>
      <p:cxnSp>
        <p:nvCxnSpPr>
          <p:cNvPr id="13" name="Straight Arrow Connector 12">
            <a:extLst>
              <a:ext uri="{FF2B5EF4-FFF2-40B4-BE49-F238E27FC236}">
                <a16:creationId xmlns:a16="http://schemas.microsoft.com/office/drawing/2014/main" id="{159D256D-B007-D8F8-39A9-8D24A921FD65}"/>
              </a:ext>
            </a:extLst>
          </p:cNvPr>
          <p:cNvCxnSpPr>
            <a:cxnSpLocks/>
          </p:cNvCxnSpPr>
          <p:nvPr/>
        </p:nvCxnSpPr>
        <p:spPr>
          <a:xfrm>
            <a:off x="9272904" y="3738851"/>
            <a:ext cx="577516" cy="0"/>
          </a:xfrm>
          <a:prstGeom prst="straightConnector1">
            <a:avLst/>
          </a:prstGeom>
          <a:ln w="38100">
            <a:solidFill>
              <a:schemeClr val="bg2"/>
            </a:solidFill>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4E7EE6B7-9839-23BE-ACC6-10B50BAFA589}"/>
              </a:ext>
            </a:extLst>
          </p:cNvPr>
          <p:cNvSpPr txBox="1"/>
          <p:nvPr/>
        </p:nvSpPr>
        <p:spPr>
          <a:xfrm>
            <a:off x="9825532" y="1337776"/>
            <a:ext cx="2051393" cy="4616648"/>
          </a:xfrm>
          <a:prstGeom prst="rect">
            <a:avLst/>
          </a:prstGeom>
          <a:solidFill>
            <a:srgbClr val="007367"/>
          </a:solidFill>
        </p:spPr>
        <p:txBody>
          <a:bodyPr wrap="square" rtlCol="0">
            <a:spAutoFit/>
          </a:bodyPr>
          <a:lstStyle/>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The concatenated feature vector (size 96) is passed through a Dense layer with an appropriate activation function to generate the final stock price prediction.</a:t>
            </a:r>
          </a:p>
          <a:p>
            <a:pPr marL="285750" indent="-285750">
              <a:buFont typeface="Wingdings" panose="05000000000000000000" pitchFamily="2" charset="2"/>
              <a:buChar char="q"/>
            </a:pPr>
            <a:r>
              <a:rPr lang="en-US" dirty="0">
                <a:solidFill>
                  <a:schemeClr val="bg1"/>
                </a:solidFill>
                <a:latin typeface="Inter" panose="020B0604020202020204" charset="0"/>
                <a:ea typeface="Inter" panose="020B0604020202020204" charset="0"/>
              </a:rPr>
              <a:t>This layer maps the learned feature representation to the target output, minimizing the error using a loss function like Mean Squared Error (MSE).</a:t>
            </a:r>
          </a:p>
        </p:txBody>
      </p:sp>
      <p:sp>
        <p:nvSpPr>
          <p:cNvPr id="21" name="TextBox 20">
            <a:extLst>
              <a:ext uri="{FF2B5EF4-FFF2-40B4-BE49-F238E27FC236}">
                <a16:creationId xmlns:a16="http://schemas.microsoft.com/office/drawing/2014/main" id="{7DA084C1-4833-A809-FC26-413438D447D1}"/>
              </a:ext>
            </a:extLst>
          </p:cNvPr>
          <p:cNvSpPr txBox="1"/>
          <p:nvPr/>
        </p:nvSpPr>
        <p:spPr>
          <a:xfrm>
            <a:off x="9532956" y="924333"/>
            <a:ext cx="2606838" cy="338554"/>
          </a:xfrm>
          <a:prstGeom prst="rect">
            <a:avLst/>
          </a:prstGeom>
          <a:noFill/>
        </p:spPr>
        <p:txBody>
          <a:bodyPr wrap="square" rtlCol="0">
            <a:spAutoFit/>
          </a:bodyPr>
          <a:lstStyle/>
          <a:p>
            <a:pPr algn="ctr"/>
            <a:r>
              <a:rPr lang="en-IN" sz="1600" b="1" dirty="0">
                <a:latin typeface="Inter" panose="020B0604020202020204" charset="0"/>
                <a:ea typeface="Inter" panose="020B0604020202020204" charset="0"/>
              </a:rPr>
              <a:t>FINAL LAYER</a:t>
            </a:r>
          </a:p>
        </p:txBody>
      </p:sp>
      <p:sp>
        <p:nvSpPr>
          <p:cNvPr id="23" name="Google Shape;45;p2">
            <a:extLst>
              <a:ext uri="{FF2B5EF4-FFF2-40B4-BE49-F238E27FC236}">
                <a16:creationId xmlns:a16="http://schemas.microsoft.com/office/drawing/2014/main" id="{7DBD9422-E72C-0103-2AC4-69EE681395D2}"/>
              </a:ext>
            </a:extLst>
          </p:cNvPr>
          <p:cNvSpPr txBox="1"/>
          <p:nvPr/>
        </p:nvSpPr>
        <p:spPr>
          <a:xfrm>
            <a:off x="121217" y="201703"/>
            <a:ext cx="99420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dirty="0">
                <a:solidFill>
                  <a:srgbClr val="A58255"/>
                </a:solidFill>
                <a:latin typeface="Inter"/>
                <a:ea typeface="Inter"/>
                <a:cs typeface="Inter"/>
                <a:sym typeface="Inter"/>
              </a:rPr>
              <a:t>CODE WORKFLOW </a:t>
            </a:r>
            <a:endParaRPr sz="2400" dirty="0">
              <a:latin typeface="Inter"/>
              <a:ea typeface="Inter"/>
              <a:cs typeface="Inter"/>
              <a:sym typeface="Inter"/>
            </a:endParaRPr>
          </a:p>
        </p:txBody>
      </p:sp>
    </p:spTree>
    <p:extLst>
      <p:ext uri="{BB962C8B-B14F-4D97-AF65-F5344CB8AC3E}">
        <p14:creationId xmlns:p14="http://schemas.microsoft.com/office/powerpoint/2010/main" val="1765928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
          <p:cNvSpPr txBox="1"/>
          <p:nvPr/>
        </p:nvSpPr>
        <p:spPr>
          <a:xfrm>
            <a:off x="477954" y="447230"/>
            <a:ext cx="10013407" cy="38997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367"/>
              </a:buClr>
              <a:buSzPts val="3600"/>
              <a:buFont typeface="Play"/>
              <a:buNone/>
            </a:pPr>
            <a:r>
              <a:rPr lang="en-US" sz="2800" b="1" dirty="0">
                <a:solidFill>
                  <a:srgbClr val="007367"/>
                </a:solidFill>
                <a:latin typeface="Inter"/>
                <a:ea typeface="Inter"/>
                <a:cs typeface="Inter"/>
                <a:sym typeface="Inter"/>
              </a:rPr>
              <a:t>BASELINE MODELS </a:t>
            </a:r>
            <a:r>
              <a:rPr lang="en-US" sz="2800" b="1" dirty="0">
                <a:solidFill>
                  <a:srgbClr val="A58255"/>
                </a:solidFill>
                <a:latin typeface="Inter"/>
                <a:ea typeface="Inter"/>
                <a:cs typeface="Inter"/>
                <a:sym typeface="Inter"/>
              </a:rPr>
              <a:t>PERFORMANCE</a:t>
            </a:r>
            <a:endParaRPr sz="2800" dirty="0">
              <a:latin typeface="Inter"/>
              <a:ea typeface="Inter"/>
              <a:cs typeface="Inter"/>
              <a:sym typeface="Inter"/>
            </a:endParaRPr>
          </a:p>
        </p:txBody>
      </p:sp>
      <p:graphicFrame>
        <p:nvGraphicFramePr>
          <p:cNvPr id="54" name="Google Shape;54;p3"/>
          <p:cNvGraphicFramePr/>
          <p:nvPr>
            <p:extLst>
              <p:ext uri="{D42A27DB-BD31-4B8C-83A1-F6EECF244321}">
                <p14:modId xmlns:p14="http://schemas.microsoft.com/office/powerpoint/2010/main" val="2474936584"/>
              </p:ext>
            </p:extLst>
          </p:nvPr>
        </p:nvGraphicFramePr>
        <p:xfrm>
          <a:off x="1054100" y="1129483"/>
          <a:ext cx="9901719" cy="4599034"/>
        </p:xfrm>
        <a:graphic>
          <a:graphicData uri="http://schemas.openxmlformats.org/drawingml/2006/table">
            <a:tbl>
              <a:tblPr firstRow="1">
                <a:noFill/>
                <a:tableStyleId>{B1C1A5F2-C7F4-42EF-8194-A367FB17F6C2}</a:tableStyleId>
              </a:tblPr>
              <a:tblGrid>
                <a:gridCol w="1570273">
                  <a:extLst>
                    <a:ext uri="{9D8B030D-6E8A-4147-A177-3AD203B41FA5}">
                      <a16:colId xmlns:a16="http://schemas.microsoft.com/office/drawing/2014/main" val="20000"/>
                    </a:ext>
                  </a:extLst>
                </a:gridCol>
                <a:gridCol w="2768279">
                  <a:extLst>
                    <a:ext uri="{9D8B030D-6E8A-4147-A177-3AD203B41FA5}">
                      <a16:colId xmlns:a16="http://schemas.microsoft.com/office/drawing/2014/main" val="20001"/>
                    </a:ext>
                  </a:extLst>
                </a:gridCol>
                <a:gridCol w="1854389">
                  <a:extLst>
                    <a:ext uri="{9D8B030D-6E8A-4147-A177-3AD203B41FA5}">
                      <a16:colId xmlns:a16="http://schemas.microsoft.com/office/drawing/2014/main" val="20002"/>
                    </a:ext>
                  </a:extLst>
                </a:gridCol>
                <a:gridCol w="1854389">
                  <a:extLst>
                    <a:ext uri="{9D8B030D-6E8A-4147-A177-3AD203B41FA5}">
                      <a16:colId xmlns:a16="http://schemas.microsoft.com/office/drawing/2014/main" val="2293997342"/>
                    </a:ext>
                  </a:extLst>
                </a:gridCol>
                <a:gridCol w="1854389">
                  <a:extLst>
                    <a:ext uri="{9D8B030D-6E8A-4147-A177-3AD203B41FA5}">
                      <a16:colId xmlns:a16="http://schemas.microsoft.com/office/drawing/2014/main" val="620359512"/>
                    </a:ext>
                  </a:extLst>
                </a:gridCol>
              </a:tblGrid>
              <a:tr h="418094">
                <a:tc>
                  <a:txBody>
                    <a:bodyPr/>
                    <a:lstStyle/>
                    <a:p>
                      <a:pPr marL="0" marR="0" lvl="0" indent="0" algn="ctr" rtl="0">
                        <a:spcBef>
                          <a:spcPts val="0"/>
                        </a:spcBef>
                        <a:spcAft>
                          <a:spcPts val="0"/>
                        </a:spcAft>
                        <a:buNone/>
                      </a:pPr>
                      <a:r>
                        <a:rPr lang="en-IN" dirty="0">
                          <a:latin typeface="Inter"/>
                          <a:ea typeface="Inter"/>
                          <a:cs typeface="Inter"/>
                          <a:sym typeface="Inter"/>
                        </a:rPr>
                        <a:t>MODEL</a:t>
                      </a:r>
                      <a:endParaRPr dirty="0">
                        <a:latin typeface="Inter"/>
                        <a:ea typeface="Inter"/>
                        <a:cs typeface="Inter"/>
                        <a:sym typeface="Inter"/>
                      </a:endParaRPr>
                    </a:p>
                  </a:txBody>
                  <a:tcPr marL="442950" marR="0" marT="0" marB="0"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RMSE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MAPE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extLst>
                  <a:ext uri="{0D108BD9-81ED-4DB2-BD59-A6C34878D82A}">
                    <a16:rowId xmlns:a16="http://schemas.microsoft.com/office/drawing/2014/main" val="10000"/>
                  </a:ext>
                </a:extLst>
              </a:tr>
              <a:tr h="418094">
                <a:tc>
                  <a:txBody>
                    <a:bodyPr/>
                    <a:lstStyle/>
                    <a:p>
                      <a:pPr algn="ctr" rtl="0" fontAlgn="b"/>
                      <a:r>
                        <a:rPr lang="en-IN" sz="1400" dirty="0">
                          <a:effectLst/>
                          <a:latin typeface="Inter" panose="020B0604020202020204" charset="0"/>
                          <a:ea typeface="Inter" panose="020B0604020202020204" charset="0"/>
                        </a:rPr>
                        <a:t>CNN 1D</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1595.166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3251346.784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1803.149</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1.8555</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1"/>
                  </a:ext>
                </a:extLst>
              </a:tr>
              <a:tr h="418094">
                <a:tc>
                  <a:txBody>
                    <a:bodyPr/>
                    <a:lstStyle/>
                    <a:p>
                      <a:pPr algn="ctr" rtl="0" fontAlgn="b"/>
                      <a:r>
                        <a:rPr lang="en-IN" sz="1400" dirty="0">
                          <a:effectLst/>
                          <a:latin typeface="Inter" panose="020B0604020202020204" charset="0"/>
                          <a:ea typeface="Inter" panose="020B0604020202020204" charset="0"/>
                        </a:rPr>
                        <a:t>CNN 2D</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4795.0616</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26595498.78</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5157.0824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0.0552</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3549295759"/>
                  </a:ext>
                </a:extLst>
              </a:tr>
              <a:tr h="418094">
                <a:tc>
                  <a:txBody>
                    <a:bodyPr/>
                    <a:lstStyle/>
                    <a:p>
                      <a:pPr algn="ctr" rtl="0" fontAlgn="b"/>
                      <a:r>
                        <a:rPr lang="en-IN" sz="1400" dirty="0">
                          <a:effectLst/>
                          <a:latin typeface="Inter" panose="020B0604020202020204" charset="0"/>
                          <a:ea typeface="Inter" panose="020B0604020202020204" charset="0"/>
                        </a:rPr>
                        <a:t>CNN 3D</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1461.777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3466656.749</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1861.896</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1.7162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2"/>
                  </a:ext>
                </a:extLst>
              </a:tr>
              <a:tr h="418094">
                <a:tc>
                  <a:txBody>
                    <a:bodyPr/>
                    <a:lstStyle/>
                    <a:p>
                      <a:pPr algn="ctr" rtl="0" fontAlgn="b"/>
                      <a:r>
                        <a:rPr lang="en-IN" sz="1400" dirty="0">
                          <a:effectLst/>
                          <a:latin typeface="Inter" panose="020B0604020202020204" charset="0"/>
                          <a:ea typeface="Inter" panose="020B0604020202020204" charset="0"/>
                        </a:rPr>
                        <a:t>RNN</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8096.682617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67347192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8206.533495</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9.356794506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3"/>
                  </a:ext>
                </a:extLst>
              </a:tr>
              <a:tr h="418094">
                <a:tc>
                  <a:txBody>
                    <a:bodyPr/>
                    <a:lstStyle/>
                    <a:p>
                      <a:pPr algn="ctr" rtl="0" fontAlgn="b"/>
                      <a:r>
                        <a:rPr lang="en-IN" sz="1400" dirty="0">
                          <a:effectLst/>
                          <a:latin typeface="Inter" panose="020B0604020202020204" charset="0"/>
                          <a:ea typeface="Inter" panose="020B0604020202020204" charset="0"/>
                        </a:rPr>
                        <a:t>LSTM</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416.4977292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340800.3986</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583.7811222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0.4892616974</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4"/>
                  </a:ext>
                </a:extLst>
              </a:tr>
              <a:tr h="418094">
                <a:tc>
                  <a:txBody>
                    <a:bodyPr/>
                    <a:lstStyle/>
                    <a:p>
                      <a:pPr algn="ctr" rtl="0" fontAlgn="b"/>
                      <a:r>
                        <a:rPr lang="en-IN" sz="1400" dirty="0">
                          <a:effectLst/>
                          <a:latin typeface="Inter" panose="020B0604020202020204" charset="0"/>
                          <a:ea typeface="Inter" panose="020B0604020202020204" charset="0"/>
                        </a:rPr>
                        <a:t>GRU</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397.408099</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306645.694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553.7559878</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0.4667090316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5"/>
                  </a:ext>
                </a:extLst>
              </a:tr>
              <a:tr h="418094">
                <a:tc>
                  <a:txBody>
                    <a:bodyPr/>
                    <a:lstStyle/>
                    <a:p>
                      <a:pPr algn="ctr" rtl="0" fontAlgn="b"/>
                      <a:r>
                        <a:rPr lang="en-IN" sz="1400" dirty="0">
                          <a:effectLst/>
                          <a:latin typeface="Inter" panose="020B0604020202020204" charset="0"/>
                          <a:ea typeface="Inter" panose="020B0604020202020204" charset="0"/>
                        </a:rPr>
                        <a:t>BI-LSTM</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380.599901</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284154.2677</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533.0612232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0.4468173881</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6"/>
                  </a:ext>
                </a:extLst>
              </a:tr>
              <a:tr h="418094">
                <a:tc>
                  <a:txBody>
                    <a:bodyPr/>
                    <a:lstStyle/>
                    <a:p>
                      <a:pPr algn="ctr" rtl="0" fontAlgn="b"/>
                      <a:r>
                        <a:rPr lang="en-IN" sz="1400" dirty="0">
                          <a:effectLst/>
                          <a:latin typeface="Inter" panose="020B0604020202020204" charset="0"/>
                          <a:ea typeface="Inter" panose="020B0604020202020204" charset="0"/>
                        </a:rPr>
                        <a:t>Transformer</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85759.98959</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rgbClr val="1F1F1F"/>
                          </a:solidFill>
                          <a:effectLst/>
                          <a:latin typeface="Inter" panose="020B0604020202020204" charset="0"/>
                          <a:ea typeface="Inter" panose="020B0604020202020204" charset="0"/>
                        </a:rPr>
                        <a:t>7358908989</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rgbClr val="1F1F1F"/>
                          </a:solidFill>
                          <a:effectLst/>
                          <a:latin typeface="Inter" panose="020B0604020202020204" charset="0"/>
                          <a:ea typeface="Inter" panose="020B0604020202020204" charset="0"/>
                        </a:rPr>
                        <a:t>85784.08354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99.91529682</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769372627"/>
                  </a:ext>
                </a:extLst>
              </a:tr>
              <a:tr h="418094">
                <a:tc>
                  <a:txBody>
                    <a:bodyPr/>
                    <a:lstStyle/>
                    <a:p>
                      <a:pPr algn="ctr" rtl="0" fontAlgn="b"/>
                      <a:r>
                        <a:rPr lang="en-IN" sz="1400" dirty="0">
                          <a:effectLst/>
                          <a:latin typeface="Inter" panose="020B0604020202020204" charset="0"/>
                          <a:ea typeface="Inter" panose="020B0604020202020204" charset="0"/>
                        </a:rPr>
                        <a:t>GNN</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27714.57227</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rgbClr val="1F1F1F"/>
                          </a:solidFill>
                          <a:effectLst/>
                          <a:latin typeface="Inter" panose="020B0604020202020204" charset="0"/>
                          <a:ea typeface="Inter" panose="020B0604020202020204" charset="0"/>
                        </a:rPr>
                        <a:t>773981696</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27820.52652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32.25002587</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09204105"/>
                  </a:ext>
                </a:extLst>
              </a:tr>
              <a:tr h="418094">
                <a:tc>
                  <a:txBody>
                    <a:bodyPr/>
                    <a:lstStyle/>
                    <a:p>
                      <a:pPr algn="ctr" rtl="0" fontAlgn="b"/>
                      <a:r>
                        <a:rPr lang="en-IN" sz="1400" dirty="0" err="1">
                          <a:effectLst/>
                          <a:latin typeface="Inter" panose="020B0604020202020204" charset="0"/>
                          <a:ea typeface="Inter" panose="020B0604020202020204" charset="0"/>
                        </a:rPr>
                        <a:t>ResNet</a:t>
                      </a:r>
                      <a:endParaRPr lang="en-IN" sz="1400" dirty="0">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7633.982422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59255288</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7697.745644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8.877309412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4E4C9"/>
                    </a:solidFill>
                  </a:tcPr>
                </a:tc>
                <a:extLst>
                  <a:ext uri="{0D108BD9-81ED-4DB2-BD59-A6C34878D82A}">
                    <a16:rowId xmlns:a16="http://schemas.microsoft.com/office/drawing/2014/main" val="10007"/>
                  </a:ext>
                </a:extLst>
              </a:tr>
            </a:tbl>
          </a:graphicData>
        </a:graphic>
      </p:graphicFrame>
      <p:pic>
        <p:nvPicPr>
          <p:cNvPr id="4" name="Google Shape;11;p6">
            <a:extLst>
              <a:ext uri="{FF2B5EF4-FFF2-40B4-BE49-F238E27FC236}">
                <a16:creationId xmlns:a16="http://schemas.microsoft.com/office/drawing/2014/main" id="{74288BDB-C594-5AD5-3590-9F53D2515050}"/>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308DC305-1C99-8C16-A29D-2C2A8892F282}"/>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D3AC2353-2536-E20D-AE89-DFBD54F961C0}"/>
            </a:ext>
          </a:extLst>
        </p:cNvPr>
        <p:cNvGrpSpPr/>
        <p:nvPr/>
      </p:nvGrpSpPr>
      <p:grpSpPr>
        <a:xfrm>
          <a:off x="0" y="0"/>
          <a:ext cx="0" cy="0"/>
          <a:chOff x="0" y="0"/>
          <a:chExt cx="0" cy="0"/>
        </a:xfrm>
      </p:grpSpPr>
      <p:sp>
        <p:nvSpPr>
          <p:cNvPr id="53" name="Google Shape;53;p3">
            <a:extLst>
              <a:ext uri="{FF2B5EF4-FFF2-40B4-BE49-F238E27FC236}">
                <a16:creationId xmlns:a16="http://schemas.microsoft.com/office/drawing/2014/main" id="{01B9CB58-324F-C708-A2E8-295431454B96}"/>
              </a:ext>
            </a:extLst>
          </p:cNvPr>
          <p:cNvSpPr txBox="1"/>
          <p:nvPr/>
        </p:nvSpPr>
        <p:spPr>
          <a:xfrm>
            <a:off x="434411" y="414572"/>
            <a:ext cx="10013407" cy="38997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367"/>
              </a:buClr>
              <a:buSzPts val="3600"/>
              <a:buFont typeface="Play"/>
              <a:buNone/>
            </a:pPr>
            <a:r>
              <a:rPr lang="en-US" sz="2800" b="1" dirty="0">
                <a:solidFill>
                  <a:srgbClr val="007367"/>
                </a:solidFill>
                <a:latin typeface="Inter"/>
                <a:ea typeface="Inter"/>
                <a:cs typeface="Inter"/>
                <a:sym typeface="Inter"/>
              </a:rPr>
              <a:t>Continued….</a:t>
            </a:r>
            <a:endParaRPr sz="2800" dirty="0">
              <a:latin typeface="Inter"/>
              <a:ea typeface="Inter"/>
              <a:cs typeface="Inter"/>
              <a:sym typeface="Inter"/>
            </a:endParaRPr>
          </a:p>
        </p:txBody>
      </p:sp>
      <p:graphicFrame>
        <p:nvGraphicFramePr>
          <p:cNvPr id="54" name="Google Shape;54;p3">
            <a:extLst>
              <a:ext uri="{FF2B5EF4-FFF2-40B4-BE49-F238E27FC236}">
                <a16:creationId xmlns:a16="http://schemas.microsoft.com/office/drawing/2014/main" id="{FF17C8DD-7898-6D4E-089A-939754CA90D1}"/>
              </a:ext>
            </a:extLst>
          </p:cNvPr>
          <p:cNvGraphicFramePr/>
          <p:nvPr>
            <p:extLst>
              <p:ext uri="{D42A27DB-BD31-4B8C-83A1-F6EECF244321}">
                <p14:modId xmlns:p14="http://schemas.microsoft.com/office/powerpoint/2010/main" val="2137831074"/>
              </p:ext>
            </p:extLst>
          </p:nvPr>
        </p:nvGraphicFramePr>
        <p:xfrm>
          <a:off x="1054100" y="1129483"/>
          <a:ext cx="9901719" cy="4701112"/>
        </p:xfrm>
        <a:graphic>
          <a:graphicData uri="http://schemas.openxmlformats.org/drawingml/2006/table">
            <a:tbl>
              <a:tblPr firstRow="1">
                <a:noFill/>
                <a:tableStyleId>{B1C1A5F2-C7F4-42EF-8194-A367FB17F6C2}</a:tableStyleId>
              </a:tblPr>
              <a:tblGrid>
                <a:gridCol w="1570273">
                  <a:extLst>
                    <a:ext uri="{9D8B030D-6E8A-4147-A177-3AD203B41FA5}">
                      <a16:colId xmlns:a16="http://schemas.microsoft.com/office/drawing/2014/main" val="20000"/>
                    </a:ext>
                  </a:extLst>
                </a:gridCol>
                <a:gridCol w="2768279">
                  <a:extLst>
                    <a:ext uri="{9D8B030D-6E8A-4147-A177-3AD203B41FA5}">
                      <a16:colId xmlns:a16="http://schemas.microsoft.com/office/drawing/2014/main" val="20001"/>
                    </a:ext>
                  </a:extLst>
                </a:gridCol>
                <a:gridCol w="1854389">
                  <a:extLst>
                    <a:ext uri="{9D8B030D-6E8A-4147-A177-3AD203B41FA5}">
                      <a16:colId xmlns:a16="http://schemas.microsoft.com/office/drawing/2014/main" val="20002"/>
                    </a:ext>
                  </a:extLst>
                </a:gridCol>
                <a:gridCol w="1854389">
                  <a:extLst>
                    <a:ext uri="{9D8B030D-6E8A-4147-A177-3AD203B41FA5}">
                      <a16:colId xmlns:a16="http://schemas.microsoft.com/office/drawing/2014/main" val="2293997342"/>
                    </a:ext>
                  </a:extLst>
                </a:gridCol>
                <a:gridCol w="1854389">
                  <a:extLst>
                    <a:ext uri="{9D8B030D-6E8A-4147-A177-3AD203B41FA5}">
                      <a16:colId xmlns:a16="http://schemas.microsoft.com/office/drawing/2014/main" val="620359512"/>
                    </a:ext>
                  </a:extLst>
                </a:gridCol>
              </a:tblGrid>
              <a:tr h="418094">
                <a:tc>
                  <a:txBody>
                    <a:bodyPr/>
                    <a:lstStyle/>
                    <a:p>
                      <a:pPr marL="0" marR="0" lvl="0" indent="0" algn="ctr" rtl="0">
                        <a:spcBef>
                          <a:spcPts val="0"/>
                        </a:spcBef>
                        <a:spcAft>
                          <a:spcPts val="0"/>
                        </a:spcAft>
                        <a:buNone/>
                      </a:pPr>
                      <a:r>
                        <a:rPr lang="en-IN" dirty="0">
                          <a:latin typeface="Inter"/>
                          <a:ea typeface="Inter"/>
                          <a:cs typeface="Inter"/>
                          <a:sym typeface="Inter"/>
                        </a:rPr>
                        <a:t>MODEL</a:t>
                      </a:r>
                      <a:endParaRPr dirty="0">
                        <a:latin typeface="Inter"/>
                        <a:ea typeface="Inter"/>
                        <a:cs typeface="Inter"/>
                        <a:sym typeface="Inter"/>
                      </a:endParaRPr>
                    </a:p>
                  </a:txBody>
                  <a:tcPr marL="442950" marR="0" marT="0" marB="0"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RMSE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MAPE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extLst>
                  <a:ext uri="{0D108BD9-81ED-4DB2-BD59-A6C34878D82A}">
                    <a16:rowId xmlns:a16="http://schemas.microsoft.com/office/drawing/2014/main" val="10000"/>
                  </a:ext>
                </a:extLst>
              </a:tr>
              <a:tr h="418094">
                <a:tc>
                  <a:txBody>
                    <a:bodyPr/>
                    <a:lstStyle/>
                    <a:p>
                      <a:pPr algn="ctr" rtl="0" fontAlgn="b"/>
                      <a:r>
                        <a:rPr lang="en-IN" sz="1400" dirty="0">
                          <a:solidFill>
                            <a:schemeClr val="tx1"/>
                          </a:solidFill>
                          <a:effectLst/>
                          <a:latin typeface="Inter" panose="020B0604020202020204" charset="0"/>
                          <a:ea typeface="Inter" panose="020B0604020202020204" charset="0"/>
                        </a:rPr>
                        <a:t>ARIMA</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15,953</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331024114.1</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18194.068</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18.604</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1"/>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SARIMA</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1579.235</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i="0" u="none" strike="noStrike" cap="none" dirty="0">
                          <a:solidFill>
                            <a:schemeClr val="tx1"/>
                          </a:solidFill>
                          <a:effectLst/>
                          <a:latin typeface="Inter" panose="020B0604020202020204" charset="0"/>
                          <a:ea typeface="Inter" panose="020B0604020202020204" charset="0"/>
                          <a:cs typeface="Calibri"/>
                          <a:sym typeface="Arial"/>
                        </a:rPr>
                        <a:t>4781679.57</a:t>
                      </a:r>
                      <a:endParaRPr lang="en-IN" sz="1400" dirty="0">
                        <a:solidFill>
                          <a:schemeClr val="tx1"/>
                        </a:solidFill>
                        <a:effectLst/>
                        <a:latin typeface="Inter" panose="020B0604020202020204" charset="0"/>
                        <a:ea typeface="Inter" panose="020B0604020202020204" charset="0"/>
                      </a:endParaRP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2186.705</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1.87</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3549295759"/>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GARCH</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1236381.378</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2167756545440</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1472330.311</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123603259.6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2"/>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Exponential Smoothing</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50635.80787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2571024935</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50705.27522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58.97303409</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3"/>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Prophet</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42244.67284</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1791620621</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42327.53974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49.2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4"/>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TimesNet</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22276.50127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496755979.9</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22288.02324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25.95059166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5"/>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DeepAR</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2931.89899</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13482604.07</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3671.866565</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3.409159372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6"/>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CNN 3D + TimesNet</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2844.834344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8394004.208</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2897.240792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3.319919793</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769372627"/>
                  </a:ext>
                </a:extLst>
              </a:tr>
              <a:tr h="418094">
                <a:tc>
                  <a:txBody>
                    <a:bodyPr/>
                    <a:lstStyle/>
                    <a:p>
                      <a:pPr algn="ctr" rtl="0" fontAlgn="b"/>
                      <a:r>
                        <a:rPr lang="en-IN" sz="1400" dirty="0" err="1">
                          <a:solidFill>
                            <a:schemeClr val="tx1"/>
                          </a:solidFill>
                          <a:effectLst/>
                          <a:latin typeface="Inter" panose="020B0604020202020204" charset="0"/>
                          <a:ea typeface="Inter" panose="020B0604020202020204" charset="0"/>
                        </a:rPr>
                        <a:t>TimesNet</a:t>
                      </a:r>
                      <a:r>
                        <a:rPr lang="en-IN" sz="1400" dirty="0">
                          <a:solidFill>
                            <a:schemeClr val="tx1"/>
                          </a:solidFill>
                          <a:effectLst/>
                          <a:latin typeface="Inter" panose="020B0604020202020204" charset="0"/>
                          <a:ea typeface="Inter" panose="020B0604020202020204" charset="0"/>
                        </a:rPr>
                        <a:t> + GRU</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401.7646823</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315859.1239</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562.0134552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solidFill>
                            <a:schemeClr val="tx1"/>
                          </a:solidFill>
                          <a:effectLst/>
                          <a:latin typeface="Inter" panose="020B0604020202020204" charset="0"/>
                          <a:ea typeface="Inter" panose="020B0604020202020204" charset="0"/>
                        </a:rPr>
                        <a:t>0.4725300889</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09204105"/>
                  </a:ext>
                </a:extLst>
              </a:tr>
              <a:tr h="418094">
                <a:tc>
                  <a:txBody>
                    <a:bodyPr/>
                    <a:lstStyle/>
                    <a:p>
                      <a:pPr algn="ctr" rtl="0" fontAlgn="b"/>
                      <a:r>
                        <a:rPr lang="en-IN" sz="1400" dirty="0" err="1">
                          <a:solidFill>
                            <a:schemeClr val="tx1"/>
                          </a:solidFill>
                          <a:effectLst/>
                          <a:latin typeface="Inter" panose="020B0604020202020204" charset="0"/>
                          <a:ea typeface="Inter" panose="020B0604020202020204" charset="0"/>
                        </a:rPr>
                        <a:t>TimesNet</a:t>
                      </a:r>
                      <a:r>
                        <a:rPr lang="en-IN" sz="1400" dirty="0">
                          <a:solidFill>
                            <a:schemeClr val="tx1"/>
                          </a:solidFill>
                          <a:effectLst/>
                          <a:latin typeface="Inter" panose="020B0604020202020204" charset="0"/>
                          <a:ea typeface="Inter" panose="020B0604020202020204" charset="0"/>
                        </a:rPr>
                        <a:t> + </a:t>
                      </a:r>
                    </a:p>
                    <a:p>
                      <a:pPr algn="ctr" rtl="0" fontAlgn="b"/>
                      <a:r>
                        <a:rPr lang="en-IN" sz="1400" dirty="0">
                          <a:solidFill>
                            <a:schemeClr val="tx1"/>
                          </a:solidFill>
                          <a:effectLst/>
                          <a:latin typeface="Inter" panose="020B0604020202020204" charset="0"/>
                          <a:ea typeface="Inter" panose="020B0604020202020204" charset="0"/>
                        </a:rPr>
                        <a:t>Bi LSTM</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4E4C9"/>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60350.9603</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4E4C9"/>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3644292459.2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4E4C9"/>
                    </a:solidFill>
                  </a:tcPr>
                </a:tc>
                <a:tc>
                  <a:txBody>
                    <a:bodyPr/>
                    <a:lstStyle/>
                    <a:p>
                      <a:pPr algn="ctr" rtl="0" fontAlgn="b"/>
                      <a:r>
                        <a:rPr lang="en-IN" sz="1400" dirty="0">
                          <a:solidFill>
                            <a:schemeClr val="tx1"/>
                          </a:solidFill>
                          <a:effectLst/>
                          <a:latin typeface="Inter" panose="020B0604020202020204" charset="0"/>
                          <a:ea typeface="Inter" panose="020B0604020202020204" charset="0"/>
                        </a:rPr>
                        <a:t>60367.9754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4E4C9"/>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0.7030</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4E4C9"/>
                    </a:solidFill>
                  </a:tcPr>
                </a:tc>
                <a:extLst>
                  <a:ext uri="{0D108BD9-81ED-4DB2-BD59-A6C34878D82A}">
                    <a16:rowId xmlns:a16="http://schemas.microsoft.com/office/drawing/2014/main" val="1139602658"/>
                  </a:ext>
                </a:extLst>
              </a:tr>
            </a:tbl>
          </a:graphicData>
        </a:graphic>
      </p:graphicFrame>
      <p:pic>
        <p:nvPicPr>
          <p:cNvPr id="4" name="Google Shape;11;p6">
            <a:extLst>
              <a:ext uri="{FF2B5EF4-FFF2-40B4-BE49-F238E27FC236}">
                <a16:creationId xmlns:a16="http://schemas.microsoft.com/office/drawing/2014/main" id="{095F9D7D-F84C-9D4A-FB32-2153922C30D8}"/>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8CA3E497-B1AF-0210-92CF-A5AFBC304B6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1230526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C447CEC-4AB6-B56F-5243-6CD3CAF30BCE}"/>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112AAD08-8021-D13E-D963-E9DAA59192ED}"/>
              </a:ext>
            </a:extLst>
          </p:cNvPr>
          <p:cNvSpPr txBox="1"/>
          <p:nvPr/>
        </p:nvSpPr>
        <p:spPr>
          <a:xfrm>
            <a:off x="376194" y="300372"/>
            <a:ext cx="994208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PROPOSED MODEL : </a:t>
            </a:r>
            <a:r>
              <a:rPr lang="en-US" sz="2800" b="1" dirty="0">
                <a:solidFill>
                  <a:srgbClr val="A58255"/>
                </a:solidFill>
                <a:latin typeface="Inter"/>
                <a:ea typeface="Inter"/>
                <a:cs typeface="Inter"/>
                <a:sym typeface="Inter"/>
              </a:rPr>
              <a:t>BI LSTM + DENSE NETWORK </a:t>
            </a:r>
            <a:endParaRPr sz="2800" dirty="0">
              <a:latin typeface="Inter"/>
              <a:ea typeface="Inter"/>
              <a:cs typeface="Inter"/>
              <a:sym typeface="Inter"/>
            </a:endParaRPr>
          </a:p>
        </p:txBody>
      </p:sp>
      <p:sp>
        <p:nvSpPr>
          <p:cNvPr id="4" name="Oval 3">
            <a:extLst>
              <a:ext uri="{FF2B5EF4-FFF2-40B4-BE49-F238E27FC236}">
                <a16:creationId xmlns:a16="http://schemas.microsoft.com/office/drawing/2014/main" id="{186B2939-1C5A-9FF6-137A-436197557722}"/>
              </a:ext>
            </a:extLst>
          </p:cNvPr>
          <p:cNvSpPr/>
          <p:nvPr/>
        </p:nvSpPr>
        <p:spPr>
          <a:xfrm>
            <a:off x="1819173" y="1082142"/>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E76D10ED-5B11-C68B-A96A-BA4B41370626}"/>
              </a:ext>
            </a:extLst>
          </p:cNvPr>
          <p:cNvSpPr/>
          <p:nvPr/>
        </p:nvSpPr>
        <p:spPr>
          <a:xfrm>
            <a:off x="1929353" y="3742040"/>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F37C364C-DF92-28E5-E611-E9B4379E6D13}"/>
              </a:ext>
            </a:extLst>
          </p:cNvPr>
          <p:cNvSpPr/>
          <p:nvPr/>
        </p:nvSpPr>
        <p:spPr>
          <a:xfrm>
            <a:off x="7733899" y="1082141"/>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7" name="Oval 6">
            <a:extLst>
              <a:ext uri="{FF2B5EF4-FFF2-40B4-BE49-F238E27FC236}">
                <a16:creationId xmlns:a16="http://schemas.microsoft.com/office/drawing/2014/main" id="{A6963D54-311E-A839-86BB-7B8C38FD42B8}"/>
              </a:ext>
            </a:extLst>
          </p:cNvPr>
          <p:cNvSpPr/>
          <p:nvPr/>
        </p:nvSpPr>
        <p:spPr>
          <a:xfrm>
            <a:off x="7733899" y="3755150"/>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21B570E-5E90-F153-9606-04E6968CA0CB}"/>
              </a:ext>
            </a:extLst>
          </p:cNvPr>
          <p:cNvSpPr txBox="1"/>
          <p:nvPr/>
        </p:nvSpPr>
        <p:spPr>
          <a:xfrm>
            <a:off x="2001251" y="1447305"/>
            <a:ext cx="1435767" cy="830997"/>
          </a:xfrm>
          <a:prstGeom prst="rect">
            <a:avLst/>
          </a:prstGeom>
          <a:noFill/>
        </p:spPr>
        <p:txBody>
          <a:bodyPr wrap="square" rtlCol="0">
            <a:spAutoFit/>
          </a:bodyPr>
          <a:lstStyle/>
          <a:p>
            <a:pPr algn="ctr"/>
            <a:r>
              <a:rPr lang="en-IN" sz="2400" b="1" dirty="0">
                <a:solidFill>
                  <a:schemeClr val="bg1"/>
                </a:solidFill>
                <a:latin typeface="Inter" panose="020B0604020202020204" charset="0"/>
                <a:ea typeface="Inter" panose="020B0604020202020204" charset="0"/>
              </a:rPr>
              <a:t>MAE</a:t>
            </a:r>
          </a:p>
          <a:p>
            <a:pPr algn="ctr"/>
            <a:r>
              <a:rPr lang="en-IN" sz="2400" b="1" dirty="0">
                <a:solidFill>
                  <a:schemeClr val="bg1"/>
                </a:solidFill>
                <a:latin typeface="Inter" panose="020B0604020202020204" charset="0"/>
                <a:ea typeface="Inter" panose="020B0604020202020204" charset="0"/>
              </a:rPr>
              <a:t>399.017</a:t>
            </a:r>
          </a:p>
        </p:txBody>
      </p:sp>
      <p:sp>
        <p:nvSpPr>
          <p:cNvPr id="9" name="TextBox 8">
            <a:extLst>
              <a:ext uri="{FF2B5EF4-FFF2-40B4-BE49-F238E27FC236}">
                <a16:creationId xmlns:a16="http://schemas.microsoft.com/office/drawing/2014/main" id="{E7707A58-0BDA-EDDB-ECFF-F9436A0C1321}"/>
              </a:ext>
            </a:extLst>
          </p:cNvPr>
          <p:cNvSpPr txBox="1"/>
          <p:nvPr/>
        </p:nvSpPr>
        <p:spPr>
          <a:xfrm>
            <a:off x="780445" y="2849488"/>
            <a:ext cx="4898461" cy="892552"/>
          </a:xfrm>
          <a:prstGeom prst="rect">
            <a:avLst/>
          </a:prstGeom>
          <a:noFill/>
        </p:spPr>
        <p:txBody>
          <a:bodyPr wrap="square" rtlCol="0">
            <a:spAutoFit/>
          </a:bodyPr>
          <a:lstStyle/>
          <a:p>
            <a:pPr algn="just"/>
            <a:r>
              <a:rPr lang="en-US" sz="1300" dirty="0">
                <a:latin typeface="Inter" panose="020B0604020202020204" charset="0"/>
                <a:ea typeface="Inter" panose="020B0604020202020204" charset="0"/>
              </a:rPr>
              <a:t>The low MAE suggests that the average error (absolute deviation) between predicted and actual values is minimal, showing consistent performance across predictions.</a:t>
            </a:r>
          </a:p>
          <a:p>
            <a:pPr algn="just"/>
            <a:endParaRPr lang="en-IN" sz="1300" dirty="0">
              <a:latin typeface="Inter" panose="020B0604020202020204" charset="0"/>
              <a:ea typeface="Inter" panose="020B0604020202020204" charset="0"/>
            </a:endParaRPr>
          </a:p>
        </p:txBody>
      </p:sp>
      <p:sp>
        <p:nvSpPr>
          <p:cNvPr id="10" name="TextBox 9">
            <a:extLst>
              <a:ext uri="{FF2B5EF4-FFF2-40B4-BE49-F238E27FC236}">
                <a16:creationId xmlns:a16="http://schemas.microsoft.com/office/drawing/2014/main" id="{65E798CB-7F98-0705-1652-6CF1015D8C1F}"/>
              </a:ext>
            </a:extLst>
          </p:cNvPr>
          <p:cNvSpPr txBox="1"/>
          <p:nvPr/>
        </p:nvSpPr>
        <p:spPr>
          <a:xfrm>
            <a:off x="7733899" y="1447305"/>
            <a:ext cx="1799924" cy="769441"/>
          </a:xfrm>
          <a:prstGeom prst="rect">
            <a:avLst/>
          </a:prstGeom>
          <a:noFill/>
        </p:spPr>
        <p:txBody>
          <a:bodyPr wrap="square" rtlCol="0">
            <a:spAutoFit/>
          </a:bodyPr>
          <a:lstStyle/>
          <a:p>
            <a:pPr algn="ctr"/>
            <a:r>
              <a:rPr lang="en-IN" sz="2200" b="1" dirty="0">
                <a:solidFill>
                  <a:schemeClr val="bg1"/>
                </a:solidFill>
                <a:latin typeface="Inter" panose="020B0604020202020204" charset="0"/>
                <a:ea typeface="Inter" panose="020B0604020202020204" charset="0"/>
              </a:rPr>
              <a:t>MSE</a:t>
            </a:r>
          </a:p>
          <a:p>
            <a:pPr algn="ctr"/>
            <a:r>
              <a:rPr lang="en-IN" sz="2200" b="1" dirty="0">
                <a:solidFill>
                  <a:schemeClr val="bg1"/>
                </a:solidFill>
                <a:latin typeface="Inter" panose="020B0604020202020204" charset="0"/>
                <a:ea typeface="Inter" panose="020B0604020202020204" charset="0"/>
              </a:rPr>
              <a:t>301999.74</a:t>
            </a:r>
          </a:p>
        </p:txBody>
      </p:sp>
      <p:sp>
        <p:nvSpPr>
          <p:cNvPr id="11" name="TextBox 10">
            <a:extLst>
              <a:ext uri="{FF2B5EF4-FFF2-40B4-BE49-F238E27FC236}">
                <a16:creationId xmlns:a16="http://schemas.microsoft.com/office/drawing/2014/main" id="{FE1E4AD5-A94D-04E7-6707-12BEA1DAC6E0}"/>
              </a:ext>
            </a:extLst>
          </p:cNvPr>
          <p:cNvSpPr txBox="1"/>
          <p:nvPr/>
        </p:nvSpPr>
        <p:spPr>
          <a:xfrm>
            <a:off x="6805061" y="2849488"/>
            <a:ext cx="3946358" cy="692497"/>
          </a:xfrm>
          <a:prstGeom prst="rect">
            <a:avLst/>
          </a:prstGeom>
          <a:noFill/>
        </p:spPr>
        <p:txBody>
          <a:bodyPr wrap="square" rtlCol="0">
            <a:spAutoFit/>
          </a:bodyPr>
          <a:lstStyle/>
          <a:p>
            <a:pPr algn="just"/>
            <a:r>
              <a:rPr lang="en-US" sz="1300" dirty="0">
                <a:latin typeface="Inter" panose="020B0604020202020204" charset="0"/>
                <a:ea typeface="Inter" panose="020B0604020202020204" charset="0"/>
              </a:rPr>
              <a:t>The model's low MSE indicates that it avoids large deviations between predicted and actual stock prices better than other models.</a:t>
            </a:r>
            <a:endParaRPr lang="en-IN" sz="1300" dirty="0">
              <a:latin typeface="Inter" panose="020B0604020202020204" charset="0"/>
              <a:ea typeface="Inter" panose="020B0604020202020204" charset="0"/>
            </a:endParaRPr>
          </a:p>
        </p:txBody>
      </p:sp>
      <p:sp>
        <p:nvSpPr>
          <p:cNvPr id="12" name="TextBox 11">
            <a:extLst>
              <a:ext uri="{FF2B5EF4-FFF2-40B4-BE49-F238E27FC236}">
                <a16:creationId xmlns:a16="http://schemas.microsoft.com/office/drawing/2014/main" id="{527C3E35-8AB2-6192-97FF-22226CA9AF0B}"/>
              </a:ext>
            </a:extLst>
          </p:cNvPr>
          <p:cNvSpPr txBox="1"/>
          <p:nvPr/>
        </p:nvSpPr>
        <p:spPr>
          <a:xfrm>
            <a:off x="2111431" y="4083023"/>
            <a:ext cx="1435767" cy="830997"/>
          </a:xfrm>
          <a:prstGeom prst="rect">
            <a:avLst/>
          </a:prstGeom>
          <a:noFill/>
        </p:spPr>
        <p:txBody>
          <a:bodyPr wrap="square" rtlCol="0">
            <a:spAutoFit/>
          </a:bodyPr>
          <a:lstStyle/>
          <a:p>
            <a:pPr algn="ctr"/>
            <a:r>
              <a:rPr lang="en-IN" sz="2400" b="1" dirty="0">
                <a:solidFill>
                  <a:schemeClr val="bg1"/>
                </a:solidFill>
                <a:latin typeface="Inter" panose="020B0604020202020204" charset="0"/>
                <a:ea typeface="Inter" panose="020B0604020202020204" charset="0"/>
              </a:rPr>
              <a:t>RMSE</a:t>
            </a:r>
          </a:p>
          <a:p>
            <a:pPr algn="ctr"/>
            <a:r>
              <a:rPr lang="en-IN" sz="2400" b="1" dirty="0">
                <a:solidFill>
                  <a:schemeClr val="bg1"/>
                </a:solidFill>
                <a:latin typeface="Inter" panose="020B0604020202020204" charset="0"/>
                <a:ea typeface="Inter" panose="020B0604020202020204" charset="0"/>
              </a:rPr>
              <a:t>549.54</a:t>
            </a:r>
          </a:p>
        </p:txBody>
      </p:sp>
      <p:sp>
        <p:nvSpPr>
          <p:cNvPr id="13" name="TextBox 12">
            <a:extLst>
              <a:ext uri="{FF2B5EF4-FFF2-40B4-BE49-F238E27FC236}">
                <a16:creationId xmlns:a16="http://schemas.microsoft.com/office/drawing/2014/main" id="{AFB080AC-A78A-49D5-313B-A6B583573917}"/>
              </a:ext>
            </a:extLst>
          </p:cNvPr>
          <p:cNvSpPr txBox="1"/>
          <p:nvPr/>
        </p:nvSpPr>
        <p:spPr>
          <a:xfrm>
            <a:off x="654518" y="5521473"/>
            <a:ext cx="5441482" cy="292388"/>
          </a:xfrm>
          <a:prstGeom prst="rect">
            <a:avLst/>
          </a:prstGeom>
          <a:noFill/>
        </p:spPr>
        <p:txBody>
          <a:bodyPr wrap="square" rtlCol="0">
            <a:spAutoFit/>
          </a:bodyPr>
          <a:lstStyle/>
          <a:p>
            <a:r>
              <a:rPr lang="en-US" sz="1300" dirty="0">
                <a:latin typeface="Inter" panose="020B0604020202020204" charset="0"/>
                <a:ea typeface="Inter" panose="020B0604020202020204" charset="0"/>
              </a:rPr>
              <a:t>Its low RMSE confirms that large errors are effectively minimized.</a:t>
            </a:r>
            <a:endParaRPr lang="en-IN" sz="1300" dirty="0">
              <a:latin typeface="Inter" panose="020B0604020202020204" charset="0"/>
              <a:ea typeface="Inter" panose="020B0604020202020204" charset="0"/>
            </a:endParaRPr>
          </a:p>
        </p:txBody>
      </p:sp>
      <p:sp>
        <p:nvSpPr>
          <p:cNvPr id="14" name="TextBox 13">
            <a:extLst>
              <a:ext uri="{FF2B5EF4-FFF2-40B4-BE49-F238E27FC236}">
                <a16:creationId xmlns:a16="http://schemas.microsoft.com/office/drawing/2014/main" id="{D9B86012-3E9B-DC4F-4A89-AA8E031D1F65}"/>
              </a:ext>
            </a:extLst>
          </p:cNvPr>
          <p:cNvSpPr txBox="1"/>
          <p:nvPr/>
        </p:nvSpPr>
        <p:spPr>
          <a:xfrm>
            <a:off x="7733899" y="4174727"/>
            <a:ext cx="1799924" cy="769441"/>
          </a:xfrm>
          <a:prstGeom prst="rect">
            <a:avLst/>
          </a:prstGeom>
          <a:noFill/>
        </p:spPr>
        <p:txBody>
          <a:bodyPr wrap="square" rtlCol="0">
            <a:spAutoFit/>
          </a:bodyPr>
          <a:lstStyle/>
          <a:p>
            <a:pPr algn="ctr"/>
            <a:r>
              <a:rPr lang="en-IN" sz="2200" b="1" dirty="0">
                <a:solidFill>
                  <a:schemeClr val="bg1"/>
                </a:solidFill>
                <a:latin typeface="Inter" panose="020B0604020202020204" charset="0"/>
                <a:ea typeface="Inter" panose="020B0604020202020204" charset="0"/>
              </a:rPr>
              <a:t>MAPE</a:t>
            </a:r>
          </a:p>
          <a:p>
            <a:pPr algn="ctr"/>
            <a:r>
              <a:rPr lang="en-IN" sz="2200" b="1" dirty="0">
                <a:solidFill>
                  <a:schemeClr val="bg1"/>
                </a:solidFill>
                <a:latin typeface="Inter" panose="020B0604020202020204" charset="0"/>
                <a:ea typeface="Inter" panose="020B0604020202020204" charset="0"/>
              </a:rPr>
              <a:t>0.469</a:t>
            </a:r>
          </a:p>
        </p:txBody>
      </p:sp>
      <p:sp>
        <p:nvSpPr>
          <p:cNvPr id="15" name="TextBox 14">
            <a:extLst>
              <a:ext uri="{FF2B5EF4-FFF2-40B4-BE49-F238E27FC236}">
                <a16:creationId xmlns:a16="http://schemas.microsoft.com/office/drawing/2014/main" id="{3393EDFB-7872-50BB-2E00-D2F3A8B5AFFA}"/>
              </a:ext>
            </a:extLst>
          </p:cNvPr>
          <p:cNvSpPr txBox="1"/>
          <p:nvPr/>
        </p:nvSpPr>
        <p:spPr>
          <a:xfrm>
            <a:off x="6805061" y="5513144"/>
            <a:ext cx="4061861" cy="492443"/>
          </a:xfrm>
          <a:prstGeom prst="rect">
            <a:avLst/>
          </a:prstGeom>
          <a:noFill/>
        </p:spPr>
        <p:txBody>
          <a:bodyPr wrap="square" rtlCol="0">
            <a:spAutoFit/>
          </a:bodyPr>
          <a:lstStyle/>
          <a:p>
            <a:pPr algn="just"/>
            <a:r>
              <a:rPr lang="en-US" sz="1300" dirty="0">
                <a:latin typeface="Inter" panose="020B0604020202020204" charset="0"/>
                <a:ea typeface="Inter" panose="020B0604020202020204" charset="0"/>
              </a:rPr>
              <a:t>This indicates that the model’s predictions are highly accurate relative to the scale of the data.</a:t>
            </a:r>
            <a:endParaRPr lang="en-IN" sz="1300" dirty="0">
              <a:latin typeface="Inter" panose="020B0604020202020204" charset="0"/>
              <a:ea typeface="Inter" panose="020B0604020202020204" charset="0"/>
            </a:endParaRPr>
          </a:p>
        </p:txBody>
      </p:sp>
      <p:pic>
        <p:nvPicPr>
          <p:cNvPr id="16" name="Google Shape;11;p6">
            <a:extLst>
              <a:ext uri="{FF2B5EF4-FFF2-40B4-BE49-F238E27FC236}">
                <a16:creationId xmlns:a16="http://schemas.microsoft.com/office/drawing/2014/main" id="{BC31CF91-AADA-4DB2-CEB3-A2809DECBAF4}"/>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17" name="Google Shape;10;p6">
            <a:extLst>
              <a:ext uri="{FF2B5EF4-FFF2-40B4-BE49-F238E27FC236}">
                <a16:creationId xmlns:a16="http://schemas.microsoft.com/office/drawing/2014/main" id="{16502F8E-B3F0-A31A-16BC-BBA3D1E777A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2978120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BDA44E00-4201-1E71-90EE-3C4DC751276B}"/>
            </a:ext>
          </a:extLst>
        </p:cNvPr>
        <p:cNvGrpSpPr/>
        <p:nvPr/>
      </p:nvGrpSpPr>
      <p:grpSpPr>
        <a:xfrm>
          <a:off x="0" y="0"/>
          <a:ext cx="0" cy="0"/>
          <a:chOff x="0" y="0"/>
          <a:chExt cx="0" cy="0"/>
        </a:xfrm>
      </p:grpSpPr>
      <p:sp>
        <p:nvSpPr>
          <p:cNvPr id="53" name="Google Shape;53;p3">
            <a:extLst>
              <a:ext uri="{FF2B5EF4-FFF2-40B4-BE49-F238E27FC236}">
                <a16:creationId xmlns:a16="http://schemas.microsoft.com/office/drawing/2014/main" id="{1819E69A-60D3-F2F5-EEA9-56F532FA46B6}"/>
              </a:ext>
            </a:extLst>
          </p:cNvPr>
          <p:cNvSpPr txBox="1"/>
          <p:nvPr/>
        </p:nvSpPr>
        <p:spPr>
          <a:xfrm>
            <a:off x="477954" y="447230"/>
            <a:ext cx="10013407" cy="38997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367"/>
              </a:buClr>
              <a:buSzPts val="3600"/>
              <a:buFont typeface="Play"/>
              <a:buNone/>
            </a:pPr>
            <a:r>
              <a:rPr lang="en-US" sz="2800" b="1" dirty="0">
                <a:solidFill>
                  <a:srgbClr val="007367"/>
                </a:solidFill>
                <a:latin typeface="Inter"/>
                <a:ea typeface="Inter"/>
                <a:cs typeface="Inter"/>
                <a:sym typeface="Inter"/>
              </a:rPr>
              <a:t>PROPOSED MODEL </a:t>
            </a:r>
            <a:r>
              <a:rPr lang="en-US" sz="2800" b="1" dirty="0">
                <a:solidFill>
                  <a:srgbClr val="A58255"/>
                </a:solidFill>
                <a:latin typeface="Inter"/>
                <a:ea typeface="Inter"/>
                <a:cs typeface="Inter"/>
                <a:sym typeface="Inter"/>
              </a:rPr>
              <a:t>PERFORMANCE</a:t>
            </a:r>
            <a:endParaRPr sz="2800" dirty="0">
              <a:latin typeface="Inter"/>
              <a:ea typeface="Inter"/>
              <a:cs typeface="Inter"/>
              <a:sym typeface="Inter"/>
            </a:endParaRPr>
          </a:p>
        </p:txBody>
      </p:sp>
      <p:graphicFrame>
        <p:nvGraphicFramePr>
          <p:cNvPr id="54" name="Google Shape;54;p3">
            <a:extLst>
              <a:ext uri="{FF2B5EF4-FFF2-40B4-BE49-F238E27FC236}">
                <a16:creationId xmlns:a16="http://schemas.microsoft.com/office/drawing/2014/main" id="{79A99BBB-3A33-B820-6F87-7C4040F0369F}"/>
              </a:ext>
            </a:extLst>
          </p:cNvPr>
          <p:cNvGraphicFramePr/>
          <p:nvPr>
            <p:extLst>
              <p:ext uri="{D42A27DB-BD31-4B8C-83A1-F6EECF244321}">
                <p14:modId xmlns:p14="http://schemas.microsoft.com/office/powerpoint/2010/main" val="3309560700"/>
              </p:ext>
            </p:extLst>
          </p:nvPr>
        </p:nvGraphicFramePr>
        <p:xfrm>
          <a:off x="576943" y="1008317"/>
          <a:ext cx="11038114" cy="2284990"/>
        </p:xfrm>
        <a:graphic>
          <a:graphicData uri="http://schemas.openxmlformats.org/drawingml/2006/table">
            <a:tbl>
              <a:tblPr firstRow="1">
                <a:noFill/>
                <a:tableStyleId>{B1C1A5F2-C7F4-42EF-8194-A367FB17F6C2}</a:tableStyleId>
              </a:tblPr>
              <a:tblGrid>
                <a:gridCol w="2153863">
                  <a:extLst>
                    <a:ext uri="{9D8B030D-6E8A-4147-A177-3AD203B41FA5}">
                      <a16:colId xmlns:a16="http://schemas.microsoft.com/office/drawing/2014/main" val="20000"/>
                    </a:ext>
                  </a:extLst>
                </a:gridCol>
                <a:gridCol w="2695807">
                  <a:extLst>
                    <a:ext uri="{9D8B030D-6E8A-4147-A177-3AD203B41FA5}">
                      <a16:colId xmlns:a16="http://schemas.microsoft.com/office/drawing/2014/main" val="20001"/>
                    </a:ext>
                  </a:extLst>
                </a:gridCol>
                <a:gridCol w="3126121">
                  <a:extLst>
                    <a:ext uri="{9D8B030D-6E8A-4147-A177-3AD203B41FA5}">
                      <a16:colId xmlns:a16="http://schemas.microsoft.com/office/drawing/2014/main" val="20002"/>
                    </a:ext>
                  </a:extLst>
                </a:gridCol>
                <a:gridCol w="3062323">
                  <a:extLst>
                    <a:ext uri="{9D8B030D-6E8A-4147-A177-3AD203B41FA5}">
                      <a16:colId xmlns:a16="http://schemas.microsoft.com/office/drawing/2014/main" val="2293997342"/>
                    </a:ext>
                  </a:extLst>
                </a:gridCol>
              </a:tblGrid>
              <a:tr h="614690">
                <a:tc>
                  <a:txBody>
                    <a:bodyPr/>
                    <a:lstStyle/>
                    <a:p>
                      <a:pPr marL="0" marR="0" lvl="0" indent="0" algn="ctr" rtl="0">
                        <a:spcBef>
                          <a:spcPts val="0"/>
                        </a:spcBef>
                        <a:spcAft>
                          <a:spcPts val="0"/>
                        </a:spcAft>
                        <a:buNone/>
                      </a:pPr>
                      <a:r>
                        <a:rPr lang="en-IN" sz="2000" dirty="0">
                          <a:latin typeface="Inter"/>
                          <a:ea typeface="Inter"/>
                          <a:cs typeface="Inter"/>
                          <a:sym typeface="Inter"/>
                        </a:rPr>
                        <a:t>METRIC</a:t>
                      </a:r>
                      <a:endParaRPr sz="2000" dirty="0">
                        <a:latin typeface="Inter"/>
                        <a:ea typeface="Inter"/>
                        <a:cs typeface="Inter"/>
                        <a:sym typeface="Inter"/>
                      </a:endParaRPr>
                    </a:p>
                  </a:txBody>
                  <a:tcPr marL="442950" marR="0" marT="0" marB="0"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sz="2000" dirty="0">
                          <a:latin typeface="Inter"/>
                          <a:ea typeface="Inter"/>
                          <a:cs typeface="Inter"/>
                          <a:sym typeface="Inter"/>
                        </a:rPr>
                        <a:t>PROPOSED MODEL</a:t>
                      </a:r>
                      <a:endParaRPr sz="20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sz="2000" dirty="0">
                          <a:latin typeface="Inter"/>
                          <a:ea typeface="Inter"/>
                          <a:cs typeface="Inter"/>
                          <a:sym typeface="Inter"/>
                        </a:rPr>
                        <a:t>BEST VALUE FROM BASELINE MODELS</a:t>
                      </a:r>
                      <a:endParaRPr sz="20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sz="2000" dirty="0">
                          <a:latin typeface="Inter"/>
                          <a:ea typeface="Inter"/>
                          <a:cs typeface="Inter"/>
                          <a:sym typeface="Inter"/>
                        </a:rPr>
                        <a:t>CORRESPONDING BASELINE MODEL</a:t>
                      </a:r>
                      <a:endParaRPr sz="20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extLst>
                  <a:ext uri="{0D108BD9-81ED-4DB2-BD59-A6C34878D82A}">
                    <a16:rowId xmlns:a16="http://schemas.microsoft.com/office/drawing/2014/main" val="10000"/>
                  </a:ext>
                </a:extLst>
              </a:tr>
              <a:tr h="356768">
                <a:tc>
                  <a:txBody>
                    <a:bodyPr/>
                    <a:lstStyle/>
                    <a:p>
                      <a:pPr algn="ctr" rtl="0" fontAlgn="b"/>
                      <a:r>
                        <a:rPr lang="en-IN" sz="2400" dirty="0">
                          <a:effectLst/>
                          <a:latin typeface="Inter" panose="020B0604020202020204" charset="0"/>
                          <a:ea typeface="Inter" panose="020B0604020202020204" charset="0"/>
                        </a:rPr>
                        <a:t>MAE</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399.0173 </a:t>
                      </a:r>
                      <a:endParaRPr lang="en-IN" sz="2400" dirty="0">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397.4080</a:t>
                      </a:r>
                      <a:endParaRPr lang="en-IN" sz="2400" dirty="0">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effectLst/>
                          <a:latin typeface="Inter" panose="020B0604020202020204" charset="0"/>
                          <a:ea typeface="Inter" panose="020B0604020202020204" charset="0"/>
                        </a:rPr>
                        <a:t>GRU</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1"/>
                  </a:ext>
                </a:extLst>
              </a:tr>
              <a:tr h="356768">
                <a:tc>
                  <a:txBody>
                    <a:bodyPr/>
                    <a:lstStyle/>
                    <a:p>
                      <a:pPr algn="ctr" rtl="0" fontAlgn="b"/>
                      <a:r>
                        <a:rPr lang="en-IN" sz="2400" dirty="0">
                          <a:effectLst/>
                          <a:latin typeface="Inter" panose="020B0604020202020204" charset="0"/>
                          <a:ea typeface="Inter" panose="020B0604020202020204" charset="0"/>
                        </a:rPr>
                        <a:t>MSE</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301999.742</a:t>
                      </a:r>
                      <a:endParaRPr lang="en-IN" sz="2400" b="0" dirty="0">
                        <a:solidFill>
                          <a:srgbClr val="1F1F1F"/>
                        </a:solidFill>
                        <a:effectLst/>
                        <a:latin typeface="Inter" panose="020B0604020202020204" charset="0"/>
                        <a:ea typeface="Inter" panose="020B0604020202020204" charset="0"/>
                      </a:endParaRP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301999.742</a:t>
                      </a:r>
                      <a:endParaRPr lang="en-IN" sz="2400" b="0" dirty="0">
                        <a:solidFill>
                          <a:srgbClr val="1F1F1F"/>
                        </a:solidFill>
                        <a:effectLst/>
                        <a:latin typeface="Inter" panose="020B0604020202020204" charset="0"/>
                        <a:ea typeface="Inter" panose="020B0604020202020204" charset="0"/>
                      </a:endParaRP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b="0" dirty="0">
                          <a:solidFill>
                            <a:srgbClr val="1F1F1F"/>
                          </a:solidFill>
                          <a:effectLst/>
                          <a:latin typeface="Inter" panose="020B0604020202020204" charset="0"/>
                          <a:ea typeface="Inter" panose="020B0604020202020204" charset="0"/>
                        </a:rPr>
                        <a:t>GRU</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3549295759"/>
                  </a:ext>
                </a:extLst>
              </a:tr>
              <a:tr h="356768">
                <a:tc>
                  <a:txBody>
                    <a:bodyPr/>
                    <a:lstStyle/>
                    <a:p>
                      <a:pPr algn="ctr" rtl="0" fontAlgn="b"/>
                      <a:r>
                        <a:rPr lang="en-IN" sz="2400" dirty="0">
                          <a:effectLst/>
                          <a:latin typeface="Inter" panose="020B0604020202020204" charset="0"/>
                          <a:ea typeface="Inter" panose="020B0604020202020204" charset="0"/>
                        </a:rPr>
                        <a:t>RMSE</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549.545 </a:t>
                      </a:r>
                      <a:endParaRPr lang="en-IN" sz="2400" dirty="0">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553.7559</a:t>
                      </a:r>
                      <a:endParaRPr lang="en-IN" sz="2400" dirty="0">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effectLst/>
                          <a:latin typeface="Inter" panose="020B0604020202020204" charset="0"/>
                          <a:ea typeface="Inter" panose="020B0604020202020204" charset="0"/>
                        </a:rPr>
                        <a:t>GRU</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2"/>
                  </a:ext>
                </a:extLst>
              </a:tr>
              <a:tr h="356768">
                <a:tc>
                  <a:txBody>
                    <a:bodyPr/>
                    <a:lstStyle/>
                    <a:p>
                      <a:pPr algn="ctr" rtl="0" fontAlgn="b"/>
                      <a:r>
                        <a:rPr lang="en-IN" sz="2400" dirty="0">
                          <a:effectLst/>
                          <a:latin typeface="Inter" panose="020B0604020202020204" charset="0"/>
                          <a:ea typeface="Inter" panose="020B0604020202020204" charset="0"/>
                        </a:rPr>
                        <a:t>MAPE</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0.469</a:t>
                      </a:r>
                      <a:endParaRPr lang="en-IN" sz="2400" b="0" dirty="0">
                        <a:solidFill>
                          <a:srgbClr val="1F1F1F"/>
                        </a:solidFill>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dirty="0">
                          <a:latin typeface="Inter" panose="020B0604020202020204" charset="0"/>
                          <a:ea typeface="Inter" panose="020B0604020202020204" charset="0"/>
                        </a:rPr>
                        <a:t>0.05</a:t>
                      </a:r>
                      <a:endParaRPr lang="en-IN" sz="2400" b="0" dirty="0">
                        <a:solidFill>
                          <a:srgbClr val="1F1F1F"/>
                        </a:solidFill>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2400" b="0" dirty="0">
                          <a:solidFill>
                            <a:srgbClr val="1F1F1F"/>
                          </a:solidFill>
                          <a:effectLst/>
                          <a:latin typeface="Inter" panose="020B0604020202020204" charset="0"/>
                          <a:ea typeface="Inter" panose="020B0604020202020204" charset="0"/>
                        </a:rPr>
                        <a:t>CNN 3D</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3"/>
                  </a:ext>
                </a:extLst>
              </a:tr>
            </a:tbl>
          </a:graphicData>
        </a:graphic>
      </p:graphicFrame>
      <p:pic>
        <p:nvPicPr>
          <p:cNvPr id="4" name="Google Shape;11;p6">
            <a:extLst>
              <a:ext uri="{FF2B5EF4-FFF2-40B4-BE49-F238E27FC236}">
                <a16:creationId xmlns:a16="http://schemas.microsoft.com/office/drawing/2014/main" id="{EE62899C-2700-35F9-BF1C-232344111CBF}"/>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16EE34C5-D377-B412-B6B1-CC963E3E3FD5}"/>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graphicFrame>
        <p:nvGraphicFramePr>
          <p:cNvPr id="7" name="Diagram 6">
            <a:extLst>
              <a:ext uri="{FF2B5EF4-FFF2-40B4-BE49-F238E27FC236}">
                <a16:creationId xmlns:a16="http://schemas.microsoft.com/office/drawing/2014/main" id="{13497D4C-296E-AE40-6782-4D148C56F2F6}"/>
              </a:ext>
            </a:extLst>
          </p:cNvPr>
          <p:cNvGraphicFramePr/>
          <p:nvPr>
            <p:extLst>
              <p:ext uri="{D42A27DB-BD31-4B8C-83A1-F6EECF244321}">
                <p14:modId xmlns:p14="http://schemas.microsoft.com/office/powerpoint/2010/main" val="1061690805"/>
              </p:ext>
            </p:extLst>
          </p:nvPr>
        </p:nvGraphicFramePr>
        <p:xfrm>
          <a:off x="576943" y="3872430"/>
          <a:ext cx="10882045" cy="22849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01118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p6">
            <a:extLst>
              <a:ext uri="{FF2B5EF4-FFF2-40B4-BE49-F238E27FC236}">
                <a16:creationId xmlns:a16="http://schemas.microsoft.com/office/drawing/2014/main" id="{2E9E3D3D-1CEC-0004-C781-9DC18D1D4C73}"/>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F43555C7-32BC-D3E4-384E-F804C653B854}"/>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pic>
        <p:nvPicPr>
          <p:cNvPr id="4098" name="Picture 2">
            <a:extLst>
              <a:ext uri="{FF2B5EF4-FFF2-40B4-BE49-F238E27FC236}">
                <a16:creationId xmlns:a16="http://schemas.microsoft.com/office/drawing/2014/main" id="{F0A2B43A-932F-C38A-604A-5BD142553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7212" y="530106"/>
            <a:ext cx="8317575" cy="411677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A6EDE05-0737-3D94-0877-C7368DA7AC75}"/>
              </a:ext>
            </a:extLst>
          </p:cNvPr>
          <p:cNvSpPr>
            <a:spLocks noChangeArrowheads="1"/>
          </p:cNvSpPr>
          <p:nvPr/>
        </p:nvSpPr>
        <p:spPr bwMode="auto">
          <a:xfrm>
            <a:off x="620009" y="5073162"/>
            <a:ext cx="112193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Inter" panose="020B0604020202020204" charset="0"/>
                <a:ea typeface="Inter" panose="020B0604020202020204" charset="0"/>
              </a:rPr>
              <a:t>The graph shows a strong correlation between actual and predicted closing prices, indicating that the model performs well in capturing trends. However, minor deviations suggest some prediction errors, which could be improved with further tuning.</a:t>
            </a:r>
          </a:p>
        </p:txBody>
      </p:sp>
      <p:sp>
        <p:nvSpPr>
          <p:cNvPr id="5" name="TextBox 4">
            <a:extLst>
              <a:ext uri="{FF2B5EF4-FFF2-40B4-BE49-F238E27FC236}">
                <a16:creationId xmlns:a16="http://schemas.microsoft.com/office/drawing/2014/main" id="{8FA40646-4D66-0871-8CC6-74C6721EA5A9}"/>
              </a:ext>
            </a:extLst>
          </p:cNvPr>
          <p:cNvSpPr txBox="1"/>
          <p:nvPr/>
        </p:nvSpPr>
        <p:spPr>
          <a:xfrm>
            <a:off x="1937212" y="4623409"/>
            <a:ext cx="8584975" cy="307777"/>
          </a:xfrm>
          <a:prstGeom prst="rect">
            <a:avLst/>
          </a:prstGeom>
          <a:noFill/>
        </p:spPr>
        <p:txBody>
          <a:bodyPr wrap="square" rtlCol="0">
            <a:spAutoFit/>
          </a:bodyPr>
          <a:lstStyle/>
          <a:p>
            <a:pPr algn="ctr"/>
            <a:r>
              <a:rPr lang="en-IN" b="1" dirty="0">
                <a:latin typeface="Inter" panose="020B0604020202020204" charset="0"/>
                <a:ea typeface="Inter" panose="020B0604020202020204" charset="0"/>
                <a:cs typeface="Times New Roman" panose="02020603050405020304" pitchFamily="18" charset="0"/>
              </a:rPr>
              <a:t>Fig 5: </a:t>
            </a:r>
            <a:r>
              <a:rPr lang="en-US" b="1" dirty="0">
                <a:latin typeface="Inter" panose="020B0604020202020204" charset="0"/>
                <a:ea typeface="Inter" panose="020B0604020202020204" charset="0"/>
                <a:cs typeface="Times New Roman" panose="02020603050405020304" pitchFamily="18" charset="0"/>
              </a:rPr>
              <a:t>Actual vs predicted Stock price values</a:t>
            </a:r>
            <a:r>
              <a:rPr lang="en-US" b="1" i="0" u="none" strike="noStrike" dirty="0">
                <a:solidFill>
                  <a:srgbClr val="000000"/>
                </a:solidFill>
                <a:effectLst/>
                <a:latin typeface="Inter" panose="020B0604020202020204" charset="0"/>
                <a:ea typeface="Inter" panose="020B0604020202020204" charset="0"/>
              </a:rPr>
              <a:t> for the hybrid model: </a:t>
            </a:r>
            <a:r>
              <a:rPr lang="en-US" b="1" i="0" u="none" strike="noStrike" dirty="0" err="1">
                <a:solidFill>
                  <a:srgbClr val="000000"/>
                </a:solidFill>
                <a:effectLst/>
                <a:latin typeface="Inter" panose="020B0604020202020204" charset="0"/>
                <a:ea typeface="Inter" panose="020B0604020202020204" charset="0"/>
              </a:rPr>
              <a:t>Bi-LSTM+Dense</a:t>
            </a:r>
            <a:r>
              <a:rPr lang="en-US" b="1" i="0" u="none" strike="noStrike" dirty="0">
                <a:solidFill>
                  <a:srgbClr val="000000"/>
                </a:solidFill>
                <a:effectLst/>
                <a:latin typeface="Inter" panose="020B0604020202020204" charset="0"/>
                <a:ea typeface="Inter" panose="020B0604020202020204" charset="0"/>
              </a:rPr>
              <a:t> Network</a:t>
            </a:r>
            <a:endParaRPr lang="en-IN" b="1" dirty="0">
              <a:latin typeface="Inter" panose="020B0604020202020204" charset="0"/>
              <a:ea typeface="Inter" panose="020B0604020202020204" charset="0"/>
              <a:cs typeface="Times New Roman" panose="02020603050405020304" pitchFamily="18" charset="0"/>
            </a:endParaRPr>
          </a:p>
        </p:txBody>
      </p:sp>
    </p:spTree>
    <p:extLst>
      <p:ext uri="{BB962C8B-B14F-4D97-AF65-F5344CB8AC3E}">
        <p14:creationId xmlns:p14="http://schemas.microsoft.com/office/powerpoint/2010/main" val="3888720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AE8E-00AC-52B8-4D3B-6BBB03909F4F}"/>
            </a:ext>
          </a:extLst>
        </p:cNvPr>
        <p:cNvGrpSpPr/>
        <p:nvPr/>
      </p:nvGrpSpPr>
      <p:grpSpPr>
        <a:xfrm>
          <a:off x="0" y="0"/>
          <a:ext cx="0" cy="0"/>
          <a:chOff x="0" y="0"/>
          <a:chExt cx="0" cy="0"/>
        </a:xfrm>
      </p:grpSpPr>
      <p:sp>
        <p:nvSpPr>
          <p:cNvPr id="2" name="Google Shape;10;p6">
            <a:extLst>
              <a:ext uri="{FF2B5EF4-FFF2-40B4-BE49-F238E27FC236}">
                <a16:creationId xmlns:a16="http://schemas.microsoft.com/office/drawing/2014/main" id="{6C2873C2-4871-0128-BC31-EE5B7C05780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BBB63DE2-B90F-589D-F65A-7957533B9A8B}"/>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pic>
        <p:nvPicPr>
          <p:cNvPr id="5122" name="Picture 2">
            <a:extLst>
              <a:ext uri="{FF2B5EF4-FFF2-40B4-BE49-F238E27FC236}">
                <a16:creationId xmlns:a16="http://schemas.microsoft.com/office/drawing/2014/main" id="{1197785D-7B99-C00E-7323-DB4726057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2935" y="448352"/>
            <a:ext cx="6646128" cy="41406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95BFE732-EF08-AB47-B1A5-AD359351BBA8}"/>
              </a:ext>
            </a:extLst>
          </p:cNvPr>
          <p:cNvSpPr>
            <a:spLocks noChangeArrowheads="1"/>
          </p:cNvSpPr>
          <p:nvPr/>
        </p:nvSpPr>
        <p:spPr bwMode="auto">
          <a:xfrm>
            <a:off x="714108" y="5109740"/>
            <a:ext cx="1076378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Inter" panose="020B0604020202020204" charset="0"/>
                <a:ea typeface="Inter" panose="020B0604020202020204" charset="0"/>
              </a:rPr>
              <a:t>The error distribution curve follows a normal distribution, indicating that the model's prediction errors are mostly centered around zero. However, the presence of outliers suggests some variance, which may require further optimization.</a:t>
            </a:r>
          </a:p>
        </p:txBody>
      </p:sp>
      <p:sp>
        <p:nvSpPr>
          <p:cNvPr id="4" name="TextBox 3">
            <a:extLst>
              <a:ext uri="{FF2B5EF4-FFF2-40B4-BE49-F238E27FC236}">
                <a16:creationId xmlns:a16="http://schemas.microsoft.com/office/drawing/2014/main" id="{CD1DF432-53AB-6566-1658-31B6E8431B80}"/>
              </a:ext>
            </a:extLst>
          </p:cNvPr>
          <p:cNvSpPr txBox="1"/>
          <p:nvPr/>
        </p:nvSpPr>
        <p:spPr>
          <a:xfrm>
            <a:off x="2163244" y="4653248"/>
            <a:ext cx="8584975" cy="276999"/>
          </a:xfrm>
          <a:prstGeom prst="rect">
            <a:avLst/>
          </a:prstGeom>
          <a:noFill/>
        </p:spPr>
        <p:txBody>
          <a:bodyPr wrap="square" rtlCol="0">
            <a:spAutoFit/>
          </a:bodyPr>
          <a:lstStyle/>
          <a:p>
            <a:pPr algn="ctr"/>
            <a:r>
              <a:rPr lang="en-IN" sz="1200" b="1" dirty="0">
                <a:latin typeface="Inter" panose="020B0604020202020204" charset="0"/>
                <a:ea typeface="Inter" panose="020B0604020202020204" charset="0"/>
                <a:cs typeface="Times New Roman" panose="02020603050405020304" pitchFamily="18" charset="0"/>
              </a:rPr>
              <a:t>Fig 6: </a:t>
            </a:r>
            <a:r>
              <a:rPr lang="en-US" sz="1200" b="1" i="0" u="none" strike="noStrike" dirty="0">
                <a:solidFill>
                  <a:srgbClr val="000000"/>
                </a:solidFill>
                <a:effectLst/>
                <a:latin typeface="Inter" panose="020B0604020202020204" charset="0"/>
                <a:ea typeface="Inter" panose="020B0604020202020204" charset="0"/>
              </a:rPr>
              <a:t>Error distribution of model’s predictions</a:t>
            </a:r>
            <a:endParaRPr lang="en-IN" sz="1200" b="1" dirty="0">
              <a:latin typeface="Inter" panose="020B0604020202020204" charset="0"/>
              <a:ea typeface="Inter" panose="020B0604020202020204" charset="0"/>
              <a:cs typeface="Times New Roman" panose="02020603050405020304" pitchFamily="18" charset="0"/>
            </a:endParaRPr>
          </a:p>
        </p:txBody>
      </p:sp>
    </p:spTree>
    <p:extLst>
      <p:ext uri="{BB962C8B-B14F-4D97-AF65-F5344CB8AC3E}">
        <p14:creationId xmlns:p14="http://schemas.microsoft.com/office/powerpoint/2010/main" val="342157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619C-A87E-A414-5345-5EF2C8F5CE60}"/>
            </a:ext>
          </a:extLst>
        </p:cNvPr>
        <p:cNvGrpSpPr/>
        <p:nvPr/>
      </p:nvGrpSpPr>
      <p:grpSpPr>
        <a:xfrm>
          <a:off x="0" y="0"/>
          <a:ext cx="0" cy="0"/>
          <a:chOff x="0" y="0"/>
          <a:chExt cx="0" cy="0"/>
        </a:xfrm>
      </p:grpSpPr>
      <p:sp>
        <p:nvSpPr>
          <p:cNvPr id="2" name="Google Shape;10;p6">
            <a:extLst>
              <a:ext uri="{FF2B5EF4-FFF2-40B4-BE49-F238E27FC236}">
                <a16:creationId xmlns:a16="http://schemas.microsoft.com/office/drawing/2014/main" id="{1F135BA8-9E34-C052-7BF6-4E26F359EC9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CE7FA645-903E-F803-C510-66AA832CA4F6}"/>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
        <p:nvSpPr>
          <p:cNvPr id="4" name="Rectangle 3">
            <a:extLst>
              <a:ext uri="{FF2B5EF4-FFF2-40B4-BE49-F238E27FC236}">
                <a16:creationId xmlns:a16="http://schemas.microsoft.com/office/drawing/2014/main" id="{A927704C-8382-4D6E-5DDB-9A9E357313D8}"/>
              </a:ext>
            </a:extLst>
          </p:cNvPr>
          <p:cNvSpPr>
            <a:spLocks noChangeArrowheads="1"/>
          </p:cNvSpPr>
          <p:nvPr/>
        </p:nvSpPr>
        <p:spPr bwMode="auto">
          <a:xfrm>
            <a:off x="770561" y="4692268"/>
            <a:ext cx="1080841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sz="2000" dirty="0">
                <a:latin typeface="Inter" panose="020B0604020202020204" charset="0"/>
                <a:ea typeface="Inter" panose="020B0604020202020204" charset="0"/>
              </a:rPr>
              <a:t>The SHAP value plot shows that the features "Open," "High," and "Low" do not contribute equally to the model's predictions. "Open" has the highest impact, followed by "High" and then "Low," as indicated by the spread and magnitude of their SHAP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Inter" panose="020B0604020202020204" charset="0"/>
              <a:ea typeface="Inter" panose="020B0604020202020204" charset="0"/>
            </a:endParaRPr>
          </a:p>
        </p:txBody>
      </p:sp>
      <p:pic>
        <p:nvPicPr>
          <p:cNvPr id="6146" name="Picture 2">
            <a:extLst>
              <a:ext uri="{FF2B5EF4-FFF2-40B4-BE49-F238E27FC236}">
                <a16:creationId xmlns:a16="http://schemas.microsoft.com/office/drawing/2014/main" id="{CF980495-7585-91F0-5E53-4CD476E129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20" y="642063"/>
            <a:ext cx="9800256" cy="315634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75462C-F2C7-3197-04E2-C8298E8CBE2A}"/>
              </a:ext>
            </a:extLst>
          </p:cNvPr>
          <p:cNvSpPr txBox="1"/>
          <p:nvPr/>
        </p:nvSpPr>
        <p:spPr>
          <a:xfrm>
            <a:off x="1711181" y="3893472"/>
            <a:ext cx="8584975" cy="276999"/>
          </a:xfrm>
          <a:prstGeom prst="rect">
            <a:avLst/>
          </a:prstGeom>
          <a:noFill/>
        </p:spPr>
        <p:txBody>
          <a:bodyPr wrap="square" rtlCol="0">
            <a:spAutoFit/>
          </a:bodyPr>
          <a:lstStyle/>
          <a:p>
            <a:pPr algn="ctr"/>
            <a:r>
              <a:rPr lang="en-IN" sz="1200" b="1" dirty="0">
                <a:latin typeface="Inter" panose="020B0604020202020204" charset="0"/>
                <a:ea typeface="Inter" panose="020B0604020202020204" charset="0"/>
                <a:cs typeface="Times New Roman" panose="02020603050405020304" pitchFamily="18" charset="0"/>
              </a:rPr>
              <a:t>Fig 7: </a:t>
            </a:r>
            <a:r>
              <a:rPr lang="en-US" sz="1200" b="1" dirty="0">
                <a:latin typeface="Inter" panose="020B0604020202020204" charset="0"/>
                <a:ea typeface="Inter" panose="020B0604020202020204" charset="0"/>
                <a:cs typeface="Times New Roman" panose="02020603050405020304" pitchFamily="18" charset="0"/>
              </a:rPr>
              <a:t>SHAP Summary Plot for determining feature importance</a:t>
            </a:r>
            <a:endParaRPr lang="en-IN" sz="1200" b="1" dirty="0">
              <a:latin typeface="Inter" panose="020B0604020202020204" charset="0"/>
              <a:ea typeface="Inter" panose="020B0604020202020204" charset="0"/>
              <a:cs typeface="Times New Roman" panose="02020603050405020304" pitchFamily="18" charset="0"/>
            </a:endParaRPr>
          </a:p>
        </p:txBody>
      </p:sp>
    </p:spTree>
    <p:extLst>
      <p:ext uri="{BB962C8B-B14F-4D97-AF65-F5344CB8AC3E}">
        <p14:creationId xmlns:p14="http://schemas.microsoft.com/office/powerpoint/2010/main" val="741474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DB6C0-DFAF-C582-FBA3-50B8F291B47E}"/>
            </a:ext>
          </a:extLst>
        </p:cNvPr>
        <p:cNvGrpSpPr/>
        <p:nvPr/>
      </p:nvGrpSpPr>
      <p:grpSpPr>
        <a:xfrm>
          <a:off x="0" y="0"/>
          <a:ext cx="0" cy="0"/>
          <a:chOff x="0" y="0"/>
          <a:chExt cx="0" cy="0"/>
        </a:xfrm>
      </p:grpSpPr>
      <p:sp>
        <p:nvSpPr>
          <p:cNvPr id="2" name="Google Shape;10;p6">
            <a:extLst>
              <a:ext uri="{FF2B5EF4-FFF2-40B4-BE49-F238E27FC236}">
                <a16:creationId xmlns:a16="http://schemas.microsoft.com/office/drawing/2014/main" id="{39B922D2-B857-FE13-12F4-8ECF5005B69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204E23FE-15E0-4660-8BD7-3CC140C34840}"/>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
        <p:nvSpPr>
          <p:cNvPr id="4" name="Rectangle 3">
            <a:extLst>
              <a:ext uri="{FF2B5EF4-FFF2-40B4-BE49-F238E27FC236}">
                <a16:creationId xmlns:a16="http://schemas.microsoft.com/office/drawing/2014/main" id="{16C8A0F4-0E11-AED2-EC19-0A7FCB804913}"/>
              </a:ext>
            </a:extLst>
          </p:cNvPr>
          <p:cNvSpPr>
            <a:spLocks noChangeArrowheads="1"/>
          </p:cNvSpPr>
          <p:nvPr/>
        </p:nvSpPr>
        <p:spPr bwMode="auto">
          <a:xfrm>
            <a:off x="780835" y="5070660"/>
            <a:ext cx="1109609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latin typeface="Inter" panose="020B0604020202020204" charset="0"/>
                <a:ea typeface="Inter" panose="020B0604020202020204" charset="0"/>
              </a:rPr>
              <a:t>The SHAP value for the "Open" feature shows a strong linear relationship with its actual value, indicating a direct and significant contribution to the model's predictions. The color gradient suggests that "Low" values also influence the SHAP values, but "Open" remains the primary driver.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Inter" panose="020B0604020202020204" charset="0"/>
              <a:ea typeface="Inter" panose="020B0604020202020204" charset="0"/>
            </a:endParaRPr>
          </a:p>
        </p:txBody>
      </p:sp>
      <p:sp>
        <p:nvSpPr>
          <p:cNvPr id="5" name="TextBox 4">
            <a:extLst>
              <a:ext uri="{FF2B5EF4-FFF2-40B4-BE49-F238E27FC236}">
                <a16:creationId xmlns:a16="http://schemas.microsoft.com/office/drawing/2014/main" id="{F6DD50F5-E19E-8C25-A8B6-C8CA98A7D5CD}"/>
              </a:ext>
            </a:extLst>
          </p:cNvPr>
          <p:cNvSpPr txBox="1"/>
          <p:nvPr/>
        </p:nvSpPr>
        <p:spPr>
          <a:xfrm>
            <a:off x="1957624" y="4527521"/>
            <a:ext cx="8584975" cy="276999"/>
          </a:xfrm>
          <a:prstGeom prst="rect">
            <a:avLst/>
          </a:prstGeom>
          <a:noFill/>
        </p:spPr>
        <p:txBody>
          <a:bodyPr wrap="square" rtlCol="0">
            <a:spAutoFit/>
          </a:bodyPr>
          <a:lstStyle/>
          <a:p>
            <a:pPr algn="ctr"/>
            <a:r>
              <a:rPr lang="en-IN" sz="1200" b="1" dirty="0">
                <a:latin typeface="Inter" panose="020B0604020202020204" charset="0"/>
                <a:ea typeface="Inter" panose="020B0604020202020204" charset="0"/>
                <a:cs typeface="Times New Roman" panose="02020603050405020304" pitchFamily="18" charset="0"/>
              </a:rPr>
              <a:t>Fig 8: </a:t>
            </a:r>
            <a:r>
              <a:rPr lang="en-US" sz="1200" b="1" dirty="0">
                <a:latin typeface="Inter" panose="020B0604020202020204" charset="0"/>
                <a:ea typeface="Inter" panose="020B0604020202020204" charset="0"/>
                <a:cs typeface="Times New Roman" panose="02020603050405020304" pitchFamily="18" charset="0"/>
              </a:rPr>
              <a:t>SHAP Dependence Plot for determining feature importance</a:t>
            </a:r>
            <a:endParaRPr lang="en-IN" sz="1200" b="1" dirty="0">
              <a:latin typeface="Inter" panose="020B0604020202020204" charset="0"/>
              <a:ea typeface="Inter" panose="020B0604020202020204" charset="0"/>
              <a:cs typeface="Times New Roman" panose="02020603050405020304" pitchFamily="18" charset="0"/>
            </a:endParaRPr>
          </a:p>
        </p:txBody>
      </p:sp>
      <p:pic>
        <p:nvPicPr>
          <p:cNvPr id="2050" name="Picture 2">
            <a:extLst>
              <a:ext uri="{FF2B5EF4-FFF2-40B4-BE49-F238E27FC236}">
                <a16:creationId xmlns:a16="http://schemas.microsoft.com/office/drawing/2014/main" id="{BF90991C-95FC-3E4C-3097-28001C28C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78" y="375570"/>
            <a:ext cx="6457843" cy="408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389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59956-6174-4D3E-F701-4DF6238FD6F8}"/>
            </a:ext>
          </a:extLst>
        </p:cNvPr>
        <p:cNvGrpSpPr/>
        <p:nvPr/>
      </p:nvGrpSpPr>
      <p:grpSpPr>
        <a:xfrm>
          <a:off x="0" y="0"/>
          <a:ext cx="0" cy="0"/>
          <a:chOff x="0" y="0"/>
          <a:chExt cx="0" cy="0"/>
        </a:xfrm>
      </p:grpSpPr>
      <p:sp>
        <p:nvSpPr>
          <p:cNvPr id="2" name="Google Shape;10;p6">
            <a:extLst>
              <a:ext uri="{FF2B5EF4-FFF2-40B4-BE49-F238E27FC236}">
                <a16:creationId xmlns:a16="http://schemas.microsoft.com/office/drawing/2014/main" id="{3753DB80-1CDF-6085-83B0-BB1E51877E3E}"/>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520D8412-7720-A122-74A8-B260FD4750F7}"/>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
        <p:nvSpPr>
          <p:cNvPr id="4" name="Rectangle 3">
            <a:extLst>
              <a:ext uri="{FF2B5EF4-FFF2-40B4-BE49-F238E27FC236}">
                <a16:creationId xmlns:a16="http://schemas.microsoft.com/office/drawing/2014/main" id="{5F6919B1-2D7E-64AD-0FDC-D6A4A99B6A2A}"/>
              </a:ext>
            </a:extLst>
          </p:cNvPr>
          <p:cNvSpPr>
            <a:spLocks noChangeArrowheads="1"/>
          </p:cNvSpPr>
          <p:nvPr/>
        </p:nvSpPr>
        <p:spPr bwMode="auto">
          <a:xfrm>
            <a:off x="852755" y="4591798"/>
            <a:ext cx="1096252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latin typeface="Inter" panose="020B0604020202020204" charset="0"/>
                <a:ea typeface="Inter" panose="020B0604020202020204" charset="0"/>
              </a:rPr>
              <a:t>Positive contributions indicate that the feature increases the model's predicted value, while negative contributions decrease it. In this graph, "Open" has the highest positive impact on the prediction, followed by "High" and "Low," suggesting that these features significantly drive the model's output in a positive direction. The absence of negative contributions implies that no feature strongly pushes the prediction downward.</a:t>
            </a:r>
          </a:p>
        </p:txBody>
      </p:sp>
      <p:pic>
        <p:nvPicPr>
          <p:cNvPr id="7172" name="Picture 4">
            <a:extLst>
              <a:ext uri="{FF2B5EF4-FFF2-40B4-BE49-F238E27FC236}">
                <a16:creationId xmlns:a16="http://schemas.microsoft.com/office/drawing/2014/main" id="{59B5C10E-1F08-312A-BDF4-C78230566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6376" y="799972"/>
            <a:ext cx="7939248" cy="30576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B978D9B-EE93-7A23-17A6-E0ED49F5F2F2}"/>
              </a:ext>
            </a:extLst>
          </p:cNvPr>
          <p:cNvSpPr txBox="1"/>
          <p:nvPr/>
        </p:nvSpPr>
        <p:spPr>
          <a:xfrm>
            <a:off x="1803512" y="3857655"/>
            <a:ext cx="8584975" cy="276999"/>
          </a:xfrm>
          <a:prstGeom prst="rect">
            <a:avLst/>
          </a:prstGeom>
          <a:noFill/>
        </p:spPr>
        <p:txBody>
          <a:bodyPr wrap="square" rtlCol="0">
            <a:spAutoFit/>
          </a:bodyPr>
          <a:lstStyle/>
          <a:p>
            <a:pPr algn="ctr"/>
            <a:r>
              <a:rPr lang="en-IN" sz="1200" b="1" dirty="0">
                <a:latin typeface="Inter" panose="020B0604020202020204" charset="0"/>
                <a:ea typeface="Inter" panose="020B0604020202020204" charset="0"/>
                <a:cs typeface="Times New Roman" panose="02020603050405020304" pitchFamily="18" charset="0"/>
              </a:rPr>
              <a:t>Fig 9: </a:t>
            </a:r>
            <a:r>
              <a:rPr lang="en-US" sz="1200" b="1" dirty="0">
                <a:latin typeface="Inter" panose="020B0604020202020204" charset="0"/>
                <a:ea typeface="Inter" panose="020B0604020202020204" charset="0"/>
                <a:cs typeface="Times New Roman" panose="02020603050405020304" pitchFamily="18" charset="0"/>
              </a:rPr>
              <a:t>LIME Explanation Chart to determine positive and negative feature contribution</a:t>
            </a:r>
            <a:endParaRPr lang="en-IN" sz="1200" b="1" dirty="0">
              <a:latin typeface="Inter" panose="020B0604020202020204" charset="0"/>
              <a:ea typeface="Inter" panose="020B0604020202020204" charset="0"/>
              <a:cs typeface="Times New Roman" panose="02020603050405020304" pitchFamily="18" charset="0"/>
            </a:endParaRPr>
          </a:p>
        </p:txBody>
      </p:sp>
    </p:spTree>
    <p:extLst>
      <p:ext uri="{BB962C8B-B14F-4D97-AF65-F5344CB8AC3E}">
        <p14:creationId xmlns:p14="http://schemas.microsoft.com/office/powerpoint/2010/main" val="1810499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DB721278-8274-E4AB-A265-B7367EF98C8B}"/>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9CBC322F-F86B-74ED-BEF5-BC8077884D69}"/>
              </a:ext>
            </a:extLst>
          </p:cNvPr>
          <p:cNvSpPr txBox="1"/>
          <p:nvPr/>
        </p:nvSpPr>
        <p:spPr>
          <a:xfrm>
            <a:off x="459224" y="430192"/>
            <a:ext cx="47898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CONCLUSION</a:t>
            </a:r>
            <a:endParaRPr dirty="0">
              <a:latin typeface="Inter"/>
              <a:ea typeface="Inter"/>
              <a:cs typeface="Inter"/>
              <a:sym typeface="Inter"/>
            </a:endParaRPr>
          </a:p>
        </p:txBody>
      </p:sp>
      <p:pic>
        <p:nvPicPr>
          <p:cNvPr id="4" name="Google Shape;11;p6">
            <a:extLst>
              <a:ext uri="{FF2B5EF4-FFF2-40B4-BE49-F238E27FC236}">
                <a16:creationId xmlns:a16="http://schemas.microsoft.com/office/drawing/2014/main" id="{7B5B0A74-4732-5C5A-A612-3B6DB325E152}"/>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581A6107-4A19-1D6B-4CEB-0E4735DE3D44}"/>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3" name="Rectangle 2">
            <a:extLst>
              <a:ext uri="{FF2B5EF4-FFF2-40B4-BE49-F238E27FC236}">
                <a16:creationId xmlns:a16="http://schemas.microsoft.com/office/drawing/2014/main" id="{9516E455-5F18-0772-4722-ABA7297CDDCA}"/>
              </a:ext>
            </a:extLst>
          </p:cNvPr>
          <p:cNvSpPr>
            <a:spLocks noChangeArrowheads="1"/>
          </p:cNvSpPr>
          <p:nvPr/>
        </p:nvSpPr>
        <p:spPr bwMode="auto">
          <a:xfrm>
            <a:off x="-1" y="1228397"/>
            <a:ext cx="1183582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indent="-342900" algn="just" rtl="0" fontAlgn="base">
              <a:spcBef>
                <a:spcPts val="1200"/>
              </a:spcBef>
              <a:buFont typeface="Arial" panose="020B0604020202020204" pitchFamily="34" charset="0"/>
              <a:buChar char="•"/>
            </a:pPr>
            <a:r>
              <a:rPr lang="en-US" sz="2000" b="0" i="0" u="none" strike="noStrike" dirty="0">
                <a:solidFill>
                  <a:srgbClr val="000000"/>
                </a:solidFill>
                <a:effectLst/>
                <a:latin typeface="Inter" panose="020B0604020202020204" charset="0"/>
                <a:ea typeface="Inter" panose="020B0604020202020204" charset="0"/>
              </a:rPr>
              <a:t>The proposed model demonstrates strong predictive accuracy, as evident from its close alignment with actual stock prices and well-behaved loss curves.</a:t>
            </a:r>
          </a:p>
          <a:p>
            <a:pPr marL="800100" indent="-342900" algn="just" rtl="0" fontAlgn="base">
              <a:spcBef>
                <a:spcPts val="1200"/>
              </a:spcBef>
              <a:buFont typeface="Arial" panose="020B0604020202020204" pitchFamily="34" charset="0"/>
              <a:buChar char="•"/>
            </a:pPr>
            <a:r>
              <a:rPr lang="en-US" sz="2000" b="0" i="0" u="none" strike="noStrike" dirty="0">
                <a:solidFill>
                  <a:srgbClr val="000000"/>
                </a:solidFill>
                <a:effectLst/>
                <a:latin typeface="Inter" panose="020B0604020202020204" charset="0"/>
                <a:ea typeface="Inter" panose="020B0604020202020204" charset="0"/>
              </a:rPr>
              <a:t>The low training and validation loss indicate that the model effectively minimizes error without overfitting.</a:t>
            </a:r>
          </a:p>
          <a:p>
            <a:pPr marL="800100" indent="-342900" algn="just" rtl="0" fontAlgn="base">
              <a:spcBef>
                <a:spcPts val="1200"/>
              </a:spcBef>
              <a:buFont typeface="Arial" panose="020B0604020202020204" pitchFamily="34" charset="0"/>
              <a:buChar char="•"/>
            </a:pPr>
            <a:r>
              <a:rPr lang="en-US" sz="2000" b="0" i="0" u="none" strike="noStrike" dirty="0">
                <a:solidFill>
                  <a:srgbClr val="000000"/>
                </a:solidFill>
                <a:effectLst/>
                <a:latin typeface="Inter" panose="020B0604020202020204" charset="0"/>
                <a:ea typeface="Inter" panose="020B0604020202020204" charset="0"/>
              </a:rPr>
              <a:t>The prediction error follows a normal distribution, further validating the reliability of the model's forecasts.</a:t>
            </a:r>
          </a:p>
          <a:p>
            <a:pPr marL="800100" indent="-342900" algn="just" rtl="0" fontAlgn="base">
              <a:spcBef>
                <a:spcPts val="1200"/>
              </a:spcBef>
              <a:buFont typeface="Arial" panose="020B0604020202020204" pitchFamily="34" charset="0"/>
              <a:buChar char="•"/>
            </a:pPr>
            <a:r>
              <a:rPr lang="en-US" sz="2000" b="0" i="0" u="none" strike="noStrike" dirty="0">
                <a:solidFill>
                  <a:srgbClr val="000000"/>
                </a:solidFill>
                <a:effectLst/>
                <a:latin typeface="Inter" panose="020B0604020202020204" charset="0"/>
                <a:ea typeface="Inter" panose="020B0604020202020204" charset="0"/>
              </a:rPr>
              <a:t>While minor deviations exist in extreme stock price fluctuations, overall, the model is robust and provides high-quality predictions.</a:t>
            </a:r>
          </a:p>
          <a:p>
            <a:pPr marL="800100" indent="-342900" algn="just" rtl="0" fontAlgn="base">
              <a:spcBef>
                <a:spcPts val="1200"/>
              </a:spcBef>
              <a:buFont typeface="Arial" panose="020B0604020202020204" pitchFamily="34" charset="0"/>
              <a:buChar char="•"/>
            </a:pPr>
            <a:r>
              <a:rPr lang="en-US" sz="2000" b="0" i="0" u="none" strike="noStrike" dirty="0">
                <a:solidFill>
                  <a:srgbClr val="000000"/>
                </a:solidFill>
                <a:effectLst/>
                <a:latin typeface="Inter" panose="020B0604020202020204" charset="0"/>
                <a:ea typeface="Inter" panose="020B0604020202020204" charset="0"/>
              </a:rPr>
              <a:t>The proposed model provides the best trade-off between accuracy and generalization, making it a superior choice for real-world time series forecasting. It achieves the lowest MAE, MSE, and RMSE while maintaining a reasonable MAPE, outperforming state-of-the-art models in the table.</a:t>
            </a:r>
          </a:p>
        </p:txBody>
      </p:sp>
    </p:spTree>
    <p:extLst>
      <p:ext uri="{BB962C8B-B14F-4D97-AF65-F5344CB8AC3E}">
        <p14:creationId xmlns:p14="http://schemas.microsoft.com/office/powerpoint/2010/main" val="32172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4"/>
          <p:cNvSpPr txBox="1"/>
          <p:nvPr/>
        </p:nvSpPr>
        <p:spPr>
          <a:xfrm>
            <a:off x="434411" y="132625"/>
            <a:ext cx="833370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367"/>
                </a:solidFill>
                <a:latin typeface="Inter"/>
                <a:ea typeface="Inter"/>
                <a:cs typeface="Inter"/>
                <a:sym typeface="Inter"/>
              </a:rPr>
              <a:t>CHALLENGES</a:t>
            </a:r>
            <a:endParaRPr sz="2800" dirty="0">
              <a:latin typeface="Inter"/>
              <a:ea typeface="Inter"/>
              <a:cs typeface="Inter"/>
              <a:sym typeface="Inter"/>
            </a:endParaRPr>
          </a:p>
        </p:txBody>
      </p:sp>
      <p:sp>
        <p:nvSpPr>
          <p:cNvPr id="61" name="Google Shape;61;p4"/>
          <p:cNvSpPr/>
          <p:nvPr/>
        </p:nvSpPr>
        <p:spPr>
          <a:xfrm rot="-5400000">
            <a:off x="770476" y="833586"/>
            <a:ext cx="1373059"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62" name="Google Shape;62;p4"/>
          <p:cNvSpPr/>
          <p:nvPr/>
        </p:nvSpPr>
        <p:spPr>
          <a:xfrm>
            <a:off x="2399883" y="1098137"/>
            <a:ext cx="3082832" cy="1362414"/>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63" name="Google Shape;63;p4"/>
          <p:cNvSpPr txBox="1"/>
          <p:nvPr/>
        </p:nvSpPr>
        <p:spPr>
          <a:xfrm>
            <a:off x="800700" y="1283526"/>
            <a:ext cx="1285987" cy="349968"/>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IN" sz="1800" dirty="0">
                <a:solidFill>
                  <a:schemeClr val="bg1"/>
                </a:solidFill>
                <a:latin typeface="Inter" panose="020B0604020202020204" charset="0"/>
                <a:ea typeface="Inter" panose="020B0604020202020204" charset="0"/>
              </a:rPr>
              <a:t>Model Suitability</a:t>
            </a:r>
            <a:endParaRPr sz="1800" dirty="0">
              <a:solidFill>
                <a:schemeClr val="bg1"/>
              </a:solidFill>
              <a:latin typeface="Inter" panose="020B0604020202020204" charset="0"/>
              <a:ea typeface="Inter" panose="020B0604020202020204" charset="0"/>
              <a:cs typeface="Inter"/>
              <a:sym typeface="Inter"/>
            </a:endParaRPr>
          </a:p>
        </p:txBody>
      </p:sp>
      <p:sp>
        <p:nvSpPr>
          <p:cNvPr id="64" name="Google Shape;64;p4"/>
          <p:cNvSpPr txBox="1"/>
          <p:nvPr/>
        </p:nvSpPr>
        <p:spPr>
          <a:xfrm>
            <a:off x="2385465" y="1139169"/>
            <a:ext cx="3120628" cy="617861"/>
          </a:xfrm>
          <a:prstGeom prst="rect">
            <a:avLst/>
          </a:prstGeom>
          <a:noFill/>
          <a:ln>
            <a:noFill/>
          </a:ln>
        </p:spPr>
        <p:txBody>
          <a:bodyPr spcFirstLastPara="1" wrap="square" lIns="91425" tIns="45700" rIns="91425" bIns="45700" anchor="t" anchorCtr="0">
            <a:noAutofit/>
          </a:bodyPr>
          <a:lstStyle/>
          <a:p>
            <a:pPr algn="just">
              <a:lnSpc>
                <a:spcPct val="150000"/>
              </a:lnSpc>
              <a:buClr>
                <a:srgbClr val="595959"/>
              </a:buClr>
              <a:buSzPts val="1200"/>
            </a:pPr>
            <a:r>
              <a:rPr lang="en-US" dirty="0">
                <a:latin typeface="Inter" panose="020B0604020202020204" charset="0"/>
                <a:ea typeface="Inter" panose="020B0604020202020204" charset="0"/>
              </a:rPr>
              <a:t>Not all models are designed for time-series data like stock prices and may not capture temporal dependencies effectively.</a:t>
            </a:r>
          </a:p>
          <a:p>
            <a:pPr marL="0" marR="0" lvl="0" indent="0" algn="l" rtl="0">
              <a:lnSpc>
                <a:spcPct val="150000"/>
              </a:lnSpc>
              <a:spcBef>
                <a:spcPts val="0"/>
              </a:spcBef>
              <a:spcAft>
                <a:spcPts val="0"/>
              </a:spcAft>
              <a:buClr>
                <a:srgbClr val="595959"/>
              </a:buClr>
              <a:buSzPts val="1200"/>
              <a:buFont typeface="Play"/>
              <a:buNone/>
            </a:pPr>
            <a:endParaRPr sz="1100" dirty="0">
              <a:solidFill>
                <a:schemeClr val="dk1"/>
              </a:solidFill>
              <a:latin typeface="Inter" panose="020B0604020202020204" charset="0"/>
              <a:ea typeface="Inter" panose="020B0604020202020204" charset="0"/>
              <a:cs typeface="Inter"/>
              <a:sym typeface="Inter"/>
            </a:endParaRPr>
          </a:p>
        </p:txBody>
      </p:sp>
      <p:sp>
        <p:nvSpPr>
          <p:cNvPr id="66" name="Google Shape;66;p4"/>
          <p:cNvSpPr/>
          <p:nvPr/>
        </p:nvSpPr>
        <p:spPr>
          <a:xfrm rot="-5400000">
            <a:off x="6590315" y="876589"/>
            <a:ext cx="1405763"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67" name="Google Shape;67;p4"/>
          <p:cNvSpPr/>
          <p:nvPr/>
        </p:nvSpPr>
        <p:spPr>
          <a:xfrm>
            <a:off x="8205604" y="1120032"/>
            <a:ext cx="3082832" cy="1405763"/>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68" name="Google Shape;68;p4"/>
          <p:cNvSpPr txBox="1"/>
          <p:nvPr/>
        </p:nvSpPr>
        <p:spPr>
          <a:xfrm>
            <a:off x="6431999" y="1228994"/>
            <a:ext cx="1692792" cy="432235"/>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sz="1800" dirty="0">
                <a:solidFill>
                  <a:schemeClr val="lt1"/>
                </a:solidFill>
                <a:latin typeface="Inter"/>
                <a:ea typeface="Inter"/>
                <a:cs typeface="Inter"/>
                <a:sym typeface="Inter"/>
              </a:rPr>
              <a:t>Evaluation Metrics Misalignment</a:t>
            </a:r>
            <a:endParaRPr sz="1800" dirty="0">
              <a:solidFill>
                <a:schemeClr val="lt1"/>
              </a:solidFill>
              <a:latin typeface="Inter"/>
              <a:ea typeface="Inter"/>
              <a:cs typeface="Inter"/>
              <a:sym typeface="Inter"/>
            </a:endParaRPr>
          </a:p>
        </p:txBody>
      </p:sp>
      <p:sp>
        <p:nvSpPr>
          <p:cNvPr id="69" name="Google Shape;69;p4"/>
          <p:cNvSpPr txBox="1"/>
          <p:nvPr/>
        </p:nvSpPr>
        <p:spPr>
          <a:xfrm>
            <a:off x="8249642" y="1098893"/>
            <a:ext cx="2858282" cy="617861"/>
          </a:xfrm>
          <a:prstGeom prst="rect">
            <a:avLst/>
          </a:prstGeom>
          <a:noFill/>
          <a:ln>
            <a:noFill/>
          </a:ln>
        </p:spPr>
        <p:txBody>
          <a:bodyPr spcFirstLastPara="1" wrap="square" lIns="91425" tIns="45700" rIns="91425" bIns="45700" anchor="t" anchorCtr="0">
            <a:noAutofit/>
          </a:bodyPr>
          <a:lstStyle/>
          <a:p>
            <a:pPr algn="just"/>
            <a:r>
              <a:rPr lang="en-US" dirty="0">
                <a:latin typeface="Inter" panose="020B0604020202020204" charset="0"/>
                <a:ea typeface="Inter" panose="020B0604020202020204" charset="0"/>
              </a:rPr>
              <a:t>Metrics like RMSE or MAPE can vary significantly across models depending on the nature of predictions (e.g., scale, bias towards larger values).</a:t>
            </a:r>
          </a:p>
        </p:txBody>
      </p:sp>
      <p:sp>
        <p:nvSpPr>
          <p:cNvPr id="71" name="Google Shape;71;p4"/>
          <p:cNvSpPr/>
          <p:nvPr/>
        </p:nvSpPr>
        <p:spPr>
          <a:xfrm rot="-5400000">
            <a:off x="832225" y="3975481"/>
            <a:ext cx="1284964" cy="19393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72" name="Google Shape;72;p4"/>
          <p:cNvSpPr/>
          <p:nvPr/>
        </p:nvSpPr>
        <p:spPr>
          <a:xfrm>
            <a:off x="2420173" y="4298438"/>
            <a:ext cx="3082832" cy="1304904"/>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73" name="Google Shape;73;p4"/>
          <p:cNvSpPr txBox="1"/>
          <p:nvPr/>
        </p:nvSpPr>
        <p:spPr>
          <a:xfrm>
            <a:off x="534270" y="4499748"/>
            <a:ext cx="1880873" cy="398161"/>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sz="1800" dirty="0">
                <a:solidFill>
                  <a:schemeClr val="lt1"/>
                </a:solidFill>
                <a:latin typeface="Inter"/>
                <a:ea typeface="Inter"/>
                <a:cs typeface="Inter"/>
                <a:sym typeface="Inter"/>
              </a:rPr>
              <a:t>Dataset Characteristics</a:t>
            </a:r>
            <a:endParaRPr sz="1800" dirty="0">
              <a:solidFill>
                <a:schemeClr val="lt1"/>
              </a:solidFill>
              <a:latin typeface="Inter"/>
              <a:ea typeface="Inter"/>
              <a:cs typeface="Inter"/>
              <a:sym typeface="Inter"/>
            </a:endParaRPr>
          </a:p>
        </p:txBody>
      </p:sp>
      <p:sp>
        <p:nvSpPr>
          <p:cNvPr id="74" name="Google Shape;74;p4"/>
          <p:cNvSpPr txBox="1"/>
          <p:nvPr/>
        </p:nvSpPr>
        <p:spPr>
          <a:xfrm>
            <a:off x="2405802" y="4228413"/>
            <a:ext cx="3027533" cy="777856"/>
          </a:xfrm>
          <a:prstGeom prst="rect">
            <a:avLst/>
          </a:prstGeom>
          <a:noFill/>
          <a:ln>
            <a:noFill/>
          </a:ln>
        </p:spPr>
        <p:txBody>
          <a:bodyPr spcFirstLastPara="1" wrap="square" lIns="91425" tIns="45700" rIns="91425" bIns="45700" anchor="t" anchorCtr="0">
            <a:noAutofit/>
          </a:bodyPr>
          <a:lstStyle/>
          <a:p>
            <a:pPr algn="just">
              <a:lnSpc>
                <a:spcPct val="150000"/>
              </a:lnSpc>
            </a:pPr>
            <a:r>
              <a:rPr lang="en-US" dirty="0">
                <a:latin typeface="Inter" panose="020B0604020202020204" charset="0"/>
                <a:ea typeface="Inter" panose="020B0604020202020204" charset="0"/>
              </a:rPr>
              <a:t>Stock market data often contains noise, non-stationarity, and sudden jumps (due to market events). </a:t>
            </a:r>
          </a:p>
        </p:txBody>
      </p:sp>
      <p:sp>
        <p:nvSpPr>
          <p:cNvPr id="81" name="Google Shape;81;p4"/>
          <p:cNvSpPr/>
          <p:nvPr/>
        </p:nvSpPr>
        <p:spPr>
          <a:xfrm rot="-5400000">
            <a:off x="849736" y="2399159"/>
            <a:ext cx="1259999"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82" name="Google Shape;82;p4"/>
          <p:cNvSpPr/>
          <p:nvPr/>
        </p:nvSpPr>
        <p:spPr>
          <a:xfrm>
            <a:off x="2420173" y="2709596"/>
            <a:ext cx="3082832" cy="1259999"/>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86" name="Google Shape;86;p4"/>
          <p:cNvSpPr txBox="1"/>
          <p:nvPr/>
        </p:nvSpPr>
        <p:spPr>
          <a:xfrm>
            <a:off x="516569" y="2961837"/>
            <a:ext cx="1880873" cy="344491"/>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sz="1700" dirty="0">
                <a:solidFill>
                  <a:schemeClr val="lt1"/>
                </a:solidFill>
                <a:latin typeface="Inter"/>
                <a:ea typeface="Inter"/>
                <a:cs typeface="Inter"/>
                <a:sym typeface="Inter"/>
              </a:rPr>
              <a:t>Hyperparameter Tuning</a:t>
            </a:r>
            <a:endParaRPr sz="1700" dirty="0">
              <a:solidFill>
                <a:schemeClr val="lt1"/>
              </a:solidFill>
              <a:latin typeface="Inter"/>
              <a:ea typeface="Inter"/>
              <a:cs typeface="Inter"/>
              <a:sym typeface="Inter"/>
            </a:endParaRPr>
          </a:p>
        </p:txBody>
      </p:sp>
      <p:sp>
        <p:nvSpPr>
          <p:cNvPr id="87" name="Google Shape;87;p4"/>
          <p:cNvSpPr txBox="1"/>
          <p:nvPr/>
        </p:nvSpPr>
        <p:spPr>
          <a:xfrm>
            <a:off x="2460265" y="2651300"/>
            <a:ext cx="2772180" cy="617861"/>
          </a:xfrm>
          <a:prstGeom prst="rect">
            <a:avLst/>
          </a:prstGeom>
          <a:noFill/>
          <a:ln>
            <a:noFill/>
          </a:ln>
        </p:spPr>
        <p:txBody>
          <a:bodyPr spcFirstLastPara="1" wrap="square" lIns="91425" tIns="45700" rIns="91425" bIns="45700" anchor="t" anchorCtr="0">
            <a:noAutofit/>
          </a:bodyPr>
          <a:lstStyle/>
          <a:p>
            <a:pPr algn="just">
              <a:lnSpc>
                <a:spcPct val="150000"/>
              </a:lnSpc>
            </a:pPr>
            <a:r>
              <a:rPr lang="en-US" dirty="0">
                <a:latin typeface="Inter" panose="020B0604020202020204" charset="0"/>
                <a:ea typeface="Inter" panose="020B0604020202020204" charset="0"/>
              </a:rPr>
              <a:t>Some models are sensitive to hyperparameter choices like learning rate, batch size, and number of layers.</a:t>
            </a:r>
          </a:p>
        </p:txBody>
      </p:sp>
      <p:sp>
        <p:nvSpPr>
          <p:cNvPr id="89" name="Google Shape;89;p4"/>
          <p:cNvSpPr/>
          <p:nvPr/>
        </p:nvSpPr>
        <p:spPr>
          <a:xfrm rot="-5400000">
            <a:off x="6584318" y="2466629"/>
            <a:ext cx="1362182" cy="1880872"/>
          </a:xfrm>
          <a:prstGeom prst="round2SameRect">
            <a:avLst>
              <a:gd name="adj1" fmla="val 1799"/>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90" name="Google Shape;90;p4"/>
          <p:cNvSpPr/>
          <p:nvPr/>
        </p:nvSpPr>
        <p:spPr>
          <a:xfrm>
            <a:off x="8157164" y="2731863"/>
            <a:ext cx="3082832" cy="1362182"/>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91" name="Google Shape;91;p4"/>
          <p:cNvSpPr txBox="1"/>
          <p:nvPr/>
        </p:nvSpPr>
        <p:spPr>
          <a:xfrm>
            <a:off x="6585736" y="3164611"/>
            <a:ext cx="1408652" cy="285425"/>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chemeClr val="lt1"/>
              </a:buClr>
              <a:buSzPts val="1400"/>
              <a:buFont typeface="Play"/>
              <a:buNone/>
            </a:pPr>
            <a:r>
              <a:rPr lang="en-US" sz="1800" dirty="0">
                <a:solidFill>
                  <a:schemeClr val="lt1"/>
                </a:solidFill>
                <a:latin typeface="Inter"/>
                <a:ea typeface="Inter"/>
                <a:cs typeface="Inter"/>
                <a:sym typeface="Inter"/>
              </a:rPr>
              <a:t>Overfitting</a:t>
            </a:r>
            <a:endParaRPr sz="1800" dirty="0">
              <a:solidFill>
                <a:schemeClr val="lt1"/>
              </a:solidFill>
              <a:latin typeface="Inter"/>
              <a:ea typeface="Inter"/>
              <a:cs typeface="Inter"/>
              <a:sym typeface="Inter"/>
            </a:endParaRPr>
          </a:p>
        </p:txBody>
      </p:sp>
      <p:sp>
        <p:nvSpPr>
          <p:cNvPr id="92" name="Google Shape;92;p4"/>
          <p:cNvSpPr txBox="1"/>
          <p:nvPr/>
        </p:nvSpPr>
        <p:spPr>
          <a:xfrm>
            <a:off x="8169374" y="2764360"/>
            <a:ext cx="3033991" cy="767580"/>
          </a:xfrm>
          <a:prstGeom prst="rect">
            <a:avLst/>
          </a:prstGeom>
          <a:noFill/>
          <a:ln>
            <a:noFill/>
          </a:ln>
        </p:spPr>
        <p:txBody>
          <a:bodyPr spcFirstLastPara="1" wrap="square" lIns="91425" tIns="45700" rIns="91425" bIns="45700" anchor="t" anchorCtr="0">
            <a:noAutofit/>
          </a:bodyPr>
          <a:lstStyle/>
          <a:p>
            <a:pPr algn="just">
              <a:lnSpc>
                <a:spcPct val="150000"/>
              </a:lnSpc>
            </a:pPr>
            <a:r>
              <a:rPr lang="en-US" dirty="0">
                <a:latin typeface="Inter" panose="020B0604020202020204" charset="0"/>
                <a:ea typeface="Inter" panose="020B0604020202020204" charset="0"/>
              </a:rPr>
              <a:t>Complex models might overfit the training data, resulting in poor generalization and high errors on the test set.</a:t>
            </a:r>
          </a:p>
        </p:txBody>
      </p:sp>
      <p:sp>
        <p:nvSpPr>
          <p:cNvPr id="4" name="Google Shape;61;p4">
            <a:extLst>
              <a:ext uri="{FF2B5EF4-FFF2-40B4-BE49-F238E27FC236}">
                <a16:creationId xmlns:a16="http://schemas.microsoft.com/office/drawing/2014/main" id="{1F30439B-8DA4-1AB7-C40E-3C38B151C280}"/>
              </a:ext>
            </a:extLst>
          </p:cNvPr>
          <p:cNvSpPr/>
          <p:nvPr/>
        </p:nvSpPr>
        <p:spPr>
          <a:xfrm rot="-5400000">
            <a:off x="6404070" y="4229376"/>
            <a:ext cx="1722195"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5" name="Google Shape;62;p4">
            <a:extLst>
              <a:ext uri="{FF2B5EF4-FFF2-40B4-BE49-F238E27FC236}">
                <a16:creationId xmlns:a16="http://schemas.microsoft.com/office/drawing/2014/main" id="{6BB48CE6-FB64-166E-C947-D1D3F44D7F7B}"/>
              </a:ext>
            </a:extLst>
          </p:cNvPr>
          <p:cNvSpPr/>
          <p:nvPr/>
        </p:nvSpPr>
        <p:spPr>
          <a:xfrm>
            <a:off x="8157164" y="4316069"/>
            <a:ext cx="3082832" cy="1722195"/>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6" name="Google Shape;63;p4">
            <a:extLst>
              <a:ext uri="{FF2B5EF4-FFF2-40B4-BE49-F238E27FC236}">
                <a16:creationId xmlns:a16="http://schemas.microsoft.com/office/drawing/2014/main" id="{C4CA8F8E-483B-24AE-63D8-7DE90DE8B093}"/>
              </a:ext>
            </a:extLst>
          </p:cNvPr>
          <p:cNvSpPr txBox="1"/>
          <p:nvPr/>
        </p:nvSpPr>
        <p:spPr>
          <a:xfrm>
            <a:off x="6709025" y="4674742"/>
            <a:ext cx="1387979" cy="392444"/>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chemeClr val="lt1"/>
              </a:buClr>
              <a:buSzPts val="1400"/>
              <a:buFont typeface="Play"/>
              <a:buNone/>
            </a:pPr>
            <a:r>
              <a:rPr lang="en-IN" sz="1800" dirty="0">
                <a:solidFill>
                  <a:schemeClr val="lt1"/>
                </a:solidFill>
                <a:latin typeface="Inter"/>
                <a:ea typeface="Inter"/>
                <a:cs typeface="Inter"/>
                <a:sym typeface="Inter"/>
              </a:rPr>
              <a:t>Training Duration</a:t>
            </a:r>
            <a:endParaRPr sz="1800" dirty="0">
              <a:solidFill>
                <a:schemeClr val="lt1"/>
              </a:solidFill>
              <a:latin typeface="Inter"/>
              <a:ea typeface="Inter"/>
              <a:cs typeface="Inter"/>
              <a:sym typeface="Inter"/>
            </a:endParaRPr>
          </a:p>
        </p:txBody>
      </p:sp>
      <p:sp>
        <p:nvSpPr>
          <p:cNvPr id="7" name="Google Shape;64;p4">
            <a:extLst>
              <a:ext uri="{FF2B5EF4-FFF2-40B4-BE49-F238E27FC236}">
                <a16:creationId xmlns:a16="http://schemas.microsoft.com/office/drawing/2014/main" id="{2ADA0434-2E7A-0F0A-A4C1-782056E79E2C}"/>
              </a:ext>
            </a:extLst>
          </p:cNvPr>
          <p:cNvSpPr txBox="1"/>
          <p:nvPr/>
        </p:nvSpPr>
        <p:spPr>
          <a:xfrm>
            <a:off x="8157922" y="4298438"/>
            <a:ext cx="3026774" cy="617861"/>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595959"/>
              </a:buClr>
              <a:buSzPts val="1200"/>
              <a:buFont typeface="Play"/>
              <a:buNone/>
            </a:pPr>
            <a:r>
              <a:rPr lang="en-US" dirty="0">
                <a:latin typeface="Inter" panose="020B0604020202020204" charset="0"/>
                <a:ea typeface="Inter" panose="020B0604020202020204" charset="0"/>
              </a:rPr>
              <a:t>Some complex models require substantial data and training time and if  trained on limited stock data or for a short time, they might underperform.</a:t>
            </a:r>
            <a:endParaRPr dirty="0">
              <a:solidFill>
                <a:schemeClr val="dk1"/>
              </a:solidFill>
              <a:latin typeface="Inter" panose="020B0604020202020204" charset="0"/>
              <a:ea typeface="Inter" panose="020B0604020202020204" charset="0"/>
              <a:cs typeface="Inter"/>
              <a:sym typeface="Inter"/>
            </a:endParaRPr>
          </a:p>
        </p:txBody>
      </p:sp>
      <p:pic>
        <p:nvPicPr>
          <p:cNvPr id="32" name="Google Shape;11;p6">
            <a:extLst>
              <a:ext uri="{FF2B5EF4-FFF2-40B4-BE49-F238E27FC236}">
                <a16:creationId xmlns:a16="http://schemas.microsoft.com/office/drawing/2014/main" id="{6A46AE08-F3FE-A859-EF63-4C0DA5A6E519}"/>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33" name="Google Shape;10;p6">
            <a:extLst>
              <a:ext uri="{FF2B5EF4-FFF2-40B4-BE49-F238E27FC236}">
                <a16:creationId xmlns:a16="http://schemas.microsoft.com/office/drawing/2014/main" id="{CAC62FF9-DD5D-F01E-ECE6-EBE03EA0B32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DC482010-3D3E-1AAA-239D-89F9E085366D}"/>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5758F851-71DB-FCFD-D6BF-B0073502E2C7}"/>
              </a:ext>
            </a:extLst>
          </p:cNvPr>
          <p:cNvSpPr txBox="1"/>
          <p:nvPr/>
        </p:nvSpPr>
        <p:spPr>
          <a:xfrm>
            <a:off x="469499" y="226501"/>
            <a:ext cx="8129972"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SCOPE FOR FUTURE WORK </a:t>
            </a:r>
            <a:endParaRPr dirty="0">
              <a:latin typeface="Inter"/>
              <a:ea typeface="Inter"/>
              <a:cs typeface="Inter"/>
              <a:sym typeface="Inter"/>
            </a:endParaRPr>
          </a:p>
        </p:txBody>
      </p:sp>
      <p:pic>
        <p:nvPicPr>
          <p:cNvPr id="4" name="Google Shape;11;p6">
            <a:extLst>
              <a:ext uri="{FF2B5EF4-FFF2-40B4-BE49-F238E27FC236}">
                <a16:creationId xmlns:a16="http://schemas.microsoft.com/office/drawing/2014/main" id="{6BD5EB1A-EEC9-0DF9-B2DB-CEE34D5F442C}"/>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F07E6A62-250B-D184-6AAD-F30A21B14CC5}"/>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3" name="Rectangle 2">
            <a:extLst>
              <a:ext uri="{FF2B5EF4-FFF2-40B4-BE49-F238E27FC236}">
                <a16:creationId xmlns:a16="http://schemas.microsoft.com/office/drawing/2014/main" id="{9F2D18BB-8DE9-737A-C525-69B144219820}"/>
              </a:ext>
            </a:extLst>
          </p:cNvPr>
          <p:cNvSpPr>
            <a:spLocks noChangeArrowheads="1"/>
          </p:cNvSpPr>
          <p:nvPr/>
        </p:nvSpPr>
        <p:spPr bwMode="auto">
          <a:xfrm>
            <a:off x="307255" y="907797"/>
            <a:ext cx="11577489" cy="5042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628650" indent="-342900" rtl="0" fontAlgn="base">
              <a:lnSpc>
                <a:spcPct val="150000"/>
              </a:lnSpc>
              <a:spcBef>
                <a:spcPts val="1200"/>
              </a:spcBef>
              <a:buAutoNum type="arabicPeriod"/>
            </a:pPr>
            <a:r>
              <a:rPr lang="en-US" sz="1900" b="0" i="0" u="sng" strike="noStrike" dirty="0">
                <a:solidFill>
                  <a:srgbClr val="000000"/>
                </a:solidFill>
                <a:effectLst/>
                <a:latin typeface="Inter" panose="020B0604020202020204" charset="0"/>
                <a:ea typeface="Inter" panose="020B0604020202020204" charset="0"/>
              </a:rPr>
              <a:t>Enhancing Feature Selection</a:t>
            </a:r>
            <a:r>
              <a:rPr lang="en-US" sz="1900" b="0" i="0" u="none" strike="noStrike" dirty="0">
                <a:solidFill>
                  <a:srgbClr val="000000"/>
                </a:solidFill>
                <a:effectLst/>
                <a:latin typeface="Inter" panose="020B0604020202020204" charset="0"/>
                <a:ea typeface="Inter" panose="020B0604020202020204" charset="0"/>
              </a:rPr>
              <a:t> – Incorporating additional market indicators (e.g., trading volume, macroeconomic indicators) to further refine predictions.</a:t>
            </a:r>
          </a:p>
          <a:p>
            <a:pPr marL="628650" indent="-342900" rtl="0" fontAlgn="base">
              <a:lnSpc>
                <a:spcPct val="150000"/>
              </a:lnSpc>
              <a:spcBef>
                <a:spcPts val="1200"/>
              </a:spcBef>
              <a:buAutoNum type="arabicPeriod"/>
            </a:pPr>
            <a:r>
              <a:rPr lang="en-US" sz="1900" b="0" i="0" u="sng" strike="noStrike" dirty="0">
                <a:solidFill>
                  <a:srgbClr val="000000"/>
                </a:solidFill>
                <a:effectLst/>
                <a:latin typeface="Inter" panose="020B0604020202020204" charset="0"/>
                <a:ea typeface="Inter" panose="020B0604020202020204" charset="0"/>
              </a:rPr>
              <a:t>Fine-Tuning Hyperparameters</a:t>
            </a:r>
            <a:r>
              <a:rPr lang="en-US" sz="1900" b="0" i="0" strike="noStrike" dirty="0">
                <a:solidFill>
                  <a:srgbClr val="000000"/>
                </a:solidFill>
                <a:effectLst/>
                <a:latin typeface="Inter" panose="020B0604020202020204" charset="0"/>
                <a:ea typeface="Inter" panose="020B0604020202020204" charset="0"/>
              </a:rPr>
              <a:t> </a:t>
            </a:r>
            <a:r>
              <a:rPr lang="en-US" sz="1900" b="0" i="0" u="none" strike="noStrike" dirty="0">
                <a:solidFill>
                  <a:srgbClr val="000000"/>
                </a:solidFill>
                <a:effectLst/>
                <a:latin typeface="Inter" panose="020B0604020202020204" charset="0"/>
                <a:ea typeface="Inter" panose="020B0604020202020204" charset="0"/>
              </a:rPr>
              <a:t>– Experimenting with different architectures, learning rates, and regularization techniques to improve performance.</a:t>
            </a:r>
          </a:p>
          <a:p>
            <a:pPr marL="628650" indent="-342900" rtl="0" fontAlgn="base">
              <a:lnSpc>
                <a:spcPct val="150000"/>
              </a:lnSpc>
              <a:spcBef>
                <a:spcPts val="1200"/>
              </a:spcBef>
              <a:buAutoNum type="arabicPeriod"/>
            </a:pPr>
            <a:r>
              <a:rPr lang="en-US" sz="1900" b="0" i="0" u="sng" strike="noStrike" dirty="0">
                <a:solidFill>
                  <a:srgbClr val="000000"/>
                </a:solidFill>
                <a:effectLst/>
                <a:latin typeface="Inter" panose="020B0604020202020204" charset="0"/>
                <a:ea typeface="Inter" panose="020B0604020202020204" charset="0"/>
              </a:rPr>
              <a:t>Reducing Error on Extreme Fluctuations</a:t>
            </a:r>
            <a:r>
              <a:rPr lang="en-US" sz="1900" b="0" i="0" u="none" strike="noStrike" dirty="0">
                <a:solidFill>
                  <a:srgbClr val="000000"/>
                </a:solidFill>
                <a:effectLst/>
                <a:latin typeface="Inter" panose="020B0604020202020204" charset="0"/>
                <a:ea typeface="Inter" panose="020B0604020202020204" charset="0"/>
              </a:rPr>
              <a:t> – Implementing advanced techniques like attention mechanisms or ensemble learning to capture rare market behaviors.</a:t>
            </a:r>
          </a:p>
          <a:p>
            <a:pPr marL="628650" indent="-342900" rtl="0" fontAlgn="base">
              <a:lnSpc>
                <a:spcPct val="150000"/>
              </a:lnSpc>
              <a:spcBef>
                <a:spcPts val="1200"/>
              </a:spcBef>
              <a:buAutoNum type="arabicPeriod"/>
            </a:pPr>
            <a:r>
              <a:rPr lang="en-US" sz="1900" b="0" i="0" u="sng" strike="noStrike" dirty="0">
                <a:solidFill>
                  <a:srgbClr val="000000"/>
                </a:solidFill>
                <a:effectLst/>
                <a:latin typeface="Inter" panose="020B0604020202020204" charset="0"/>
                <a:ea typeface="Inter" panose="020B0604020202020204" charset="0"/>
              </a:rPr>
              <a:t>Exploring Alternative Loss Functions</a:t>
            </a:r>
            <a:r>
              <a:rPr lang="en-US" sz="1900" b="0" i="0" u="none" strike="noStrike" dirty="0">
                <a:solidFill>
                  <a:srgbClr val="000000"/>
                </a:solidFill>
                <a:effectLst/>
                <a:latin typeface="Inter" panose="020B0604020202020204" charset="0"/>
                <a:ea typeface="Inter" panose="020B0604020202020204" charset="0"/>
              </a:rPr>
              <a:t> – Investigating asymmetric loss functions that penalize high-magnitude errors more aggressively.</a:t>
            </a:r>
          </a:p>
          <a:p>
            <a:pPr marL="628650" indent="-342900" rtl="0" fontAlgn="base">
              <a:lnSpc>
                <a:spcPct val="150000"/>
              </a:lnSpc>
              <a:spcBef>
                <a:spcPts val="1200"/>
              </a:spcBef>
              <a:buAutoNum type="arabicPeriod"/>
            </a:pPr>
            <a:r>
              <a:rPr lang="en-US" sz="1900" b="0" i="0" u="sng" strike="noStrike" dirty="0">
                <a:solidFill>
                  <a:srgbClr val="000000"/>
                </a:solidFill>
                <a:effectLst/>
                <a:latin typeface="Inter" panose="020B0604020202020204" charset="0"/>
                <a:ea typeface="Inter" panose="020B0604020202020204" charset="0"/>
              </a:rPr>
              <a:t>Real-Time Implementation</a:t>
            </a:r>
            <a:r>
              <a:rPr lang="en-US" sz="1900" b="0" i="0" u="none" strike="noStrike" dirty="0">
                <a:solidFill>
                  <a:srgbClr val="000000"/>
                </a:solidFill>
                <a:effectLst/>
                <a:latin typeface="Inter" panose="020B0604020202020204" charset="0"/>
                <a:ea typeface="Inter" panose="020B0604020202020204" charset="0"/>
              </a:rPr>
              <a:t> – Deploying the model for live market prediction with real-time data streams to assess its robustness in practical applications.</a:t>
            </a:r>
          </a:p>
        </p:txBody>
      </p:sp>
    </p:spTree>
    <p:extLst>
      <p:ext uri="{BB962C8B-B14F-4D97-AF65-F5344CB8AC3E}">
        <p14:creationId xmlns:p14="http://schemas.microsoft.com/office/powerpoint/2010/main" val="3036381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p:nvPr/>
        </p:nvSpPr>
        <p:spPr>
          <a:xfrm>
            <a:off x="707572" y="3001566"/>
            <a:ext cx="4706257"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1">
                <a:solidFill>
                  <a:srgbClr val="007367"/>
                </a:solidFill>
                <a:latin typeface="Inter"/>
                <a:ea typeface="Inter"/>
                <a:cs typeface="Inter"/>
                <a:sym typeface="Inter"/>
              </a:rPr>
              <a:t>Thank You</a:t>
            </a:r>
            <a:endParaRPr>
              <a:latin typeface="Inter"/>
              <a:ea typeface="Inter"/>
              <a:cs typeface="Inter"/>
              <a:sym typeface="Inter"/>
            </a:endParaRPr>
          </a:p>
        </p:txBody>
      </p:sp>
      <p:sp>
        <p:nvSpPr>
          <p:cNvPr id="124" name="Google Shape;124;p5"/>
          <p:cNvSpPr/>
          <p:nvPr/>
        </p:nvSpPr>
        <p:spPr>
          <a:xfrm>
            <a:off x="10692817"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23672"/>
              </a:solidFill>
              <a:latin typeface="Play"/>
              <a:ea typeface="Play"/>
              <a:cs typeface="Play"/>
              <a:sym typeface="Play"/>
            </a:endParaRPr>
          </a:p>
        </p:txBody>
      </p:sp>
      <p:sp>
        <p:nvSpPr>
          <p:cNvPr id="125" name="Google Shape;125;p5"/>
          <p:cNvSpPr/>
          <p:nvPr/>
        </p:nvSpPr>
        <p:spPr>
          <a:xfrm>
            <a:off x="10755442" y="423468"/>
            <a:ext cx="159232" cy="157970"/>
          </a:xfrm>
          <a:custGeom>
            <a:avLst/>
            <a:gdLst/>
            <a:ahLst/>
            <a:cxnLst/>
            <a:rect l="l" t="t" r="r" b="b"/>
            <a:pathLst>
              <a:path w="444" h="443" extrusionOk="0">
                <a:moveTo>
                  <a:pt x="257" y="257"/>
                </a:moveTo>
                <a:lnTo>
                  <a:pt x="257" y="257"/>
                </a:lnTo>
                <a:cubicBezTo>
                  <a:pt x="222" y="292"/>
                  <a:pt x="177" y="327"/>
                  <a:pt x="160" y="310"/>
                </a:cubicBezTo>
                <a:cubicBezTo>
                  <a:pt x="133" y="283"/>
                  <a:pt x="115" y="265"/>
                  <a:pt x="62" y="310"/>
                </a:cubicBezTo>
                <a:cubicBezTo>
                  <a:pt x="0" y="354"/>
                  <a:pt x="44" y="389"/>
                  <a:pt x="71" y="407"/>
                </a:cubicBezTo>
                <a:cubicBezTo>
                  <a:pt x="97" y="442"/>
                  <a:pt x="204" y="416"/>
                  <a:pt x="310" y="310"/>
                </a:cubicBezTo>
                <a:cubicBezTo>
                  <a:pt x="416" y="204"/>
                  <a:pt x="443" y="97"/>
                  <a:pt x="416" y="61"/>
                </a:cubicBezTo>
                <a:cubicBezTo>
                  <a:pt x="390" y="35"/>
                  <a:pt x="363" y="0"/>
                  <a:pt x="319" y="53"/>
                </a:cubicBezTo>
                <a:cubicBezTo>
                  <a:pt x="275" y="106"/>
                  <a:pt x="293" y="123"/>
                  <a:pt x="319" y="151"/>
                </a:cubicBezTo>
                <a:cubicBezTo>
                  <a:pt x="337" y="167"/>
                  <a:pt x="302" y="212"/>
                  <a:pt x="257" y="257"/>
                </a:cubicBezTo>
              </a:path>
            </a:pathLst>
          </a:custGeom>
          <a:solidFill>
            <a:srgbClr val="017069"/>
          </a:solidFill>
          <a:ln>
            <a:noFill/>
          </a:ln>
        </p:spPr>
        <p:txBody>
          <a:bodyPr spcFirstLastPara="1" wrap="square" lIns="34275" tIns="17125" rIns="34275" bIns="17125" anchor="ctr" anchorCtr="0">
            <a:noAutofit/>
          </a:bodyPr>
          <a:lstStyle/>
          <a:p>
            <a:pPr marL="0" marR="0" lvl="0" indent="0" algn="l" rtl="0">
              <a:spcBef>
                <a:spcPts val="0"/>
              </a:spcBef>
              <a:spcAft>
                <a:spcPts val="0"/>
              </a:spcAft>
              <a:buNone/>
            </a:pPr>
            <a:endParaRPr sz="1800">
              <a:solidFill>
                <a:srgbClr val="023672"/>
              </a:solidFill>
              <a:latin typeface="Play"/>
              <a:ea typeface="Play"/>
              <a:cs typeface="Play"/>
              <a:sym typeface="Play"/>
            </a:endParaRPr>
          </a:p>
        </p:txBody>
      </p:sp>
      <p:sp>
        <p:nvSpPr>
          <p:cNvPr id="126" name="Google Shape;126;p5"/>
          <p:cNvSpPr/>
          <p:nvPr/>
        </p:nvSpPr>
        <p:spPr>
          <a:xfrm>
            <a:off x="11108103"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23672"/>
              </a:solidFill>
              <a:latin typeface="Play"/>
              <a:ea typeface="Play"/>
              <a:cs typeface="Play"/>
              <a:sym typeface="Play"/>
            </a:endParaRPr>
          </a:p>
        </p:txBody>
      </p:sp>
      <p:sp>
        <p:nvSpPr>
          <p:cNvPr id="127" name="Google Shape;127;p5"/>
          <p:cNvSpPr/>
          <p:nvPr/>
        </p:nvSpPr>
        <p:spPr>
          <a:xfrm>
            <a:off x="11173901" y="455187"/>
            <a:ext cx="152886" cy="94532"/>
          </a:xfrm>
          <a:custGeom>
            <a:avLst/>
            <a:gdLst/>
            <a:ahLst/>
            <a:cxnLst/>
            <a:rect l="l" t="t" r="r" b="b"/>
            <a:pathLst>
              <a:path w="461" h="285" extrusionOk="0">
                <a:moveTo>
                  <a:pt x="18" y="27"/>
                </a:moveTo>
                <a:lnTo>
                  <a:pt x="18" y="27"/>
                </a:lnTo>
                <a:cubicBezTo>
                  <a:pt x="35" y="35"/>
                  <a:pt x="203" y="125"/>
                  <a:pt x="203" y="125"/>
                </a:cubicBezTo>
                <a:cubicBezTo>
                  <a:pt x="212" y="133"/>
                  <a:pt x="221" y="133"/>
                  <a:pt x="231" y="133"/>
                </a:cubicBezTo>
                <a:cubicBezTo>
                  <a:pt x="239" y="133"/>
                  <a:pt x="248" y="133"/>
                  <a:pt x="248" y="125"/>
                </a:cubicBezTo>
                <a:cubicBezTo>
                  <a:pt x="256" y="125"/>
                  <a:pt x="425" y="35"/>
                  <a:pt x="434" y="27"/>
                </a:cubicBezTo>
                <a:cubicBezTo>
                  <a:pt x="452" y="18"/>
                  <a:pt x="460" y="0"/>
                  <a:pt x="443" y="0"/>
                </a:cubicBezTo>
                <a:cubicBezTo>
                  <a:pt x="18" y="0"/>
                  <a:pt x="18" y="0"/>
                  <a:pt x="18" y="0"/>
                </a:cubicBezTo>
                <a:cubicBezTo>
                  <a:pt x="0" y="0"/>
                  <a:pt x="9" y="18"/>
                  <a:pt x="18" y="27"/>
                </a:cubicBezTo>
                <a:close/>
                <a:moveTo>
                  <a:pt x="443" y="80"/>
                </a:moveTo>
                <a:lnTo>
                  <a:pt x="443" y="80"/>
                </a:lnTo>
                <a:cubicBezTo>
                  <a:pt x="434" y="80"/>
                  <a:pt x="256" y="169"/>
                  <a:pt x="248" y="178"/>
                </a:cubicBezTo>
                <a:cubicBezTo>
                  <a:pt x="248" y="178"/>
                  <a:pt x="239" y="178"/>
                  <a:pt x="231" y="178"/>
                </a:cubicBezTo>
                <a:cubicBezTo>
                  <a:pt x="221" y="178"/>
                  <a:pt x="212" y="178"/>
                  <a:pt x="203" y="178"/>
                </a:cubicBezTo>
                <a:cubicBezTo>
                  <a:pt x="194" y="169"/>
                  <a:pt x="27" y="80"/>
                  <a:pt x="18" y="80"/>
                </a:cubicBezTo>
                <a:cubicBezTo>
                  <a:pt x="9" y="72"/>
                  <a:pt x="9" y="80"/>
                  <a:pt x="9" y="80"/>
                </a:cubicBezTo>
                <a:cubicBezTo>
                  <a:pt x="9" y="88"/>
                  <a:pt x="9" y="266"/>
                  <a:pt x="9" y="266"/>
                </a:cubicBezTo>
                <a:cubicBezTo>
                  <a:pt x="9" y="275"/>
                  <a:pt x="18" y="284"/>
                  <a:pt x="35" y="284"/>
                </a:cubicBezTo>
                <a:cubicBezTo>
                  <a:pt x="425" y="284"/>
                  <a:pt x="425" y="284"/>
                  <a:pt x="425" y="284"/>
                </a:cubicBezTo>
                <a:cubicBezTo>
                  <a:pt x="443" y="284"/>
                  <a:pt x="452" y="275"/>
                  <a:pt x="452" y="266"/>
                </a:cubicBezTo>
                <a:cubicBezTo>
                  <a:pt x="452" y="266"/>
                  <a:pt x="452" y="88"/>
                  <a:pt x="452" y="80"/>
                </a:cubicBezTo>
                <a:cubicBezTo>
                  <a:pt x="452" y="80"/>
                  <a:pt x="452" y="72"/>
                  <a:pt x="443" y="80"/>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spcBef>
                <a:spcPts val="0"/>
              </a:spcBef>
              <a:spcAft>
                <a:spcPts val="0"/>
              </a:spcAft>
              <a:buNone/>
            </a:pPr>
            <a:endParaRPr sz="1800">
              <a:solidFill>
                <a:srgbClr val="023672"/>
              </a:solidFill>
              <a:latin typeface="Play"/>
              <a:ea typeface="Play"/>
              <a:cs typeface="Play"/>
              <a:sym typeface="Play"/>
            </a:endParaRPr>
          </a:p>
        </p:txBody>
      </p:sp>
      <p:sp>
        <p:nvSpPr>
          <p:cNvPr id="128" name="Google Shape;128;p5"/>
          <p:cNvSpPr/>
          <p:nvPr/>
        </p:nvSpPr>
        <p:spPr>
          <a:xfrm>
            <a:off x="11523389"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23672"/>
              </a:solidFill>
              <a:latin typeface="Play"/>
              <a:ea typeface="Play"/>
              <a:cs typeface="Play"/>
              <a:sym typeface="Play"/>
            </a:endParaRPr>
          </a:p>
        </p:txBody>
      </p:sp>
      <p:sp>
        <p:nvSpPr>
          <p:cNvPr id="129" name="Google Shape;129;p5"/>
          <p:cNvSpPr/>
          <p:nvPr/>
        </p:nvSpPr>
        <p:spPr>
          <a:xfrm>
            <a:off x="11624228" y="414630"/>
            <a:ext cx="82804" cy="175646"/>
          </a:xfrm>
          <a:custGeom>
            <a:avLst/>
            <a:gdLst/>
            <a:ahLst/>
            <a:cxnLst/>
            <a:rect l="l" t="t" r="r" b="b"/>
            <a:pathLst>
              <a:path w="232" h="498" extrusionOk="0">
                <a:moveTo>
                  <a:pt x="178" y="0"/>
                </a:moveTo>
                <a:lnTo>
                  <a:pt x="178" y="0"/>
                </a:lnTo>
                <a:cubicBezTo>
                  <a:pt x="213" y="0"/>
                  <a:pt x="222" y="27"/>
                  <a:pt x="222" y="53"/>
                </a:cubicBezTo>
                <a:cubicBezTo>
                  <a:pt x="222" y="80"/>
                  <a:pt x="196" y="115"/>
                  <a:pt x="160" y="115"/>
                </a:cubicBezTo>
                <a:cubicBezTo>
                  <a:pt x="125" y="115"/>
                  <a:pt x="107" y="97"/>
                  <a:pt x="107" y="62"/>
                </a:cubicBezTo>
                <a:cubicBezTo>
                  <a:pt x="107" y="35"/>
                  <a:pt x="134" y="0"/>
                  <a:pt x="178" y="0"/>
                </a:cubicBezTo>
                <a:close/>
                <a:moveTo>
                  <a:pt x="72" y="497"/>
                </a:moveTo>
                <a:lnTo>
                  <a:pt x="72" y="497"/>
                </a:lnTo>
                <a:cubicBezTo>
                  <a:pt x="45" y="497"/>
                  <a:pt x="28" y="478"/>
                  <a:pt x="45" y="407"/>
                </a:cubicBezTo>
                <a:cubicBezTo>
                  <a:pt x="81" y="284"/>
                  <a:pt x="81" y="284"/>
                  <a:pt x="81" y="284"/>
                </a:cubicBezTo>
                <a:cubicBezTo>
                  <a:pt x="81" y="266"/>
                  <a:pt x="81" y="257"/>
                  <a:pt x="81" y="257"/>
                </a:cubicBezTo>
                <a:cubicBezTo>
                  <a:pt x="72" y="257"/>
                  <a:pt x="37" y="275"/>
                  <a:pt x="19" y="284"/>
                </a:cubicBezTo>
                <a:cubicBezTo>
                  <a:pt x="0" y="266"/>
                  <a:pt x="0" y="266"/>
                  <a:pt x="0" y="266"/>
                </a:cubicBezTo>
                <a:cubicBezTo>
                  <a:pt x="63" y="213"/>
                  <a:pt x="143" y="178"/>
                  <a:pt x="169" y="178"/>
                </a:cubicBezTo>
                <a:cubicBezTo>
                  <a:pt x="196" y="178"/>
                  <a:pt x="205" y="213"/>
                  <a:pt x="187" y="257"/>
                </a:cubicBezTo>
                <a:cubicBezTo>
                  <a:pt x="151" y="390"/>
                  <a:pt x="151" y="390"/>
                  <a:pt x="151" y="390"/>
                </a:cubicBezTo>
                <a:cubicBezTo>
                  <a:pt x="151" y="416"/>
                  <a:pt x="151" y="425"/>
                  <a:pt x="160" y="425"/>
                </a:cubicBezTo>
                <a:cubicBezTo>
                  <a:pt x="160" y="425"/>
                  <a:pt x="187" y="407"/>
                  <a:pt x="213" y="390"/>
                </a:cubicBezTo>
                <a:cubicBezTo>
                  <a:pt x="231" y="407"/>
                  <a:pt x="231" y="407"/>
                  <a:pt x="231" y="407"/>
                </a:cubicBezTo>
                <a:cubicBezTo>
                  <a:pt x="169" y="478"/>
                  <a:pt x="98" y="497"/>
                  <a:pt x="72" y="497"/>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spcBef>
                <a:spcPts val="0"/>
              </a:spcBef>
              <a:spcAft>
                <a:spcPts val="0"/>
              </a:spcAft>
              <a:buNone/>
            </a:pPr>
            <a:endParaRPr sz="1800">
              <a:solidFill>
                <a:srgbClr val="023672"/>
              </a:solidFill>
              <a:latin typeface="Play"/>
              <a:ea typeface="Play"/>
              <a:cs typeface="Play"/>
              <a:sym typeface="Play"/>
            </a:endParaRPr>
          </a:p>
        </p:txBody>
      </p:sp>
      <p:sp>
        <p:nvSpPr>
          <p:cNvPr id="130" name="Google Shape;130;p5"/>
          <p:cNvSpPr/>
          <p:nvPr/>
        </p:nvSpPr>
        <p:spPr>
          <a:xfrm>
            <a:off x="783772" y="2945605"/>
            <a:ext cx="899884" cy="52507"/>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Google Shape;11;p6">
            <a:extLst>
              <a:ext uri="{FF2B5EF4-FFF2-40B4-BE49-F238E27FC236}">
                <a16:creationId xmlns:a16="http://schemas.microsoft.com/office/drawing/2014/main" id="{1B984D33-DB91-2C3C-15C7-0A14BA0B6925}"/>
              </a:ext>
            </a:extLst>
          </p:cNvPr>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4" name="Google Shape;10;p6">
            <a:extLst>
              <a:ext uri="{FF2B5EF4-FFF2-40B4-BE49-F238E27FC236}">
                <a16:creationId xmlns:a16="http://schemas.microsoft.com/office/drawing/2014/main" id="{8ACC8849-F157-6EF0-95EA-D95ED4DC82FE}"/>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3716</TotalTime>
  <Words>2419</Words>
  <Application>Microsoft Office PowerPoint</Application>
  <PresentationFormat>Widescreen</PresentationFormat>
  <Paragraphs>327</Paragraphs>
  <Slides>24</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Times New Roman</vt:lpstr>
      <vt:lpstr>Arial</vt:lpstr>
      <vt:lpstr>Calibri</vt:lpstr>
      <vt:lpstr>Plus Jakarta Sans</vt:lpstr>
      <vt:lpstr>Play</vt:lpstr>
      <vt:lpstr>Inter</vt:lpstr>
      <vt:lpstr>Wingdings</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SRI VAISHNAVI VASA</cp:lastModifiedBy>
  <cp:revision>23</cp:revision>
  <dcterms:created xsi:type="dcterms:W3CDTF">2022-05-23T07:15:42Z</dcterms:created>
  <dcterms:modified xsi:type="dcterms:W3CDTF">2025-03-21T03:30:24Z</dcterms:modified>
</cp:coreProperties>
</file>