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Lst>
  <p:sldSz cy="5143500" cx="9144000"/>
  <p:notesSz cx="6858000" cy="9144000"/>
  <p:embeddedFontLst>
    <p:embeddedFont>
      <p:font typeface="Raleway"/>
      <p:regular r:id="rId47"/>
      <p:bold r:id="rId48"/>
      <p:italic r:id="rId49"/>
      <p:boldItalic r:id="rId50"/>
    </p:embeddedFont>
    <p:embeddedFont>
      <p:font typeface="Proxima Nova"/>
      <p:regular r:id="rId51"/>
      <p:bold r:id="rId52"/>
      <p:italic r:id="rId53"/>
      <p:boldItalic r:id="rId54"/>
    </p:embeddedFont>
    <p:embeddedFont>
      <p:font typeface="Nunito"/>
      <p:regular r:id="rId55"/>
      <p:bold r:id="rId56"/>
      <p:italic r:id="rId57"/>
      <p:boldItalic r:id="rId58"/>
    </p:embeddedFont>
    <p:embeddedFont>
      <p:font typeface="Lato"/>
      <p:regular r:id="rId59"/>
      <p:bold r:id="rId60"/>
      <p:italic r:id="rId61"/>
      <p:boldItalic r:id="rId62"/>
    </p:embeddedFont>
    <p:embeddedFont>
      <p:font typeface="Raleway Black"/>
      <p:bold r:id="rId63"/>
      <p:boldItalic r:id="rId6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aleway-bold.fntdata"/><Relationship Id="rId47" Type="http://schemas.openxmlformats.org/officeDocument/2006/relationships/font" Target="fonts/Raleway-regular.fntdata"/><Relationship Id="rId49" Type="http://schemas.openxmlformats.org/officeDocument/2006/relationships/font" Target="fonts/Raleway-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Lato-boldItalic.fntdata"/><Relationship Id="rId61" Type="http://schemas.openxmlformats.org/officeDocument/2006/relationships/font" Target="fonts/Lato-italic.fntdata"/><Relationship Id="rId20" Type="http://schemas.openxmlformats.org/officeDocument/2006/relationships/slide" Target="slides/slide15.xml"/><Relationship Id="rId64" Type="http://schemas.openxmlformats.org/officeDocument/2006/relationships/font" Target="fonts/RalewayBlack-boldItalic.fntdata"/><Relationship Id="rId63" Type="http://schemas.openxmlformats.org/officeDocument/2006/relationships/font" Target="fonts/RalewayBlack-bold.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Lato-bold.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ProximaNova-regular.fntdata"/><Relationship Id="rId50" Type="http://schemas.openxmlformats.org/officeDocument/2006/relationships/font" Target="fonts/Raleway-boldItalic.fntdata"/><Relationship Id="rId53" Type="http://schemas.openxmlformats.org/officeDocument/2006/relationships/font" Target="fonts/ProximaNova-italic.fntdata"/><Relationship Id="rId52" Type="http://schemas.openxmlformats.org/officeDocument/2006/relationships/font" Target="fonts/ProximaNova-bold.fntdata"/><Relationship Id="rId11" Type="http://schemas.openxmlformats.org/officeDocument/2006/relationships/slide" Target="slides/slide6.xml"/><Relationship Id="rId55" Type="http://schemas.openxmlformats.org/officeDocument/2006/relationships/font" Target="fonts/Nunito-regular.fntdata"/><Relationship Id="rId10" Type="http://schemas.openxmlformats.org/officeDocument/2006/relationships/slide" Target="slides/slide5.xml"/><Relationship Id="rId54" Type="http://schemas.openxmlformats.org/officeDocument/2006/relationships/font" Target="fonts/ProximaNova-boldItalic.fntdata"/><Relationship Id="rId13" Type="http://schemas.openxmlformats.org/officeDocument/2006/relationships/slide" Target="slides/slide8.xml"/><Relationship Id="rId57" Type="http://schemas.openxmlformats.org/officeDocument/2006/relationships/font" Target="fonts/Nunito-italic.fntdata"/><Relationship Id="rId12" Type="http://schemas.openxmlformats.org/officeDocument/2006/relationships/slide" Target="slides/slide7.xml"/><Relationship Id="rId56" Type="http://schemas.openxmlformats.org/officeDocument/2006/relationships/font" Target="fonts/Nunito-bold.fntdata"/><Relationship Id="rId15" Type="http://schemas.openxmlformats.org/officeDocument/2006/relationships/slide" Target="slides/slide10.xml"/><Relationship Id="rId59" Type="http://schemas.openxmlformats.org/officeDocument/2006/relationships/font" Target="fonts/Lato-regular.fntdata"/><Relationship Id="rId14" Type="http://schemas.openxmlformats.org/officeDocument/2006/relationships/slide" Target="slides/slide9.xml"/><Relationship Id="rId58" Type="http://schemas.openxmlformats.org/officeDocument/2006/relationships/font" Target="fonts/Nunito-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0173cdfdab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0173cdfdab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0f1965a7f0_1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0f1965a7f0_1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0f1965a7f0_14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0f1965a7f0_14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0f1965a7f0_1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0f1965a7f0_1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0f1965a7f0_1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0f1965a7f0_1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0f1965a7f0_14_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0f1965a7f0_14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0f1965a7f0_14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0f1965a7f0_14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0f1965a7f0_14_2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0f1965a7f0_14_2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0f1965a7f0_14_2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0f1965a7f0_14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0f1965a7f0_14_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0f1965a7f0_14_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0f1965a7f0_14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0f1965a7f0_14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0f1965a7f0_14_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0f1965a7f0_14_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0f1965a7f0_14_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0f1965a7f0_14_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0f1965a7f0_14_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0f1965a7f0_14_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0f1965a7f0_14_3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0f1965a7f0_14_3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0f1965a7f0_14_3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0f1965a7f0_14_3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0f1965a7f0_14_3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0f1965a7f0_14_3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0f1965a7f0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0f1965a7f0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0f1965a7f0_14_3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0f1965a7f0_14_3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0f1965a7f0_14_3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0f1965a7f0_14_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0f1965a7f0_14_3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0f1965a7f0_14_3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0f1965a7f0_1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0f1965a7f0_1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0f1965a7f0_14_4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0f1965a7f0_14_4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0f1965a7f0_1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0f1965a7f0_1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0f1965a7f0_14_4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0f1965a7f0_14_4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0f1965a7f0_14_4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0f1965a7f0_14_4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0f1965a7f0_14_4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0f1965a7f0_14_4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0f1965a7f0_1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30f1965a7f0_1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0f1965a7f0_14_4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0f1965a7f0_14_4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0f1965a7f0_1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0f1965a7f0_1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0f1965a7f0_14_4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30f1965a7f0_14_4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0f1965a7f0_14_3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30f1965a7f0_14_3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0f1965a7f0_14_3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0f1965a7f0_14_3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0f1965a7f0_14_4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0f1965a7f0_14_4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0f1965a7f0_14_3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30f1965a7f0_14_3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0f1965a7f0_14_4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30f1965a7f0_14_4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0f1965a7f0_14_5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30f1965a7f0_14_5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0f1965a7f0_14_4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30f1965a7f0_14_4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0f1965a7f0_14_4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0f1965a7f0_14_4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0f1965a7f0_14_4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30f1965a7f0_14_4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0f1965a7f0_14_4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30f1965a7f0_14_4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14.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17.png"/><Relationship Id="rId4" Type="http://schemas.openxmlformats.org/officeDocument/2006/relationships/image" Target="../media/image42.png"/><Relationship Id="rId5"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35.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3.pn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image" Target="../media/image4.png"/><Relationship Id="rId4" Type="http://schemas.openxmlformats.org/officeDocument/2006/relationships/image" Target="../media/image13.png"/><Relationship Id="rId5" Type="http://schemas.openxmlformats.org/officeDocument/2006/relationships/image" Target="../media/image7.png"/><Relationship Id="rId6"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25.png"/><Relationship Id="rId4" Type="http://schemas.openxmlformats.org/officeDocument/2006/relationships/image" Target="../media/image18.png"/><Relationship Id="rId5" Type="http://schemas.openxmlformats.org/officeDocument/2006/relationships/image" Target="../media/image38.png"/><Relationship Id="rId6" Type="http://schemas.openxmlformats.org/officeDocument/2006/relationships/image" Target="../media/image3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5.png"/><Relationship Id="rId4" Type="http://schemas.openxmlformats.org/officeDocument/2006/relationships/image" Target="../media/image4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24.png"/><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 Id="rId3" Type="http://schemas.openxmlformats.org/officeDocument/2006/relationships/image" Target="../media/image20.png"/><Relationship Id="rId4" Type="http://schemas.openxmlformats.org/officeDocument/2006/relationships/image" Target="../media/image48.png"/><Relationship Id="rId5" Type="http://schemas.openxmlformats.org/officeDocument/2006/relationships/image" Target="../media/image3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 Id="rId3" Type="http://schemas.openxmlformats.org/officeDocument/2006/relationships/image" Target="../media/image27.png"/><Relationship Id="rId4" Type="http://schemas.openxmlformats.org/officeDocument/2006/relationships/image" Target="../media/image29.png"/><Relationship Id="rId5" Type="http://schemas.openxmlformats.org/officeDocument/2006/relationships/image" Target="../media/image3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 Id="rId3" Type="http://schemas.openxmlformats.org/officeDocument/2006/relationships/image" Target="../media/image26.png"/><Relationship Id="rId4" Type="http://schemas.openxmlformats.org/officeDocument/2006/relationships/image" Target="../media/image40.png"/><Relationship Id="rId5" Type="http://schemas.openxmlformats.org/officeDocument/2006/relationships/image" Target="../media/image3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8.png"/><Relationship Id="rId4" Type="http://schemas.openxmlformats.org/officeDocument/2006/relationships/image" Target="../media/image3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 Id="rId3" Type="http://schemas.openxmlformats.org/officeDocument/2006/relationships/image" Target="../media/image39.png"/><Relationship Id="rId4" Type="http://schemas.openxmlformats.org/officeDocument/2006/relationships/image" Target="../media/image41.png"/><Relationship Id="rId5" Type="http://schemas.openxmlformats.org/officeDocument/2006/relationships/image" Target="../media/image4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43.png"/><Relationship Id="rId4" Type="http://schemas.openxmlformats.org/officeDocument/2006/relationships/image" Target="../media/image5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1.xml"/><Relationship Id="rId3" Type="http://schemas.openxmlformats.org/officeDocument/2006/relationships/image" Target="../media/image34.png"/><Relationship Id="rId4" Type="http://schemas.openxmlformats.org/officeDocument/2006/relationships/image" Target="../media/image44.png"/><Relationship Id="rId5" Type="http://schemas.openxmlformats.org/officeDocument/2006/relationships/image" Target="../media/image47.png"/><Relationship Id="rId6" Type="http://schemas.openxmlformats.org/officeDocument/2006/relationships/image" Target="../media/image5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4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613675" y="1894525"/>
            <a:ext cx="8628300" cy="83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en" sz="2800">
                <a:latin typeface="Raleway Black"/>
                <a:ea typeface="Raleway Black"/>
                <a:cs typeface="Raleway Black"/>
                <a:sym typeface="Raleway Black"/>
              </a:rPr>
              <a:t>Leveraging predictability of deep learning techniques on financial time series forecasting</a:t>
            </a:r>
            <a:endParaRPr b="0" sz="2800">
              <a:latin typeface="Raleway Black"/>
              <a:ea typeface="Raleway Black"/>
              <a:cs typeface="Raleway Black"/>
              <a:sym typeface="Raleway Black"/>
            </a:endParaRPr>
          </a:p>
        </p:txBody>
      </p:sp>
      <p:sp>
        <p:nvSpPr>
          <p:cNvPr id="87" name="Google Shape;87;p13"/>
          <p:cNvSpPr txBox="1"/>
          <p:nvPr>
            <p:ph idx="1" type="subTitle"/>
          </p:nvPr>
        </p:nvSpPr>
        <p:spPr>
          <a:xfrm>
            <a:off x="613675" y="3490800"/>
            <a:ext cx="6937200" cy="20697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rPr b="1" lang="en" sz="1000"/>
              <a:t>PROJECT BATCH NO. :</a:t>
            </a:r>
            <a:r>
              <a:rPr lang="en" sz="1000"/>
              <a:t>  P10-15							</a:t>
            </a:r>
            <a:r>
              <a:rPr b="1" lang="en" sz="1000"/>
              <a:t>GUIDE NAME:-</a:t>
            </a:r>
            <a:endParaRPr b="1" sz="1000"/>
          </a:p>
          <a:p>
            <a:pPr indent="0" lvl="0" marL="0" rtl="0" algn="l">
              <a:lnSpc>
                <a:spcPct val="150000"/>
              </a:lnSpc>
              <a:spcBef>
                <a:spcPts val="0"/>
              </a:spcBef>
              <a:spcAft>
                <a:spcPts val="0"/>
              </a:spcAft>
              <a:buNone/>
            </a:pPr>
            <a:r>
              <a:rPr b="1" lang="en" sz="1000"/>
              <a:t>NAME OF THE STUDENTS:-						                               </a:t>
            </a:r>
            <a:r>
              <a:rPr lang="en" sz="1000"/>
              <a:t>PROF. SARAT CHANDRA NAYAK</a:t>
            </a:r>
            <a:endParaRPr sz="1000"/>
          </a:p>
          <a:p>
            <a:pPr indent="0" lvl="0" marL="0" rtl="0" algn="l">
              <a:lnSpc>
                <a:spcPct val="150000"/>
              </a:lnSpc>
              <a:spcBef>
                <a:spcPts val="0"/>
              </a:spcBef>
              <a:spcAft>
                <a:spcPts val="0"/>
              </a:spcAft>
              <a:buNone/>
            </a:pPr>
            <a:r>
              <a:rPr lang="en" sz="1000"/>
              <a:t>	SRI VAISHNAVI VASA (HU21CSEN0100673)</a:t>
            </a:r>
            <a:endParaRPr sz="1000"/>
          </a:p>
          <a:p>
            <a:pPr indent="0" lvl="0" marL="0" rtl="0" algn="l">
              <a:lnSpc>
                <a:spcPct val="150000"/>
              </a:lnSpc>
              <a:spcBef>
                <a:spcPts val="0"/>
              </a:spcBef>
              <a:spcAft>
                <a:spcPts val="0"/>
              </a:spcAft>
              <a:buNone/>
            </a:pPr>
            <a:r>
              <a:rPr lang="en" sz="1000"/>
              <a:t>	LEENA DEEKOLLU       (HU21CSEN0100741)</a:t>
            </a:r>
            <a:endParaRPr sz="1000"/>
          </a:p>
          <a:p>
            <a:pPr indent="0" lvl="0" marL="0" rtl="0" algn="l">
              <a:lnSpc>
                <a:spcPct val="150000"/>
              </a:lnSpc>
              <a:spcBef>
                <a:spcPts val="0"/>
              </a:spcBef>
              <a:spcAft>
                <a:spcPts val="0"/>
              </a:spcAft>
              <a:buNone/>
            </a:pPr>
            <a:r>
              <a:rPr lang="en" sz="1000"/>
              <a:t>	BINDU SRI                          (HU21CSEN0101184)</a:t>
            </a:r>
            <a:endParaRPr sz="10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p:txBody>
      </p:sp>
      <p:pic>
        <p:nvPicPr>
          <p:cNvPr id="88" name="Google Shape;88;p13"/>
          <p:cNvPicPr preferRelativeResize="0"/>
          <p:nvPr/>
        </p:nvPicPr>
        <p:blipFill>
          <a:blip r:embed="rId3">
            <a:alphaModFix/>
          </a:blip>
          <a:stretch>
            <a:fillRect/>
          </a:stretch>
        </p:blipFill>
        <p:spPr>
          <a:xfrm>
            <a:off x="1483000" y="137825"/>
            <a:ext cx="2250604" cy="838800"/>
          </a:xfrm>
          <a:prstGeom prst="rect">
            <a:avLst/>
          </a:prstGeom>
          <a:noFill/>
          <a:ln>
            <a:noFill/>
          </a:ln>
        </p:spPr>
      </p:pic>
      <p:sp>
        <p:nvSpPr>
          <p:cNvPr id="89" name="Google Shape;89;p13"/>
          <p:cNvSpPr txBox="1"/>
          <p:nvPr/>
        </p:nvSpPr>
        <p:spPr>
          <a:xfrm>
            <a:off x="2729525" y="63225"/>
            <a:ext cx="5688000" cy="1371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100">
                <a:solidFill>
                  <a:schemeClr val="accent1"/>
                </a:solidFill>
                <a:latin typeface="Proxima Nova"/>
                <a:ea typeface="Proxima Nova"/>
                <a:cs typeface="Proxima Nova"/>
                <a:sym typeface="Proxima Nova"/>
              </a:rPr>
              <a:t>GITAM</a:t>
            </a:r>
            <a:endParaRPr b="1" sz="1100">
              <a:solidFill>
                <a:schemeClr val="accent1"/>
              </a:solidFill>
              <a:latin typeface="Proxima Nova"/>
              <a:ea typeface="Proxima Nova"/>
              <a:cs typeface="Proxima Nova"/>
              <a:sym typeface="Proxima Nova"/>
            </a:endParaRPr>
          </a:p>
          <a:p>
            <a:pPr indent="0" lvl="0" marL="0" rtl="0" algn="ctr">
              <a:spcBef>
                <a:spcPts val="0"/>
              </a:spcBef>
              <a:spcAft>
                <a:spcPts val="0"/>
              </a:spcAft>
              <a:buNone/>
            </a:pPr>
            <a:r>
              <a:rPr b="1" lang="en" sz="1100">
                <a:solidFill>
                  <a:schemeClr val="accent1"/>
                </a:solidFill>
                <a:latin typeface="Proxima Nova"/>
                <a:ea typeface="Proxima Nova"/>
                <a:cs typeface="Proxima Nova"/>
                <a:sym typeface="Proxima Nova"/>
              </a:rPr>
              <a:t>(Deemed to be University)</a:t>
            </a:r>
            <a:endParaRPr b="1" sz="1100">
              <a:solidFill>
                <a:schemeClr val="accent1"/>
              </a:solidFill>
              <a:latin typeface="Proxima Nova"/>
              <a:ea typeface="Proxima Nova"/>
              <a:cs typeface="Proxima Nova"/>
              <a:sym typeface="Proxima Nova"/>
            </a:endParaRPr>
          </a:p>
          <a:p>
            <a:pPr indent="0" lvl="0" marL="0" rtl="0" algn="ctr">
              <a:spcBef>
                <a:spcPts val="0"/>
              </a:spcBef>
              <a:spcAft>
                <a:spcPts val="0"/>
              </a:spcAft>
              <a:buNone/>
            </a:pPr>
            <a:r>
              <a:rPr b="1" lang="en" sz="1100">
                <a:solidFill>
                  <a:schemeClr val="accent1"/>
                </a:solidFill>
                <a:latin typeface="Proxima Nova"/>
                <a:ea typeface="Proxima Nova"/>
                <a:cs typeface="Proxima Nova"/>
                <a:sym typeface="Proxima Nova"/>
              </a:rPr>
              <a:t>School of Technology, Hyderabad </a:t>
            </a:r>
            <a:endParaRPr b="1" sz="1100">
              <a:solidFill>
                <a:schemeClr val="accent1"/>
              </a:solidFill>
              <a:latin typeface="Proxima Nova"/>
              <a:ea typeface="Proxima Nova"/>
              <a:cs typeface="Proxima Nova"/>
              <a:sym typeface="Proxima Nova"/>
            </a:endParaRPr>
          </a:p>
          <a:p>
            <a:pPr indent="0" lvl="0" marL="0" rtl="0" algn="ctr">
              <a:spcBef>
                <a:spcPts val="0"/>
              </a:spcBef>
              <a:spcAft>
                <a:spcPts val="0"/>
              </a:spcAft>
              <a:buNone/>
            </a:pPr>
            <a:r>
              <a:rPr b="1" lang="en" sz="1100">
                <a:solidFill>
                  <a:schemeClr val="accent1"/>
                </a:solidFill>
                <a:latin typeface="Proxima Nova"/>
                <a:ea typeface="Proxima Nova"/>
                <a:cs typeface="Proxima Nova"/>
                <a:sym typeface="Proxima Nova"/>
              </a:rPr>
              <a:t>Department of Computer Science and Engineering</a:t>
            </a:r>
            <a:endParaRPr b="1" sz="1100">
              <a:solidFill>
                <a:schemeClr val="accent1"/>
              </a:solidFill>
              <a:latin typeface="Proxima Nova"/>
              <a:ea typeface="Proxima Nova"/>
              <a:cs typeface="Proxima Nova"/>
              <a:sym typeface="Proxima Nov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4"/>
          <p:cNvSpPr txBox="1"/>
          <p:nvPr>
            <p:ph type="title"/>
          </p:nvPr>
        </p:nvSpPr>
        <p:spPr>
          <a:xfrm>
            <a:off x="653250" y="556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640"/>
              <a:t>CONTENTS</a:t>
            </a:r>
            <a:endParaRPr sz="3640"/>
          </a:p>
        </p:txBody>
      </p:sp>
      <p:sp>
        <p:nvSpPr>
          <p:cNvPr id="95" name="Google Shape;95;p14"/>
          <p:cNvSpPr txBox="1"/>
          <p:nvPr>
            <p:ph idx="1" type="body"/>
          </p:nvPr>
        </p:nvSpPr>
        <p:spPr>
          <a:xfrm>
            <a:off x="729400" y="1413775"/>
            <a:ext cx="7688700" cy="3432600"/>
          </a:xfrm>
          <a:prstGeom prst="rect">
            <a:avLst/>
          </a:prstGeom>
        </p:spPr>
        <p:txBody>
          <a:bodyPr anchorCtr="0" anchor="t" bIns="91425" lIns="91425" spcFirstLastPara="1" rIns="91425" wrap="square" tIns="91425">
            <a:normAutofit/>
          </a:bodyPr>
          <a:lstStyle/>
          <a:p>
            <a:pPr indent="-336550" lvl="0" marL="457200" rtl="0" algn="l">
              <a:spcBef>
                <a:spcPts val="0"/>
              </a:spcBef>
              <a:spcAft>
                <a:spcPts val="0"/>
              </a:spcAft>
              <a:buClr>
                <a:schemeClr val="dk2"/>
              </a:buClr>
              <a:buSzPts val="1700"/>
              <a:buChar char="❏"/>
            </a:pPr>
            <a:r>
              <a:rPr lang="en" sz="1700">
                <a:solidFill>
                  <a:schemeClr val="dk2"/>
                </a:solidFill>
              </a:rPr>
              <a:t>OVERVIEW</a:t>
            </a:r>
            <a:endParaRPr sz="1700">
              <a:solidFill>
                <a:schemeClr val="dk2"/>
              </a:solidFill>
            </a:endParaRPr>
          </a:p>
          <a:p>
            <a:pPr indent="-336550" lvl="0" marL="457200" rtl="0" algn="l">
              <a:spcBef>
                <a:spcPts val="0"/>
              </a:spcBef>
              <a:spcAft>
                <a:spcPts val="0"/>
              </a:spcAft>
              <a:buClr>
                <a:schemeClr val="dk2"/>
              </a:buClr>
              <a:buSzPts val="1700"/>
              <a:buChar char="❏"/>
            </a:pPr>
            <a:r>
              <a:rPr lang="en" sz="1700">
                <a:solidFill>
                  <a:schemeClr val="dk2"/>
                </a:solidFill>
              </a:rPr>
              <a:t>ANALYSIS &amp; DESIGN BASED ON PROBLEM STATEMENT</a:t>
            </a:r>
            <a:endParaRPr sz="1700">
              <a:solidFill>
                <a:schemeClr val="dk2"/>
              </a:solidFill>
            </a:endParaRPr>
          </a:p>
          <a:p>
            <a:pPr indent="-336550" lvl="0" marL="457200" rtl="0" algn="l">
              <a:spcBef>
                <a:spcPts val="0"/>
              </a:spcBef>
              <a:spcAft>
                <a:spcPts val="0"/>
              </a:spcAft>
              <a:buClr>
                <a:schemeClr val="dk2"/>
              </a:buClr>
              <a:buSzPts val="1700"/>
              <a:buChar char="❏"/>
            </a:pPr>
            <a:r>
              <a:rPr lang="en" sz="1700">
                <a:solidFill>
                  <a:schemeClr val="dk2"/>
                </a:solidFill>
              </a:rPr>
              <a:t>ANALYSIS OF METHODOLOGY</a:t>
            </a:r>
            <a:endParaRPr sz="1700">
              <a:solidFill>
                <a:schemeClr val="dk2"/>
              </a:solidFill>
            </a:endParaRPr>
          </a:p>
          <a:p>
            <a:pPr indent="-336550" lvl="0" marL="457200" rtl="0" algn="l">
              <a:spcBef>
                <a:spcPts val="0"/>
              </a:spcBef>
              <a:spcAft>
                <a:spcPts val="0"/>
              </a:spcAft>
              <a:buClr>
                <a:schemeClr val="dk2"/>
              </a:buClr>
              <a:buSzPts val="1700"/>
              <a:buChar char="❏"/>
            </a:pPr>
            <a:r>
              <a:rPr lang="en" sz="1700">
                <a:solidFill>
                  <a:schemeClr val="dk2"/>
                </a:solidFill>
              </a:rPr>
              <a:t>CONCLUSION</a:t>
            </a:r>
            <a:endParaRPr sz="17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5"/>
          <p:cNvSpPr txBox="1"/>
          <p:nvPr>
            <p:ph idx="1" type="body"/>
          </p:nvPr>
        </p:nvSpPr>
        <p:spPr>
          <a:xfrm>
            <a:off x="496350" y="2467551"/>
            <a:ext cx="7697400" cy="460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4600">
                <a:solidFill>
                  <a:schemeClr val="dk2"/>
                </a:solidFill>
                <a:latin typeface="Raleway Black"/>
                <a:ea typeface="Raleway Black"/>
                <a:cs typeface="Raleway Black"/>
                <a:sym typeface="Raleway Black"/>
              </a:rPr>
              <a:t>OVERVIEW</a:t>
            </a:r>
            <a:endParaRPr sz="4600">
              <a:solidFill>
                <a:schemeClr val="dk2"/>
              </a:solidFill>
              <a:latin typeface="Raleway Black"/>
              <a:ea typeface="Raleway Black"/>
              <a:cs typeface="Raleway Black"/>
              <a:sym typeface="Raleway Black"/>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6"/>
          <p:cNvSpPr txBox="1"/>
          <p:nvPr>
            <p:ph type="ctrTitle"/>
          </p:nvPr>
        </p:nvSpPr>
        <p:spPr>
          <a:xfrm>
            <a:off x="729625" y="563025"/>
            <a:ext cx="7688100" cy="71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600"/>
              <a:t>ABSTRACT:</a:t>
            </a:r>
            <a:endParaRPr sz="2600"/>
          </a:p>
        </p:txBody>
      </p:sp>
      <p:sp>
        <p:nvSpPr>
          <p:cNvPr id="106" name="Google Shape;106;p16"/>
          <p:cNvSpPr txBox="1"/>
          <p:nvPr>
            <p:ph idx="1" type="subTitle"/>
          </p:nvPr>
        </p:nvSpPr>
        <p:spPr>
          <a:xfrm>
            <a:off x="729625" y="1389025"/>
            <a:ext cx="7688100" cy="3365100"/>
          </a:xfrm>
          <a:prstGeom prst="rect">
            <a:avLst/>
          </a:prstGeom>
        </p:spPr>
        <p:txBody>
          <a:bodyPr anchorCtr="0" anchor="t" bIns="91425" lIns="91425" spcFirstLastPara="1" rIns="91425" wrap="square" tIns="91425">
            <a:normAutofit fontScale="77500" lnSpcReduction="10000"/>
          </a:bodyPr>
          <a:lstStyle/>
          <a:p>
            <a:pPr indent="0" lvl="0" marL="0" rtl="0" algn="just">
              <a:lnSpc>
                <a:spcPct val="115000"/>
              </a:lnSpc>
              <a:spcBef>
                <a:spcPts val="0"/>
              </a:spcBef>
              <a:spcAft>
                <a:spcPts val="0"/>
              </a:spcAft>
              <a:buNone/>
            </a:pPr>
            <a:r>
              <a:rPr lang="en" sz="1708"/>
              <a:t>Financial time series forecasting has become a vital focus within computational intelligence, engaging finance researchers in academia and industry alike due to its broad applications and substantial impact. While numerous Machine Learning (ML) models have been developed for this purpose, an extensive array of surveys already exists covering ML applications in financial forecasting.  </a:t>
            </a:r>
            <a:endParaRPr sz="1708"/>
          </a:p>
          <a:p>
            <a:pPr indent="0" lvl="0" marL="0" rtl="0" algn="just">
              <a:lnSpc>
                <a:spcPct val="115000"/>
              </a:lnSpc>
              <a:spcBef>
                <a:spcPts val="0"/>
              </a:spcBef>
              <a:spcAft>
                <a:spcPts val="0"/>
              </a:spcAft>
              <a:buNone/>
            </a:pPr>
            <a:r>
              <a:t/>
            </a:r>
            <a:endParaRPr sz="1708"/>
          </a:p>
          <a:p>
            <a:pPr indent="0" lvl="0" marL="0" rtl="0" algn="just">
              <a:lnSpc>
                <a:spcPct val="115000"/>
              </a:lnSpc>
              <a:spcBef>
                <a:spcPts val="0"/>
              </a:spcBef>
              <a:spcAft>
                <a:spcPts val="0"/>
              </a:spcAft>
              <a:buNone/>
            </a:pPr>
            <a:r>
              <a:rPr lang="en" sz="1708"/>
              <a:t>More recently, Deep Learning (DL) models have entered the field, showing significant performance improvements over traditional ML methods. However, despite the growing interest in DL for financial time series forecasting, there is a notable lack of research focused specifically on DL applications for finance, particularly for region-specific data. This research aims to bridge this gap by experimenting with various DL models to optimize forecasting accuracy specifically for the Bombay Stock Exchange. Through this study, we seek not only to review current DL approaches but also to identify, improve, and potentially introduce a novel model tailored to Indian stock data. In addition to providing a comprehensive review, this research highlights potential setbacks and emerging opportunities in DL for financial forecasting, offering insights valuable to future researchers in the field.</a:t>
            </a:r>
            <a:endParaRPr sz="1708"/>
          </a:p>
          <a:p>
            <a:pPr indent="0" lvl="0" marL="0" rtl="0" algn="just">
              <a:lnSpc>
                <a:spcPct val="115000"/>
              </a:lnSpc>
              <a:spcBef>
                <a:spcPts val="0"/>
              </a:spcBef>
              <a:spcAft>
                <a:spcPts val="0"/>
              </a:spcAft>
              <a:buNone/>
            </a:pPr>
            <a:r>
              <a:t/>
            </a:r>
            <a:endParaRPr sz="1708"/>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7"/>
          <p:cNvSpPr txBox="1"/>
          <p:nvPr>
            <p:ph type="title"/>
          </p:nvPr>
        </p:nvSpPr>
        <p:spPr>
          <a:xfrm>
            <a:off x="729450" y="5340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640"/>
              <a:t>PROBLEM STATEMENT:</a:t>
            </a:r>
            <a:endParaRPr sz="2640"/>
          </a:p>
        </p:txBody>
      </p:sp>
      <p:sp>
        <p:nvSpPr>
          <p:cNvPr id="112" name="Google Shape;112;p17"/>
          <p:cNvSpPr txBox="1"/>
          <p:nvPr>
            <p:ph idx="1" type="body"/>
          </p:nvPr>
        </p:nvSpPr>
        <p:spPr>
          <a:xfrm>
            <a:off x="727650" y="1441200"/>
            <a:ext cx="7688700" cy="3382800"/>
          </a:xfrm>
          <a:prstGeom prst="rect">
            <a:avLst/>
          </a:prstGeom>
        </p:spPr>
        <p:txBody>
          <a:bodyPr anchorCtr="0" anchor="t" bIns="91425" lIns="91425" spcFirstLastPara="1" rIns="91425" wrap="square" tIns="91425">
            <a:normAutofit lnSpcReduction="20000"/>
          </a:bodyPr>
          <a:lstStyle/>
          <a:p>
            <a:pPr indent="0" lvl="0" marL="0" rtl="0" algn="just">
              <a:spcBef>
                <a:spcPts val="1200"/>
              </a:spcBef>
              <a:spcAft>
                <a:spcPts val="0"/>
              </a:spcAft>
              <a:buNone/>
            </a:pPr>
            <a:r>
              <a:rPr lang="en"/>
              <a:t>Financial time series forecasting faces significant challenges that can compromise the accuracy and reliability of predictions. Issues such as data quality, including missing values and gaps in historical records, pose considerable hurdles for forecasting models. Additionally, nonstationarity in financial data, often caused by structural breaks from market regulations or global events, complicates the modeling process. The inherent volatility and uncertainty of financial markets further necessitate advanced modeling techniques capable of capturing the complex, nonlinear relationships among variables, as traditional linear models may not adequately reflect the dynamics of these systems.</a:t>
            </a:r>
            <a:endParaRPr/>
          </a:p>
          <a:p>
            <a:pPr indent="0" lvl="0" marL="0" rtl="0" algn="just">
              <a:spcBef>
                <a:spcPts val="1200"/>
              </a:spcBef>
              <a:spcAft>
                <a:spcPts val="1200"/>
              </a:spcAft>
              <a:buNone/>
            </a:pPr>
            <a:r>
              <a:rPr lang="en"/>
              <a:t>Despite the increasing interest in deep learning (DL) techniques, there is a notable lack of comprehensive literature reviews focusing on their implementation and effectiveness in financial time series forecasting. This research aims to fill this gap by systematically reviewing existing DL methodologies, highlighting their strengths and weaknesses, and evaluating their predictability in overcoming common challenges such as overfitting and model generalization. Furthermore, we will experiment with various DL models on financial datasets, specifically focusing on the Bombay Stock Exchange, to identify an optimized model for this context. By leveraging the predictive capabilities of DL, this study seeks to enhance forecasting accuracy, ultimately contributing to improved decision-making processes within the finance industry.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8"/>
          <p:cNvSpPr txBox="1"/>
          <p:nvPr>
            <p:ph idx="1" type="body"/>
          </p:nvPr>
        </p:nvSpPr>
        <p:spPr>
          <a:xfrm>
            <a:off x="496350" y="2467551"/>
            <a:ext cx="7697400" cy="460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4600">
                <a:solidFill>
                  <a:schemeClr val="dk2"/>
                </a:solidFill>
                <a:latin typeface="Raleway Black"/>
                <a:ea typeface="Raleway Black"/>
                <a:cs typeface="Raleway Black"/>
                <a:sym typeface="Raleway Black"/>
              </a:rPr>
              <a:t>ANALYSIS AND DESIGN</a:t>
            </a:r>
            <a:endParaRPr sz="4600">
              <a:solidFill>
                <a:schemeClr val="dk2"/>
              </a:solidFill>
              <a:latin typeface="Raleway Black"/>
              <a:ea typeface="Raleway Black"/>
              <a:cs typeface="Raleway Black"/>
              <a:sym typeface="Raleway Black"/>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9"/>
          <p:cNvSpPr txBox="1"/>
          <p:nvPr>
            <p:ph type="title"/>
          </p:nvPr>
        </p:nvSpPr>
        <p:spPr>
          <a:xfrm>
            <a:off x="729450" y="6328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DATASET AND DATA ANALYSIS</a:t>
            </a:r>
            <a:endParaRPr/>
          </a:p>
        </p:txBody>
      </p:sp>
      <p:sp>
        <p:nvSpPr>
          <p:cNvPr id="123" name="Google Shape;123;p19"/>
          <p:cNvSpPr txBox="1"/>
          <p:nvPr>
            <p:ph idx="1" type="body"/>
          </p:nvPr>
        </p:nvSpPr>
        <p:spPr>
          <a:xfrm>
            <a:off x="729450" y="1433150"/>
            <a:ext cx="7902600" cy="4134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1200"/>
              <a:t>Selected Dataset : BSE (Bombay Stock Exchange) SENSEX Next 50</a:t>
            </a:r>
            <a:endParaRPr b="1" sz="1200"/>
          </a:p>
          <a:p>
            <a:pPr indent="-304800" lvl="0" marL="457200" rtl="0" algn="l">
              <a:lnSpc>
                <a:spcPct val="125000"/>
              </a:lnSpc>
              <a:spcBef>
                <a:spcPts val="1200"/>
              </a:spcBef>
              <a:spcAft>
                <a:spcPts val="0"/>
              </a:spcAft>
              <a:buSzPts val="1200"/>
              <a:buChar char="●"/>
            </a:pPr>
            <a:r>
              <a:rPr lang="en" sz="1200"/>
              <a:t>The BSE SENSEX Next 50 TMC is designed to measure the performance of the 50 largest and most liquid companies within the BSE 500 that are not members of the BSE SENSEX 50 TMC.</a:t>
            </a:r>
            <a:endParaRPr sz="1200"/>
          </a:p>
          <a:p>
            <a:pPr indent="-304800" lvl="0" marL="457200" rtl="0" algn="l">
              <a:lnSpc>
                <a:spcPct val="125000"/>
              </a:lnSpc>
              <a:spcBef>
                <a:spcPts val="0"/>
              </a:spcBef>
              <a:spcAft>
                <a:spcPts val="0"/>
              </a:spcAft>
              <a:buSzPts val="1200"/>
              <a:buChar char="●"/>
            </a:pPr>
            <a:r>
              <a:rPr lang="en" sz="1200" u="sng"/>
              <a:t>Long Historical Data</a:t>
            </a:r>
            <a:r>
              <a:rPr lang="en" sz="1200"/>
              <a:t>: Established in 1875, BSE offers extensive historical data, beneficial for identifying long-term trends and cycles.</a:t>
            </a:r>
            <a:endParaRPr sz="1200"/>
          </a:p>
          <a:p>
            <a:pPr indent="-304800" lvl="0" marL="457200" rtl="0" algn="l">
              <a:lnSpc>
                <a:spcPct val="125000"/>
              </a:lnSpc>
              <a:spcBef>
                <a:spcPts val="0"/>
              </a:spcBef>
              <a:spcAft>
                <a:spcPts val="0"/>
              </a:spcAft>
              <a:buSzPts val="1200"/>
              <a:buChar char="●"/>
            </a:pPr>
            <a:r>
              <a:rPr lang="en" sz="1200" u="sng"/>
              <a:t>Diverse Company Listings</a:t>
            </a:r>
            <a:r>
              <a:rPr lang="en" sz="1200"/>
              <a:t>: Includes a broad range of industries, especially small and mid-cap companies, providing a more comprehensive view of the Indian economy.</a:t>
            </a:r>
            <a:endParaRPr sz="1200"/>
          </a:p>
          <a:p>
            <a:pPr indent="-304800" lvl="0" marL="457200" rtl="0" algn="l">
              <a:lnSpc>
                <a:spcPct val="125000"/>
              </a:lnSpc>
              <a:spcBef>
                <a:spcPts val="0"/>
              </a:spcBef>
              <a:spcAft>
                <a:spcPts val="0"/>
              </a:spcAft>
              <a:buSzPts val="1200"/>
              <a:buChar char="●"/>
            </a:pPr>
            <a:r>
              <a:rPr lang="en" sz="1200" u="sng"/>
              <a:t>Broader Market Representation</a:t>
            </a:r>
            <a:r>
              <a:rPr lang="en" sz="1200"/>
              <a:t>: BSE’s SENSEX index reflects general market sentiment and serves as an economic barometer.</a:t>
            </a:r>
            <a:endParaRPr sz="1200"/>
          </a:p>
          <a:p>
            <a:pPr indent="-304800" lvl="0" marL="457200" rtl="0" algn="l">
              <a:lnSpc>
                <a:spcPct val="125000"/>
              </a:lnSpc>
              <a:spcBef>
                <a:spcPts val="0"/>
              </a:spcBef>
              <a:spcAft>
                <a:spcPts val="0"/>
              </a:spcAft>
              <a:buSzPts val="1200"/>
              <a:buChar char="●"/>
            </a:pPr>
            <a:r>
              <a:rPr lang="en" sz="1200" u="sng"/>
              <a:t>Greater Volatility</a:t>
            </a:r>
            <a:r>
              <a:rPr lang="en" sz="1200"/>
              <a:t>: The inclusion of smaller stocks introduces more volatility, useful for forecasting market sentiment and risk.</a:t>
            </a:r>
            <a:endParaRPr sz="1200"/>
          </a:p>
          <a:p>
            <a:pPr indent="-304800" lvl="0" marL="457200" rtl="0" algn="l">
              <a:lnSpc>
                <a:spcPct val="125000"/>
              </a:lnSpc>
              <a:spcBef>
                <a:spcPts val="0"/>
              </a:spcBef>
              <a:spcAft>
                <a:spcPts val="0"/>
              </a:spcAft>
              <a:buSzPts val="1200"/>
              <a:buChar char="●"/>
            </a:pPr>
            <a:r>
              <a:rPr lang="en" sz="1200" u="sng"/>
              <a:t>Unique Insights from Trading Volumes</a:t>
            </a:r>
            <a:r>
              <a:rPr lang="en" sz="1200"/>
              <a:t>: BSE’s data includes lower-volume trades, helping model less-liquid asset behavior.</a:t>
            </a:r>
            <a:endParaRPr sz="1200"/>
          </a:p>
          <a:p>
            <a:pPr indent="-304800" lvl="0" marL="457200" rtl="0" algn="l">
              <a:lnSpc>
                <a:spcPct val="125000"/>
              </a:lnSpc>
              <a:spcBef>
                <a:spcPts val="0"/>
              </a:spcBef>
              <a:spcAft>
                <a:spcPts val="0"/>
              </a:spcAft>
              <a:buSzPts val="1200"/>
              <a:buChar char="●"/>
            </a:pPr>
            <a:r>
              <a:rPr lang="en" sz="1200" u="sng"/>
              <a:t>Event Sensitivity</a:t>
            </a:r>
            <a:r>
              <a:rPr lang="en" sz="1200"/>
              <a:t>: BSE data reflects responses to major events like COVID-19, financial scams, and policy shifts, providing insight into how markets react to crises.</a:t>
            </a:r>
            <a:endParaRPr sz="1200"/>
          </a:p>
          <a:p>
            <a:pPr indent="0" lvl="0" marL="0" rtl="0" algn="l">
              <a:spcBef>
                <a:spcPts val="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pic>
        <p:nvPicPr>
          <p:cNvPr id="128" name="Google Shape;128;p20"/>
          <p:cNvPicPr preferRelativeResize="0"/>
          <p:nvPr/>
        </p:nvPicPr>
        <p:blipFill>
          <a:blip r:embed="rId3">
            <a:alphaModFix/>
          </a:blip>
          <a:stretch>
            <a:fillRect/>
          </a:stretch>
        </p:blipFill>
        <p:spPr>
          <a:xfrm>
            <a:off x="773898" y="480525"/>
            <a:ext cx="3969425" cy="3432825"/>
          </a:xfrm>
          <a:prstGeom prst="rect">
            <a:avLst/>
          </a:prstGeom>
          <a:noFill/>
          <a:ln>
            <a:noFill/>
          </a:ln>
        </p:spPr>
      </p:pic>
      <p:sp>
        <p:nvSpPr>
          <p:cNvPr id="129" name="Google Shape;129;p20"/>
          <p:cNvSpPr txBox="1"/>
          <p:nvPr/>
        </p:nvSpPr>
        <p:spPr>
          <a:xfrm>
            <a:off x="774450" y="4069125"/>
            <a:ext cx="7442700" cy="509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100">
                <a:solidFill>
                  <a:schemeClr val="accent1"/>
                </a:solidFill>
                <a:latin typeface="Lato"/>
                <a:ea typeface="Lato"/>
                <a:cs typeface="Lato"/>
                <a:sym typeface="Lato"/>
              </a:rPr>
              <a:t>Fig </a:t>
            </a:r>
            <a:r>
              <a:rPr b="1" lang="en" sz="1100">
                <a:solidFill>
                  <a:schemeClr val="accent1"/>
                </a:solidFill>
                <a:latin typeface="Lato"/>
                <a:ea typeface="Lato"/>
                <a:cs typeface="Lato"/>
                <a:sym typeface="Lato"/>
              </a:rPr>
              <a:t>1</a:t>
            </a:r>
            <a:r>
              <a:rPr b="1" lang="en" sz="1100">
                <a:solidFill>
                  <a:schemeClr val="accent1"/>
                </a:solidFill>
                <a:latin typeface="Lato"/>
                <a:ea typeface="Lato"/>
                <a:cs typeface="Lato"/>
                <a:sym typeface="Lato"/>
              </a:rPr>
              <a:t>:</a:t>
            </a:r>
            <a:r>
              <a:rPr lang="en" sz="1100">
                <a:solidFill>
                  <a:schemeClr val="accent1"/>
                </a:solidFill>
                <a:latin typeface="Lato"/>
                <a:ea typeface="Lato"/>
                <a:cs typeface="Lato"/>
                <a:sym typeface="Lato"/>
              </a:rPr>
              <a:t> Overall analysis of training data being considered downloaded from BSE official website. </a:t>
            </a:r>
            <a:endParaRPr sz="1100">
              <a:solidFill>
                <a:schemeClr val="accent1"/>
              </a:solidFill>
              <a:latin typeface="Lato"/>
              <a:ea typeface="Lato"/>
              <a:cs typeface="Lato"/>
              <a:sym typeface="Lato"/>
            </a:endParaRPr>
          </a:p>
          <a:p>
            <a:pPr indent="0" lvl="0" marL="0" rtl="0" algn="ctr">
              <a:spcBef>
                <a:spcPts val="0"/>
              </a:spcBef>
              <a:spcAft>
                <a:spcPts val="0"/>
              </a:spcAft>
              <a:buNone/>
            </a:pPr>
            <a:r>
              <a:rPr lang="en" sz="1100">
                <a:solidFill>
                  <a:schemeClr val="accent1"/>
                </a:solidFill>
                <a:latin typeface="Lato"/>
                <a:ea typeface="Lato"/>
                <a:cs typeface="Lato"/>
                <a:sym typeface="Lato"/>
              </a:rPr>
              <a:t>             (Notice how it contains anomalies because of some rows being empty)</a:t>
            </a:r>
            <a:endParaRPr sz="1100">
              <a:solidFill>
                <a:schemeClr val="accent1"/>
              </a:solidFill>
              <a:latin typeface="Lato"/>
              <a:ea typeface="Lato"/>
              <a:cs typeface="Lato"/>
              <a:sym typeface="Lato"/>
            </a:endParaRPr>
          </a:p>
        </p:txBody>
      </p:sp>
      <p:pic>
        <p:nvPicPr>
          <p:cNvPr id="130" name="Google Shape;130;p20"/>
          <p:cNvPicPr preferRelativeResize="0"/>
          <p:nvPr/>
        </p:nvPicPr>
        <p:blipFill>
          <a:blip r:embed="rId4">
            <a:alphaModFix/>
          </a:blip>
          <a:stretch>
            <a:fillRect/>
          </a:stretch>
        </p:blipFill>
        <p:spPr>
          <a:xfrm>
            <a:off x="5054400" y="545212"/>
            <a:ext cx="3031682" cy="330345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pic>
        <p:nvPicPr>
          <p:cNvPr id="135" name="Google Shape;135;p21"/>
          <p:cNvPicPr preferRelativeResize="0"/>
          <p:nvPr/>
        </p:nvPicPr>
        <p:blipFill rotWithShape="1">
          <a:blip r:embed="rId3">
            <a:alphaModFix/>
          </a:blip>
          <a:srcRect b="0" l="2029" r="3157" t="0"/>
          <a:stretch/>
        </p:blipFill>
        <p:spPr>
          <a:xfrm>
            <a:off x="224975" y="792025"/>
            <a:ext cx="4174675" cy="2810475"/>
          </a:xfrm>
          <a:prstGeom prst="rect">
            <a:avLst/>
          </a:prstGeom>
          <a:noFill/>
          <a:ln>
            <a:noFill/>
          </a:ln>
        </p:spPr>
      </p:pic>
      <p:pic>
        <p:nvPicPr>
          <p:cNvPr id="136" name="Google Shape;136;p21"/>
          <p:cNvPicPr preferRelativeResize="0"/>
          <p:nvPr/>
        </p:nvPicPr>
        <p:blipFill rotWithShape="1">
          <a:blip r:embed="rId4">
            <a:alphaModFix/>
          </a:blip>
          <a:srcRect b="0" l="2169" r="5100" t="0"/>
          <a:stretch/>
        </p:blipFill>
        <p:spPr>
          <a:xfrm>
            <a:off x="4826091" y="792025"/>
            <a:ext cx="4051709" cy="2810475"/>
          </a:xfrm>
          <a:prstGeom prst="rect">
            <a:avLst/>
          </a:prstGeom>
          <a:noFill/>
          <a:ln>
            <a:noFill/>
          </a:ln>
        </p:spPr>
      </p:pic>
      <p:sp>
        <p:nvSpPr>
          <p:cNvPr id="137" name="Google Shape;137;p21"/>
          <p:cNvSpPr txBox="1"/>
          <p:nvPr/>
        </p:nvSpPr>
        <p:spPr>
          <a:xfrm>
            <a:off x="622225" y="3928250"/>
            <a:ext cx="3853500" cy="93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100">
                <a:solidFill>
                  <a:schemeClr val="accent1"/>
                </a:solidFill>
                <a:latin typeface="Lato"/>
                <a:ea typeface="Lato"/>
                <a:cs typeface="Lato"/>
                <a:sym typeface="Lato"/>
              </a:rPr>
              <a:t>Fig </a:t>
            </a:r>
            <a:r>
              <a:rPr b="1" lang="en" sz="1100">
                <a:solidFill>
                  <a:schemeClr val="accent1"/>
                </a:solidFill>
                <a:latin typeface="Lato"/>
                <a:ea typeface="Lato"/>
                <a:cs typeface="Lato"/>
                <a:sym typeface="Lato"/>
              </a:rPr>
              <a:t>2</a:t>
            </a:r>
            <a:r>
              <a:rPr lang="en" sz="1100">
                <a:solidFill>
                  <a:schemeClr val="accent1"/>
                </a:solidFill>
                <a:latin typeface="Lato"/>
                <a:ea typeface="Lato"/>
                <a:cs typeface="Lato"/>
                <a:sym typeface="Lato"/>
              </a:rPr>
              <a:t>: Relationship of stock price (closing price) each year</a:t>
            </a:r>
            <a:endParaRPr sz="1100">
              <a:solidFill>
                <a:schemeClr val="accent1"/>
              </a:solidFill>
              <a:latin typeface="Lato"/>
              <a:ea typeface="Lato"/>
              <a:cs typeface="Lato"/>
              <a:sym typeface="Lato"/>
            </a:endParaRPr>
          </a:p>
        </p:txBody>
      </p:sp>
      <p:sp>
        <p:nvSpPr>
          <p:cNvPr id="138" name="Google Shape;138;p21"/>
          <p:cNvSpPr txBox="1"/>
          <p:nvPr/>
        </p:nvSpPr>
        <p:spPr>
          <a:xfrm>
            <a:off x="5203850" y="3799725"/>
            <a:ext cx="3590100" cy="680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chemeClr val="accent1"/>
                </a:solidFill>
                <a:latin typeface="Lato"/>
                <a:ea typeface="Lato"/>
                <a:cs typeface="Lato"/>
                <a:sym typeface="Lato"/>
              </a:rPr>
              <a:t>Fig </a:t>
            </a:r>
            <a:r>
              <a:rPr b="1" lang="en" sz="1100">
                <a:solidFill>
                  <a:schemeClr val="accent1"/>
                </a:solidFill>
                <a:latin typeface="Lato"/>
                <a:ea typeface="Lato"/>
                <a:cs typeface="Lato"/>
                <a:sym typeface="Lato"/>
              </a:rPr>
              <a:t>3</a:t>
            </a:r>
            <a:r>
              <a:rPr lang="en" sz="1100">
                <a:solidFill>
                  <a:schemeClr val="accent1"/>
                </a:solidFill>
                <a:latin typeface="Lato"/>
                <a:ea typeface="Lato"/>
                <a:cs typeface="Lato"/>
                <a:sym typeface="Lato"/>
              </a:rPr>
              <a:t>: After applying a simple smoothing filter to see the long-term trend (Savgol Filter)</a:t>
            </a:r>
            <a:endParaRPr sz="1100">
              <a:solidFill>
                <a:schemeClr val="accent1"/>
              </a:solidFill>
              <a:latin typeface="Lato"/>
              <a:ea typeface="Lato"/>
              <a:cs typeface="Lato"/>
              <a:sym typeface="La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pic>
        <p:nvPicPr>
          <p:cNvPr id="143" name="Google Shape;143;p22"/>
          <p:cNvPicPr preferRelativeResize="0"/>
          <p:nvPr/>
        </p:nvPicPr>
        <p:blipFill>
          <a:blip r:embed="rId3">
            <a:alphaModFix/>
          </a:blip>
          <a:stretch>
            <a:fillRect/>
          </a:stretch>
        </p:blipFill>
        <p:spPr>
          <a:xfrm>
            <a:off x="949525" y="0"/>
            <a:ext cx="6787349" cy="2205425"/>
          </a:xfrm>
          <a:prstGeom prst="rect">
            <a:avLst/>
          </a:prstGeom>
          <a:noFill/>
          <a:ln>
            <a:noFill/>
          </a:ln>
        </p:spPr>
      </p:pic>
      <p:sp>
        <p:nvSpPr>
          <p:cNvPr id="144" name="Google Shape;144;p22"/>
          <p:cNvSpPr txBox="1"/>
          <p:nvPr/>
        </p:nvSpPr>
        <p:spPr>
          <a:xfrm>
            <a:off x="1053125" y="4678950"/>
            <a:ext cx="6998100" cy="31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accent1"/>
                </a:solidFill>
                <a:latin typeface="Lato"/>
                <a:ea typeface="Lato"/>
                <a:cs typeface="Lato"/>
                <a:sym typeface="Lato"/>
              </a:rPr>
              <a:t>Fig </a:t>
            </a:r>
            <a:r>
              <a:rPr b="1" lang="en" sz="1300">
                <a:solidFill>
                  <a:schemeClr val="accent1"/>
                </a:solidFill>
                <a:latin typeface="Lato"/>
                <a:ea typeface="Lato"/>
                <a:cs typeface="Lato"/>
                <a:sym typeface="Lato"/>
              </a:rPr>
              <a:t>4</a:t>
            </a:r>
            <a:r>
              <a:rPr lang="en" sz="1300">
                <a:solidFill>
                  <a:schemeClr val="accent1"/>
                </a:solidFill>
                <a:latin typeface="Lato"/>
                <a:ea typeface="Lato"/>
                <a:cs typeface="Lato"/>
                <a:sym typeface="Lato"/>
              </a:rPr>
              <a:t>:</a:t>
            </a:r>
            <a:r>
              <a:rPr lang="en" sz="1300">
                <a:solidFill>
                  <a:schemeClr val="accent1"/>
                </a:solidFill>
                <a:latin typeface="Lato"/>
                <a:ea typeface="Lato"/>
                <a:cs typeface="Lato"/>
                <a:sym typeface="Lato"/>
              </a:rPr>
              <a:t> Time Series Trends which includes checking for recurring patterns, change in values etc.</a:t>
            </a:r>
            <a:endParaRPr sz="1300">
              <a:solidFill>
                <a:schemeClr val="accent1"/>
              </a:solidFill>
              <a:latin typeface="Lato"/>
              <a:ea typeface="Lato"/>
              <a:cs typeface="Lato"/>
              <a:sym typeface="Lato"/>
            </a:endParaRPr>
          </a:p>
        </p:txBody>
      </p:sp>
      <p:pic>
        <p:nvPicPr>
          <p:cNvPr id="145" name="Google Shape;145;p22"/>
          <p:cNvPicPr preferRelativeResize="0"/>
          <p:nvPr/>
        </p:nvPicPr>
        <p:blipFill>
          <a:blip r:embed="rId4">
            <a:alphaModFix/>
          </a:blip>
          <a:stretch>
            <a:fillRect/>
          </a:stretch>
        </p:blipFill>
        <p:spPr>
          <a:xfrm>
            <a:off x="1053125" y="2315950"/>
            <a:ext cx="6580162" cy="21687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pic>
        <p:nvPicPr>
          <p:cNvPr id="150" name="Google Shape;150;p23"/>
          <p:cNvPicPr preferRelativeResize="0"/>
          <p:nvPr/>
        </p:nvPicPr>
        <p:blipFill>
          <a:blip r:embed="rId3">
            <a:alphaModFix/>
          </a:blip>
          <a:stretch>
            <a:fillRect/>
          </a:stretch>
        </p:blipFill>
        <p:spPr>
          <a:xfrm>
            <a:off x="452178" y="174725"/>
            <a:ext cx="4245800" cy="2556516"/>
          </a:xfrm>
          <a:prstGeom prst="rect">
            <a:avLst/>
          </a:prstGeom>
          <a:noFill/>
          <a:ln>
            <a:noFill/>
          </a:ln>
        </p:spPr>
      </p:pic>
      <p:pic>
        <p:nvPicPr>
          <p:cNvPr id="151" name="Google Shape;151;p23"/>
          <p:cNvPicPr preferRelativeResize="0"/>
          <p:nvPr/>
        </p:nvPicPr>
        <p:blipFill>
          <a:blip r:embed="rId4">
            <a:alphaModFix/>
          </a:blip>
          <a:stretch>
            <a:fillRect/>
          </a:stretch>
        </p:blipFill>
        <p:spPr>
          <a:xfrm>
            <a:off x="4944624" y="675750"/>
            <a:ext cx="3286125" cy="1352550"/>
          </a:xfrm>
          <a:prstGeom prst="rect">
            <a:avLst/>
          </a:prstGeom>
          <a:noFill/>
          <a:ln>
            <a:noFill/>
          </a:ln>
        </p:spPr>
      </p:pic>
      <p:sp>
        <p:nvSpPr>
          <p:cNvPr id="152" name="Google Shape;152;p23"/>
          <p:cNvSpPr txBox="1"/>
          <p:nvPr/>
        </p:nvSpPr>
        <p:spPr>
          <a:xfrm>
            <a:off x="2965175" y="2729725"/>
            <a:ext cx="7379400" cy="25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chemeClr val="accent1"/>
                </a:solidFill>
                <a:latin typeface="Lato"/>
                <a:ea typeface="Lato"/>
                <a:cs typeface="Lato"/>
                <a:sym typeface="Lato"/>
              </a:rPr>
              <a:t>Fig </a:t>
            </a:r>
            <a:r>
              <a:rPr b="1" lang="en" sz="900">
                <a:solidFill>
                  <a:schemeClr val="accent1"/>
                </a:solidFill>
                <a:latin typeface="Lato"/>
                <a:ea typeface="Lato"/>
                <a:cs typeface="Lato"/>
                <a:sym typeface="Lato"/>
              </a:rPr>
              <a:t>5</a:t>
            </a:r>
            <a:r>
              <a:rPr lang="en" sz="900">
                <a:solidFill>
                  <a:schemeClr val="accent1"/>
                </a:solidFill>
                <a:latin typeface="Lato"/>
                <a:ea typeface="Lato"/>
                <a:cs typeface="Lato"/>
                <a:sym typeface="Lato"/>
              </a:rPr>
              <a:t>: ADF(Augmented Dickey-Fuller) Test on the given  data </a:t>
            </a:r>
            <a:endParaRPr sz="900">
              <a:solidFill>
                <a:schemeClr val="accent1"/>
              </a:solidFill>
              <a:latin typeface="Lato"/>
              <a:ea typeface="Lato"/>
              <a:cs typeface="Lato"/>
              <a:sym typeface="Lato"/>
            </a:endParaRPr>
          </a:p>
        </p:txBody>
      </p:sp>
      <p:pic>
        <p:nvPicPr>
          <p:cNvPr id="153" name="Google Shape;153;p23"/>
          <p:cNvPicPr preferRelativeResize="0"/>
          <p:nvPr/>
        </p:nvPicPr>
        <p:blipFill>
          <a:blip r:embed="rId5">
            <a:alphaModFix/>
          </a:blip>
          <a:stretch>
            <a:fillRect/>
          </a:stretch>
        </p:blipFill>
        <p:spPr>
          <a:xfrm>
            <a:off x="3502650" y="3207900"/>
            <a:ext cx="2293900" cy="1610075"/>
          </a:xfrm>
          <a:prstGeom prst="rect">
            <a:avLst/>
          </a:prstGeom>
          <a:noFill/>
          <a:ln>
            <a:noFill/>
          </a:ln>
        </p:spPr>
      </p:pic>
      <p:sp>
        <p:nvSpPr>
          <p:cNvPr id="154" name="Google Shape;154;p23"/>
          <p:cNvSpPr txBox="1"/>
          <p:nvPr/>
        </p:nvSpPr>
        <p:spPr>
          <a:xfrm>
            <a:off x="3444550" y="4797025"/>
            <a:ext cx="4354200" cy="17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chemeClr val="accent1"/>
                </a:solidFill>
                <a:latin typeface="Lato"/>
                <a:ea typeface="Lato"/>
                <a:cs typeface="Lato"/>
                <a:sym typeface="Lato"/>
              </a:rPr>
              <a:t>Fig </a:t>
            </a:r>
            <a:r>
              <a:rPr b="1" lang="en" sz="900">
                <a:solidFill>
                  <a:schemeClr val="accent1"/>
                </a:solidFill>
                <a:latin typeface="Lato"/>
                <a:ea typeface="Lato"/>
                <a:cs typeface="Lato"/>
                <a:sym typeface="Lato"/>
              </a:rPr>
              <a:t>6</a:t>
            </a:r>
            <a:r>
              <a:rPr b="1" lang="en" sz="900">
                <a:solidFill>
                  <a:schemeClr val="accent1"/>
                </a:solidFill>
                <a:latin typeface="Lato"/>
                <a:ea typeface="Lato"/>
                <a:cs typeface="Lato"/>
                <a:sym typeface="Lato"/>
              </a:rPr>
              <a:t>:</a:t>
            </a:r>
            <a:r>
              <a:rPr lang="en" sz="900">
                <a:solidFill>
                  <a:schemeClr val="accent1"/>
                </a:solidFill>
                <a:latin typeface="Lato"/>
                <a:ea typeface="Lato"/>
                <a:cs typeface="Lato"/>
                <a:sym typeface="Lato"/>
              </a:rPr>
              <a:t> Descriptive Statistics for Closing Price</a:t>
            </a:r>
            <a:endParaRPr sz="900">
              <a:solidFill>
                <a:schemeClr val="accent1"/>
              </a:solidFill>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pic>
        <p:nvPicPr>
          <p:cNvPr id="159" name="Google Shape;159;p24"/>
          <p:cNvPicPr preferRelativeResize="0"/>
          <p:nvPr/>
        </p:nvPicPr>
        <p:blipFill>
          <a:blip r:embed="rId3">
            <a:alphaModFix/>
          </a:blip>
          <a:stretch>
            <a:fillRect/>
          </a:stretch>
        </p:blipFill>
        <p:spPr>
          <a:xfrm>
            <a:off x="309400" y="679025"/>
            <a:ext cx="3635392" cy="3129850"/>
          </a:xfrm>
          <a:prstGeom prst="rect">
            <a:avLst/>
          </a:prstGeom>
          <a:noFill/>
          <a:ln>
            <a:noFill/>
          </a:ln>
        </p:spPr>
      </p:pic>
      <p:pic>
        <p:nvPicPr>
          <p:cNvPr id="160" name="Google Shape;160;p24"/>
          <p:cNvPicPr preferRelativeResize="0"/>
          <p:nvPr/>
        </p:nvPicPr>
        <p:blipFill>
          <a:blip r:embed="rId4">
            <a:alphaModFix/>
          </a:blip>
          <a:stretch>
            <a:fillRect/>
          </a:stretch>
        </p:blipFill>
        <p:spPr>
          <a:xfrm>
            <a:off x="4439775" y="825788"/>
            <a:ext cx="4520424" cy="2983100"/>
          </a:xfrm>
          <a:prstGeom prst="rect">
            <a:avLst/>
          </a:prstGeom>
          <a:noFill/>
          <a:ln>
            <a:noFill/>
          </a:ln>
        </p:spPr>
      </p:pic>
      <p:sp>
        <p:nvSpPr>
          <p:cNvPr id="161" name="Google Shape;161;p24"/>
          <p:cNvSpPr txBox="1"/>
          <p:nvPr/>
        </p:nvSpPr>
        <p:spPr>
          <a:xfrm>
            <a:off x="312825" y="4078275"/>
            <a:ext cx="3555900" cy="72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100">
                <a:solidFill>
                  <a:schemeClr val="accent1"/>
                </a:solidFill>
                <a:latin typeface="Lato"/>
                <a:ea typeface="Lato"/>
                <a:cs typeface="Lato"/>
                <a:sym typeface="Lato"/>
              </a:rPr>
              <a:t>Fig </a:t>
            </a:r>
            <a:r>
              <a:rPr b="1" lang="en" sz="1100">
                <a:solidFill>
                  <a:schemeClr val="accent1"/>
                </a:solidFill>
                <a:latin typeface="Lato"/>
                <a:ea typeface="Lato"/>
                <a:cs typeface="Lato"/>
                <a:sym typeface="Lato"/>
              </a:rPr>
              <a:t>7</a:t>
            </a:r>
            <a:r>
              <a:rPr lang="en" sz="1100">
                <a:solidFill>
                  <a:schemeClr val="accent1"/>
                </a:solidFill>
                <a:latin typeface="Lato"/>
                <a:ea typeface="Lato"/>
                <a:cs typeface="Lato"/>
                <a:sym typeface="Lato"/>
              </a:rPr>
              <a:t>: Correlation matrix between Closing price against each year</a:t>
            </a:r>
            <a:endParaRPr sz="1100">
              <a:solidFill>
                <a:schemeClr val="accent1"/>
              </a:solidFill>
              <a:latin typeface="Lato"/>
              <a:ea typeface="Lato"/>
              <a:cs typeface="Lato"/>
              <a:sym typeface="Lato"/>
            </a:endParaRPr>
          </a:p>
        </p:txBody>
      </p:sp>
      <p:sp>
        <p:nvSpPr>
          <p:cNvPr id="162" name="Google Shape;162;p24"/>
          <p:cNvSpPr txBox="1"/>
          <p:nvPr/>
        </p:nvSpPr>
        <p:spPr>
          <a:xfrm>
            <a:off x="4840450" y="4064900"/>
            <a:ext cx="3872700" cy="146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100">
                <a:solidFill>
                  <a:schemeClr val="accent1"/>
                </a:solidFill>
                <a:latin typeface="Lato"/>
                <a:ea typeface="Lato"/>
                <a:cs typeface="Lato"/>
                <a:sym typeface="Lato"/>
              </a:rPr>
              <a:t>Fig </a:t>
            </a:r>
            <a:r>
              <a:rPr b="1" lang="en" sz="1100">
                <a:solidFill>
                  <a:schemeClr val="accent1"/>
                </a:solidFill>
                <a:latin typeface="Lato"/>
                <a:ea typeface="Lato"/>
                <a:cs typeface="Lato"/>
                <a:sym typeface="Lato"/>
              </a:rPr>
              <a:t>8</a:t>
            </a:r>
            <a:r>
              <a:rPr lang="en" sz="1100">
                <a:solidFill>
                  <a:schemeClr val="accent1"/>
                </a:solidFill>
                <a:latin typeface="Lato"/>
                <a:ea typeface="Lato"/>
                <a:cs typeface="Lato"/>
                <a:sym typeface="Lato"/>
              </a:rPr>
              <a:t>: Comparison of monthly average closing price against each year</a:t>
            </a:r>
            <a:endParaRPr sz="1100">
              <a:solidFill>
                <a:schemeClr val="accent1"/>
              </a:solidFill>
              <a:latin typeface="Lato"/>
              <a:ea typeface="Lato"/>
              <a:cs typeface="Lato"/>
              <a:sym typeface="La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pic>
        <p:nvPicPr>
          <p:cNvPr id="167" name="Google Shape;167;p25"/>
          <p:cNvPicPr preferRelativeResize="0"/>
          <p:nvPr/>
        </p:nvPicPr>
        <p:blipFill>
          <a:blip r:embed="rId3">
            <a:alphaModFix/>
          </a:blip>
          <a:stretch>
            <a:fillRect/>
          </a:stretch>
        </p:blipFill>
        <p:spPr>
          <a:xfrm>
            <a:off x="908550" y="157325"/>
            <a:ext cx="3817910" cy="2414425"/>
          </a:xfrm>
          <a:prstGeom prst="rect">
            <a:avLst/>
          </a:prstGeom>
          <a:noFill/>
          <a:ln>
            <a:noFill/>
          </a:ln>
        </p:spPr>
      </p:pic>
      <p:sp>
        <p:nvSpPr>
          <p:cNvPr id="168" name="Google Shape;168;p25"/>
          <p:cNvSpPr txBox="1"/>
          <p:nvPr/>
        </p:nvSpPr>
        <p:spPr>
          <a:xfrm>
            <a:off x="1339850" y="2579000"/>
            <a:ext cx="6552300" cy="6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000">
                <a:solidFill>
                  <a:schemeClr val="accent1"/>
                </a:solidFill>
                <a:latin typeface="Lato"/>
                <a:ea typeface="Lato"/>
                <a:cs typeface="Lato"/>
                <a:sym typeface="Lato"/>
              </a:rPr>
              <a:t>Fig </a:t>
            </a:r>
            <a:r>
              <a:rPr b="1" lang="en" sz="1000">
                <a:solidFill>
                  <a:schemeClr val="accent1"/>
                </a:solidFill>
                <a:latin typeface="Lato"/>
                <a:ea typeface="Lato"/>
                <a:cs typeface="Lato"/>
                <a:sym typeface="Lato"/>
              </a:rPr>
              <a:t>9</a:t>
            </a:r>
            <a:r>
              <a:rPr b="1" lang="en" sz="1000">
                <a:solidFill>
                  <a:schemeClr val="accent1"/>
                </a:solidFill>
                <a:latin typeface="Lato"/>
                <a:ea typeface="Lato"/>
                <a:cs typeface="Lato"/>
                <a:sym typeface="Lato"/>
              </a:rPr>
              <a:t>:</a:t>
            </a:r>
            <a:r>
              <a:rPr lang="en" sz="1000">
                <a:solidFill>
                  <a:schemeClr val="accent1"/>
                </a:solidFill>
                <a:latin typeface="Lato"/>
                <a:ea typeface="Lato"/>
                <a:cs typeface="Lato"/>
                <a:sym typeface="Lato"/>
              </a:rPr>
              <a:t> The graph illustrates the yearly volatility of the closing prices. </a:t>
            </a:r>
            <a:endParaRPr sz="1000">
              <a:solidFill>
                <a:schemeClr val="accent1"/>
              </a:solidFill>
              <a:latin typeface="Lato"/>
              <a:ea typeface="Lato"/>
              <a:cs typeface="Lato"/>
              <a:sym typeface="Lato"/>
            </a:endParaRPr>
          </a:p>
          <a:p>
            <a:pPr indent="0" lvl="0" marL="0" rtl="0" algn="ctr">
              <a:spcBef>
                <a:spcPts val="0"/>
              </a:spcBef>
              <a:spcAft>
                <a:spcPts val="0"/>
              </a:spcAft>
              <a:buNone/>
            </a:pPr>
            <a:r>
              <a:rPr lang="en" sz="1000">
                <a:solidFill>
                  <a:schemeClr val="accent1"/>
                </a:solidFill>
                <a:latin typeface="Lato"/>
                <a:ea typeface="Lato"/>
                <a:cs typeface="Lato"/>
                <a:sym typeface="Lato"/>
              </a:rPr>
              <a:t>High volatility indicates significant price fluctuations, while low volatility suggests relative stability.  </a:t>
            </a:r>
            <a:endParaRPr sz="1000">
              <a:solidFill>
                <a:schemeClr val="accent1"/>
              </a:solidFill>
              <a:latin typeface="Lato"/>
              <a:ea typeface="Lato"/>
              <a:cs typeface="Lato"/>
              <a:sym typeface="Lato"/>
            </a:endParaRPr>
          </a:p>
        </p:txBody>
      </p:sp>
      <p:pic>
        <p:nvPicPr>
          <p:cNvPr id="169" name="Google Shape;169;p25"/>
          <p:cNvPicPr preferRelativeResize="0"/>
          <p:nvPr/>
        </p:nvPicPr>
        <p:blipFill>
          <a:blip r:embed="rId4">
            <a:alphaModFix/>
          </a:blip>
          <a:stretch>
            <a:fillRect/>
          </a:stretch>
        </p:blipFill>
        <p:spPr>
          <a:xfrm>
            <a:off x="4964375" y="241075"/>
            <a:ext cx="2331875" cy="2149100"/>
          </a:xfrm>
          <a:prstGeom prst="rect">
            <a:avLst/>
          </a:prstGeom>
          <a:noFill/>
          <a:ln>
            <a:noFill/>
          </a:ln>
        </p:spPr>
      </p:pic>
      <p:sp>
        <p:nvSpPr>
          <p:cNvPr id="170" name="Google Shape;170;p25"/>
          <p:cNvSpPr txBox="1"/>
          <p:nvPr/>
        </p:nvSpPr>
        <p:spPr>
          <a:xfrm>
            <a:off x="601275" y="3606000"/>
            <a:ext cx="7787400" cy="9003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n" u="sng">
                <a:solidFill>
                  <a:schemeClr val="accent1"/>
                </a:solidFill>
                <a:latin typeface="Lato"/>
                <a:ea typeface="Lato"/>
                <a:cs typeface="Lato"/>
                <a:sym typeface="Lato"/>
              </a:rPr>
              <a:t>CONCLUSION: </a:t>
            </a:r>
            <a:endParaRPr b="1" u="sng">
              <a:solidFill>
                <a:schemeClr val="accent1"/>
              </a:solidFill>
              <a:latin typeface="Lato"/>
              <a:ea typeface="Lato"/>
              <a:cs typeface="Lato"/>
              <a:sym typeface="Lato"/>
            </a:endParaRPr>
          </a:p>
          <a:p>
            <a:pPr indent="0" lvl="0" marL="0" rtl="0" algn="just">
              <a:spcBef>
                <a:spcPts val="0"/>
              </a:spcBef>
              <a:spcAft>
                <a:spcPts val="0"/>
              </a:spcAft>
              <a:buNone/>
            </a:pPr>
            <a:r>
              <a:rPr lang="en" sz="1200">
                <a:solidFill>
                  <a:schemeClr val="accent1"/>
                </a:solidFill>
                <a:latin typeface="Lato"/>
                <a:ea typeface="Lato"/>
                <a:cs typeface="Lato"/>
                <a:sym typeface="Lato"/>
              </a:rPr>
              <a:t>The dataset exhibits significant fluctuations, making it challenging for predictive modeling. Such volatile data can be difficult to capture with traditional time series models, as they often assume underlying patterns and trends.</a:t>
            </a:r>
            <a:endParaRPr sz="1200">
              <a:solidFill>
                <a:schemeClr val="accent1"/>
              </a:solidFill>
              <a:latin typeface="Lato"/>
              <a:ea typeface="Lato"/>
              <a:cs typeface="Lato"/>
              <a:sym typeface="Lato"/>
            </a:endParaRPr>
          </a:p>
          <a:p>
            <a:pPr indent="0" lvl="0" marL="0" rtl="0" algn="just">
              <a:spcBef>
                <a:spcPts val="0"/>
              </a:spcBef>
              <a:spcAft>
                <a:spcPts val="0"/>
              </a:spcAft>
              <a:buNone/>
            </a:pPr>
            <a:r>
              <a:rPr lang="en" sz="1200">
                <a:solidFill>
                  <a:schemeClr val="accent1"/>
                </a:solidFill>
                <a:latin typeface="Lato"/>
                <a:ea typeface="Lato"/>
                <a:cs typeface="Lato"/>
                <a:sym typeface="Lato"/>
              </a:rPr>
              <a:t> Deep learning models, especially those designed for time series data, like Recurrent Neural Networks (RNNs) and Long Short-Term Memory (LSTM) networks, can be more effective in handling these fluctuations. However, they require careful feature engineering, hyperparameter tuning, and potential data augmentation to improve accuracy.</a:t>
            </a:r>
            <a:endParaRPr sz="1200">
              <a:solidFill>
                <a:schemeClr val="accent1"/>
              </a:solidFill>
              <a:latin typeface="Lato"/>
              <a:ea typeface="Lato"/>
              <a:cs typeface="Lato"/>
              <a:sym typeface="Lato"/>
            </a:endParaRPr>
          </a:p>
          <a:p>
            <a:pPr indent="0" lvl="0" marL="0" rtl="0" algn="just">
              <a:spcBef>
                <a:spcPts val="0"/>
              </a:spcBef>
              <a:spcAft>
                <a:spcPts val="0"/>
              </a:spcAft>
              <a:buNone/>
            </a:pPr>
            <a:r>
              <a:t/>
            </a:r>
            <a:endParaRPr sz="1200">
              <a:solidFill>
                <a:schemeClr val="accent1"/>
              </a:solidFill>
              <a:latin typeface="Lato"/>
              <a:ea typeface="Lato"/>
              <a:cs typeface="Lato"/>
              <a:sym typeface="La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6"/>
          <p:cNvSpPr txBox="1"/>
          <p:nvPr>
            <p:ph type="title"/>
          </p:nvPr>
        </p:nvSpPr>
        <p:spPr>
          <a:xfrm>
            <a:off x="729450" y="6328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EVALUATION CRITERIA</a:t>
            </a:r>
            <a:endParaRPr/>
          </a:p>
        </p:txBody>
      </p:sp>
      <p:sp>
        <p:nvSpPr>
          <p:cNvPr id="176" name="Google Shape;176;p26"/>
          <p:cNvSpPr txBox="1"/>
          <p:nvPr>
            <p:ph idx="1" type="body"/>
          </p:nvPr>
        </p:nvSpPr>
        <p:spPr>
          <a:xfrm>
            <a:off x="729450" y="1353925"/>
            <a:ext cx="7997700" cy="4149600"/>
          </a:xfrm>
          <a:prstGeom prst="rect">
            <a:avLst/>
          </a:prstGeom>
        </p:spPr>
        <p:txBody>
          <a:bodyPr anchorCtr="0" anchor="t" bIns="91425" lIns="91425" spcFirstLastPara="1" rIns="91425" wrap="square" tIns="91425">
            <a:normAutofit lnSpcReduction="20000"/>
          </a:bodyPr>
          <a:lstStyle/>
          <a:p>
            <a:pPr indent="-311150" lvl="0" marL="457200" rtl="0" algn="l">
              <a:spcBef>
                <a:spcPts val="0"/>
              </a:spcBef>
              <a:spcAft>
                <a:spcPts val="0"/>
              </a:spcAft>
              <a:buSzPts val="1300"/>
              <a:buChar char="➢"/>
            </a:pPr>
            <a:r>
              <a:rPr b="1" lang="en"/>
              <a:t>REGRESSION TEST PARAMETERS</a:t>
            </a:r>
            <a:endParaRPr b="1"/>
          </a:p>
          <a:p>
            <a:pPr indent="0" lvl="0" marL="457200" rtl="0" algn="l">
              <a:spcBef>
                <a:spcPts val="1200"/>
              </a:spcBef>
              <a:spcAft>
                <a:spcPts val="0"/>
              </a:spcAft>
              <a:buNone/>
            </a:pPr>
            <a:r>
              <a:rPr lang="en"/>
              <a:t>These are used to evaluate prediction accuracy, error size, and the model's ability to capture variance in the data, essential for applications like financial forecasting or sales predictions.</a:t>
            </a:r>
            <a:endParaRPr/>
          </a:p>
          <a:p>
            <a:pPr indent="0" lvl="0" marL="457200" rtl="0" algn="l">
              <a:spcBef>
                <a:spcPts val="1200"/>
              </a:spcBef>
              <a:spcAft>
                <a:spcPts val="0"/>
              </a:spcAft>
              <a:buNone/>
            </a:pPr>
            <a:r>
              <a:rPr lang="en"/>
              <a:t>1. </a:t>
            </a:r>
            <a:r>
              <a:rPr lang="en" u="sng"/>
              <a:t>Mean Absolute Error (MAE)</a:t>
            </a:r>
            <a:r>
              <a:rPr lang="en"/>
              <a:t>: The average of the absolute differences between predicted and actual values. MAE provides a straightforward measure of accuracy, with lower values indicating better performance.</a:t>
            </a:r>
            <a:endParaRPr/>
          </a:p>
          <a:p>
            <a:pPr indent="0" lvl="0" marL="457200" rtl="0" algn="l">
              <a:spcBef>
                <a:spcPts val="1200"/>
              </a:spcBef>
              <a:spcAft>
                <a:spcPts val="0"/>
              </a:spcAft>
              <a:buNone/>
            </a:pPr>
            <a:r>
              <a:rPr lang="en"/>
              <a:t>2.</a:t>
            </a:r>
            <a:r>
              <a:rPr lang="en" u="sng"/>
              <a:t>Mean Squared Error (MSE)</a:t>
            </a:r>
            <a:r>
              <a:rPr lang="en"/>
              <a:t>: The average of squared differences between predicted and actual values. MSE penalizes larger errors more than smaller ones, making it useful when large errors are undesirable.</a:t>
            </a:r>
            <a:endParaRPr/>
          </a:p>
          <a:p>
            <a:pPr indent="0" lvl="0" marL="457200" rtl="0" algn="l">
              <a:spcBef>
                <a:spcPts val="1200"/>
              </a:spcBef>
              <a:spcAft>
                <a:spcPts val="0"/>
              </a:spcAft>
              <a:buNone/>
            </a:pPr>
            <a:r>
              <a:rPr lang="en"/>
              <a:t>3.</a:t>
            </a:r>
            <a:r>
              <a:rPr lang="en" u="sng"/>
              <a:t>Root Mean Squared Error (RMSE)</a:t>
            </a:r>
            <a:r>
              <a:rPr lang="en"/>
              <a:t>: The square root of MSE, which has the same unit as the target variable. RMSE is commonly used when interpretability in the target’s unit is important.</a:t>
            </a:r>
            <a:endParaRPr/>
          </a:p>
          <a:p>
            <a:pPr indent="0" lvl="0" marL="457200" rtl="0" algn="l">
              <a:spcBef>
                <a:spcPts val="1200"/>
              </a:spcBef>
              <a:spcAft>
                <a:spcPts val="0"/>
              </a:spcAft>
              <a:buNone/>
            </a:pPr>
            <a:r>
              <a:rPr lang="en"/>
              <a:t>4.</a:t>
            </a:r>
            <a:r>
              <a:rPr lang="en" u="sng"/>
              <a:t>Mean Absolute Percentage Error (MAPE)</a:t>
            </a:r>
            <a:r>
              <a:rPr lang="en"/>
              <a:t>: Measures average percentage error between predictions and actuals. Scale-independent, making it useful for varied data ranges; lower MAPE indicates higher accuracy.</a:t>
            </a:r>
            <a:endParaRPr/>
          </a:p>
          <a:p>
            <a:pPr indent="0" lvl="0" marL="0" rtl="0" algn="l">
              <a:spcBef>
                <a:spcPts val="1200"/>
              </a:spcBef>
              <a:spcAft>
                <a:spcPts val="12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7"/>
          <p:cNvSpPr txBox="1"/>
          <p:nvPr>
            <p:ph idx="1" type="body"/>
          </p:nvPr>
        </p:nvSpPr>
        <p:spPr>
          <a:xfrm>
            <a:off x="729450" y="1337975"/>
            <a:ext cx="8124600" cy="4559400"/>
          </a:xfrm>
          <a:prstGeom prst="rect">
            <a:avLst/>
          </a:prstGeom>
        </p:spPr>
        <p:txBody>
          <a:bodyPr anchorCtr="0" anchor="t" bIns="91425" lIns="91425" spcFirstLastPara="1" rIns="91425" wrap="square" tIns="91425">
            <a:normAutofit fontScale="85000" lnSpcReduction="10000"/>
          </a:bodyPr>
          <a:lstStyle/>
          <a:p>
            <a:pPr indent="-298767" lvl="0" marL="457200" rtl="0" algn="l">
              <a:spcBef>
                <a:spcPts val="0"/>
              </a:spcBef>
              <a:spcAft>
                <a:spcPts val="0"/>
              </a:spcAft>
              <a:buSzPct val="100000"/>
              <a:buChar char="➢"/>
            </a:pPr>
            <a:r>
              <a:rPr b="1" lang="en"/>
              <a:t>BINARY CLASSIFIERS</a:t>
            </a:r>
            <a:endParaRPr b="1"/>
          </a:p>
          <a:p>
            <a:pPr indent="0" lvl="0" marL="457200" rtl="0" algn="l">
              <a:spcBef>
                <a:spcPts val="1200"/>
              </a:spcBef>
              <a:spcAft>
                <a:spcPts val="0"/>
              </a:spcAft>
              <a:buNone/>
            </a:pPr>
            <a:r>
              <a:rPr lang="en"/>
              <a:t>A binary classifier can be quite useful for financial time series forecasting, especially when the primary goal is to predict a directional outcome, such as whether a stock price or financial metric will increase or decrease within a given period. </a:t>
            </a:r>
            <a:endParaRPr/>
          </a:p>
          <a:p>
            <a:pPr indent="0" lvl="0" marL="457200" rtl="0" algn="l">
              <a:spcBef>
                <a:spcPts val="1200"/>
              </a:spcBef>
              <a:spcAft>
                <a:spcPts val="0"/>
              </a:spcAft>
              <a:buNone/>
            </a:pPr>
            <a:r>
              <a:rPr lang="en"/>
              <a:t>1.</a:t>
            </a:r>
            <a:r>
              <a:rPr lang="en" u="sng"/>
              <a:t>Accuracy</a:t>
            </a:r>
            <a:r>
              <a:rPr lang="en"/>
              <a:t>: Measures the percentage of correct predictions (both positive and negative) made by the model out of all predictions. Useful when class distribution is balanced.</a:t>
            </a:r>
            <a:endParaRPr/>
          </a:p>
          <a:p>
            <a:pPr indent="0" lvl="0" marL="457200" rtl="0" algn="l">
              <a:spcBef>
                <a:spcPts val="1200"/>
              </a:spcBef>
              <a:spcAft>
                <a:spcPts val="0"/>
              </a:spcAft>
              <a:buNone/>
            </a:pPr>
            <a:r>
              <a:rPr lang="en"/>
              <a:t>2.</a:t>
            </a:r>
            <a:r>
              <a:rPr lang="en" u="sng"/>
              <a:t>Precision</a:t>
            </a:r>
            <a:r>
              <a:rPr lang="en"/>
              <a:t>: The ratio of true positives (correctly predicted positive cases) to the total predicted positives. It is crucial when false positives are costly, as it shows the proportion of relevant instances among those predicted as positive.</a:t>
            </a:r>
            <a:endParaRPr/>
          </a:p>
          <a:p>
            <a:pPr indent="0" lvl="0" marL="457200" rtl="0" algn="l">
              <a:spcBef>
                <a:spcPts val="1200"/>
              </a:spcBef>
              <a:spcAft>
                <a:spcPts val="0"/>
              </a:spcAft>
              <a:buNone/>
            </a:pPr>
            <a:r>
              <a:rPr lang="en"/>
              <a:t>3.</a:t>
            </a:r>
            <a:r>
              <a:rPr lang="en" u="sng"/>
              <a:t>Recall (Sensitivity)</a:t>
            </a:r>
            <a:r>
              <a:rPr lang="en"/>
              <a:t>: The ratio of true positives to the actual positives. Recall is essential when false negatives are costly, showing how well the model detects actual positive cases.</a:t>
            </a:r>
            <a:endParaRPr/>
          </a:p>
          <a:p>
            <a:pPr indent="0" lvl="0" marL="457200" rtl="0" algn="l">
              <a:spcBef>
                <a:spcPts val="1200"/>
              </a:spcBef>
              <a:spcAft>
                <a:spcPts val="0"/>
              </a:spcAft>
              <a:buNone/>
            </a:pPr>
            <a:r>
              <a:rPr lang="en"/>
              <a:t>4.</a:t>
            </a:r>
            <a:r>
              <a:rPr lang="en" u="sng"/>
              <a:t>F1 Score</a:t>
            </a:r>
            <a:r>
              <a:rPr lang="en"/>
              <a:t>: The harmonic mean of precision and recall. F1 Score is beneficial when there’s an uneven class distribution, balancing precision and recall to provide a single metric for performance.</a:t>
            </a:r>
            <a:endParaRPr/>
          </a:p>
          <a:p>
            <a:pPr indent="0" lvl="0" marL="457200" rtl="0" algn="l">
              <a:spcBef>
                <a:spcPts val="1200"/>
              </a:spcBef>
              <a:spcAft>
                <a:spcPts val="0"/>
              </a:spcAft>
              <a:buNone/>
            </a:pPr>
            <a:r>
              <a:rPr lang="en"/>
              <a:t>5.</a:t>
            </a:r>
            <a:r>
              <a:rPr lang="en" u="sng"/>
              <a:t>ROC-AUC (Receiver Operating Characteristic - Area Under Curve)</a:t>
            </a:r>
            <a:r>
              <a:rPr lang="en"/>
              <a:t>: This measures the classifier's ability to distinguish between classes by plotting true positive rate against false positive rate. It provides a score from 0 to 1, with higher values indicating better performance across thresholds.</a:t>
            </a:r>
            <a:endParaRPr/>
          </a:p>
          <a:p>
            <a:pPr indent="0" lvl="0" marL="457200" rtl="0" algn="l">
              <a:spcBef>
                <a:spcPts val="1200"/>
              </a:spcBef>
              <a:spcAft>
                <a:spcPts val="0"/>
              </a:spcAft>
              <a:buNone/>
            </a:pPr>
            <a:r>
              <a:t/>
            </a:r>
            <a:endParaRPr/>
          </a:p>
          <a:p>
            <a:pPr indent="0" lvl="0" marL="457200" rtl="0" algn="l">
              <a:spcBef>
                <a:spcPts val="1200"/>
              </a:spcBef>
              <a:spcAft>
                <a:spcPts val="0"/>
              </a:spcAft>
              <a:buNone/>
            </a:pPr>
            <a:r>
              <a:t/>
            </a:r>
            <a:endParaRPr/>
          </a:p>
          <a:p>
            <a:pPr indent="0" lvl="0" marL="457200" rtl="0" algn="l">
              <a:spcBef>
                <a:spcPts val="1200"/>
              </a:spcBef>
              <a:spcAft>
                <a:spcPts val="120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8"/>
          <p:cNvSpPr txBox="1"/>
          <p:nvPr>
            <p:ph type="title"/>
          </p:nvPr>
        </p:nvSpPr>
        <p:spPr>
          <a:xfrm>
            <a:off x="729450" y="6328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IMPLEMENTATION</a:t>
            </a:r>
            <a:endParaRPr/>
          </a:p>
        </p:txBody>
      </p:sp>
      <p:sp>
        <p:nvSpPr>
          <p:cNvPr id="187" name="Google Shape;187;p28"/>
          <p:cNvSpPr txBox="1"/>
          <p:nvPr>
            <p:ph idx="1" type="body"/>
          </p:nvPr>
        </p:nvSpPr>
        <p:spPr>
          <a:xfrm>
            <a:off x="729450" y="1469275"/>
            <a:ext cx="7794600" cy="34248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n" sz="1400"/>
              <a:t>OVERVIEW OF TECHNOLOGIES</a:t>
            </a:r>
            <a:endParaRPr sz="1400"/>
          </a:p>
          <a:p>
            <a:pPr indent="-304800" lvl="1" marL="914400" rtl="0" algn="l">
              <a:spcBef>
                <a:spcPts val="0"/>
              </a:spcBef>
              <a:spcAft>
                <a:spcPts val="0"/>
              </a:spcAft>
              <a:buSzPts val="1200"/>
              <a:buChar char="○"/>
            </a:pPr>
            <a:r>
              <a:rPr lang="en" sz="1200"/>
              <a:t>Python</a:t>
            </a:r>
            <a:endParaRPr sz="1200"/>
          </a:p>
          <a:p>
            <a:pPr indent="-304800" lvl="1" marL="914400" rtl="0" algn="l">
              <a:spcBef>
                <a:spcPts val="0"/>
              </a:spcBef>
              <a:spcAft>
                <a:spcPts val="0"/>
              </a:spcAft>
              <a:buSzPts val="1200"/>
              <a:buChar char="○"/>
            </a:pPr>
            <a:r>
              <a:rPr lang="en" sz="1200"/>
              <a:t>Google Colab</a:t>
            </a:r>
            <a:endParaRPr sz="1200"/>
          </a:p>
          <a:p>
            <a:pPr indent="0" lvl="0" marL="0" rtl="0" algn="l">
              <a:spcBef>
                <a:spcPts val="1200"/>
              </a:spcBef>
              <a:spcAft>
                <a:spcPts val="0"/>
              </a:spcAft>
              <a:buNone/>
            </a:pPr>
            <a:r>
              <a:t/>
            </a:r>
            <a:endParaRPr sz="1200"/>
          </a:p>
          <a:p>
            <a:pPr indent="-317500" lvl="0" marL="457200" rtl="0" algn="l">
              <a:spcBef>
                <a:spcPts val="1200"/>
              </a:spcBef>
              <a:spcAft>
                <a:spcPts val="0"/>
              </a:spcAft>
              <a:buSzPts val="1400"/>
              <a:buChar char="➢"/>
            </a:pPr>
            <a:r>
              <a:rPr lang="en" sz="1400"/>
              <a:t>LIBRARIES IMPORTED</a:t>
            </a:r>
            <a:endParaRPr sz="1400"/>
          </a:p>
          <a:p>
            <a:pPr indent="-304800" lvl="1" marL="914400" rtl="0" algn="l">
              <a:spcBef>
                <a:spcPts val="0"/>
              </a:spcBef>
              <a:spcAft>
                <a:spcPts val="0"/>
              </a:spcAft>
              <a:buSzPts val="1200"/>
              <a:buChar char="○"/>
            </a:pPr>
            <a:r>
              <a:rPr lang="en" sz="1200"/>
              <a:t>Pandas</a:t>
            </a:r>
            <a:endParaRPr sz="1200"/>
          </a:p>
          <a:p>
            <a:pPr indent="-304800" lvl="1" marL="914400" rtl="0" algn="l">
              <a:spcBef>
                <a:spcPts val="0"/>
              </a:spcBef>
              <a:spcAft>
                <a:spcPts val="0"/>
              </a:spcAft>
              <a:buSzPts val="1200"/>
              <a:buChar char="○"/>
            </a:pPr>
            <a:r>
              <a:rPr lang="en" sz="1200"/>
              <a:t>Numpy</a:t>
            </a:r>
            <a:endParaRPr sz="1200"/>
          </a:p>
          <a:p>
            <a:pPr indent="-304800" lvl="1" marL="914400" rtl="0" algn="l">
              <a:spcBef>
                <a:spcPts val="0"/>
              </a:spcBef>
              <a:spcAft>
                <a:spcPts val="0"/>
              </a:spcAft>
              <a:buSzPts val="1200"/>
              <a:buChar char="○"/>
            </a:pPr>
            <a:r>
              <a:rPr lang="en" sz="1200"/>
              <a:t>Scikit </a:t>
            </a:r>
            <a:endParaRPr sz="1200"/>
          </a:p>
          <a:p>
            <a:pPr indent="-304800" lvl="1" marL="914400" rtl="0" algn="l">
              <a:spcBef>
                <a:spcPts val="0"/>
              </a:spcBef>
              <a:spcAft>
                <a:spcPts val="0"/>
              </a:spcAft>
              <a:buSzPts val="1200"/>
              <a:buChar char="○"/>
            </a:pPr>
            <a:r>
              <a:rPr lang="en" sz="1200"/>
              <a:t>Keras</a:t>
            </a:r>
            <a:endParaRPr sz="1200"/>
          </a:p>
          <a:p>
            <a:pPr indent="-304800" lvl="1" marL="914400" rtl="0" algn="l">
              <a:spcBef>
                <a:spcPts val="0"/>
              </a:spcBef>
              <a:spcAft>
                <a:spcPts val="0"/>
              </a:spcAft>
              <a:buSzPts val="1200"/>
              <a:buChar char="○"/>
            </a:pPr>
            <a:r>
              <a:rPr lang="en" sz="1200"/>
              <a:t>Statsmodel</a:t>
            </a:r>
            <a:endParaRPr sz="1200"/>
          </a:p>
          <a:p>
            <a:pPr indent="-304800" lvl="1" marL="914400" rtl="0" algn="l">
              <a:spcBef>
                <a:spcPts val="0"/>
              </a:spcBef>
              <a:spcAft>
                <a:spcPts val="0"/>
              </a:spcAft>
              <a:buSzPts val="1200"/>
              <a:buChar char="○"/>
            </a:pPr>
            <a:r>
              <a:rPr lang="en" sz="1200"/>
              <a:t>pmdarima</a:t>
            </a:r>
            <a:endParaRPr sz="12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9"/>
          <p:cNvSpPr txBox="1"/>
          <p:nvPr>
            <p:ph idx="1" type="body"/>
          </p:nvPr>
        </p:nvSpPr>
        <p:spPr>
          <a:xfrm>
            <a:off x="496350" y="2315151"/>
            <a:ext cx="7697400" cy="460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4600">
                <a:solidFill>
                  <a:schemeClr val="dk2"/>
                </a:solidFill>
                <a:latin typeface="Raleway Black"/>
                <a:ea typeface="Raleway Black"/>
                <a:cs typeface="Raleway Black"/>
                <a:sym typeface="Raleway Black"/>
              </a:rPr>
              <a:t>ANALYSIS OF </a:t>
            </a:r>
            <a:endParaRPr sz="4600">
              <a:solidFill>
                <a:schemeClr val="dk2"/>
              </a:solidFill>
              <a:latin typeface="Raleway Black"/>
              <a:ea typeface="Raleway Black"/>
              <a:cs typeface="Raleway Black"/>
              <a:sym typeface="Raleway Black"/>
            </a:endParaRPr>
          </a:p>
          <a:p>
            <a:pPr indent="0" lvl="0" marL="0" rtl="0" algn="l">
              <a:spcBef>
                <a:spcPts val="0"/>
              </a:spcBef>
              <a:spcAft>
                <a:spcPts val="0"/>
              </a:spcAft>
              <a:buNone/>
            </a:pPr>
            <a:r>
              <a:rPr lang="en" sz="4600">
                <a:solidFill>
                  <a:schemeClr val="dk2"/>
                </a:solidFill>
                <a:latin typeface="Raleway Black"/>
                <a:ea typeface="Raleway Black"/>
                <a:cs typeface="Raleway Black"/>
                <a:sym typeface="Raleway Black"/>
              </a:rPr>
              <a:t>EXISTING METHODOLOGY</a:t>
            </a:r>
            <a:endParaRPr sz="4600">
              <a:solidFill>
                <a:schemeClr val="dk2"/>
              </a:solidFill>
              <a:latin typeface="Raleway Black"/>
              <a:ea typeface="Raleway Black"/>
              <a:cs typeface="Raleway Black"/>
              <a:sym typeface="Raleway Black"/>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0"/>
          <p:cNvSpPr txBox="1"/>
          <p:nvPr>
            <p:ph type="title"/>
          </p:nvPr>
        </p:nvSpPr>
        <p:spPr>
          <a:xfrm>
            <a:off x="727650" y="5514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ARIMA</a:t>
            </a:r>
            <a:endParaRPr/>
          </a:p>
          <a:p>
            <a:pPr indent="0" lvl="0" marL="0" rtl="0" algn="l">
              <a:spcBef>
                <a:spcPts val="0"/>
              </a:spcBef>
              <a:spcAft>
                <a:spcPts val="0"/>
              </a:spcAft>
              <a:buNone/>
            </a:pPr>
            <a:r>
              <a:t/>
            </a:r>
            <a:endParaRPr/>
          </a:p>
        </p:txBody>
      </p:sp>
      <p:sp>
        <p:nvSpPr>
          <p:cNvPr id="198" name="Google Shape;198;p30"/>
          <p:cNvSpPr txBox="1"/>
          <p:nvPr>
            <p:ph idx="1" type="body"/>
          </p:nvPr>
        </p:nvSpPr>
        <p:spPr>
          <a:xfrm>
            <a:off x="727650" y="1343050"/>
            <a:ext cx="3706800" cy="39462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sz="1200">
                <a:latin typeface="Arial"/>
                <a:ea typeface="Arial"/>
                <a:cs typeface="Arial"/>
                <a:sym typeface="Arial"/>
              </a:rPr>
              <a:t>ARIMA models are statistical tools used to analyze and predict time series data. They break down time series into three components:</a:t>
            </a:r>
            <a:endParaRPr sz="1200">
              <a:latin typeface="Arial"/>
              <a:ea typeface="Arial"/>
              <a:cs typeface="Arial"/>
              <a:sym typeface="Arial"/>
            </a:endParaRPr>
          </a:p>
          <a:p>
            <a:pPr indent="-304800" lvl="0" marL="457200" rtl="0" algn="l">
              <a:spcBef>
                <a:spcPts val="1200"/>
              </a:spcBef>
              <a:spcAft>
                <a:spcPts val="0"/>
              </a:spcAft>
              <a:buClr>
                <a:schemeClr val="accent1"/>
              </a:buClr>
              <a:buSzPts val="1200"/>
              <a:buFont typeface="Arial"/>
              <a:buAutoNum type="arabicPeriod"/>
            </a:pPr>
            <a:r>
              <a:rPr lang="en" sz="1200" u="sng">
                <a:latin typeface="Arial"/>
                <a:ea typeface="Arial"/>
                <a:cs typeface="Arial"/>
                <a:sym typeface="Arial"/>
              </a:rPr>
              <a:t>Autoregression (AR)</a:t>
            </a:r>
            <a:r>
              <a:rPr b="1" lang="en" sz="1200">
                <a:latin typeface="Arial"/>
                <a:ea typeface="Arial"/>
                <a:cs typeface="Arial"/>
                <a:sym typeface="Arial"/>
              </a:rPr>
              <a:t>:</a:t>
            </a:r>
            <a:r>
              <a:rPr lang="en" sz="1200">
                <a:latin typeface="Arial"/>
                <a:ea typeface="Arial"/>
                <a:cs typeface="Arial"/>
                <a:sym typeface="Arial"/>
              </a:rPr>
              <a:t> Uses past values of the series to predict future values.</a:t>
            </a:r>
            <a:endParaRPr sz="1200">
              <a:latin typeface="Arial"/>
              <a:ea typeface="Arial"/>
              <a:cs typeface="Arial"/>
              <a:sym typeface="Arial"/>
            </a:endParaRPr>
          </a:p>
          <a:p>
            <a:pPr indent="-304800" lvl="0" marL="457200" rtl="0" algn="l">
              <a:spcBef>
                <a:spcPts val="0"/>
              </a:spcBef>
              <a:spcAft>
                <a:spcPts val="0"/>
              </a:spcAft>
              <a:buClr>
                <a:schemeClr val="accent1"/>
              </a:buClr>
              <a:buSzPts val="1200"/>
              <a:buFont typeface="Arial"/>
              <a:buAutoNum type="arabicPeriod"/>
            </a:pPr>
            <a:r>
              <a:rPr lang="en" sz="1200" u="sng">
                <a:latin typeface="Arial"/>
                <a:ea typeface="Arial"/>
                <a:cs typeface="Arial"/>
                <a:sym typeface="Arial"/>
              </a:rPr>
              <a:t>Integration (I)</a:t>
            </a:r>
            <a:r>
              <a:rPr b="1" lang="en" sz="1200">
                <a:latin typeface="Arial"/>
                <a:ea typeface="Arial"/>
                <a:cs typeface="Arial"/>
                <a:sym typeface="Arial"/>
              </a:rPr>
              <a:t>:</a:t>
            </a:r>
            <a:r>
              <a:rPr lang="en" sz="1200">
                <a:latin typeface="Arial"/>
                <a:ea typeface="Arial"/>
                <a:cs typeface="Arial"/>
                <a:sym typeface="Arial"/>
              </a:rPr>
              <a:t> Makes the series stationary by differencing.</a:t>
            </a:r>
            <a:endParaRPr sz="1200">
              <a:latin typeface="Arial"/>
              <a:ea typeface="Arial"/>
              <a:cs typeface="Arial"/>
              <a:sym typeface="Arial"/>
            </a:endParaRPr>
          </a:p>
          <a:p>
            <a:pPr indent="-304800" lvl="0" marL="457200" rtl="0" algn="l">
              <a:spcBef>
                <a:spcPts val="0"/>
              </a:spcBef>
              <a:spcAft>
                <a:spcPts val="0"/>
              </a:spcAft>
              <a:buClr>
                <a:schemeClr val="accent1"/>
              </a:buClr>
              <a:buSzPts val="1200"/>
              <a:buFont typeface="Arial"/>
              <a:buAutoNum type="arabicPeriod"/>
            </a:pPr>
            <a:r>
              <a:rPr lang="en" sz="1200" u="sng">
                <a:latin typeface="Arial"/>
                <a:ea typeface="Arial"/>
                <a:cs typeface="Arial"/>
                <a:sym typeface="Arial"/>
              </a:rPr>
              <a:t>Moving Average (MA)</a:t>
            </a:r>
            <a:r>
              <a:rPr b="1" lang="en" sz="1200">
                <a:latin typeface="Arial"/>
                <a:ea typeface="Arial"/>
                <a:cs typeface="Arial"/>
                <a:sym typeface="Arial"/>
              </a:rPr>
              <a:t>:</a:t>
            </a:r>
            <a:r>
              <a:rPr lang="en" sz="1200">
                <a:latin typeface="Arial"/>
                <a:ea typeface="Arial"/>
                <a:cs typeface="Arial"/>
                <a:sym typeface="Arial"/>
              </a:rPr>
              <a:t> Uses past errors in the model to predict future values.</a:t>
            </a:r>
            <a:endParaRPr sz="1200">
              <a:latin typeface="Arial"/>
              <a:ea typeface="Arial"/>
              <a:cs typeface="Arial"/>
              <a:sym typeface="Arial"/>
            </a:endParaRPr>
          </a:p>
          <a:p>
            <a:pPr indent="0" lvl="0" marL="0" rtl="0" algn="l">
              <a:lnSpc>
                <a:spcPct val="100000"/>
              </a:lnSpc>
              <a:spcBef>
                <a:spcPts val="1200"/>
              </a:spcBef>
              <a:spcAft>
                <a:spcPts val="0"/>
              </a:spcAft>
              <a:buNone/>
            </a:pPr>
            <a:r>
              <a:rPr lang="en" sz="1200">
                <a:latin typeface="Arial"/>
                <a:ea typeface="Arial"/>
                <a:cs typeface="Arial"/>
                <a:sym typeface="Arial"/>
              </a:rPr>
              <a:t>ARIMA(p,d,q) where;</a:t>
            </a:r>
            <a:endParaRPr sz="1200">
              <a:latin typeface="Arial"/>
              <a:ea typeface="Arial"/>
              <a:cs typeface="Arial"/>
              <a:sym typeface="Arial"/>
            </a:endParaRPr>
          </a:p>
          <a:p>
            <a:pPr indent="0" lvl="0" marL="0" rtl="0" algn="l">
              <a:lnSpc>
                <a:spcPct val="75000"/>
              </a:lnSpc>
              <a:spcBef>
                <a:spcPts val="1200"/>
              </a:spcBef>
              <a:spcAft>
                <a:spcPts val="0"/>
              </a:spcAft>
              <a:buNone/>
            </a:pPr>
            <a:r>
              <a:rPr lang="en" sz="1200">
                <a:latin typeface="Arial"/>
                <a:ea typeface="Arial"/>
                <a:cs typeface="Arial"/>
                <a:sym typeface="Arial"/>
              </a:rPr>
              <a:t>p → order of autoregressive model</a:t>
            </a:r>
            <a:endParaRPr sz="1200">
              <a:latin typeface="Arial"/>
              <a:ea typeface="Arial"/>
              <a:cs typeface="Arial"/>
              <a:sym typeface="Arial"/>
            </a:endParaRPr>
          </a:p>
          <a:p>
            <a:pPr indent="0" lvl="0" marL="0" rtl="0" algn="l">
              <a:lnSpc>
                <a:spcPct val="75000"/>
              </a:lnSpc>
              <a:spcBef>
                <a:spcPts val="1200"/>
              </a:spcBef>
              <a:spcAft>
                <a:spcPts val="0"/>
              </a:spcAft>
              <a:buNone/>
            </a:pPr>
            <a:r>
              <a:rPr lang="en" sz="1200">
                <a:latin typeface="Arial"/>
                <a:ea typeface="Arial"/>
                <a:cs typeface="Arial"/>
                <a:sym typeface="Arial"/>
              </a:rPr>
              <a:t>d</a:t>
            </a:r>
            <a:r>
              <a:rPr lang="en" sz="1200">
                <a:latin typeface="Arial"/>
                <a:ea typeface="Arial"/>
                <a:cs typeface="Arial"/>
                <a:sym typeface="Arial"/>
              </a:rPr>
              <a:t> → </a:t>
            </a:r>
            <a:r>
              <a:rPr lang="en" sz="1200">
                <a:latin typeface="Arial"/>
                <a:ea typeface="Arial"/>
                <a:cs typeface="Arial"/>
                <a:sym typeface="Arial"/>
              </a:rPr>
              <a:t>degree of differencing</a:t>
            </a:r>
            <a:endParaRPr sz="1200">
              <a:latin typeface="Arial"/>
              <a:ea typeface="Arial"/>
              <a:cs typeface="Arial"/>
              <a:sym typeface="Arial"/>
            </a:endParaRPr>
          </a:p>
          <a:p>
            <a:pPr indent="0" lvl="0" marL="0" rtl="0" algn="l">
              <a:lnSpc>
                <a:spcPct val="75000"/>
              </a:lnSpc>
              <a:spcBef>
                <a:spcPts val="1200"/>
              </a:spcBef>
              <a:spcAft>
                <a:spcPts val="1200"/>
              </a:spcAft>
              <a:buNone/>
            </a:pPr>
            <a:r>
              <a:rPr lang="en" sz="1200">
                <a:latin typeface="Arial"/>
                <a:ea typeface="Arial"/>
                <a:cs typeface="Arial"/>
                <a:sym typeface="Arial"/>
              </a:rPr>
              <a:t>q</a:t>
            </a:r>
            <a:r>
              <a:rPr lang="en" sz="1200">
                <a:latin typeface="Arial"/>
                <a:ea typeface="Arial"/>
                <a:cs typeface="Arial"/>
                <a:sym typeface="Arial"/>
              </a:rPr>
              <a:t> → order of the moving average model</a:t>
            </a:r>
            <a:endParaRPr sz="1200"/>
          </a:p>
        </p:txBody>
      </p:sp>
      <p:sp>
        <p:nvSpPr>
          <p:cNvPr id="199" name="Google Shape;199;p30"/>
          <p:cNvSpPr txBox="1"/>
          <p:nvPr/>
        </p:nvSpPr>
        <p:spPr>
          <a:xfrm>
            <a:off x="10397425" y="1842350"/>
            <a:ext cx="91536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300">
              <a:solidFill>
                <a:schemeClr val="accent1"/>
              </a:solidFill>
              <a:latin typeface="Lato"/>
              <a:ea typeface="Lato"/>
              <a:cs typeface="Lato"/>
              <a:sym typeface="Lato"/>
            </a:endParaRPr>
          </a:p>
        </p:txBody>
      </p:sp>
      <p:pic>
        <p:nvPicPr>
          <p:cNvPr id="200" name="Google Shape;200;p30"/>
          <p:cNvPicPr preferRelativeResize="0"/>
          <p:nvPr/>
        </p:nvPicPr>
        <p:blipFill>
          <a:blip r:embed="rId3">
            <a:alphaModFix/>
          </a:blip>
          <a:stretch>
            <a:fillRect/>
          </a:stretch>
        </p:blipFill>
        <p:spPr>
          <a:xfrm>
            <a:off x="4790113" y="2964950"/>
            <a:ext cx="3897925" cy="1713125"/>
          </a:xfrm>
          <a:prstGeom prst="rect">
            <a:avLst/>
          </a:prstGeom>
          <a:noFill/>
          <a:ln>
            <a:noFill/>
          </a:ln>
        </p:spPr>
      </p:pic>
      <p:pic>
        <p:nvPicPr>
          <p:cNvPr id="201" name="Google Shape;201;p30"/>
          <p:cNvPicPr preferRelativeResize="0"/>
          <p:nvPr/>
        </p:nvPicPr>
        <p:blipFill>
          <a:blip r:embed="rId4">
            <a:alphaModFix/>
          </a:blip>
          <a:stretch>
            <a:fillRect/>
          </a:stretch>
        </p:blipFill>
        <p:spPr>
          <a:xfrm>
            <a:off x="4790125" y="996175"/>
            <a:ext cx="3802350" cy="1484800"/>
          </a:xfrm>
          <a:prstGeom prst="rect">
            <a:avLst/>
          </a:prstGeom>
          <a:noFill/>
          <a:ln>
            <a:noFill/>
          </a:ln>
        </p:spPr>
      </p:pic>
      <p:sp>
        <p:nvSpPr>
          <p:cNvPr id="202" name="Google Shape;202;p30"/>
          <p:cNvSpPr txBox="1"/>
          <p:nvPr/>
        </p:nvSpPr>
        <p:spPr>
          <a:xfrm>
            <a:off x="5679125" y="2480975"/>
            <a:ext cx="3416400" cy="15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chemeClr val="accent1"/>
                </a:solidFill>
                <a:latin typeface="Lato"/>
                <a:ea typeface="Lato"/>
                <a:cs typeface="Lato"/>
                <a:sym typeface="Lato"/>
              </a:rPr>
              <a:t>Fig 10</a:t>
            </a:r>
            <a:r>
              <a:rPr lang="en" sz="900">
                <a:solidFill>
                  <a:schemeClr val="accent1"/>
                </a:solidFill>
                <a:latin typeface="Lato"/>
                <a:ea typeface="Lato"/>
                <a:cs typeface="Lato"/>
                <a:sym typeface="Lato"/>
              </a:rPr>
              <a:t>: Block Diagram of ARIMA model</a:t>
            </a:r>
            <a:endParaRPr sz="900">
              <a:solidFill>
                <a:schemeClr val="accent1"/>
              </a:solidFill>
              <a:latin typeface="Lato"/>
              <a:ea typeface="Lato"/>
              <a:cs typeface="Lato"/>
              <a:sym typeface="Lato"/>
            </a:endParaRPr>
          </a:p>
        </p:txBody>
      </p:sp>
      <p:sp>
        <p:nvSpPr>
          <p:cNvPr id="203" name="Google Shape;203;p30"/>
          <p:cNvSpPr txBox="1"/>
          <p:nvPr/>
        </p:nvSpPr>
        <p:spPr>
          <a:xfrm>
            <a:off x="5920425" y="4678075"/>
            <a:ext cx="2311500" cy="7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chemeClr val="accent1"/>
                </a:solidFill>
                <a:latin typeface="Lato"/>
                <a:ea typeface="Lato"/>
                <a:cs typeface="Lato"/>
                <a:sym typeface="Lato"/>
              </a:rPr>
              <a:t>Fig 11</a:t>
            </a:r>
            <a:r>
              <a:rPr lang="en" sz="900">
                <a:solidFill>
                  <a:schemeClr val="accent1"/>
                </a:solidFill>
                <a:latin typeface="Lato"/>
                <a:ea typeface="Lato"/>
                <a:cs typeface="Lato"/>
                <a:sym typeface="Lato"/>
              </a:rPr>
              <a:t>: Equation of ARIMA model</a:t>
            </a:r>
            <a:endParaRPr sz="900">
              <a:solidFill>
                <a:schemeClr val="accent1"/>
              </a:solidFill>
              <a:latin typeface="Lato"/>
              <a:ea typeface="Lato"/>
              <a:cs typeface="Lato"/>
              <a:sym typeface="La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1"/>
          <p:cNvSpPr txBox="1"/>
          <p:nvPr/>
        </p:nvSpPr>
        <p:spPr>
          <a:xfrm>
            <a:off x="304000" y="178300"/>
            <a:ext cx="8584200" cy="1289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t/>
            </a:r>
            <a:endParaRPr sz="1100">
              <a:solidFill>
                <a:schemeClr val="accent1"/>
              </a:solidFill>
              <a:latin typeface="Lato"/>
              <a:ea typeface="Lato"/>
              <a:cs typeface="Lato"/>
              <a:sym typeface="Lato"/>
            </a:endParaRPr>
          </a:p>
        </p:txBody>
      </p:sp>
      <p:pic>
        <p:nvPicPr>
          <p:cNvPr id="209" name="Google Shape;209;p31"/>
          <p:cNvPicPr preferRelativeResize="0"/>
          <p:nvPr/>
        </p:nvPicPr>
        <p:blipFill>
          <a:blip r:embed="rId3">
            <a:alphaModFix/>
          </a:blip>
          <a:stretch>
            <a:fillRect/>
          </a:stretch>
        </p:blipFill>
        <p:spPr>
          <a:xfrm>
            <a:off x="1836700" y="249450"/>
            <a:ext cx="5086350" cy="3143250"/>
          </a:xfrm>
          <a:prstGeom prst="rect">
            <a:avLst/>
          </a:prstGeom>
          <a:noFill/>
          <a:ln cap="flat" cmpd="sng" w="9525">
            <a:solidFill>
              <a:schemeClr val="dk2"/>
            </a:solidFill>
            <a:prstDash val="solid"/>
            <a:round/>
            <a:headEnd len="sm" w="sm" type="none"/>
            <a:tailEnd len="sm" w="sm" type="none"/>
          </a:ln>
        </p:spPr>
      </p:pic>
      <p:sp>
        <p:nvSpPr>
          <p:cNvPr id="210" name="Google Shape;210;p31"/>
          <p:cNvSpPr txBox="1"/>
          <p:nvPr/>
        </p:nvSpPr>
        <p:spPr>
          <a:xfrm>
            <a:off x="1905150" y="3427950"/>
            <a:ext cx="6318900" cy="40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chemeClr val="accent1"/>
                </a:solidFill>
                <a:latin typeface="Lato"/>
                <a:ea typeface="Lato"/>
                <a:cs typeface="Lato"/>
                <a:sym typeface="Lato"/>
              </a:rPr>
              <a:t>Fig 12</a:t>
            </a:r>
            <a:r>
              <a:rPr lang="en" sz="1100">
                <a:solidFill>
                  <a:schemeClr val="accent1"/>
                </a:solidFill>
                <a:latin typeface="Lato"/>
                <a:ea typeface="Lato"/>
                <a:cs typeface="Lato"/>
                <a:sym typeface="Lato"/>
              </a:rPr>
              <a:t>: Using pmdarima to automate the process of choosing best value of p,d,q </a:t>
            </a:r>
            <a:endParaRPr sz="1100">
              <a:solidFill>
                <a:schemeClr val="accent1"/>
              </a:solidFill>
              <a:latin typeface="Lato"/>
              <a:ea typeface="Lato"/>
              <a:cs typeface="Lato"/>
              <a:sym typeface="Lato"/>
            </a:endParaRPr>
          </a:p>
        </p:txBody>
      </p:sp>
      <p:sp>
        <p:nvSpPr>
          <p:cNvPr id="211" name="Google Shape;211;p31"/>
          <p:cNvSpPr txBox="1"/>
          <p:nvPr/>
        </p:nvSpPr>
        <p:spPr>
          <a:xfrm>
            <a:off x="559550" y="4157425"/>
            <a:ext cx="8166000" cy="766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300">
                <a:solidFill>
                  <a:schemeClr val="accent1"/>
                </a:solidFill>
                <a:latin typeface="Lato"/>
                <a:ea typeface="Lato"/>
                <a:cs typeface="Lato"/>
                <a:sym typeface="Lato"/>
              </a:rPr>
              <a:t>In PMDARIMA, a Python library used for time series forecasting, AIC refers to the Akaike Information Criterion which is a metric used to compare different statistical models, particularly in time series analysis, and it helps in model selection.</a:t>
            </a:r>
            <a:endParaRPr sz="1300">
              <a:solidFill>
                <a:schemeClr val="accent1"/>
              </a:solidFill>
              <a:latin typeface="Lato"/>
              <a:ea typeface="Lato"/>
              <a:cs typeface="Lato"/>
              <a:sym typeface="Lato"/>
            </a:endParaRPr>
          </a:p>
          <a:p>
            <a:pPr indent="0" lvl="0" marL="0" rtl="0" algn="l">
              <a:spcBef>
                <a:spcPts val="1200"/>
              </a:spcBef>
              <a:spcAft>
                <a:spcPts val="0"/>
              </a:spcAft>
              <a:buNone/>
            </a:pPr>
            <a:r>
              <a:t/>
            </a:r>
            <a:endParaRPr sz="1300">
              <a:solidFill>
                <a:schemeClr val="accent1"/>
              </a:solidFill>
              <a:latin typeface="Lato"/>
              <a:ea typeface="Lato"/>
              <a:cs typeface="Lato"/>
              <a:sym typeface="La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pic>
        <p:nvPicPr>
          <p:cNvPr id="216" name="Google Shape;216;p32"/>
          <p:cNvPicPr preferRelativeResize="0"/>
          <p:nvPr/>
        </p:nvPicPr>
        <p:blipFill>
          <a:blip r:embed="rId3">
            <a:alphaModFix/>
          </a:blip>
          <a:stretch>
            <a:fillRect/>
          </a:stretch>
        </p:blipFill>
        <p:spPr>
          <a:xfrm>
            <a:off x="1186225" y="291800"/>
            <a:ext cx="3162300" cy="1524000"/>
          </a:xfrm>
          <a:prstGeom prst="rect">
            <a:avLst/>
          </a:prstGeom>
          <a:noFill/>
          <a:ln>
            <a:noFill/>
          </a:ln>
        </p:spPr>
      </p:pic>
      <p:pic>
        <p:nvPicPr>
          <p:cNvPr id="217" name="Google Shape;217;p32"/>
          <p:cNvPicPr preferRelativeResize="0"/>
          <p:nvPr/>
        </p:nvPicPr>
        <p:blipFill rotWithShape="1">
          <a:blip r:embed="rId4">
            <a:alphaModFix/>
          </a:blip>
          <a:srcRect b="0" l="-2190" r="2190" t="0"/>
          <a:stretch/>
        </p:blipFill>
        <p:spPr>
          <a:xfrm>
            <a:off x="4961350" y="267975"/>
            <a:ext cx="2647950" cy="1571625"/>
          </a:xfrm>
          <a:prstGeom prst="rect">
            <a:avLst/>
          </a:prstGeom>
          <a:noFill/>
          <a:ln>
            <a:noFill/>
          </a:ln>
        </p:spPr>
      </p:pic>
      <p:pic>
        <p:nvPicPr>
          <p:cNvPr id="218" name="Google Shape;218;p32"/>
          <p:cNvPicPr preferRelativeResize="0"/>
          <p:nvPr/>
        </p:nvPicPr>
        <p:blipFill>
          <a:blip r:embed="rId5">
            <a:alphaModFix/>
          </a:blip>
          <a:stretch>
            <a:fillRect/>
          </a:stretch>
        </p:blipFill>
        <p:spPr>
          <a:xfrm>
            <a:off x="448375" y="2049025"/>
            <a:ext cx="4123624" cy="1945025"/>
          </a:xfrm>
          <a:prstGeom prst="rect">
            <a:avLst/>
          </a:prstGeom>
          <a:noFill/>
          <a:ln>
            <a:noFill/>
          </a:ln>
        </p:spPr>
      </p:pic>
      <p:pic>
        <p:nvPicPr>
          <p:cNvPr id="219" name="Google Shape;219;p32"/>
          <p:cNvPicPr preferRelativeResize="0"/>
          <p:nvPr/>
        </p:nvPicPr>
        <p:blipFill>
          <a:blip r:embed="rId6">
            <a:alphaModFix/>
          </a:blip>
          <a:stretch>
            <a:fillRect/>
          </a:stretch>
        </p:blipFill>
        <p:spPr>
          <a:xfrm>
            <a:off x="4647750" y="2049026"/>
            <a:ext cx="3924952" cy="1945025"/>
          </a:xfrm>
          <a:prstGeom prst="rect">
            <a:avLst/>
          </a:prstGeom>
          <a:noFill/>
          <a:ln>
            <a:noFill/>
          </a:ln>
        </p:spPr>
      </p:pic>
      <p:sp>
        <p:nvSpPr>
          <p:cNvPr id="220" name="Google Shape;220;p32"/>
          <p:cNvSpPr txBox="1"/>
          <p:nvPr/>
        </p:nvSpPr>
        <p:spPr>
          <a:xfrm>
            <a:off x="1493000" y="4313525"/>
            <a:ext cx="6318900" cy="17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chemeClr val="accent1"/>
                </a:solidFill>
                <a:latin typeface="Lato"/>
                <a:ea typeface="Lato"/>
                <a:cs typeface="Lato"/>
                <a:sym typeface="Lato"/>
              </a:rPr>
              <a:t>Fig 13</a:t>
            </a:r>
            <a:r>
              <a:rPr lang="en" sz="900">
                <a:solidFill>
                  <a:schemeClr val="accent1"/>
                </a:solidFill>
                <a:latin typeface="Lato"/>
                <a:ea typeface="Lato"/>
                <a:cs typeface="Lato"/>
                <a:sym typeface="Lato"/>
              </a:rPr>
              <a:t>: Parameters obtained upon execution of ARIMA model over training and testing dataset (without threshold and shift)</a:t>
            </a:r>
            <a:endParaRPr sz="900">
              <a:solidFill>
                <a:schemeClr val="accent1"/>
              </a:solidFill>
              <a:latin typeface="Lato"/>
              <a:ea typeface="Lato"/>
              <a:cs typeface="Lato"/>
              <a:sym typeface="La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3"/>
          <p:cNvSpPr txBox="1"/>
          <p:nvPr/>
        </p:nvSpPr>
        <p:spPr>
          <a:xfrm>
            <a:off x="1527850" y="4580700"/>
            <a:ext cx="6318900" cy="17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chemeClr val="accent1"/>
                </a:solidFill>
                <a:latin typeface="Lato"/>
                <a:ea typeface="Lato"/>
                <a:cs typeface="Lato"/>
                <a:sym typeface="Lato"/>
              </a:rPr>
              <a:t>Fig 14</a:t>
            </a:r>
            <a:r>
              <a:rPr lang="en" sz="900">
                <a:solidFill>
                  <a:schemeClr val="accent1"/>
                </a:solidFill>
                <a:latin typeface="Lato"/>
                <a:ea typeface="Lato"/>
                <a:cs typeface="Lato"/>
                <a:sym typeface="Lato"/>
              </a:rPr>
              <a:t>: Parameters obtained upon execution of ARIMA model over training and testing dataset (with threshold and shift)</a:t>
            </a:r>
            <a:endParaRPr sz="900">
              <a:solidFill>
                <a:schemeClr val="accent1"/>
              </a:solidFill>
              <a:latin typeface="Lato"/>
              <a:ea typeface="Lato"/>
              <a:cs typeface="Lato"/>
              <a:sym typeface="Lato"/>
            </a:endParaRPr>
          </a:p>
        </p:txBody>
      </p:sp>
      <p:pic>
        <p:nvPicPr>
          <p:cNvPr id="226" name="Google Shape;226;p33"/>
          <p:cNvPicPr preferRelativeResize="0"/>
          <p:nvPr/>
        </p:nvPicPr>
        <p:blipFill>
          <a:blip r:embed="rId3">
            <a:alphaModFix/>
          </a:blip>
          <a:stretch>
            <a:fillRect/>
          </a:stretch>
        </p:blipFill>
        <p:spPr>
          <a:xfrm>
            <a:off x="919075" y="530250"/>
            <a:ext cx="3124200" cy="1438275"/>
          </a:xfrm>
          <a:prstGeom prst="rect">
            <a:avLst/>
          </a:prstGeom>
          <a:noFill/>
          <a:ln>
            <a:noFill/>
          </a:ln>
        </p:spPr>
      </p:pic>
      <p:pic>
        <p:nvPicPr>
          <p:cNvPr id="227" name="Google Shape;227;p33"/>
          <p:cNvPicPr preferRelativeResize="0"/>
          <p:nvPr/>
        </p:nvPicPr>
        <p:blipFill>
          <a:blip r:embed="rId4">
            <a:alphaModFix/>
          </a:blip>
          <a:stretch>
            <a:fillRect/>
          </a:stretch>
        </p:blipFill>
        <p:spPr>
          <a:xfrm>
            <a:off x="5148150" y="530250"/>
            <a:ext cx="2571750" cy="1533525"/>
          </a:xfrm>
          <a:prstGeom prst="rect">
            <a:avLst/>
          </a:prstGeom>
          <a:noFill/>
          <a:ln>
            <a:noFill/>
          </a:ln>
        </p:spPr>
      </p:pic>
      <p:pic>
        <p:nvPicPr>
          <p:cNvPr id="228" name="Google Shape;228;p33"/>
          <p:cNvPicPr preferRelativeResize="0"/>
          <p:nvPr/>
        </p:nvPicPr>
        <p:blipFill>
          <a:blip r:embed="rId5">
            <a:alphaModFix/>
          </a:blip>
          <a:stretch>
            <a:fillRect/>
          </a:stretch>
        </p:blipFill>
        <p:spPr>
          <a:xfrm>
            <a:off x="386952" y="2244288"/>
            <a:ext cx="4038698" cy="2060650"/>
          </a:xfrm>
          <a:prstGeom prst="rect">
            <a:avLst/>
          </a:prstGeom>
          <a:noFill/>
          <a:ln>
            <a:noFill/>
          </a:ln>
        </p:spPr>
      </p:pic>
      <p:pic>
        <p:nvPicPr>
          <p:cNvPr id="229" name="Google Shape;229;p33"/>
          <p:cNvPicPr preferRelativeResize="0"/>
          <p:nvPr/>
        </p:nvPicPr>
        <p:blipFill>
          <a:blip r:embed="rId6">
            <a:alphaModFix/>
          </a:blip>
          <a:stretch>
            <a:fillRect/>
          </a:stretch>
        </p:blipFill>
        <p:spPr>
          <a:xfrm>
            <a:off x="4683175" y="2219150"/>
            <a:ext cx="4130851" cy="21109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4"/>
          <p:cNvSpPr txBox="1"/>
          <p:nvPr>
            <p:ph type="title"/>
          </p:nvPr>
        </p:nvSpPr>
        <p:spPr>
          <a:xfrm>
            <a:off x="727650" y="5515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SARIMA</a:t>
            </a:r>
            <a:endParaRPr/>
          </a:p>
        </p:txBody>
      </p:sp>
      <p:sp>
        <p:nvSpPr>
          <p:cNvPr id="235" name="Google Shape;235;p34"/>
          <p:cNvSpPr txBox="1"/>
          <p:nvPr>
            <p:ph idx="1" type="body"/>
          </p:nvPr>
        </p:nvSpPr>
        <p:spPr>
          <a:xfrm>
            <a:off x="727650" y="1441200"/>
            <a:ext cx="3637200" cy="37023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a:t>S</a:t>
            </a:r>
            <a:r>
              <a:rPr lang="en"/>
              <a:t>ARIMA, </a:t>
            </a:r>
            <a:r>
              <a:rPr lang="en" sz="1350">
                <a:latin typeface="Nunito"/>
                <a:ea typeface="Nunito"/>
                <a:cs typeface="Nunito"/>
                <a:sym typeface="Nunito"/>
              </a:rPr>
              <a:t>which stands for Seasonal Autoregressive Integrated Moving Average, </a:t>
            </a:r>
            <a:r>
              <a:rPr lang="en"/>
              <a:t>extends ARIMA by adding seasonal components to account for patterns that repeat over a fixed period (seasonality).</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SARIMA(p, d, q)(P, D, Q, s) where:</a:t>
            </a:r>
            <a:endParaRPr/>
          </a:p>
          <a:p>
            <a:pPr indent="-311150" lvl="0" marL="457200" rtl="0" algn="l">
              <a:spcBef>
                <a:spcPts val="1200"/>
              </a:spcBef>
              <a:spcAft>
                <a:spcPts val="0"/>
              </a:spcAft>
              <a:buSzPts val="1300"/>
              <a:buChar char="●"/>
            </a:pPr>
            <a:r>
              <a:rPr lang="en"/>
              <a:t>p,d,q are as in ARIMA</a:t>
            </a:r>
            <a:endParaRPr/>
          </a:p>
          <a:p>
            <a:pPr indent="-311150" lvl="0" marL="457200" rtl="0" algn="l">
              <a:spcBef>
                <a:spcPts val="0"/>
              </a:spcBef>
              <a:spcAft>
                <a:spcPts val="0"/>
              </a:spcAft>
              <a:buSzPts val="1300"/>
              <a:buChar char="●"/>
            </a:pPr>
            <a:r>
              <a:rPr lang="en"/>
              <a:t>P,D,Q represent the seasonal part orders of AR, differencing, and MA</a:t>
            </a:r>
            <a:endParaRPr/>
          </a:p>
          <a:p>
            <a:pPr indent="-311150" lvl="0" marL="457200" rtl="0" algn="l">
              <a:spcBef>
                <a:spcPts val="0"/>
              </a:spcBef>
              <a:spcAft>
                <a:spcPts val="0"/>
              </a:spcAft>
              <a:buSzPts val="1300"/>
              <a:buChar char="●"/>
            </a:pPr>
            <a:r>
              <a:rPr lang="en"/>
              <a:t>s is the length of the seasonal cycle</a:t>
            </a:r>
            <a:endParaRPr/>
          </a:p>
        </p:txBody>
      </p:sp>
      <p:pic>
        <p:nvPicPr>
          <p:cNvPr id="236" name="Google Shape;236;p34"/>
          <p:cNvPicPr preferRelativeResize="0"/>
          <p:nvPr/>
        </p:nvPicPr>
        <p:blipFill>
          <a:blip r:embed="rId3">
            <a:alphaModFix/>
          </a:blip>
          <a:stretch>
            <a:fillRect/>
          </a:stretch>
        </p:blipFill>
        <p:spPr>
          <a:xfrm>
            <a:off x="4972713" y="3169400"/>
            <a:ext cx="3882200" cy="1473250"/>
          </a:xfrm>
          <a:prstGeom prst="rect">
            <a:avLst/>
          </a:prstGeom>
          <a:noFill/>
          <a:ln>
            <a:noFill/>
          </a:ln>
        </p:spPr>
      </p:pic>
      <p:pic>
        <p:nvPicPr>
          <p:cNvPr id="237" name="Google Shape;237;p34"/>
          <p:cNvPicPr preferRelativeResize="0"/>
          <p:nvPr/>
        </p:nvPicPr>
        <p:blipFill>
          <a:blip r:embed="rId4">
            <a:alphaModFix/>
          </a:blip>
          <a:stretch>
            <a:fillRect/>
          </a:stretch>
        </p:blipFill>
        <p:spPr>
          <a:xfrm>
            <a:off x="5863450" y="1010500"/>
            <a:ext cx="2100726" cy="1858525"/>
          </a:xfrm>
          <a:prstGeom prst="rect">
            <a:avLst/>
          </a:prstGeom>
          <a:noFill/>
          <a:ln>
            <a:noFill/>
          </a:ln>
        </p:spPr>
      </p:pic>
      <p:sp>
        <p:nvSpPr>
          <p:cNvPr id="238" name="Google Shape;238;p34"/>
          <p:cNvSpPr txBox="1"/>
          <p:nvPr/>
        </p:nvSpPr>
        <p:spPr>
          <a:xfrm>
            <a:off x="5844225" y="2646075"/>
            <a:ext cx="2403000" cy="3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chemeClr val="accent1"/>
                </a:solidFill>
                <a:latin typeface="Lato"/>
                <a:ea typeface="Lato"/>
                <a:cs typeface="Lato"/>
                <a:sym typeface="Lato"/>
              </a:rPr>
              <a:t>Fig 15</a:t>
            </a:r>
            <a:r>
              <a:rPr lang="en" sz="900">
                <a:solidFill>
                  <a:schemeClr val="accent1"/>
                </a:solidFill>
                <a:latin typeface="Lato"/>
                <a:ea typeface="Lato"/>
                <a:cs typeface="Lato"/>
                <a:sym typeface="Lato"/>
              </a:rPr>
              <a:t>: Block diagram of SARIMA model</a:t>
            </a:r>
            <a:endParaRPr sz="900">
              <a:solidFill>
                <a:schemeClr val="accent1"/>
              </a:solidFill>
              <a:latin typeface="Lato"/>
              <a:ea typeface="Lato"/>
              <a:cs typeface="Lato"/>
              <a:sym typeface="Lato"/>
            </a:endParaRPr>
          </a:p>
        </p:txBody>
      </p:sp>
      <p:sp>
        <p:nvSpPr>
          <p:cNvPr id="239" name="Google Shape;239;p34"/>
          <p:cNvSpPr txBox="1"/>
          <p:nvPr/>
        </p:nvSpPr>
        <p:spPr>
          <a:xfrm>
            <a:off x="6286650" y="4649000"/>
            <a:ext cx="2403000" cy="3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chemeClr val="accent1"/>
                </a:solidFill>
                <a:latin typeface="Lato"/>
                <a:ea typeface="Lato"/>
                <a:cs typeface="Lato"/>
                <a:sym typeface="Lato"/>
              </a:rPr>
              <a:t>Fig 16</a:t>
            </a:r>
            <a:r>
              <a:rPr lang="en" sz="900">
                <a:solidFill>
                  <a:schemeClr val="accent1"/>
                </a:solidFill>
                <a:latin typeface="Lato"/>
                <a:ea typeface="Lato"/>
                <a:cs typeface="Lato"/>
                <a:sym typeface="Lato"/>
              </a:rPr>
              <a:t>: Equation of SARIMA</a:t>
            </a:r>
            <a:endParaRPr sz="900">
              <a:solidFill>
                <a:schemeClr val="accent1"/>
              </a:solidFill>
              <a:latin typeface="Lato"/>
              <a:ea typeface="Lato"/>
              <a:cs typeface="Lato"/>
              <a:sym typeface="La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pic>
        <p:nvPicPr>
          <p:cNvPr id="244" name="Google Shape;244;p35"/>
          <p:cNvPicPr preferRelativeResize="0"/>
          <p:nvPr/>
        </p:nvPicPr>
        <p:blipFill>
          <a:blip r:embed="rId3">
            <a:alphaModFix/>
          </a:blip>
          <a:stretch>
            <a:fillRect/>
          </a:stretch>
        </p:blipFill>
        <p:spPr>
          <a:xfrm>
            <a:off x="2151412" y="204425"/>
            <a:ext cx="5088849" cy="1558675"/>
          </a:xfrm>
          <a:prstGeom prst="rect">
            <a:avLst/>
          </a:prstGeom>
          <a:noFill/>
          <a:ln>
            <a:noFill/>
          </a:ln>
        </p:spPr>
      </p:pic>
      <p:pic>
        <p:nvPicPr>
          <p:cNvPr id="245" name="Google Shape;245;p35"/>
          <p:cNvPicPr preferRelativeResize="0"/>
          <p:nvPr/>
        </p:nvPicPr>
        <p:blipFill>
          <a:blip r:embed="rId4">
            <a:alphaModFix/>
          </a:blip>
          <a:stretch>
            <a:fillRect/>
          </a:stretch>
        </p:blipFill>
        <p:spPr>
          <a:xfrm>
            <a:off x="2278661" y="1837375"/>
            <a:ext cx="4834324" cy="2503225"/>
          </a:xfrm>
          <a:prstGeom prst="rect">
            <a:avLst/>
          </a:prstGeom>
          <a:noFill/>
          <a:ln>
            <a:noFill/>
          </a:ln>
        </p:spPr>
      </p:pic>
      <p:sp>
        <p:nvSpPr>
          <p:cNvPr id="246" name="Google Shape;246;p35"/>
          <p:cNvSpPr txBox="1"/>
          <p:nvPr/>
        </p:nvSpPr>
        <p:spPr>
          <a:xfrm>
            <a:off x="3370125" y="4487775"/>
            <a:ext cx="5540700" cy="33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chemeClr val="accent1"/>
                </a:solidFill>
                <a:latin typeface="Lato"/>
                <a:ea typeface="Lato"/>
                <a:cs typeface="Lato"/>
                <a:sym typeface="Lato"/>
              </a:rPr>
              <a:t>Fig 17</a:t>
            </a:r>
            <a:r>
              <a:rPr lang="en" sz="900">
                <a:solidFill>
                  <a:schemeClr val="accent1"/>
                </a:solidFill>
                <a:latin typeface="Lato"/>
                <a:ea typeface="Lato"/>
                <a:cs typeface="Lato"/>
                <a:sym typeface="Lato"/>
              </a:rPr>
              <a:t>: SARIMA model for different values of s</a:t>
            </a:r>
            <a:endParaRPr sz="900">
              <a:solidFill>
                <a:schemeClr val="accent1"/>
              </a:solidFill>
              <a:latin typeface="Lato"/>
              <a:ea typeface="Lato"/>
              <a:cs typeface="Lato"/>
              <a:sym typeface="La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6"/>
          <p:cNvSpPr txBox="1"/>
          <p:nvPr>
            <p:ph type="title"/>
          </p:nvPr>
        </p:nvSpPr>
        <p:spPr>
          <a:xfrm>
            <a:off x="727650" y="4991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CNN</a:t>
            </a:r>
            <a:endParaRPr/>
          </a:p>
        </p:txBody>
      </p:sp>
      <p:sp>
        <p:nvSpPr>
          <p:cNvPr id="252" name="Google Shape;252;p36"/>
          <p:cNvSpPr txBox="1"/>
          <p:nvPr>
            <p:ph idx="1" type="body"/>
          </p:nvPr>
        </p:nvSpPr>
        <p:spPr>
          <a:xfrm>
            <a:off x="727650" y="1311700"/>
            <a:ext cx="3844500" cy="23787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 sz="1050"/>
              <a:t>Convolutional Neural Networks (CNNs), traditionally used for image processing, are also effective for time series forecasting by capturing local patterns and trends in the data through convolution operations.</a:t>
            </a:r>
            <a:endParaRPr sz="1050"/>
          </a:p>
          <a:p>
            <a:pPr indent="-295275" lvl="0" marL="457200" rtl="0" algn="l">
              <a:spcBef>
                <a:spcPts val="1200"/>
              </a:spcBef>
              <a:spcAft>
                <a:spcPts val="0"/>
              </a:spcAft>
              <a:buSzPts val="1050"/>
              <a:buAutoNum type="arabicPeriod"/>
            </a:pPr>
            <a:r>
              <a:rPr lang="en" sz="1050" u="sng"/>
              <a:t>Convolution Layers</a:t>
            </a:r>
            <a:r>
              <a:rPr lang="en" sz="1050"/>
              <a:t>: CNNs use filters to slide over input data, identifying local patterns like trends or seasonality.</a:t>
            </a:r>
            <a:endParaRPr sz="1050"/>
          </a:p>
          <a:p>
            <a:pPr indent="-295275" lvl="0" marL="457200" rtl="0" algn="l">
              <a:spcBef>
                <a:spcPts val="0"/>
              </a:spcBef>
              <a:spcAft>
                <a:spcPts val="0"/>
              </a:spcAft>
              <a:buSzPts val="1050"/>
              <a:buFont typeface="Arial"/>
              <a:buAutoNum type="arabicPeriod"/>
            </a:pPr>
            <a:r>
              <a:rPr lang="en" sz="1050" u="sng"/>
              <a:t>Pooling</a:t>
            </a:r>
            <a:r>
              <a:rPr lang="en" sz="1050"/>
              <a:t>: Pooling layers (e.g., max-pooling) reduce dimensionality, preserving key features while minimizing noise.</a:t>
            </a:r>
            <a:endParaRPr sz="1050"/>
          </a:p>
          <a:p>
            <a:pPr indent="-295275" lvl="0" marL="457200" rtl="0" algn="l">
              <a:spcBef>
                <a:spcPts val="0"/>
              </a:spcBef>
              <a:spcAft>
                <a:spcPts val="0"/>
              </a:spcAft>
              <a:buSzPts val="1050"/>
              <a:buFont typeface="Arial"/>
              <a:buAutoNum type="arabicPeriod"/>
            </a:pPr>
            <a:r>
              <a:rPr lang="en" sz="1050" u="sng"/>
              <a:t>Feature Learning</a:t>
            </a:r>
            <a:r>
              <a:rPr lang="en" sz="1050"/>
              <a:t>: Stacked convolutional layers extract higher-level, abstract features from the time series.</a:t>
            </a:r>
            <a:endParaRPr sz="1050"/>
          </a:p>
          <a:p>
            <a:pPr indent="-295275" lvl="0" marL="457200" rtl="0" algn="l">
              <a:spcBef>
                <a:spcPts val="0"/>
              </a:spcBef>
              <a:spcAft>
                <a:spcPts val="0"/>
              </a:spcAft>
              <a:buSzPts val="1050"/>
              <a:buFont typeface="Arial"/>
              <a:buAutoNum type="arabicPeriod"/>
            </a:pPr>
            <a:r>
              <a:rPr lang="en" sz="1050" u="sng"/>
              <a:t>Fully Connected Layer</a:t>
            </a:r>
            <a:r>
              <a:rPr lang="en" sz="1050"/>
              <a:t>: Flattened features are fed into a fully connected layer for final prediction.</a:t>
            </a:r>
            <a:endParaRPr sz="1050"/>
          </a:p>
          <a:p>
            <a:pPr indent="-295275" lvl="0" marL="457200" rtl="0" algn="l">
              <a:spcBef>
                <a:spcPts val="0"/>
              </a:spcBef>
              <a:spcAft>
                <a:spcPts val="0"/>
              </a:spcAft>
              <a:buSzPts val="1050"/>
              <a:buFont typeface="Arial"/>
              <a:buAutoNum type="arabicPeriod"/>
            </a:pPr>
            <a:r>
              <a:rPr lang="en" sz="1050" u="sng"/>
              <a:t>Non-Linearity</a:t>
            </a:r>
            <a:r>
              <a:rPr lang="en" sz="1050"/>
              <a:t>: Activation functions like ReLU introduce non-linearity, helping the model learn complex patterns.</a:t>
            </a:r>
            <a:endParaRPr sz="1050"/>
          </a:p>
        </p:txBody>
      </p:sp>
      <p:pic>
        <p:nvPicPr>
          <p:cNvPr id="253" name="Google Shape;253;p36"/>
          <p:cNvPicPr preferRelativeResize="0"/>
          <p:nvPr/>
        </p:nvPicPr>
        <p:blipFill>
          <a:blip r:embed="rId3">
            <a:alphaModFix/>
          </a:blip>
          <a:stretch>
            <a:fillRect/>
          </a:stretch>
        </p:blipFill>
        <p:spPr>
          <a:xfrm>
            <a:off x="4887625" y="744303"/>
            <a:ext cx="3626699" cy="1313682"/>
          </a:xfrm>
          <a:prstGeom prst="rect">
            <a:avLst/>
          </a:prstGeom>
          <a:noFill/>
          <a:ln>
            <a:noFill/>
          </a:ln>
        </p:spPr>
      </p:pic>
      <p:sp>
        <p:nvSpPr>
          <p:cNvPr id="254" name="Google Shape;254;p36"/>
          <p:cNvSpPr/>
          <p:nvPr/>
        </p:nvSpPr>
        <p:spPr>
          <a:xfrm>
            <a:off x="5004150" y="2753150"/>
            <a:ext cx="3706800" cy="1916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55" name="Google Shape;255;p36"/>
          <p:cNvSpPr txBox="1"/>
          <p:nvPr/>
        </p:nvSpPr>
        <p:spPr>
          <a:xfrm>
            <a:off x="4935300" y="2323350"/>
            <a:ext cx="3844500" cy="16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b="1" lang="en" sz="1300"/>
              <a:t>S(i,j) = ∑(m,n) W(m,n) * I(i+m, j+n) + b</a:t>
            </a:r>
            <a:endParaRPr b="1" sz="1300">
              <a:solidFill>
                <a:schemeClr val="accent1"/>
              </a:solidFill>
              <a:latin typeface="Lato"/>
              <a:ea typeface="Lato"/>
              <a:cs typeface="Lato"/>
              <a:sym typeface="Lato"/>
            </a:endParaRPr>
          </a:p>
          <a:p>
            <a:pPr indent="0" lvl="0" marL="0" rtl="0" algn="l">
              <a:lnSpc>
                <a:spcPct val="115000"/>
              </a:lnSpc>
              <a:spcBef>
                <a:spcPts val="1200"/>
              </a:spcBef>
              <a:spcAft>
                <a:spcPts val="0"/>
              </a:spcAft>
              <a:buNone/>
            </a:pPr>
            <a:r>
              <a:rPr lang="en" sz="1000"/>
              <a:t>Where:</a:t>
            </a:r>
            <a:endParaRPr sz="1000"/>
          </a:p>
          <a:p>
            <a:pPr indent="-292100" lvl="0" marL="457200" rtl="0" algn="l">
              <a:lnSpc>
                <a:spcPct val="115000"/>
              </a:lnSpc>
              <a:spcBef>
                <a:spcPts val="1200"/>
              </a:spcBef>
              <a:spcAft>
                <a:spcPts val="0"/>
              </a:spcAft>
              <a:buSzPts val="1000"/>
              <a:buChar char="●"/>
            </a:pPr>
            <a:r>
              <a:rPr b="1" lang="en" sz="1000"/>
              <a:t>S(i,j):</a:t>
            </a:r>
            <a:r>
              <a:rPr lang="en" sz="1000"/>
              <a:t> The value of the output feature map at position (i, j).</a:t>
            </a:r>
            <a:endParaRPr sz="1000"/>
          </a:p>
          <a:p>
            <a:pPr indent="-292100" lvl="0" marL="457200" rtl="0" algn="l">
              <a:lnSpc>
                <a:spcPct val="115000"/>
              </a:lnSpc>
              <a:spcBef>
                <a:spcPts val="0"/>
              </a:spcBef>
              <a:spcAft>
                <a:spcPts val="0"/>
              </a:spcAft>
              <a:buSzPts val="1000"/>
              <a:buChar char="●"/>
            </a:pPr>
            <a:r>
              <a:rPr b="1" lang="en" sz="1000"/>
              <a:t>W(m,n):</a:t>
            </a:r>
            <a:r>
              <a:rPr lang="en" sz="1000"/>
              <a:t> The weight of the filter at position (m, n).</a:t>
            </a:r>
            <a:endParaRPr sz="1000"/>
          </a:p>
          <a:p>
            <a:pPr indent="-292100" lvl="0" marL="457200" rtl="0" algn="l">
              <a:lnSpc>
                <a:spcPct val="115000"/>
              </a:lnSpc>
              <a:spcBef>
                <a:spcPts val="0"/>
              </a:spcBef>
              <a:spcAft>
                <a:spcPts val="0"/>
              </a:spcAft>
              <a:buSzPts val="1000"/>
              <a:buChar char="●"/>
            </a:pPr>
            <a:r>
              <a:rPr b="1" lang="en" sz="1000"/>
              <a:t>I(i+m, j+n):</a:t>
            </a:r>
            <a:r>
              <a:rPr lang="en" sz="1000"/>
              <a:t> The value of the input image at position (i+m, j+n).</a:t>
            </a:r>
            <a:endParaRPr sz="1000"/>
          </a:p>
          <a:p>
            <a:pPr indent="-292100" lvl="0" marL="457200" rtl="0" algn="l">
              <a:lnSpc>
                <a:spcPct val="115000"/>
              </a:lnSpc>
              <a:spcBef>
                <a:spcPts val="0"/>
              </a:spcBef>
              <a:spcAft>
                <a:spcPts val="0"/>
              </a:spcAft>
              <a:buSzPts val="1000"/>
              <a:buChar char="●"/>
            </a:pPr>
            <a:r>
              <a:rPr b="1" lang="en" sz="1000"/>
              <a:t>b:</a:t>
            </a:r>
            <a:r>
              <a:rPr lang="en" sz="1000"/>
              <a:t> The bias term.</a:t>
            </a:r>
            <a:endParaRPr sz="1000"/>
          </a:p>
          <a:p>
            <a:pPr indent="-292100" lvl="0" marL="457200" rtl="0" algn="l">
              <a:lnSpc>
                <a:spcPct val="115000"/>
              </a:lnSpc>
              <a:spcBef>
                <a:spcPts val="0"/>
              </a:spcBef>
              <a:spcAft>
                <a:spcPts val="0"/>
              </a:spcAft>
              <a:buSzPts val="1000"/>
              <a:buChar char="●"/>
            </a:pPr>
            <a:r>
              <a:rPr b="1" lang="en" sz="1000"/>
              <a:t>∑(m,n):</a:t>
            </a:r>
            <a:r>
              <a:rPr lang="en" sz="1000"/>
              <a:t> Summation over all elements of the filter.</a:t>
            </a:r>
            <a:endParaRPr sz="1000"/>
          </a:p>
          <a:p>
            <a:pPr indent="0" lvl="0" marL="0" rtl="0" algn="l">
              <a:spcBef>
                <a:spcPts val="1200"/>
              </a:spcBef>
              <a:spcAft>
                <a:spcPts val="0"/>
              </a:spcAft>
              <a:buNone/>
            </a:pPr>
            <a:r>
              <a:t/>
            </a:r>
            <a:endParaRPr sz="1100">
              <a:solidFill>
                <a:schemeClr val="accent1"/>
              </a:solidFill>
              <a:latin typeface="Lato"/>
              <a:ea typeface="Lato"/>
              <a:cs typeface="Lato"/>
              <a:sym typeface="Lato"/>
            </a:endParaRPr>
          </a:p>
        </p:txBody>
      </p:sp>
      <p:sp>
        <p:nvSpPr>
          <p:cNvPr id="256" name="Google Shape;256;p36"/>
          <p:cNvSpPr txBox="1"/>
          <p:nvPr/>
        </p:nvSpPr>
        <p:spPr>
          <a:xfrm>
            <a:off x="5994850" y="2151600"/>
            <a:ext cx="2799300" cy="23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chemeClr val="accent1"/>
                </a:solidFill>
                <a:latin typeface="Lato"/>
                <a:ea typeface="Lato"/>
                <a:cs typeface="Lato"/>
                <a:sym typeface="Lato"/>
              </a:rPr>
              <a:t>Fig 18</a:t>
            </a:r>
            <a:r>
              <a:rPr lang="en" sz="900">
                <a:solidFill>
                  <a:schemeClr val="accent1"/>
                </a:solidFill>
                <a:latin typeface="Lato"/>
                <a:ea typeface="Lato"/>
                <a:cs typeface="Lato"/>
                <a:sym typeface="Lato"/>
              </a:rPr>
              <a:t>: Working of CNN </a:t>
            </a:r>
            <a:endParaRPr sz="900">
              <a:solidFill>
                <a:schemeClr val="accent1"/>
              </a:solidFill>
              <a:latin typeface="Lato"/>
              <a:ea typeface="Lato"/>
              <a:cs typeface="Lato"/>
              <a:sym typeface="Lato"/>
            </a:endParaRPr>
          </a:p>
        </p:txBody>
      </p:sp>
      <p:sp>
        <p:nvSpPr>
          <p:cNvPr id="257" name="Google Shape;257;p36"/>
          <p:cNvSpPr txBox="1"/>
          <p:nvPr/>
        </p:nvSpPr>
        <p:spPr>
          <a:xfrm>
            <a:off x="6039925" y="4614150"/>
            <a:ext cx="2288400" cy="1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chemeClr val="accent1"/>
                </a:solidFill>
                <a:latin typeface="Lato"/>
                <a:ea typeface="Lato"/>
                <a:cs typeface="Lato"/>
                <a:sym typeface="Lato"/>
              </a:rPr>
              <a:t>Fig 19</a:t>
            </a:r>
            <a:r>
              <a:rPr lang="en" sz="900">
                <a:solidFill>
                  <a:schemeClr val="accent1"/>
                </a:solidFill>
                <a:latin typeface="Lato"/>
                <a:ea typeface="Lato"/>
                <a:cs typeface="Lato"/>
                <a:sym typeface="Lato"/>
              </a:rPr>
              <a:t>: Equation of CNN</a:t>
            </a:r>
            <a:endParaRPr sz="900">
              <a:solidFill>
                <a:schemeClr val="accent1"/>
              </a:solidFill>
              <a:latin typeface="Lato"/>
              <a:ea typeface="Lato"/>
              <a:cs typeface="Lato"/>
              <a:sym typeface="La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pic>
        <p:nvPicPr>
          <p:cNvPr id="262" name="Google Shape;262;p37"/>
          <p:cNvPicPr preferRelativeResize="0"/>
          <p:nvPr/>
        </p:nvPicPr>
        <p:blipFill>
          <a:blip r:embed="rId3">
            <a:alphaModFix/>
          </a:blip>
          <a:stretch>
            <a:fillRect/>
          </a:stretch>
        </p:blipFill>
        <p:spPr>
          <a:xfrm>
            <a:off x="1872150" y="323975"/>
            <a:ext cx="2094175" cy="1625850"/>
          </a:xfrm>
          <a:prstGeom prst="rect">
            <a:avLst/>
          </a:prstGeom>
          <a:noFill/>
          <a:ln>
            <a:noFill/>
          </a:ln>
        </p:spPr>
      </p:pic>
      <p:pic>
        <p:nvPicPr>
          <p:cNvPr id="263" name="Google Shape;263;p37"/>
          <p:cNvPicPr preferRelativeResize="0"/>
          <p:nvPr/>
        </p:nvPicPr>
        <p:blipFill>
          <a:blip r:embed="rId4">
            <a:alphaModFix/>
          </a:blip>
          <a:stretch>
            <a:fillRect/>
          </a:stretch>
        </p:blipFill>
        <p:spPr>
          <a:xfrm>
            <a:off x="4572000" y="323973"/>
            <a:ext cx="1983700" cy="1520300"/>
          </a:xfrm>
          <a:prstGeom prst="rect">
            <a:avLst/>
          </a:prstGeom>
          <a:noFill/>
          <a:ln>
            <a:noFill/>
          </a:ln>
        </p:spPr>
      </p:pic>
      <p:pic>
        <p:nvPicPr>
          <p:cNvPr id="264" name="Google Shape;264;p37"/>
          <p:cNvPicPr preferRelativeResize="0"/>
          <p:nvPr/>
        </p:nvPicPr>
        <p:blipFill>
          <a:blip r:embed="rId5">
            <a:alphaModFix/>
          </a:blip>
          <a:stretch>
            <a:fillRect/>
          </a:stretch>
        </p:blipFill>
        <p:spPr>
          <a:xfrm>
            <a:off x="1952850" y="2023824"/>
            <a:ext cx="4914125" cy="2481475"/>
          </a:xfrm>
          <a:prstGeom prst="rect">
            <a:avLst/>
          </a:prstGeom>
          <a:noFill/>
          <a:ln cap="flat" cmpd="sng" w="9525">
            <a:solidFill>
              <a:schemeClr val="dk2"/>
            </a:solidFill>
            <a:prstDash val="solid"/>
            <a:round/>
            <a:headEnd len="sm" w="sm" type="none"/>
            <a:tailEnd len="sm" w="sm" type="none"/>
          </a:ln>
        </p:spPr>
      </p:pic>
      <p:sp>
        <p:nvSpPr>
          <p:cNvPr id="265" name="Google Shape;265;p37"/>
          <p:cNvSpPr txBox="1"/>
          <p:nvPr/>
        </p:nvSpPr>
        <p:spPr>
          <a:xfrm>
            <a:off x="2626725" y="4620650"/>
            <a:ext cx="5889300" cy="20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chemeClr val="accent1"/>
                </a:solidFill>
                <a:latin typeface="Lato"/>
                <a:ea typeface="Lato"/>
                <a:cs typeface="Lato"/>
                <a:sym typeface="Lato"/>
              </a:rPr>
              <a:t>Fig 20</a:t>
            </a:r>
            <a:r>
              <a:rPr lang="en" sz="900">
                <a:solidFill>
                  <a:schemeClr val="accent1"/>
                </a:solidFill>
                <a:latin typeface="Lato"/>
                <a:ea typeface="Lato"/>
                <a:cs typeface="Lato"/>
                <a:sym typeface="Lato"/>
              </a:rPr>
              <a:t>: CNN 1-D model implementation with 50 Epochs</a:t>
            </a:r>
            <a:endParaRPr sz="900">
              <a:solidFill>
                <a:schemeClr val="accent1"/>
              </a:solidFill>
              <a:latin typeface="Lato"/>
              <a:ea typeface="Lato"/>
              <a:cs typeface="Lato"/>
              <a:sym typeface="La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pic>
        <p:nvPicPr>
          <p:cNvPr id="270" name="Google Shape;270;p38"/>
          <p:cNvPicPr preferRelativeResize="0"/>
          <p:nvPr/>
        </p:nvPicPr>
        <p:blipFill>
          <a:blip r:embed="rId3">
            <a:alphaModFix/>
          </a:blip>
          <a:stretch>
            <a:fillRect/>
          </a:stretch>
        </p:blipFill>
        <p:spPr>
          <a:xfrm>
            <a:off x="2293782" y="326600"/>
            <a:ext cx="2070744" cy="1477875"/>
          </a:xfrm>
          <a:prstGeom prst="rect">
            <a:avLst/>
          </a:prstGeom>
          <a:noFill/>
          <a:ln>
            <a:noFill/>
          </a:ln>
        </p:spPr>
      </p:pic>
      <p:pic>
        <p:nvPicPr>
          <p:cNvPr id="271" name="Google Shape;271;p38"/>
          <p:cNvPicPr preferRelativeResize="0"/>
          <p:nvPr/>
        </p:nvPicPr>
        <p:blipFill>
          <a:blip r:embed="rId4">
            <a:alphaModFix/>
          </a:blip>
          <a:stretch>
            <a:fillRect/>
          </a:stretch>
        </p:blipFill>
        <p:spPr>
          <a:xfrm>
            <a:off x="4473500" y="384700"/>
            <a:ext cx="2016775" cy="1477875"/>
          </a:xfrm>
          <a:prstGeom prst="rect">
            <a:avLst/>
          </a:prstGeom>
          <a:noFill/>
          <a:ln>
            <a:noFill/>
          </a:ln>
        </p:spPr>
      </p:pic>
      <p:pic>
        <p:nvPicPr>
          <p:cNvPr id="272" name="Google Shape;272;p38"/>
          <p:cNvPicPr preferRelativeResize="0"/>
          <p:nvPr/>
        </p:nvPicPr>
        <p:blipFill>
          <a:blip r:embed="rId5">
            <a:alphaModFix/>
          </a:blip>
          <a:stretch>
            <a:fillRect/>
          </a:stretch>
        </p:blipFill>
        <p:spPr>
          <a:xfrm>
            <a:off x="1953449" y="1954650"/>
            <a:ext cx="5126100" cy="2560200"/>
          </a:xfrm>
          <a:prstGeom prst="rect">
            <a:avLst/>
          </a:prstGeom>
          <a:noFill/>
          <a:ln>
            <a:noFill/>
          </a:ln>
        </p:spPr>
      </p:pic>
      <p:sp>
        <p:nvSpPr>
          <p:cNvPr id="273" name="Google Shape;273;p38"/>
          <p:cNvSpPr txBox="1"/>
          <p:nvPr/>
        </p:nvSpPr>
        <p:spPr>
          <a:xfrm>
            <a:off x="2702925" y="4620650"/>
            <a:ext cx="5889300" cy="20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chemeClr val="accent1"/>
                </a:solidFill>
                <a:latin typeface="Lato"/>
                <a:ea typeface="Lato"/>
                <a:cs typeface="Lato"/>
                <a:sym typeface="Lato"/>
              </a:rPr>
              <a:t>Fig 21</a:t>
            </a:r>
            <a:r>
              <a:rPr lang="en" sz="900">
                <a:solidFill>
                  <a:schemeClr val="accent1"/>
                </a:solidFill>
                <a:latin typeface="Lato"/>
                <a:ea typeface="Lato"/>
                <a:cs typeface="Lato"/>
                <a:sym typeface="Lato"/>
              </a:rPr>
              <a:t>: CNN 2-D model implementation with 50 Epochs</a:t>
            </a:r>
            <a:endParaRPr sz="900">
              <a:solidFill>
                <a:schemeClr val="accent1"/>
              </a:solidFill>
              <a:latin typeface="Lato"/>
              <a:ea typeface="Lato"/>
              <a:cs typeface="Lato"/>
              <a:sym typeface="La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nvSpPr>
        <p:spPr>
          <a:xfrm>
            <a:off x="3083925" y="4544450"/>
            <a:ext cx="5889300" cy="20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chemeClr val="accent1"/>
                </a:solidFill>
                <a:latin typeface="Lato"/>
                <a:ea typeface="Lato"/>
                <a:cs typeface="Lato"/>
                <a:sym typeface="Lato"/>
              </a:rPr>
              <a:t>Fig 22</a:t>
            </a:r>
            <a:r>
              <a:rPr lang="en" sz="900">
                <a:solidFill>
                  <a:schemeClr val="accent1"/>
                </a:solidFill>
                <a:latin typeface="Lato"/>
                <a:ea typeface="Lato"/>
                <a:cs typeface="Lato"/>
                <a:sym typeface="Lato"/>
              </a:rPr>
              <a:t>: CNN 3-D model implementation with 150 Epochs</a:t>
            </a:r>
            <a:endParaRPr sz="900">
              <a:solidFill>
                <a:schemeClr val="accent1"/>
              </a:solidFill>
              <a:latin typeface="Lato"/>
              <a:ea typeface="Lato"/>
              <a:cs typeface="Lato"/>
              <a:sym typeface="Lato"/>
            </a:endParaRPr>
          </a:p>
        </p:txBody>
      </p:sp>
      <p:pic>
        <p:nvPicPr>
          <p:cNvPr id="279" name="Google Shape;279;p39"/>
          <p:cNvPicPr preferRelativeResize="0"/>
          <p:nvPr/>
        </p:nvPicPr>
        <p:blipFill>
          <a:blip r:embed="rId3">
            <a:alphaModFix/>
          </a:blip>
          <a:stretch>
            <a:fillRect/>
          </a:stretch>
        </p:blipFill>
        <p:spPr>
          <a:xfrm>
            <a:off x="2434225" y="353125"/>
            <a:ext cx="1934250" cy="1473322"/>
          </a:xfrm>
          <a:prstGeom prst="rect">
            <a:avLst/>
          </a:prstGeom>
          <a:noFill/>
          <a:ln>
            <a:noFill/>
          </a:ln>
        </p:spPr>
      </p:pic>
      <p:pic>
        <p:nvPicPr>
          <p:cNvPr id="280" name="Google Shape;280;p39"/>
          <p:cNvPicPr preferRelativeResize="0"/>
          <p:nvPr/>
        </p:nvPicPr>
        <p:blipFill>
          <a:blip r:embed="rId4">
            <a:alphaModFix/>
          </a:blip>
          <a:stretch>
            <a:fillRect/>
          </a:stretch>
        </p:blipFill>
        <p:spPr>
          <a:xfrm>
            <a:off x="4846093" y="353125"/>
            <a:ext cx="1891969" cy="1473325"/>
          </a:xfrm>
          <a:prstGeom prst="rect">
            <a:avLst/>
          </a:prstGeom>
          <a:noFill/>
          <a:ln>
            <a:noFill/>
          </a:ln>
        </p:spPr>
      </p:pic>
      <p:pic>
        <p:nvPicPr>
          <p:cNvPr id="281" name="Google Shape;281;p39"/>
          <p:cNvPicPr preferRelativeResize="0"/>
          <p:nvPr/>
        </p:nvPicPr>
        <p:blipFill>
          <a:blip r:embed="rId5">
            <a:alphaModFix/>
          </a:blip>
          <a:stretch>
            <a:fillRect/>
          </a:stretch>
        </p:blipFill>
        <p:spPr>
          <a:xfrm>
            <a:off x="2127075" y="1920525"/>
            <a:ext cx="4988360" cy="25298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0"/>
          <p:cNvSpPr txBox="1"/>
          <p:nvPr>
            <p:ph type="title"/>
          </p:nvPr>
        </p:nvSpPr>
        <p:spPr>
          <a:xfrm>
            <a:off x="727650" y="5340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RNN</a:t>
            </a:r>
            <a:endParaRPr/>
          </a:p>
        </p:txBody>
      </p:sp>
      <p:sp>
        <p:nvSpPr>
          <p:cNvPr id="287" name="Google Shape;287;p40"/>
          <p:cNvSpPr txBox="1"/>
          <p:nvPr>
            <p:ph idx="1" type="body"/>
          </p:nvPr>
        </p:nvSpPr>
        <p:spPr>
          <a:xfrm>
            <a:off x="727650" y="1329150"/>
            <a:ext cx="3844500" cy="3163500"/>
          </a:xfrm>
          <a:prstGeom prst="rect">
            <a:avLst/>
          </a:prstGeom>
        </p:spPr>
        <p:txBody>
          <a:bodyPr anchorCtr="0" anchor="t" bIns="91425" lIns="91425" spcFirstLastPara="1" rIns="91425" wrap="square" tIns="91425">
            <a:normAutofit fontScale="92500" lnSpcReduction="10000"/>
          </a:bodyPr>
          <a:lstStyle/>
          <a:p>
            <a:pPr indent="0" lvl="0" marL="0" rtl="0" algn="l">
              <a:spcBef>
                <a:spcPts val="1200"/>
              </a:spcBef>
              <a:spcAft>
                <a:spcPts val="0"/>
              </a:spcAft>
              <a:buNone/>
            </a:pPr>
            <a:r>
              <a:rPr lang="en"/>
              <a:t>Recurrent Neural Networks (RNNs) are designed to handle sequential data, making them suitable for time series forecasting. They use feedback loops to process input sequences and maintain a hidden state that captures information from previous time steps.</a:t>
            </a:r>
            <a:endParaRPr/>
          </a:p>
          <a:p>
            <a:pPr indent="-304958" lvl="0" marL="457200" rtl="0" algn="l">
              <a:spcBef>
                <a:spcPts val="1200"/>
              </a:spcBef>
              <a:spcAft>
                <a:spcPts val="0"/>
              </a:spcAft>
              <a:buSzPct val="118181"/>
              <a:buAutoNum type="arabicPeriod"/>
            </a:pPr>
            <a:r>
              <a:rPr lang="en" sz="1100" u="sng"/>
              <a:t>Hidden State</a:t>
            </a:r>
            <a:r>
              <a:rPr lang="en" sz="1100"/>
              <a:t>: RNNs maintain a hidden state hth_tht​ that updates at each time step ttt based on the current input xtx_txt​ and the previous hidden state ht−1h_{t-1}ht−1​.</a:t>
            </a:r>
            <a:endParaRPr sz="1100"/>
          </a:p>
          <a:p>
            <a:pPr indent="-293211" lvl="0" marL="457200" rtl="0" algn="l">
              <a:spcBef>
                <a:spcPts val="0"/>
              </a:spcBef>
              <a:spcAft>
                <a:spcPts val="0"/>
              </a:spcAft>
              <a:buSzPct val="100000"/>
              <a:buAutoNum type="arabicPeriod"/>
            </a:pPr>
            <a:r>
              <a:rPr lang="en" sz="1100" u="sng"/>
              <a:t>Sequential Processing</a:t>
            </a:r>
            <a:r>
              <a:rPr lang="en" sz="1100"/>
              <a:t>: The hidden state passes information from one time step to the next, capturing dependencies between the current and previous inputs.</a:t>
            </a:r>
            <a:endParaRPr sz="1100"/>
          </a:p>
          <a:p>
            <a:pPr indent="-293211" lvl="0" marL="457200" rtl="0" algn="l">
              <a:spcBef>
                <a:spcPts val="0"/>
              </a:spcBef>
              <a:spcAft>
                <a:spcPts val="0"/>
              </a:spcAft>
              <a:buSzPct val="100000"/>
              <a:buAutoNum type="arabicPeriod"/>
            </a:pPr>
            <a:r>
              <a:rPr lang="en" sz="1100" u="sng"/>
              <a:t>Output</a:t>
            </a:r>
            <a:r>
              <a:rPr lang="en" sz="1100"/>
              <a:t>: At each time step, the RNN produces an output yty_tyt​ based on the hidden state</a:t>
            </a:r>
            <a:endParaRPr sz="1100"/>
          </a:p>
          <a:p>
            <a:pPr indent="-293211" lvl="0" marL="457200" rtl="0" algn="l">
              <a:spcBef>
                <a:spcPts val="0"/>
              </a:spcBef>
              <a:spcAft>
                <a:spcPts val="0"/>
              </a:spcAft>
              <a:buSzPct val="100000"/>
              <a:buAutoNum type="arabicPeriod"/>
            </a:pPr>
            <a:r>
              <a:rPr lang="en" sz="1100" u="sng"/>
              <a:t>Backpropagation Through Time (BPTT): </a:t>
            </a:r>
            <a:r>
              <a:rPr lang="en" sz="1100"/>
              <a:t>During training, RNNs use BPTT to update weights by propagating errors backward through the sequence.</a:t>
            </a:r>
            <a:endParaRPr/>
          </a:p>
        </p:txBody>
      </p:sp>
      <p:pic>
        <p:nvPicPr>
          <p:cNvPr id="288" name="Google Shape;288;p40"/>
          <p:cNvPicPr preferRelativeResize="0"/>
          <p:nvPr/>
        </p:nvPicPr>
        <p:blipFill rotWithShape="1">
          <a:blip r:embed="rId3">
            <a:alphaModFix/>
          </a:blip>
          <a:srcRect b="0" l="0" r="0" t="10241"/>
          <a:stretch/>
        </p:blipFill>
        <p:spPr>
          <a:xfrm>
            <a:off x="5449800" y="666200"/>
            <a:ext cx="3147900" cy="1412725"/>
          </a:xfrm>
          <a:prstGeom prst="rect">
            <a:avLst/>
          </a:prstGeom>
          <a:noFill/>
          <a:ln>
            <a:noFill/>
          </a:ln>
        </p:spPr>
      </p:pic>
      <p:sp>
        <p:nvSpPr>
          <p:cNvPr id="289" name="Google Shape;289;p40"/>
          <p:cNvSpPr txBox="1"/>
          <p:nvPr/>
        </p:nvSpPr>
        <p:spPr>
          <a:xfrm>
            <a:off x="6370275" y="1949950"/>
            <a:ext cx="2416200" cy="17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chemeClr val="accent1"/>
                </a:solidFill>
                <a:latin typeface="Lato"/>
                <a:ea typeface="Lato"/>
                <a:cs typeface="Lato"/>
                <a:sym typeface="Lato"/>
              </a:rPr>
              <a:t>Fig 23</a:t>
            </a:r>
            <a:r>
              <a:rPr lang="en" sz="900">
                <a:solidFill>
                  <a:schemeClr val="accent1"/>
                </a:solidFill>
                <a:latin typeface="Lato"/>
                <a:ea typeface="Lato"/>
                <a:cs typeface="Lato"/>
                <a:sym typeface="Lato"/>
              </a:rPr>
              <a:t>: Working  of RNN</a:t>
            </a:r>
            <a:endParaRPr sz="900">
              <a:solidFill>
                <a:schemeClr val="accent1"/>
              </a:solidFill>
              <a:latin typeface="Lato"/>
              <a:ea typeface="Lato"/>
              <a:cs typeface="Lato"/>
              <a:sym typeface="Lato"/>
            </a:endParaRPr>
          </a:p>
        </p:txBody>
      </p:sp>
      <p:pic>
        <p:nvPicPr>
          <p:cNvPr id="290" name="Google Shape;290;p40"/>
          <p:cNvPicPr preferRelativeResize="0"/>
          <p:nvPr/>
        </p:nvPicPr>
        <p:blipFill>
          <a:blip r:embed="rId4">
            <a:alphaModFix/>
          </a:blip>
          <a:stretch>
            <a:fillRect/>
          </a:stretch>
        </p:blipFill>
        <p:spPr>
          <a:xfrm>
            <a:off x="5542725" y="2665950"/>
            <a:ext cx="3147900" cy="2070881"/>
          </a:xfrm>
          <a:prstGeom prst="rect">
            <a:avLst/>
          </a:prstGeom>
          <a:noFill/>
          <a:ln>
            <a:noFill/>
          </a:ln>
        </p:spPr>
      </p:pic>
      <p:sp>
        <p:nvSpPr>
          <p:cNvPr id="291" name="Google Shape;291;p40"/>
          <p:cNvSpPr txBox="1"/>
          <p:nvPr/>
        </p:nvSpPr>
        <p:spPr>
          <a:xfrm>
            <a:off x="6317300" y="4736825"/>
            <a:ext cx="1707600" cy="17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chemeClr val="accent1"/>
                </a:solidFill>
                <a:latin typeface="Lato"/>
                <a:ea typeface="Lato"/>
                <a:cs typeface="Lato"/>
                <a:sym typeface="Lato"/>
              </a:rPr>
              <a:t>Fig 24</a:t>
            </a:r>
            <a:r>
              <a:rPr lang="en" sz="900">
                <a:solidFill>
                  <a:schemeClr val="accent1"/>
                </a:solidFill>
                <a:latin typeface="Lato"/>
                <a:ea typeface="Lato"/>
                <a:cs typeface="Lato"/>
                <a:sym typeface="Lato"/>
              </a:rPr>
              <a:t>: Equation of RNN</a:t>
            </a:r>
            <a:endParaRPr sz="900">
              <a:solidFill>
                <a:schemeClr val="accent1"/>
              </a:solidFill>
              <a:latin typeface="Lato"/>
              <a:ea typeface="Lato"/>
              <a:cs typeface="Lato"/>
              <a:sym typeface="Lat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pic>
        <p:nvPicPr>
          <p:cNvPr id="296" name="Google Shape;296;p41"/>
          <p:cNvPicPr preferRelativeResize="0"/>
          <p:nvPr/>
        </p:nvPicPr>
        <p:blipFill>
          <a:blip r:embed="rId3">
            <a:alphaModFix/>
          </a:blip>
          <a:stretch>
            <a:fillRect/>
          </a:stretch>
        </p:blipFill>
        <p:spPr>
          <a:xfrm>
            <a:off x="1801850" y="396338"/>
            <a:ext cx="2490575" cy="1338475"/>
          </a:xfrm>
          <a:prstGeom prst="rect">
            <a:avLst/>
          </a:prstGeom>
          <a:noFill/>
          <a:ln>
            <a:noFill/>
          </a:ln>
        </p:spPr>
      </p:pic>
      <p:pic>
        <p:nvPicPr>
          <p:cNvPr id="297" name="Google Shape;297;p41"/>
          <p:cNvPicPr preferRelativeResize="0"/>
          <p:nvPr/>
        </p:nvPicPr>
        <p:blipFill>
          <a:blip r:embed="rId4">
            <a:alphaModFix/>
          </a:blip>
          <a:stretch>
            <a:fillRect/>
          </a:stretch>
        </p:blipFill>
        <p:spPr>
          <a:xfrm>
            <a:off x="4806275" y="345975"/>
            <a:ext cx="2556800" cy="1439200"/>
          </a:xfrm>
          <a:prstGeom prst="rect">
            <a:avLst/>
          </a:prstGeom>
          <a:noFill/>
          <a:ln>
            <a:noFill/>
          </a:ln>
        </p:spPr>
      </p:pic>
      <p:pic>
        <p:nvPicPr>
          <p:cNvPr id="298" name="Google Shape;298;p41"/>
          <p:cNvPicPr preferRelativeResize="0"/>
          <p:nvPr/>
        </p:nvPicPr>
        <p:blipFill>
          <a:blip r:embed="rId5">
            <a:alphaModFix/>
          </a:blip>
          <a:stretch>
            <a:fillRect/>
          </a:stretch>
        </p:blipFill>
        <p:spPr>
          <a:xfrm>
            <a:off x="1860525" y="1928350"/>
            <a:ext cx="5714475" cy="2587500"/>
          </a:xfrm>
          <a:prstGeom prst="rect">
            <a:avLst/>
          </a:prstGeom>
          <a:noFill/>
          <a:ln>
            <a:noFill/>
          </a:ln>
        </p:spPr>
      </p:pic>
      <p:sp>
        <p:nvSpPr>
          <p:cNvPr id="299" name="Google Shape;299;p41"/>
          <p:cNvSpPr txBox="1"/>
          <p:nvPr/>
        </p:nvSpPr>
        <p:spPr>
          <a:xfrm>
            <a:off x="3312525" y="4620650"/>
            <a:ext cx="5889300" cy="20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chemeClr val="accent1"/>
                </a:solidFill>
                <a:latin typeface="Lato"/>
                <a:ea typeface="Lato"/>
                <a:cs typeface="Lato"/>
                <a:sym typeface="Lato"/>
              </a:rPr>
              <a:t>Fig 25</a:t>
            </a:r>
            <a:r>
              <a:rPr lang="en" sz="900">
                <a:solidFill>
                  <a:schemeClr val="accent1"/>
                </a:solidFill>
                <a:latin typeface="Lato"/>
                <a:ea typeface="Lato"/>
                <a:cs typeface="Lato"/>
                <a:sym typeface="Lato"/>
              </a:rPr>
              <a:t>: RNN  model implementation with 100 Epochs</a:t>
            </a:r>
            <a:endParaRPr sz="900">
              <a:solidFill>
                <a:schemeClr val="accent1"/>
              </a:solidFill>
              <a:latin typeface="Lato"/>
              <a:ea typeface="Lato"/>
              <a:cs typeface="Lato"/>
              <a:sym typeface="La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2"/>
          <p:cNvSpPr txBox="1"/>
          <p:nvPr>
            <p:ph type="title"/>
          </p:nvPr>
        </p:nvSpPr>
        <p:spPr>
          <a:xfrm>
            <a:off x="727650" y="4817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LSTM</a:t>
            </a:r>
            <a:endParaRPr/>
          </a:p>
        </p:txBody>
      </p:sp>
      <p:sp>
        <p:nvSpPr>
          <p:cNvPr id="305" name="Google Shape;305;p42"/>
          <p:cNvSpPr txBox="1"/>
          <p:nvPr>
            <p:ph idx="1" type="body"/>
          </p:nvPr>
        </p:nvSpPr>
        <p:spPr>
          <a:xfrm>
            <a:off x="624825" y="1346575"/>
            <a:ext cx="3779700" cy="22611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 sz="1100"/>
              <a:t>LSTM (Long Short-Term Memory) is a type of recurrent neural network (RNN) designed to capture long-term dependencies in sequential data, making it highly effective for time series forecasting.</a:t>
            </a:r>
            <a:endParaRPr sz="1100"/>
          </a:p>
          <a:p>
            <a:pPr indent="-298450" lvl="0" marL="457200" rtl="0" algn="l">
              <a:spcBef>
                <a:spcPts val="1200"/>
              </a:spcBef>
              <a:spcAft>
                <a:spcPts val="0"/>
              </a:spcAft>
              <a:buSzPts val="1100"/>
              <a:buAutoNum type="arabicPeriod"/>
            </a:pPr>
            <a:r>
              <a:rPr lang="en" sz="1100" u="sng">
                <a:latin typeface="Arial"/>
                <a:ea typeface="Arial"/>
                <a:cs typeface="Arial"/>
                <a:sym typeface="Arial"/>
              </a:rPr>
              <a:t>Memory Cells</a:t>
            </a:r>
            <a:r>
              <a:rPr lang="en" sz="1100">
                <a:latin typeface="Arial"/>
                <a:ea typeface="Arial"/>
                <a:cs typeface="Arial"/>
                <a:sym typeface="Arial"/>
              </a:rPr>
              <a:t>: LSTM units contain memory cells that maintain information over time, which helps the model remember patterns in the time series data.</a:t>
            </a:r>
            <a:endParaRPr sz="1100">
              <a:latin typeface="Arial"/>
              <a:ea typeface="Arial"/>
              <a:cs typeface="Arial"/>
              <a:sym typeface="Arial"/>
            </a:endParaRPr>
          </a:p>
          <a:p>
            <a:pPr indent="-298450" lvl="0" marL="457200" rtl="0" algn="l">
              <a:spcBef>
                <a:spcPts val="0"/>
              </a:spcBef>
              <a:spcAft>
                <a:spcPts val="0"/>
              </a:spcAft>
              <a:buSzPts val="1100"/>
              <a:buFont typeface="Arial"/>
              <a:buAutoNum type="arabicPeriod"/>
            </a:pPr>
            <a:r>
              <a:rPr lang="en" sz="1100" u="sng">
                <a:latin typeface="Arial"/>
                <a:ea typeface="Arial"/>
                <a:cs typeface="Arial"/>
                <a:sym typeface="Arial"/>
              </a:rPr>
              <a:t>Gates</a:t>
            </a:r>
            <a:r>
              <a:rPr lang="en" sz="1100">
                <a:latin typeface="Arial"/>
                <a:ea typeface="Arial"/>
                <a:cs typeface="Arial"/>
                <a:sym typeface="Arial"/>
              </a:rPr>
              <a:t>: LSTM uses three gates to control the flow of information: Forget Gate, Input Gate, Output Gate</a:t>
            </a:r>
            <a:endParaRPr sz="1100">
              <a:latin typeface="Arial"/>
              <a:ea typeface="Arial"/>
              <a:cs typeface="Arial"/>
              <a:sym typeface="Arial"/>
            </a:endParaRPr>
          </a:p>
          <a:p>
            <a:pPr indent="-298450" lvl="0" marL="457200" rtl="0" algn="l">
              <a:spcBef>
                <a:spcPts val="0"/>
              </a:spcBef>
              <a:spcAft>
                <a:spcPts val="0"/>
              </a:spcAft>
              <a:buSzPts val="1100"/>
              <a:buFont typeface="Arial"/>
              <a:buAutoNum type="arabicPeriod"/>
            </a:pPr>
            <a:r>
              <a:rPr lang="en" sz="1100" u="sng">
                <a:latin typeface="Arial"/>
                <a:ea typeface="Arial"/>
                <a:cs typeface="Arial"/>
                <a:sym typeface="Arial"/>
              </a:rPr>
              <a:t>Cell State Update</a:t>
            </a:r>
            <a:r>
              <a:rPr lang="en" sz="1100">
                <a:latin typeface="Arial"/>
                <a:ea typeface="Arial"/>
                <a:cs typeface="Arial"/>
                <a:sym typeface="Arial"/>
              </a:rPr>
              <a:t>: The cell state is updated based on the forget and input gates. It allows LSTM to carry forward relevant information and discard irrelevant data.</a:t>
            </a:r>
            <a:endParaRPr sz="1100"/>
          </a:p>
        </p:txBody>
      </p:sp>
      <p:pic>
        <p:nvPicPr>
          <p:cNvPr id="306" name="Google Shape;306;p42"/>
          <p:cNvPicPr preferRelativeResize="0"/>
          <p:nvPr/>
        </p:nvPicPr>
        <p:blipFill rotWithShape="1">
          <a:blip r:embed="rId3">
            <a:alphaModFix/>
          </a:blip>
          <a:srcRect b="10876" l="5544" r="7679" t="7954"/>
          <a:stretch/>
        </p:blipFill>
        <p:spPr>
          <a:xfrm>
            <a:off x="5136225" y="787475"/>
            <a:ext cx="3601926" cy="2085700"/>
          </a:xfrm>
          <a:prstGeom prst="rect">
            <a:avLst/>
          </a:prstGeom>
          <a:noFill/>
          <a:ln>
            <a:noFill/>
          </a:ln>
        </p:spPr>
      </p:pic>
      <p:pic>
        <p:nvPicPr>
          <p:cNvPr id="307" name="Google Shape;307;p42"/>
          <p:cNvPicPr preferRelativeResize="0"/>
          <p:nvPr/>
        </p:nvPicPr>
        <p:blipFill>
          <a:blip r:embed="rId4">
            <a:alphaModFix/>
          </a:blip>
          <a:stretch>
            <a:fillRect/>
          </a:stretch>
        </p:blipFill>
        <p:spPr>
          <a:xfrm>
            <a:off x="5136224" y="3369075"/>
            <a:ext cx="3652576" cy="1352650"/>
          </a:xfrm>
          <a:prstGeom prst="rect">
            <a:avLst/>
          </a:prstGeom>
          <a:noFill/>
          <a:ln>
            <a:noFill/>
          </a:ln>
        </p:spPr>
      </p:pic>
      <p:sp>
        <p:nvSpPr>
          <p:cNvPr id="308" name="Google Shape;308;p42"/>
          <p:cNvSpPr txBox="1"/>
          <p:nvPr/>
        </p:nvSpPr>
        <p:spPr>
          <a:xfrm>
            <a:off x="6084975" y="2815100"/>
            <a:ext cx="1939800" cy="1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chemeClr val="accent1"/>
                </a:solidFill>
                <a:latin typeface="Lato"/>
                <a:ea typeface="Lato"/>
                <a:cs typeface="Lato"/>
                <a:sym typeface="Lato"/>
              </a:rPr>
              <a:t>Fig 26</a:t>
            </a:r>
            <a:r>
              <a:rPr lang="en" sz="900">
                <a:solidFill>
                  <a:schemeClr val="accent1"/>
                </a:solidFill>
                <a:latin typeface="Lato"/>
                <a:ea typeface="Lato"/>
                <a:cs typeface="Lato"/>
                <a:sym typeface="Lato"/>
              </a:rPr>
              <a:t>: Architecture of LSTM </a:t>
            </a:r>
            <a:endParaRPr sz="900">
              <a:solidFill>
                <a:schemeClr val="accent1"/>
              </a:solidFill>
              <a:latin typeface="Lato"/>
              <a:ea typeface="Lato"/>
              <a:cs typeface="Lato"/>
              <a:sym typeface="Lato"/>
            </a:endParaRPr>
          </a:p>
        </p:txBody>
      </p:sp>
      <p:sp>
        <p:nvSpPr>
          <p:cNvPr id="309" name="Google Shape;309;p42"/>
          <p:cNvSpPr txBox="1"/>
          <p:nvPr/>
        </p:nvSpPr>
        <p:spPr>
          <a:xfrm>
            <a:off x="6312200" y="4713575"/>
            <a:ext cx="1440300" cy="1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chemeClr val="accent1"/>
                </a:solidFill>
                <a:latin typeface="Lato"/>
                <a:ea typeface="Lato"/>
                <a:cs typeface="Lato"/>
                <a:sym typeface="Lato"/>
              </a:rPr>
              <a:t>Fig 27</a:t>
            </a:r>
            <a:r>
              <a:rPr lang="en" sz="900">
                <a:solidFill>
                  <a:schemeClr val="accent1"/>
                </a:solidFill>
                <a:latin typeface="Lato"/>
                <a:ea typeface="Lato"/>
                <a:cs typeface="Lato"/>
                <a:sym typeface="Lato"/>
              </a:rPr>
              <a:t>: Equation of LSTM</a:t>
            </a:r>
            <a:endParaRPr sz="900">
              <a:solidFill>
                <a:schemeClr val="accent1"/>
              </a:solidFill>
              <a:latin typeface="Lato"/>
              <a:ea typeface="Lato"/>
              <a:cs typeface="Lato"/>
              <a:sym typeface="Lat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3"/>
          <p:cNvSpPr txBox="1"/>
          <p:nvPr/>
        </p:nvSpPr>
        <p:spPr>
          <a:xfrm>
            <a:off x="3160125" y="4239650"/>
            <a:ext cx="5889300" cy="20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chemeClr val="accent1"/>
                </a:solidFill>
                <a:latin typeface="Lato"/>
                <a:ea typeface="Lato"/>
                <a:cs typeface="Lato"/>
                <a:sym typeface="Lato"/>
              </a:rPr>
              <a:t>Fig 28</a:t>
            </a:r>
            <a:r>
              <a:rPr lang="en" sz="900">
                <a:solidFill>
                  <a:schemeClr val="accent1"/>
                </a:solidFill>
                <a:latin typeface="Lato"/>
                <a:ea typeface="Lato"/>
                <a:cs typeface="Lato"/>
                <a:sym typeface="Lato"/>
              </a:rPr>
              <a:t>: LSTM  model implementation with 10 Epochs</a:t>
            </a:r>
            <a:endParaRPr sz="900">
              <a:solidFill>
                <a:schemeClr val="accent1"/>
              </a:solidFill>
              <a:latin typeface="Lato"/>
              <a:ea typeface="Lato"/>
              <a:cs typeface="Lato"/>
              <a:sym typeface="Lato"/>
            </a:endParaRPr>
          </a:p>
        </p:txBody>
      </p:sp>
      <p:pic>
        <p:nvPicPr>
          <p:cNvPr id="315" name="Google Shape;315;p43"/>
          <p:cNvPicPr preferRelativeResize="0"/>
          <p:nvPr/>
        </p:nvPicPr>
        <p:blipFill>
          <a:blip r:embed="rId3">
            <a:alphaModFix/>
          </a:blip>
          <a:stretch>
            <a:fillRect/>
          </a:stretch>
        </p:blipFill>
        <p:spPr>
          <a:xfrm>
            <a:off x="2362326" y="530203"/>
            <a:ext cx="1760374" cy="1334950"/>
          </a:xfrm>
          <a:prstGeom prst="rect">
            <a:avLst/>
          </a:prstGeom>
          <a:noFill/>
          <a:ln>
            <a:noFill/>
          </a:ln>
        </p:spPr>
      </p:pic>
      <p:pic>
        <p:nvPicPr>
          <p:cNvPr id="316" name="Google Shape;316;p43"/>
          <p:cNvPicPr preferRelativeResize="0"/>
          <p:nvPr/>
        </p:nvPicPr>
        <p:blipFill>
          <a:blip r:embed="rId4">
            <a:alphaModFix/>
          </a:blip>
          <a:stretch>
            <a:fillRect/>
          </a:stretch>
        </p:blipFill>
        <p:spPr>
          <a:xfrm>
            <a:off x="5059050" y="440826"/>
            <a:ext cx="1760375" cy="1374337"/>
          </a:xfrm>
          <a:prstGeom prst="rect">
            <a:avLst/>
          </a:prstGeom>
          <a:noFill/>
          <a:ln>
            <a:noFill/>
          </a:ln>
        </p:spPr>
      </p:pic>
      <p:pic>
        <p:nvPicPr>
          <p:cNvPr id="317" name="Google Shape;317;p43"/>
          <p:cNvPicPr preferRelativeResize="0"/>
          <p:nvPr/>
        </p:nvPicPr>
        <p:blipFill>
          <a:blip r:embed="rId5">
            <a:alphaModFix/>
          </a:blip>
          <a:stretch>
            <a:fillRect/>
          </a:stretch>
        </p:blipFill>
        <p:spPr>
          <a:xfrm>
            <a:off x="665025" y="1994313"/>
            <a:ext cx="3669674" cy="1953550"/>
          </a:xfrm>
          <a:prstGeom prst="rect">
            <a:avLst/>
          </a:prstGeom>
          <a:noFill/>
          <a:ln>
            <a:noFill/>
          </a:ln>
        </p:spPr>
      </p:pic>
      <p:pic>
        <p:nvPicPr>
          <p:cNvPr id="318" name="Google Shape;318;p43"/>
          <p:cNvPicPr preferRelativeResize="0"/>
          <p:nvPr/>
        </p:nvPicPr>
        <p:blipFill>
          <a:blip r:embed="rId6">
            <a:alphaModFix/>
          </a:blip>
          <a:stretch>
            <a:fillRect/>
          </a:stretch>
        </p:blipFill>
        <p:spPr>
          <a:xfrm>
            <a:off x="4932074" y="2096988"/>
            <a:ext cx="3541775" cy="18608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4"/>
          <p:cNvSpPr txBox="1"/>
          <p:nvPr>
            <p:ph idx="1" type="body"/>
          </p:nvPr>
        </p:nvSpPr>
        <p:spPr>
          <a:xfrm>
            <a:off x="496350" y="2315151"/>
            <a:ext cx="7697400" cy="460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4600">
                <a:solidFill>
                  <a:schemeClr val="dk2"/>
                </a:solidFill>
                <a:latin typeface="Raleway Black"/>
                <a:ea typeface="Raleway Black"/>
                <a:cs typeface="Raleway Black"/>
                <a:sym typeface="Raleway Black"/>
              </a:rPr>
              <a:t>CONCLUSION</a:t>
            </a:r>
            <a:endParaRPr sz="4600">
              <a:solidFill>
                <a:schemeClr val="dk2"/>
              </a:solidFill>
              <a:latin typeface="Raleway Black"/>
              <a:ea typeface="Raleway Black"/>
              <a:cs typeface="Raleway Black"/>
              <a:sym typeface="Raleway Black"/>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5"/>
          <p:cNvSpPr txBox="1"/>
          <p:nvPr>
            <p:ph type="title"/>
          </p:nvPr>
        </p:nvSpPr>
        <p:spPr>
          <a:xfrm>
            <a:off x="729450" y="6328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PROPOSED MODEL</a:t>
            </a:r>
            <a:endParaRPr/>
          </a:p>
        </p:txBody>
      </p:sp>
      <p:pic>
        <p:nvPicPr>
          <p:cNvPr id="329" name="Google Shape;329;p45"/>
          <p:cNvPicPr preferRelativeResize="0"/>
          <p:nvPr/>
        </p:nvPicPr>
        <p:blipFill>
          <a:blip r:embed="rId3">
            <a:alphaModFix/>
          </a:blip>
          <a:stretch>
            <a:fillRect/>
          </a:stretch>
        </p:blipFill>
        <p:spPr>
          <a:xfrm>
            <a:off x="1751395" y="1481388"/>
            <a:ext cx="5940617" cy="2180737"/>
          </a:xfrm>
          <a:prstGeom prst="rect">
            <a:avLst/>
          </a:prstGeom>
          <a:noFill/>
          <a:ln>
            <a:noFill/>
          </a:ln>
        </p:spPr>
      </p:pic>
      <p:sp>
        <p:nvSpPr>
          <p:cNvPr id="330" name="Google Shape;330;p45"/>
          <p:cNvSpPr txBox="1"/>
          <p:nvPr/>
        </p:nvSpPr>
        <p:spPr>
          <a:xfrm>
            <a:off x="729450" y="3852500"/>
            <a:ext cx="7984500" cy="720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200">
                <a:solidFill>
                  <a:schemeClr val="accent1"/>
                </a:solidFill>
                <a:latin typeface="Lato"/>
                <a:ea typeface="Lato"/>
                <a:cs typeface="Lato"/>
                <a:sym typeface="Lato"/>
              </a:rPr>
              <a:t>Based on the given table, the best model appears to be the </a:t>
            </a:r>
            <a:r>
              <a:rPr b="1" lang="en" sz="1200">
                <a:solidFill>
                  <a:schemeClr val="accent1"/>
                </a:solidFill>
                <a:latin typeface="Lato"/>
                <a:ea typeface="Lato"/>
                <a:cs typeface="Lato"/>
                <a:sym typeface="Lato"/>
              </a:rPr>
              <a:t>CNN 3D model</a:t>
            </a:r>
            <a:r>
              <a:rPr lang="en" sz="1200">
                <a:solidFill>
                  <a:schemeClr val="accent1"/>
                </a:solidFill>
                <a:latin typeface="Lato"/>
                <a:ea typeface="Lato"/>
                <a:cs typeface="Lato"/>
                <a:sym typeface="Lato"/>
              </a:rPr>
              <a:t>:</a:t>
            </a:r>
            <a:endParaRPr sz="1200">
              <a:solidFill>
                <a:schemeClr val="accent1"/>
              </a:solidFill>
              <a:latin typeface="Lato"/>
              <a:ea typeface="Lato"/>
              <a:cs typeface="Lato"/>
              <a:sym typeface="Lato"/>
            </a:endParaRPr>
          </a:p>
          <a:p>
            <a:pPr indent="-304800" lvl="0" marL="457200" rtl="0" algn="l">
              <a:lnSpc>
                <a:spcPct val="115000"/>
              </a:lnSpc>
              <a:spcBef>
                <a:spcPts val="1200"/>
              </a:spcBef>
              <a:spcAft>
                <a:spcPts val="0"/>
              </a:spcAft>
              <a:buClr>
                <a:schemeClr val="accent1"/>
              </a:buClr>
              <a:buSzPts val="1200"/>
              <a:buFont typeface="Lato"/>
              <a:buChar char="●"/>
            </a:pPr>
            <a:r>
              <a:rPr lang="en" sz="1200">
                <a:solidFill>
                  <a:schemeClr val="accent1"/>
                </a:solidFill>
                <a:latin typeface="Lato"/>
                <a:ea typeface="Lato"/>
                <a:cs typeface="Lato"/>
                <a:sym typeface="Lato"/>
              </a:rPr>
              <a:t>It has the lowest MAE (1461.777), indicating that, on average, its predictions are closest to the actual values.</a:t>
            </a:r>
            <a:endParaRPr sz="1200">
              <a:solidFill>
                <a:schemeClr val="accent1"/>
              </a:solidFill>
              <a:latin typeface="Lato"/>
              <a:ea typeface="Lato"/>
              <a:cs typeface="Lato"/>
              <a:sym typeface="Lato"/>
            </a:endParaRPr>
          </a:p>
          <a:p>
            <a:pPr indent="-304800" lvl="0" marL="457200" rtl="0" algn="l">
              <a:lnSpc>
                <a:spcPct val="115000"/>
              </a:lnSpc>
              <a:spcBef>
                <a:spcPts val="0"/>
              </a:spcBef>
              <a:spcAft>
                <a:spcPts val="0"/>
              </a:spcAft>
              <a:buClr>
                <a:schemeClr val="accent1"/>
              </a:buClr>
              <a:buSzPts val="1200"/>
              <a:buFont typeface="Lato"/>
              <a:buChar char="●"/>
            </a:pPr>
            <a:r>
              <a:rPr lang="en" sz="1200">
                <a:solidFill>
                  <a:schemeClr val="accent1"/>
                </a:solidFill>
                <a:latin typeface="Lato"/>
                <a:ea typeface="Lato"/>
                <a:cs typeface="Lato"/>
                <a:sym typeface="Lato"/>
              </a:rPr>
              <a:t>It has the lowest MAPE (1.7162), suggesting that its predictions are relatively accurate compared to the actual values.</a:t>
            </a:r>
            <a:endParaRPr sz="1200">
              <a:solidFill>
                <a:schemeClr val="accent1"/>
              </a:solidFill>
              <a:latin typeface="Lato"/>
              <a:ea typeface="Lato"/>
              <a:cs typeface="Lato"/>
              <a:sym typeface="Lato"/>
            </a:endParaRPr>
          </a:p>
          <a:p>
            <a:pPr indent="0" lvl="0" marL="0" rtl="0" algn="l">
              <a:spcBef>
                <a:spcPts val="1200"/>
              </a:spcBef>
              <a:spcAft>
                <a:spcPts val="0"/>
              </a:spcAft>
              <a:buNone/>
            </a:pPr>
            <a:r>
              <a:t/>
            </a:r>
            <a:endParaRPr sz="1200">
              <a:solidFill>
                <a:schemeClr val="accent1"/>
              </a:solidFill>
              <a:latin typeface="Lato"/>
              <a:ea typeface="Lato"/>
              <a:cs typeface="Lato"/>
              <a:sym typeface="Lato"/>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6"/>
          <p:cNvSpPr txBox="1"/>
          <p:nvPr>
            <p:ph idx="1" type="body"/>
          </p:nvPr>
        </p:nvSpPr>
        <p:spPr>
          <a:xfrm>
            <a:off x="729450" y="1361725"/>
            <a:ext cx="7879800" cy="3903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200"/>
              <a:t>Why CNN 3D Might Be Better:</a:t>
            </a:r>
            <a:endParaRPr b="1" sz="1200"/>
          </a:p>
          <a:p>
            <a:pPr indent="-304800" lvl="0" marL="457200" rtl="0" algn="l">
              <a:spcBef>
                <a:spcPts val="0"/>
              </a:spcBef>
              <a:spcAft>
                <a:spcPts val="0"/>
              </a:spcAft>
              <a:buSzPts val="1200"/>
              <a:buChar char="●"/>
            </a:pPr>
            <a:r>
              <a:rPr lang="en" sz="1200"/>
              <a:t>Handling Temporal and Spatial Dependencies: CNN 3D models are well-suited for handling data with both temporal (time-series) and spatial (multi-dimensional) dependencies. This could be advantageous for certain types of time-series data with spatial components.</a:t>
            </a:r>
            <a:endParaRPr sz="1200"/>
          </a:p>
          <a:p>
            <a:pPr indent="-304800" lvl="0" marL="457200" rtl="0" algn="l">
              <a:spcBef>
                <a:spcPts val="0"/>
              </a:spcBef>
              <a:spcAft>
                <a:spcPts val="0"/>
              </a:spcAft>
              <a:buSzPts val="1200"/>
              <a:buChar char="●"/>
            </a:pPr>
            <a:r>
              <a:rPr lang="en" sz="1200"/>
              <a:t>Feature Extraction: CNNs are excellent at automatically extracting relevant features from data, which can lead to improved performance.</a:t>
            </a:r>
            <a:endParaRPr sz="1200"/>
          </a:p>
          <a:p>
            <a:pPr indent="0" lvl="0" marL="457200" rtl="0" algn="l">
              <a:spcBef>
                <a:spcPts val="0"/>
              </a:spcBef>
              <a:spcAft>
                <a:spcPts val="0"/>
              </a:spcAft>
              <a:buNone/>
            </a:pPr>
            <a:r>
              <a:t/>
            </a:r>
            <a:endParaRPr sz="1200"/>
          </a:p>
          <a:p>
            <a:pPr indent="0" lvl="0" marL="0" rtl="0" algn="l">
              <a:spcBef>
                <a:spcPts val="0"/>
              </a:spcBef>
              <a:spcAft>
                <a:spcPts val="0"/>
              </a:spcAft>
              <a:buNone/>
            </a:pPr>
            <a:r>
              <a:rPr b="1" lang="en" sz="1200"/>
              <a:t>However, it's important to consider the specific context and the goals of the analysis:</a:t>
            </a:r>
            <a:endParaRPr b="1" sz="1200"/>
          </a:p>
          <a:p>
            <a:pPr indent="-304800" lvl="0" marL="457200" rtl="0" algn="l">
              <a:spcBef>
                <a:spcPts val="0"/>
              </a:spcBef>
              <a:spcAft>
                <a:spcPts val="0"/>
              </a:spcAft>
              <a:buSzPts val="1200"/>
              <a:buChar char="●"/>
            </a:pPr>
            <a:r>
              <a:rPr lang="en" sz="1200" u="sng"/>
              <a:t>Trade-offs</a:t>
            </a:r>
            <a:r>
              <a:rPr lang="en" sz="1200"/>
              <a:t>: There might be trade-offs between different models. For example, a model with a slightly higher MAE but significantly lower MAPE might be preferable in certain scenarios.</a:t>
            </a:r>
            <a:endParaRPr sz="1200"/>
          </a:p>
          <a:p>
            <a:pPr indent="-304800" lvl="0" marL="457200" rtl="0" algn="l">
              <a:spcBef>
                <a:spcPts val="0"/>
              </a:spcBef>
              <a:spcAft>
                <a:spcPts val="0"/>
              </a:spcAft>
              <a:buSzPts val="1200"/>
              <a:buChar char="●"/>
            </a:pPr>
            <a:r>
              <a:rPr lang="en" sz="1200" u="sng"/>
              <a:t>Domain Knowledge</a:t>
            </a:r>
            <a:r>
              <a:rPr lang="en" sz="1200"/>
              <a:t>: Domain knowledge can play a crucial role in selecting the best model. If the underlying data has specific characteristics or patterns, a particular model might be more suitable.</a:t>
            </a:r>
            <a:endParaRPr sz="1200"/>
          </a:p>
          <a:p>
            <a:pPr indent="-304800" lvl="0" marL="457200" rtl="0" algn="l">
              <a:spcBef>
                <a:spcPts val="0"/>
              </a:spcBef>
              <a:spcAft>
                <a:spcPts val="0"/>
              </a:spcAft>
              <a:buSzPts val="1200"/>
              <a:buChar char="●"/>
            </a:pPr>
            <a:r>
              <a:rPr lang="en" sz="1200" u="sng"/>
              <a:t>Model Complexity</a:t>
            </a:r>
            <a:r>
              <a:rPr lang="en" sz="1200"/>
              <a:t>: More complex models like CNN 3D might require more computational resources and training time.</a:t>
            </a:r>
            <a:endParaRPr sz="1200"/>
          </a:p>
          <a:p>
            <a:pPr indent="0" lvl="0" marL="0" rtl="0" algn="l">
              <a:spcBef>
                <a:spcPts val="0"/>
              </a:spcBef>
              <a:spcAft>
                <a:spcPts val="120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47"/>
          <p:cNvSpPr txBox="1"/>
          <p:nvPr>
            <p:ph type="title"/>
          </p:nvPr>
        </p:nvSpPr>
        <p:spPr>
          <a:xfrm>
            <a:off x="729450" y="556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FUTURE SCOPE/ GOAL</a:t>
            </a:r>
            <a:endParaRPr/>
          </a:p>
        </p:txBody>
      </p:sp>
      <p:sp>
        <p:nvSpPr>
          <p:cNvPr id="341" name="Google Shape;341;p47"/>
          <p:cNvSpPr txBox="1"/>
          <p:nvPr>
            <p:ph idx="1" type="body"/>
          </p:nvPr>
        </p:nvSpPr>
        <p:spPr>
          <a:xfrm>
            <a:off x="828225" y="1389450"/>
            <a:ext cx="7971600" cy="3252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000">
                <a:solidFill>
                  <a:srgbClr val="1F1F1F"/>
                </a:solidFill>
              </a:rPr>
              <a:t>1. </a:t>
            </a:r>
            <a:r>
              <a:rPr lang="en" sz="1000" u="sng">
                <a:solidFill>
                  <a:srgbClr val="1F1F1F"/>
                </a:solidFill>
              </a:rPr>
              <a:t>Hybrid Models</a:t>
            </a:r>
            <a:r>
              <a:rPr lang="en" sz="1000">
                <a:solidFill>
                  <a:srgbClr val="1F1F1F"/>
                </a:solidFill>
              </a:rPr>
              <a:t>:</a:t>
            </a:r>
            <a:endParaRPr sz="1000">
              <a:solidFill>
                <a:srgbClr val="1F1F1F"/>
              </a:solidFill>
            </a:endParaRPr>
          </a:p>
          <a:p>
            <a:pPr indent="-292100" lvl="0" marL="457200" rtl="0" algn="l">
              <a:lnSpc>
                <a:spcPct val="100000"/>
              </a:lnSpc>
              <a:spcBef>
                <a:spcPts val="1200"/>
              </a:spcBef>
              <a:spcAft>
                <a:spcPts val="0"/>
              </a:spcAft>
              <a:buClr>
                <a:srgbClr val="1F1F1F"/>
              </a:buClr>
              <a:buSzPts val="1000"/>
              <a:buFont typeface="Arial"/>
              <a:buChar char="●"/>
            </a:pPr>
            <a:r>
              <a:rPr lang="en" sz="1000">
                <a:solidFill>
                  <a:srgbClr val="1F1F1F"/>
                </a:solidFill>
              </a:rPr>
              <a:t>Combining Deep Learning and Traditional Techniques: Explore the potential of hybrid models that integrate deep learning techniques with traditional statistical and econometric methods. This could involve using deep learning for feature extraction and traditional models for final forecasting.</a:t>
            </a:r>
            <a:endParaRPr sz="1000">
              <a:solidFill>
                <a:srgbClr val="1F1F1F"/>
              </a:solidFill>
            </a:endParaRPr>
          </a:p>
          <a:p>
            <a:pPr indent="-292100" lvl="0" marL="457200" rtl="0" algn="l">
              <a:lnSpc>
                <a:spcPct val="100000"/>
              </a:lnSpc>
              <a:spcBef>
                <a:spcPts val="0"/>
              </a:spcBef>
              <a:spcAft>
                <a:spcPts val="0"/>
              </a:spcAft>
              <a:buClr>
                <a:srgbClr val="1F1F1F"/>
              </a:buClr>
              <a:buSzPts val="1000"/>
              <a:buFont typeface="Arial"/>
              <a:buChar char="●"/>
            </a:pPr>
            <a:r>
              <a:rPr lang="en" sz="1000">
                <a:solidFill>
                  <a:srgbClr val="1F1F1F"/>
                </a:solidFill>
              </a:rPr>
              <a:t>Attention Mechanisms: Incorporate attention mechanisms to focus on the most relevant parts of the input sequence, potentially improving model performance and interpretability.</a:t>
            </a:r>
            <a:endParaRPr sz="1000">
              <a:solidFill>
                <a:srgbClr val="1F1F1F"/>
              </a:solidFill>
            </a:endParaRPr>
          </a:p>
          <a:p>
            <a:pPr indent="0" lvl="0" marL="0" rtl="0" algn="l">
              <a:lnSpc>
                <a:spcPct val="100000"/>
              </a:lnSpc>
              <a:spcBef>
                <a:spcPts val="600"/>
              </a:spcBef>
              <a:spcAft>
                <a:spcPts val="0"/>
              </a:spcAft>
              <a:buNone/>
            </a:pPr>
            <a:r>
              <a:rPr lang="en" sz="1000">
                <a:solidFill>
                  <a:srgbClr val="1F1F1F"/>
                </a:solidFill>
              </a:rPr>
              <a:t>2. </a:t>
            </a:r>
            <a:r>
              <a:rPr lang="en" sz="1000" u="sng">
                <a:solidFill>
                  <a:srgbClr val="1F1F1F"/>
                </a:solidFill>
              </a:rPr>
              <a:t>Multi-Task Learning</a:t>
            </a:r>
            <a:r>
              <a:rPr lang="en" sz="1000">
                <a:solidFill>
                  <a:srgbClr val="1F1F1F"/>
                </a:solidFill>
              </a:rPr>
              <a:t>:</a:t>
            </a:r>
            <a:endParaRPr sz="1000">
              <a:solidFill>
                <a:srgbClr val="1F1F1F"/>
              </a:solidFill>
            </a:endParaRPr>
          </a:p>
          <a:p>
            <a:pPr indent="-292100" lvl="0" marL="457200" rtl="0" algn="l">
              <a:lnSpc>
                <a:spcPct val="100000"/>
              </a:lnSpc>
              <a:spcBef>
                <a:spcPts val="1200"/>
              </a:spcBef>
              <a:spcAft>
                <a:spcPts val="0"/>
              </a:spcAft>
              <a:buClr>
                <a:srgbClr val="1F1F1F"/>
              </a:buClr>
              <a:buSzPts val="1000"/>
              <a:buFont typeface="Arial"/>
              <a:buChar char="●"/>
            </a:pPr>
            <a:r>
              <a:rPr lang="en" sz="1000">
                <a:solidFill>
                  <a:srgbClr val="1F1F1F"/>
                </a:solidFill>
              </a:rPr>
              <a:t>Jointly Predicting Multiple Financial Variables: Develop models that can simultaneously predict multiple financial variables, such as stock prices, volatility, and trading volume. This can leverage shared information between different tasks and improve overall prediction accuracy.</a:t>
            </a:r>
            <a:endParaRPr sz="1000">
              <a:solidFill>
                <a:srgbClr val="1F1F1F"/>
              </a:solidFill>
            </a:endParaRPr>
          </a:p>
          <a:p>
            <a:pPr indent="-292100" lvl="0" marL="457200" rtl="0" algn="l">
              <a:lnSpc>
                <a:spcPct val="100000"/>
              </a:lnSpc>
              <a:spcBef>
                <a:spcPts val="0"/>
              </a:spcBef>
              <a:spcAft>
                <a:spcPts val="0"/>
              </a:spcAft>
              <a:buClr>
                <a:srgbClr val="1F1F1F"/>
              </a:buClr>
              <a:buSzPts val="1000"/>
              <a:buFont typeface="Arial"/>
              <a:buChar char="●"/>
            </a:pPr>
            <a:r>
              <a:rPr lang="en" sz="1000">
                <a:solidFill>
                  <a:srgbClr val="1F1F1F"/>
                </a:solidFill>
              </a:rPr>
              <a:t>Incorporating External Factors: Consider incorporating external factors, such as economic indicators, news sentiment, and social media data, to improve model performance.</a:t>
            </a:r>
            <a:endParaRPr sz="1000">
              <a:solidFill>
                <a:srgbClr val="1F1F1F"/>
              </a:solidFill>
            </a:endParaRPr>
          </a:p>
          <a:p>
            <a:pPr indent="0" lvl="0" marL="0" rtl="0" algn="l">
              <a:lnSpc>
                <a:spcPct val="100000"/>
              </a:lnSpc>
              <a:spcBef>
                <a:spcPts val="600"/>
              </a:spcBef>
              <a:spcAft>
                <a:spcPts val="0"/>
              </a:spcAft>
              <a:buNone/>
            </a:pPr>
            <a:r>
              <a:rPr lang="en" sz="1000">
                <a:solidFill>
                  <a:srgbClr val="1F1F1F"/>
                </a:solidFill>
              </a:rPr>
              <a:t>3. </a:t>
            </a:r>
            <a:r>
              <a:rPr lang="en" sz="1000" u="sng">
                <a:solidFill>
                  <a:srgbClr val="1F1F1F"/>
                </a:solidFill>
              </a:rPr>
              <a:t>Transfer Learning</a:t>
            </a:r>
            <a:r>
              <a:rPr lang="en" sz="1000">
                <a:solidFill>
                  <a:srgbClr val="1F1F1F"/>
                </a:solidFill>
              </a:rPr>
              <a:t>:</a:t>
            </a:r>
            <a:endParaRPr sz="1000">
              <a:solidFill>
                <a:srgbClr val="1F1F1F"/>
              </a:solidFill>
            </a:endParaRPr>
          </a:p>
          <a:p>
            <a:pPr indent="-292100" lvl="0" marL="457200" rtl="0" algn="l">
              <a:lnSpc>
                <a:spcPct val="100000"/>
              </a:lnSpc>
              <a:spcBef>
                <a:spcPts val="1200"/>
              </a:spcBef>
              <a:spcAft>
                <a:spcPts val="0"/>
              </a:spcAft>
              <a:buClr>
                <a:srgbClr val="1F1F1F"/>
              </a:buClr>
              <a:buSzPts val="1000"/>
              <a:buFont typeface="Arial"/>
              <a:buChar char="●"/>
            </a:pPr>
            <a:r>
              <a:rPr lang="en" sz="1000">
                <a:solidFill>
                  <a:srgbClr val="1F1F1F"/>
                </a:solidFill>
              </a:rPr>
              <a:t>Leveraging Pre-trained Models: Utilize pre-trained deep learning models, such as those trained on large-scale image or text datasets, as a starting point for financial time series forecasting. This can help reduce training time and improve model performance.</a:t>
            </a:r>
            <a:endParaRPr sz="1000">
              <a:solidFill>
                <a:srgbClr val="1F1F1F"/>
              </a:solidFill>
            </a:endParaRPr>
          </a:p>
          <a:p>
            <a:pPr indent="-292100" lvl="0" marL="457200" rtl="0" algn="l">
              <a:lnSpc>
                <a:spcPct val="100000"/>
              </a:lnSpc>
              <a:spcBef>
                <a:spcPts val="0"/>
              </a:spcBef>
              <a:spcAft>
                <a:spcPts val="0"/>
              </a:spcAft>
              <a:buClr>
                <a:srgbClr val="1F1F1F"/>
              </a:buClr>
              <a:buSzPts val="1000"/>
              <a:buFont typeface="Arial"/>
              <a:buChar char="●"/>
            </a:pPr>
            <a:r>
              <a:rPr lang="en" sz="1000">
                <a:solidFill>
                  <a:srgbClr val="1F1F1F"/>
                </a:solidFill>
              </a:rPr>
              <a:t>Domain Adaptation: Develop techniques to adapt pre-trained models to specific financial domains, such as stock markets or cryptocurrency exchanges.</a:t>
            </a:r>
            <a:endParaRPr sz="1000">
              <a:solidFill>
                <a:srgbClr val="1F1F1F"/>
              </a:solidFill>
            </a:endParaRPr>
          </a:p>
          <a:p>
            <a:pPr indent="0" lvl="0" marL="0" rtl="0" algn="l">
              <a:lnSpc>
                <a:spcPct val="100000"/>
              </a:lnSpc>
              <a:spcBef>
                <a:spcPts val="600"/>
              </a:spcBef>
              <a:spcAft>
                <a:spcPts val="0"/>
              </a:spcAft>
              <a:buNone/>
            </a:pPr>
            <a:r>
              <a:t/>
            </a:r>
            <a:endParaRPr sz="1000">
              <a:solidFill>
                <a:srgbClr val="1F1F1F"/>
              </a:solidFill>
            </a:endParaRPr>
          </a:p>
          <a:p>
            <a:pPr indent="0" lvl="0" marL="0" rtl="0" algn="l">
              <a:lnSpc>
                <a:spcPct val="100000"/>
              </a:lnSpc>
              <a:spcBef>
                <a:spcPts val="1200"/>
              </a:spcBef>
              <a:spcAft>
                <a:spcPts val="1200"/>
              </a:spcAft>
              <a:buNone/>
            </a:pPr>
            <a:r>
              <a:t/>
            </a:r>
            <a:endParaRPr sz="1000">
              <a:solidFill>
                <a:srgbClr val="000000"/>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48"/>
          <p:cNvSpPr txBox="1"/>
          <p:nvPr>
            <p:ph idx="1" type="body"/>
          </p:nvPr>
        </p:nvSpPr>
        <p:spPr>
          <a:xfrm>
            <a:off x="727650" y="1368450"/>
            <a:ext cx="7688700" cy="32787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100">
                <a:solidFill>
                  <a:srgbClr val="1F1F1F"/>
                </a:solidFill>
              </a:rPr>
              <a:t>4. </a:t>
            </a:r>
            <a:r>
              <a:rPr lang="en" sz="1100" u="sng">
                <a:solidFill>
                  <a:srgbClr val="1F1F1F"/>
                </a:solidFill>
              </a:rPr>
              <a:t>Explainable AI</a:t>
            </a:r>
            <a:r>
              <a:rPr lang="en" sz="1100">
                <a:solidFill>
                  <a:srgbClr val="1F1F1F"/>
                </a:solidFill>
              </a:rPr>
              <a:t>:</a:t>
            </a:r>
            <a:endParaRPr sz="1100">
              <a:solidFill>
                <a:srgbClr val="1F1F1F"/>
              </a:solidFill>
            </a:endParaRPr>
          </a:p>
          <a:p>
            <a:pPr indent="-298450" lvl="0" marL="457200" rtl="0" algn="l">
              <a:lnSpc>
                <a:spcPct val="100000"/>
              </a:lnSpc>
              <a:spcBef>
                <a:spcPts val="1200"/>
              </a:spcBef>
              <a:spcAft>
                <a:spcPts val="0"/>
              </a:spcAft>
              <a:buClr>
                <a:srgbClr val="1F1F1F"/>
              </a:buClr>
              <a:buSzPts val="1100"/>
              <a:buFont typeface="Arial"/>
              <a:buChar char="●"/>
            </a:pPr>
            <a:r>
              <a:rPr lang="en" sz="1100">
                <a:solidFill>
                  <a:srgbClr val="1F1F1F"/>
                </a:solidFill>
              </a:rPr>
              <a:t>Model Interpretability: Develop methods to interpret the decisions made by deep learning models, making them more transparent and understandable. This can help build trust in the models and identify potential biases.</a:t>
            </a:r>
            <a:endParaRPr sz="1100">
              <a:solidFill>
                <a:srgbClr val="1F1F1F"/>
              </a:solidFill>
            </a:endParaRPr>
          </a:p>
          <a:p>
            <a:pPr indent="-298450" lvl="0" marL="457200" rtl="0" algn="l">
              <a:lnSpc>
                <a:spcPct val="100000"/>
              </a:lnSpc>
              <a:spcBef>
                <a:spcPts val="0"/>
              </a:spcBef>
              <a:spcAft>
                <a:spcPts val="0"/>
              </a:spcAft>
              <a:buClr>
                <a:srgbClr val="1F1F1F"/>
              </a:buClr>
              <a:buSzPts val="1100"/>
              <a:buFont typeface="Arial"/>
              <a:buChar char="●"/>
            </a:pPr>
            <a:r>
              <a:rPr lang="en" sz="1100">
                <a:solidFill>
                  <a:srgbClr val="1F1F1F"/>
                </a:solidFill>
              </a:rPr>
              <a:t>Feature Importance Analysis: Analyze the importance of different input features to the model's predictions, providing insights into the underlying patterns in the data.</a:t>
            </a:r>
            <a:endParaRPr sz="1100">
              <a:solidFill>
                <a:srgbClr val="1F1F1F"/>
              </a:solidFill>
            </a:endParaRPr>
          </a:p>
          <a:p>
            <a:pPr indent="0" lvl="0" marL="457200" rtl="0" algn="l">
              <a:lnSpc>
                <a:spcPct val="100000"/>
              </a:lnSpc>
              <a:spcBef>
                <a:spcPts val="600"/>
              </a:spcBef>
              <a:spcAft>
                <a:spcPts val="0"/>
              </a:spcAft>
              <a:buNone/>
            </a:pPr>
            <a:r>
              <a:t/>
            </a:r>
            <a:endParaRPr sz="1100">
              <a:solidFill>
                <a:srgbClr val="1F1F1F"/>
              </a:solidFill>
            </a:endParaRPr>
          </a:p>
          <a:p>
            <a:pPr indent="0" lvl="0" marL="0" rtl="0" algn="l">
              <a:lnSpc>
                <a:spcPct val="100000"/>
              </a:lnSpc>
              <a:spcBef>
                <a:spcPts val="600"/>
              </a:spcBef>
              <a:spcAft>
                <a:spcPts val="0"/>
              </a:spcAft>
              <a:buNone/>
            </a:pPr>
            <a:r>
              <a:rPr lang="en" sz="1100">
                <a:solidFill>
                  <a:srgbClr val="1F1F1F"/>
                </a:solidFill>
              </a:rPr>
              <a:t>5. </a:t>
            </a:r>
            <a:r>
              <a:rPr lang="en" sz="1100" u="sng">
                <a:solidFill>
                  <a:srgbClr val="1F1F1F"/>
                </a:solidFill>
              </a:rPr>
              <a:t>Real-Time Forecasting</a:t>
            </a:r>
            <a:r>
              <a:rPr lang="en" sz="1100">
                <a:solidFill>
                  <a:srgbClr val="1F1F1F"/>
                </a:solidFill>
              </a:rPr>
              <a:t>:</a:t>
            </a:r>
            <a:endParaRPr sz="1100">
              <a:solidFill>
                <a:srgbClr val="1F1F1F"/>
              </a:solidFill>
            </a:endParaRPr>
          </a:p>
          <a:p>
            <a:pPr indent="-298450" lvl="0" marL="457200" rtl="0" algn="l">
              <a:lnSpc>
                <a:spcPct val="100000"/>
              </a:lnSpc>
              <a:spcBef>
                <a:spcPts val="1200"/>
              </a:spcBef>
              <a:spcAft>
                <a:spcPts val="0"/>
              </a:spcAft>
              <a:buClr>
                <a:srgbClr val="1F1F1F"/>
              </a:buClr>
              <a:buSzPts val="1100"/>
              <a:buFont typeface="Arial"/>
              <a:buChar char="●"/>
            </a:pPr>
            <a:r>
              <a:rPr lang="en" sz="1100">
                <a:solidFill>
                  <a:srgbClr val="1F1F1F"/>
                </a:solidFill>
              </a:rPr>
              <a:t>Online Learning: Develop models that can continuously learn and adapt to new data as it becomes available, enabling real-time forecasting.</a:t>
            </a:r>
            <a:endParaRPr sz="1100">
              <a:solidFill>
                <a:srgbClr val="1F1F1F"/>
              </a:solidFill>
            </a:endParaRPr>
          </a:p>
          <a:p>
            <a:pPr indent="-298450" lvl="0" marL="457200" rtl="0" algn="l">
              <a:lnSpc>
                <a:spcPct val="100000"/>
              </a:lnSpc>
              <a:spcBef>
                <a:spcPts val="0"/>
              </a:spcBef>
              <a:spcAft>
                <a:spcPts val="0"/>
              </a:spcAft>
              <a:buClr>
                <a:srgbClr val="1F1F1F"/>
              </a:buClr>
              <a:buSzPts val="1100"/>
              <a:buFont typeface="Arial"/>
              <a:buChar char="●"/>
            </a:pPr>
            <a:r>
              <a:rPr lang="en" sz="1100">
                <a:solidFill>
                  <a:srgbClr val="1F1F1F"/>
                </a:solidFill>
              </a:rPr>
              <a:t>Low-Latency Inference: Optimize models for efficient inference on edge devices, enabling real-time decision-making.</a:t>
            </a:r>
            <a:endParaRPr sz="1100">
              <a:solidFill>
                <a:srgbClr val="1F1F1F"/>
              </a:solidFill>
            </a:endParaRPr>
          </a:p>
          <a:p>
            <a:pPr indent="0" lvl="0" marL="457200" rtl="0" algn="l">
              <a:lnSpc>
                <a:spcPct val="100000"/>
              </a:lnSpc>
              <a:spcBef>
                <a:spcPts val="600"/>
              </a:spcBef>
              <a:spcAft>
                <a:spcPts val="0"/>
              </a:spcAft>
              <a:buNone/>
            </a:pPr>
            <a:r>
              <a:t/>
            </a:r>
            <a:endParaRPr sz="1100">
              <a:solidFill>
                <a:srgbClr val="1F1F1F"/>
              </a:solidFill>
            </a:endParaRPr>
          </a:p>
          <a:p>
            <a:pPr indent="0" lvl="0" marL="0" rtl="0" algn="l">
              <a:lnSpc>
                <a:spcPct val="100000"/>
              </a:lnSpc>
              <a:spcBef>
                <a:spcPts val="600"/>
              </a:spcBef>
              <a:spcAft>
                <a:spcPts val="0"/>
              </a:spcAft>
              <a:buNone/>
            </a:pPr>
            <a:r>
              <a:rPr lang="en" sz="1100">
                <a:solidFill>
                  <a:srgbClr val="1F1F1F"/>
                </a:solidFill>
              </a:rPr>
              <a:t>6. </a:t>
            </a:r>
            <a:r>
              <a:rPr lang="en" sz="1100" u="sng">
                <a:solidFill>
                  <a:srgbClr val="1F1F1F"/>
                </a:solidFill>
              </a:rPr>
              <a:t>Ethical Considerations</a:t>
            </a:r>
            <a:r>
              <a:rPr lang="en" sz="1100">
                <a:solidFill>
                  <a:srgbClr val="1F1F1F"/>
                </a:solidFill>
              </a:rPr>
              <a:t>:</a:t>
            </a:r>
            <a:endParaRPr sz="1100">
              <a:solidFill>
                <a:srgbClr val="1F1F1F"/>
              </a:solidFill>
            </a:endParaRPr>
          </a:p>
          <a:p>
            <a:pPr indent="-298450" lvl="0" marL="457200" rtl="0" algn="l">
              <a:lnSpc>
                <a:spcPct val="100000"/>
              </a:lnSpc>
              <a:spcBef>
                <a:spcPts val="1200"/>
              </a:spcBef>
              <a:spcAft>
                <a:spcPts val="0"/>
              </a:spcAft>
              <a:buClr>
                <a:srgbClr val="1F1F1F"/>
              </a:buClr>
              <a:buSzPts val="1100"/>
              <a:buFont typeface="Arial"/>
              <a:buChar char="●"/>
            </a:pPr>
            <a:r>
              <a:rPr lang="en" sz="1100">
                <a:solidFill>
                  <a:srgbClr val="1F1F1F"/>
                </a:solidFill>
              </a:rPr>
              <a:t>Fairness and Bias: Address potential biases in the training data and models to ensure fair and equitable predictions.</a:t>
            </a:r>
            <a:endParaRPr sz="1100">
              <a:solidFill>
                <a:srgbClr val="1F1F1F"/>
              </a:solidFill>
            </a:endParaRPr>
          </a:p>
          <a:p>
            <a:pPr indent="-298450" lvl="0" marL="457200" rtl="0" algn="l">
              <a:lnSpc>
                <a:spcPct val="100000"/>
              </a:lnSpc>
              <a:spcBef>
                <a:spcPts val="0"/>
              </a:spcBef>
              <a:spcAft>
                <a:spcPts val="0"/>
              </a:spcAft>
              <a:buClr>
                <a:srgbClr val="1F1F1F"/>
              </a:buClr>
              <a:buSzPts val="1100"/>
              <a:buFont typeface="Arial"/>
              <a:buChar char="●"/>
            </a:pPr>
            <a:r>
              <a:rPr lang="en" sz="1100">
                <a:solidFill>
                  <a:srgbClr val="1F1F1F"/>
                </a:solidFill>
              </a:rPr>
              <a:t>Responsible AI: Develop guidelines and practices for the responsible development and deployment of AI-powered financial systems.</a:t>
            </a:r>
            <a:endParaRPr sz="1100">
              <a:solidFill>
                <a:srgbClr val="1F1F1F"/>
              </a:solidFill>
            </a:endParaRPr>
          </a:p>
          <a:p>
            <a:pPr indent="0" lvl="0" marL="0" rtl="0" algn="l">
              <a:lnSpc>
                <a:spcPct val="100000"/>
              </a:lnSpc>
              <a:spcBef>
                <a:spcPts val="600"/>
              </a:spcBef>
              <a:spcAft>
                <a:spcPts val="1200"/>
              </a:spcAft>
              <a:buNone/>
            </a:pPr>
            <a:r>
              <a:t/>
            </a:r>
            <a:endParaRPr sz="11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49"/>
          <p:cNvSpPr txBox="1"/>
          <p:nvPr>
            <p:ph idx="1" type="body"/>
          </p:nvPr>
        </p:nvSpPr>
        <p:spPr>
          <a:xfrm>
            <a:off x="496350" y="2315151"/>
            <a:ext cx="7697400" cy="460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4600">
                <a:solidFill>
                  <a:schemeClr val="dk2"/>
                </a:solidFill>
                <a:latin typeface="Raleway Black"/>
                <a:ea typeface="Raleway Black"/>
                <a:cs typeface="Raleway Black"/>
                <a:sym typeface="Raleway Black"/>
              </a:rPr>
              <a:t>REFERENCES</a:t>
            </a:r>
            <a:endParaRPr sz="4600">
              <a:solidFill>
                <a:schemeClr val="dk2"/>
              </a:solidFill>
              <a:latin typeface="Raleway Black"/>
              <a:ea typeface="Raleway Black"/>
              <a:cs typeface="Raleway Black"/>
              <a:sym typeface="Raleway Black"/>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50"/>
          <p:cNvSpPr txBox="1"/>
          <p:nvPr>
            <p:ph idx="1" type="body"/>
          </p:nvPr>
        </p:nvSpPr>
        <p:spPr>
          <a:xfrm>
            <a:off x="727650" y="1340625"/>
            <a:ext cx="7688700" cy="35136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b="1" lang="en" sz="1100">
                <a:solidFill>
                  <a:srgbClr val="000000"/>
                </a:solidFill>
                <a:latin typeface="Arial"/>
                <a:ea typeface="Arial"/>
                <a:cs typeface="Arial"/>
                <a:sym typeface="Arial"/>
              </a:rPr>
              <a:t>Yuan Zhao, Weiguo Zhang, Xiufeng Liu</a:t>
            </a:r>
            <a:r>
              <a:rPr lang="en" sz="1100">
                <a:solidFill>
                  <a:srgbClr val="000000"/>
                </a:solidFill>
                <a:latin typeface="Arial"/>
                <a:ea typeface="Arial"/>
                <a:cs typeface="Arial"/>
                <a:sym typeface="Arial"/>
              </a:rPr>
              <a:t>. (2024). "Grid search with a weighted error function: Hyper-parameter optimization for financial time series forecasting." </a:t>
            </a:r>
            <a:r>
              <a:rPr i="1" lang="en" sz="1100">
                <a:solidFill>
                  <a:srgbClr val="000000"/>
                </a:solidFill>
                <a:latin typeface="Arial"/>
                <a:ea typeface="Arial"/>
                <a:cs typeface="Arial"/>
                <a:sym typeface="Arial"/>
              </a:rPr>
              <a:t>Elsevier: Applied Soft Computing</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n" sz="1100">
                <a:solidFill>
                  <a:srgbClr val="000000"/>
                </a:solidFill>
                <a:latin typeface="Arial"/>
                <a:ea typeface="Arial"/>
                <a:cs typeface="Arial"/>
                <a:sym typeface="Arial"/>
              </a:rPr>
              <a:t>Tanya Srivastava, Ishita Mullick, Jatin Bedi</a:t>
            </a:r>
            <a:r>
              <a:rPr lang="en" sz="1100">
                <a:solidFill>
                  <a:srgbClr val="000000"/>
                </a:solidFill>
                <a:latin typeface="Arial"/>
                <a:ea typeface="Arial"/>
                <a:cs typeface="Arial"/>
                <a:sym typeface="Arial"/>
              </a:rPr>
              <a:t>. (2024). "Association mining-based deep learning approach for financial time-series forecasting." </a:t>
            </a:r>
            <a:r>
              <a:rPr i="1" lang="en" sz="1100">
                <a:solidFill>
                  <a:srgbClr val="000000"/>
                </a:solidFill>
                <a:latin typeface="Arial"/>
                <a:ea typeface="Arial"/>
                <a:cs typeface="Arial"/>
                <a:sym typeface="Arial"/>
              </a:rPr>
              <a:t>Elsevier: Applied Soft Computing</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n" sz="1100">
                <a:solidFill>
                  <a:srgbClr val="000000"/>
                </a:solidFill>
                <a:latin typeface="Arial"/>
                <a:ea typeface="Arial"/>
                <a:cs typeface="Arial"/>
                <a:sym typeface="Arial"/>
              </a:rPr>
              <a:t>ZHANG, Can, ZHOU, Zhanxin, WU, Ruibo</a:t>
            </a:r>
            <a:r>
              <a:rPr lang="en" sz="1100">
                <a:solidFill>
                  <a:srgbClr val="000000"/>
                </a:solidFill>
                <a:latin typeface="Arial"/>
                <a:ea typeface="Arial"/>
                <a:cs typeface="Arial"/>
                <a:sym typeface="Arial"/>
              </a:rPr>
              <a:t>. (2024). "Analyzing and predicting financial time series data using Recurrent Neural Networks." </a:t>
            </a:r>
            <a:r>
              <a:rPr i="1" lang="en" sz="1100">
                <a:solidFill>
                  <a:srgbClr val="000000"/>
                </a:solidFill>
                <a:latin typeface="Arial"/>
                <a:ea typeface="Arial"/>
                <a:cs typeface="Arial"/>
                <a:sym typeface="Arial"/>
              </a:rPr>
              <a:t>JIEAS: Journal Of Industrial Engineering and Applied Science</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n" sz="1100">
                <a:solidFill>
                  <a:srgbClr val="000000"/>
                </a:solidFill>
                <a:latin typeface="Arial"/>
                <a:ea typeface="Arial"/>
                <a:cs typeface="Arial"/>
                <a:sym typeface="Arial"/>
              </a:rPr>
              <a:t>Zhen Fang, Xu Ma, Huifeng Pan, Guangbing Yang, Gonzalo R. Arce</a:t>
            </a:r>
            <a:r>
              <a:rPr lang="en" sz="1100">
                <a:solidFill>
                  <a:srgbClr val="000000"/>
                </a:solidFill>
                <a:latin typeface="Arial"/>
                <a:ea typeface="Arial"/>
                <a:cs typeface="Arial"/>
                <a:sym typeface="Arial"/>
              </a:rPr>
              <a:t>. (2022). "Movement forecasting of financial time series based on adaptive LSTM-BN network." </a:t>
            </a:r>
            <a:r>
              <a:rPr i="1" lang="en" sz="1100">
                <a:solidFill>
                  <a:srgbClr val="000000"/>
                </a:solidFill>
                <a:latin typeface="Arial"/>
                <a:ea typeface="Arial"/>
                <a:cs typeface="Arial"/>
                <a:sym typeface="Arial"/>
              </a:rPr>
              <a:t>Elsevier: Expert Systems with Applications</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n" sz="1100">
                <a:solidFill>
                  <a:srgbClr val="000000"/>
                </a:solidFill>
                <a:latin typeface="Arial"/>
                <a:ea typeface="Arial"/>
                <a:cs typeface="Arial"/>
                <a:sym typeface="Arial"/>
              </a:rPr>
              <a:t>Kelum Gajamannage, Yonggi Park, Dilhani I. Jayathilake</a:t>
            </a:r>
            <a:r>
              <a:rPr lang="en" sz="1100">
                <a:solidFill>
                  <a:srgbClr val="000000"/>
                </a:solidFill>
                <a:latin typeface="Arial"/>
                <a:ea typeface="Arial"/>
                <a:cs typeface="Arial"/>
                <a:sym typeface="Arial"/>
              </a:rPr>
              <a:t>. (2023). "Real-time forecasting of time series in financial markets using sequentially trained dual-LSTMs." </a:t>
            </a:r>
            <a:r>
              <a:rPr i="1" lang="en" sz="1100">
                <a:solidFill>
                  <a:srgbClr val="000000"/>
                </a:solidFill>
                <a:latin typeface="Arial"/>
                <a:ea typeface="Arial"/>
                <a:cs typeface="Arial"/>
                <a:sym typeface="Arial"/>
              </a:rPr>
              <a:t>Elsevier: Expert Systems with Applications</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n" sz="1100">
                <a:solidFill>
                  <a:srgbClr val="000000"/>
                </a:solidFill>
                <a:latin typeface="Arial"/>
                <a:ea typeface="Arial"/>
                <a:cs typeface="Arial"/>
                <a:sym typeface="Arial"/>
              </a:rPr>
              <a:t>Dawei Cheng, Fangzhou Yang, Sheng Xiang, Jin Liu</a:t>
            </a:r>
            <a:r>
              <a:rPr lang="en" sz="1100">
                <a:solidFill>
                  <a:srgbClr val="000000"/>
                </a:solidFill>
                <a:latin typeface="Arial"/>
                <a:ea typeface="Arial"/>
                <a:cs typeface="Arial"/>
                <a:sym typeface="Arial"/>
              </a:rPr>
              <a:t>. (2021). "Financial time series forecasting with multi-modality graph neural network." </a:t>
            </a:r>
            <a:r>
              <a:rPr i="1" lang="en" sz="1100">
                <a:solidFill>
                  <a:srgbClr val="000000"/>
                </a:solidFill>
                <a:latin typeface="Arial"/>
                <a:ea typeface="Arial"/>
                <a:cs typeface="Arial"/>
                <a:sym typeface="Arial"/>
              </a:rPr>
              <a:t>Elsevier: Pattern Recognition</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n" sz="1100">
                <a:solidFill>
                  <a:srgbClr val="000000"/>
                </a:solidFill>
                <a:latin typeface="Arial"/>
                <a:ea typeface="Arial"/>
                <a:cs typeface="Arial"/>
                <a:sym typeface="Arial"/>
              </a:rPr>
              <a:t>Sudersan Behera, Sarat Chandra Nayak, A. V. S. Pavan Kumar</a:t>
            </a:r>
            <a:r>
              <a:rPr lang="en" sz="1100">
                <a:solidFill>
                  <a:srgbClr val="000000"/>
                </a:solidFill>
                <a:latin typeface="Arial"/>
                <a:ea typeface="Arial"/>
                <a:cs typeface="Arial"/>
                <a:sym typeface="Arial"/>
              </a:rPr>
              <a:t>. (2023). "A Comprehensive Survey on Higher Order Neural Networks and Evolutionary Optimization Learning Algorithms in Financial Time Series Forecasting." </a:t>
            </a:r>
            <a:r>
              <a:rPr i="1" lang="en" sz="1100">
                <a:solidFill>
                  <a:srgbClr val="000000"/>
                </a:solidFill>
                <a:latin typeface="Arial"/>
                <a:ea typeface="Arial"/>
                <a:cs typeface="Arial"/>
                <a:sym typeface="Arial"/>
              </a:rPr>
              <a:t>Springer: Archives of Computer Methods in Engineering</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51"/>
          <p:cNvSpPr txBox="1"/>
          <p:nvPr>
            <p:ph idx="1" type="body"/>
          </p:nvPr>
        </p:nvSpPr>
        <p:spPr>
          <a:xfrm>
            <a:off x="766100" y="1454800"/>
            <a:ext cx="7652100" cy="36105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b="1" lang="en" sz="1100">
                <a:solidFill>
                  <a:srgbClr val="000000"/>
                </a:solidFill>
                <a:latin typeface="Arial"/>
                <a:ea typeface="Arial"/>
                <a:cs typeface="Arial"/>
                <a:sym typeface="Arial"/>
              </a:rPr>
              <a:t>Tong Niu, Jianzhou Wang, Haiyan Lu, Wendong Yang, Pei Du</a:t>
            </a:r>
            <a:r>
              <a:rPr lang="en" sz="1100">
                <a:solidFill>
                  <a:srgbClr val="000000"/>
                </a:solidFill>
                <a:latin typeface="Arial"/>
                <a:ea typeface="Arial"/>
                <a:cs typeface="Arial"/>
                <a:sym typeface="Arial"/>
              </a:rPr>
              <a:t>. (2020). "Developing a deep learning framework with two-stage feature selection for multivariate financial time series forecasting." </a:t>
            </a:r>
            <a:r>
              <a:rPr i="1" lang="en" sz="1100">
                <a:solidFill>
                  <a:srgbClr val="000000"/>
                </a:solidFill>
                <a:latin typeface="Arial"/>
                <a:ea typeface="Arial"/>
                <a:cs typeface="Arial"/>
                <a:sym typeface="Arial"/>
              </a:rPr>
              <a:t>Elsevier: Expert Systems with Applications</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n" sz="1100">
                <a:solidFill>
                  <a:srgbClr val="000000"/>
                </a:solidFill>
                <a:latin typeface="Arial"/>
                <a:ea typeface="Arial"/>
                <a:cs typeface="Arial"/>
                <a:sym typeface="Arial"/>
              </a:rPr>
              <a:t>Guancen Lin, Aijing Lin, Jianing Cao</a:t>
            </a:r>
            <a:r>
              <a:rPr lang="en" sz="1100">
                <a:solidFill>
                  <a:srgbClr val="000000"/>
                </a:solidFill>
                <a:latin typeface="Arial"/>
                <a:ea typeface="Arial"/>
                <a:cs typeface="Arial"/>
                <a:sym typeface="Arial"/>
              </a:rPr>
              <a:t>. (2020). "Multidimensional KNN algorithm based on EEMD and complexity measures in financial time series forecasting." </a:t>
            </a:r>
            <a:r>
              <a:rPr i="1" lang="en" sz="1100">
                <a:solidFill>
                  <a:srgbClr val="000000"/>
                </a:solidFill>
                <a:latin typeface="Arial"/>
                <a:ea typeface="Arial"/>
                <a:cs typeface="Arial"/>
                <a:sym typeface="Arial"/>
              </a:rPr>
              <a:t>Elsevier: Expert Systems with Applications</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n" sz="1100">
                <a:solidFill>
                  <a:srgbClr val="000000"/>
                </a:solidFill>
                <a:latin typeface="Arial"/>
                <a:ea typeface="Arial"/>
                <a:cs typeface="Arial"/>
                <a:sym typeface="Arial"/>
              </a:rPr>
              <a:t>Rohit Salgotra, Harmanjeet Singh, Szymon Lukasik, Gurpreet Kaur, Supreet Singh, Pratap Singh</a:t>
            </a:r>
            <a:r>
              <a:rPr lang="en" sz="1100">
                <a:solidFill>
                  <a:srgbClr val="000000"/>
                </a:solidFill>
                <a:latin typeface="Arial"/>
                <a:ea typeface="Arial"/>
                <a:cs typeface="Arial"/>
                <a:sym typeface="Arial"/>
              </a:rPr>
              <a:t>. (2024). "A hybrid deep learning model combining Bi-directional Gated Recurrent Unit (BGRU) with a Convolutional Neural Network (CNN) for predicting the closing prices of stock indices in six Asian stock markets." </a:t>
            </a:r>
            <a:r>
              <a:rPr i="1" lang="en" sz="1100">
                <a:solidFill>
                  <a:srgbClr val="000000"/>
                </a:solidFill>
                <a:latin typeface="Arial"/>
                <a:ea typeface="Arial"/>
                <a:cs typeface="Arial"/>
                <a:sym typeface="Arial"/>
              </a:rPr>
              <a:t>MDPI: Algorithms</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n" sz="1100">
                <a:solidFill>
                  <a:srgbClr val="000000"/>
                </a:solidFill>
                <a:latin typeface="Arial"/>
                <a:ea typeface="Arial"/>
                <a:cs typeface="Arial"/>
                <a:sym typeface="Arial"/>
              </a:rPr>
              <a:t>Miguel Noguer i Alonso, Rodolfo Pereira Franklin</a:t>
            </a:r>
            <a:r>
              <a:rPr lang="en" sz="1100">
                <a:solidFill>
                  <a:srgbClr val="000000"/>
                </a:solidFill>
                <a:latin typeface="Arial"/>
                <a:ea typeface="Arial"/>
                <a:cs typeface="Arial"/>
                <a:sym typeface="Arial"/>
              </a:rPr>
              <a:t>. (2024). "Large Language Models for Financial Time Series Forecasting." </a:t>
            </a:r>
            <a:r>
              <a:rPr i="1" lang="en" sz="1100">
                <a:solidFill>
                  <a:srgbClr val="000000"/>
                </a:solidFill>
                <a:latin typeface="Arial"/>
                <a:ea typeface="Arial"/>
                <a:cs typeface="Arial"/>
                <a:sym typeface="Arial"/>
              </a:rPr>
              <a:t>SSRN</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n" sz="1100">
                <a:solidFill>
                  <a:srgbClr val="000000"/>
                </a:solidFill>
                <a:latin typeface="Arial"/>
                <a:ea typeface="Arial"/>
                <a:cs typeface="Arial"/>
                <a:sym typeface="Arial"/>
              </a:rPr>
              <a:t>Mohamat Setiawan, Ade Johar Maturidi, Dian Novianti</a:t>
            </a:r>
            <a:r>
              <a:rPr lang="en" sz="1100">
                <a:solidFill>
                  <a:srgbClr val="000000"/>
                </a:solidFill>
                <a:latin typeface="Arial"/>
                <a:ea typeface="Arial"/>
                <a:cs typeface="Arial"/>
                <a:sym typeface="Arial"/>
              </a:rPr>
              <a:t>. (2024). "Evaluation of the Multiple Regression Analysis Algorithm on Stock Market Prediction." </a:t>
            </a:r>
            <a:r>
              <a:rPr i="1" lang="en" sz="1100">
                <a:solidFill>
                  <a:srgbClr val="000000"/>
                </a:solidFill>
                <a:latin typeface="Arial"/>
                <a:ea typeface="Arial"/>
                <a:cs typeface="Arial"/>
                <a:sym typeface="Arial"/>
              </a:rPr>
              <a:t>ANN Publishers: Journal of Engineering Sciences</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n" sz="1100">
                <a:solidFill>
                  <a:srgbClr val="000000"/>
                </a:solidFill>
                <a:latin typeface="Arial"/>
                <a:ea typeface="Arial"/>
                <a:cs typeface="Arial"/>
                <a:sym typeface="Arial"/>
              </a:rPr>
              <a:t>Barın Batu</a:t>
            </a:r>
            <a:r>
              <a:rPr lang="en" sz="1100">
                <a:solidFill>
                  <a:srgbClr val="000000"/>
                </a:solidFill>
                <a:latin typeface="Arial"/>
                <a:ea typeface="Arial"/>
                <a:cs typeface="Arial"/>
                <a:sym typeface="Arial"/>
              </a:rPr>
              <a:t>. (2024). "Investigating Performance of ESNs in Forecasting Financial Metrics When Compared To Traditional RNN Types." </a:t>
            </a:r>
            <a:r>
              <a:rPr i="1" lang="en" sz="1100">
                <a:solidFill>
                  <a:srgbClr val="000000"/>
                </a:solidFill>
                <a:latin typeface="Arial"/>
                <a:ea typeface="Arial"/>
                <a:cs typeface="Arial"/>
                <a:sym typeface="Arial"/>
              </a:rPr>
              <a:t>International Journal of Social Science and Economic Research</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n" sz="1100">
                <a:solidFill>
                  <a:srgbClr val="000000"/>
                </a:solidFill>
                <a:latin typeface="Arial"/>
                <a:ea typeface="Arial"/>
                <a:cs typeface="Arial"/>
                <a:sym typeface="Arial"/>
              </a:rPr>
              <a:t>Darko B. Vuković, Sonja D. Radenković, Ivana Simeunović, Vyacheslav Zinovev, Milan Radovanović</a:t>
            </a:r>
            <a:r>
              <a:rPr lang="en" sz="1100">
                <a:solidFill>
                  <a:srgbClr val="000000"/>
                </a:solidFill>
                <a:latin typeface="Arial"/>
                <a:ea typeface="Arial"/>
                <a:cs typeface="Arial"/>
                <a:sym typeface="Arial"/>
              </a:rPr>
              <a:t>. (2024). "Predictive Patterns and Market Efficiency: A Deep Learning Approach to Financial Time Series Forecasting." </a:t>
            </a:r>
            <a:r>
              <a:rPr i="1" lang="en" sz="1100">
                <a:solidFill>
                  <a:srgbClr val="000000"/>
                </a:solidFill>
                <a:latin typeface="Arial"/>
                <a:ea typeface="Arial"/>
                <a:cs typeface="Arial"/>
                <a:sym typeface="Arial"/>
              </a:rPr>
              <a:t>MDPI: Mathematics</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52"/>
          <p:cNvSpPr txBox="1"/>
          <p:nvPr>
            <p:ph idx="1" type="body"/>
          </p:nvPr>
        </p:nvSpPr>
        <p:spPr>
          <a:xfrm>
            <a:off x="729450" y="1443725"/>
            <a:ext cx="7900200" cy="3699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
        <p:nvSpPr>
          <p:cNvPr id="367" name="Google Shape;367;p52"/>
          <p:cNvSpPr txBox="1"/>
          <p:nvPr/>
        </p:nvSpPr>
        <p:spPr>
          <a:xfrm>
            <a:off x="662750" y="1215125"/>
            <a:ext cx="8283900" cy="4003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100"/>
              <a:t>Ali Mehrabian, Ehsan Hoseinzade, Mahdi Mazloum, Xiaohong Chen</a:t>
            </a:r>
            <a:r>
              <a:rPr lang="en" sz="1100"/>
              <a:t>. (2024). "Mamba Meets Financial Markets: A Graph-Mamba Approach for Stock Price Prediction." </a:t>
            </a:r>
            <a:r>
              <a:rPr i="1" lang="en" sz="1100"/>
              <a:t>arXiv: Computational Finance</a:t>
            </a:r>
            <a:r>
              <a:rPr lang="en" sz="1100"/>
              <a:t>​.</a:t>
            </a:r>
            <a:endParaRPr sz="1100"/>
          </a:p>
          <a:p>
            <a:pPr indent="0" lvl="0" marL="0" rtl="0" algn="l">
              <a:lnSpc>
                <a:spcPct val="115000"/>
              </a:lnSpc>
              <a:spcBef>
                <a:spcPts val="1200"/>
              </a:spcBef>
              <a:spcAft>
                <a:spcPts val="0"/>
              </a:spcAft>
              <a:buNone/>
            </a:pPr>
            <a:r>
              <a:rPr b="1" lang="en" sz="1100"/>
              <a:t>Yuxi Liu</a:t>
            </a:r>
            <a:r>
              <a:rPr lang="en" sz="1100"/>
              <a:t>. (2024). "The Investigation of the Application of Apache Spark in Stock Analysis." </a:t>
            </a:r>
            <a:r>
              <a:rPr i="1" lang="en" sz="1100"/>
              <a:t>Proceedings of the 1st International Conference on Engineering Management, Information Technology and Intelligence</a:t>
            </a:r>
            <a:r>
              <a:rPr lang="en" sz="1100"/>
              <a:t>​.</a:t>
            </a:r>
            <a:endParaRPr sz="1100"/>
          </a:p>
          <a:p>
            <a:pPr indent="0" lvl="0" marL="0" rtl="0" algn="l">
              <a:lnSpc>
                <a:spcPct val="115000"/>
              </a:lnSpc>
              <a:spcBef>
                <a:spcPts val="1200"/>
              </a:spcBef>
              <a:spcAft>
                <a:spcPts val="0"/>
              </a:spcAft>
              <a:buNone/>
            </a:pPr>
            <a:r>
              <a:rPr b="1" lang="en" sz="1100"/>
              <a:t>John Kamwele Mutinda, Amos Kipkorir Langat</a:t>
            </a:r>
            <a:r>
              <a:rPr lang="en" sz="1100"/>
              <a:t>. (2024). "Stock price prediction using combined GARCH-AI models." </a:t>
            </a:r>
            <a:r>
              <a:rPr i="1" lang="en" sz="1100"/>
              <a:t>Elsevier: Scientific African</a:t>
            </a:r>
            <a:r>
              <a:rPr lang="en" sz="1100"/>
              <a:t>.</a:t>
            </a:r>
            <a:endParaRPr sz="1100"/>
          </a:p>
          <a:p>
            <a:pPr indent="0" lvl="0" marL="0" rtl="0" algn="l">
              <a:lnSpc>
                <a:spcPct val="115000"/>
              </a:lnSpc>
              <a:spcBef>
                <a:spcPts val="1200"/>
              </a:spcBef>
              <a:spcAft>
                <a:spcPts val="0"/>
              </a:spcAft>
              <a:buNone/>
            </a:pPr>
            <a:r>
              <a:rPr b="1" lang="en" sz="1100"/>
              <a:t>Md. Morshed Bin Shiraj, Md. Mizanur Rahman, Md. Al-Imran, Mst Zinia Afroz Liza, Md. Masum Murshed, Nasima Akhter</a:t>
            </a:r>
            <a:r>
              <a:rPr lang="en" sz="1100"/>
              <a:t>. (2024). "Anomaly detection in financial time series data via mapper algorithm and DBSCAN clustering." </a:t>
            </a:r>
            <a:r>
              <a:rPr i="1" lang="en" sz="1100"/>
              <a:t>World Journal of Advanced Engineering Technology and Sciences</a:t>
            </a:r>
            <a:r>
              <a:rPr lang="en" sz="1100"/>
              <a:t>​.</a:t>
            </a:r>
            <a:endParaRPr sz="1100"/>
          </a:p>
          <a:p>
            <a:pPr indent="0" lvl="0" marL="0" rtl="0" algn="l">
              <a:lnSpc>
                <a:spcPct val="115000"/>
              </a:lnSpc>
              <a:spcBef>
                <a:spcPts val="1200"/>
              </a:spcBef>
              <a:spcAft>
                <a:spcPts val="0"/>
              </a:spcAft>
              <a:buNone/>
            </a:pPr>
            <a:r>
              <a:rPr b="1" lang="en" sz="1100"/>
              <a:t>Mahsa Tajik Gholami, Ali Shahabi</a:t>
            </a:r>
            <a:r>
              <a:rPr lang="en" sz="1100"/>
              <a:t>. (2024). "Comparison of Deep Learning Methods with Traditional Financial Time Series Models for Forecasting the Tepix Index in the Tehran Stock Exchange." </a:t>
            </a:r>
            <a:r>
              <a:rPr i="1" lang="en" sz="1100"/>
              <a:t>SSRN</a:t>
            </a:r>
            <a:r>
              <a:rPr lang="en" sz="1100"/>
              <a:t>​.</a:t>
            </a:r>
            <a:endParaRPr sz="1100"/>
          </a:p>
          <a:p>
            <a:pPr indent="0" lvl="0" marL="0" rtl="0" algn="l">
              <a:lnSpc>
                <a:spcPct val="115000"/>
              </a:lnSpc>
              <a:spcBef>
                <a:spcPts val="1200"/>
              </a:spcBef>
              <a:spcAft>
                <a:spcPts val="0"/>
              </a:spcAft>
              <a:buNone/>
            </a:pPr>
            <a:r>
              <a:rPr b="1" lang="en" sz="1100"/>
              <a:t>Omer Berat Sezer, Mehmet Ugur Gudelek, Ahmet Murat Ozbayoglu</a:t>
            </a:r>
            <a:r>
              <a:rPr lang="en" sz="1100"/>
              <a:t>. (2020). "Financial time series forecasting with deep learning: A systematic literature review: 2005–2019." </a:t>
            </a:r>
            <a:r>
              <a:rPr i="1" lang="en" sz="1100"/>
              <a:t>Elsevier: Applied Soft Computing Journal</a:t>
            </a:r>
            <a:r>
              <a:rPr lang="en" sz="1100"/>
              <a:t>​.</a:t>
            </a:r>
            <a:endParaRPr sz="1100"/>
          </a:p>
          <a:p>
            <a:pPr indent="0" lvl="0" marL="0" rtl="0" algn="l">
              <a:lnSpc>
                <a:spcPct val="115000"/>
              </a:lnSpc>
              <a:spcBef>
                <a:spcPts val="1200"/>
              </a:spcBef>
              <a:spcAft>
                <a:spcPts val="1200"/>
              </a:spcAft>
              <a:buNone/>
            </a:pPr>
            <a:r>
              <a:rPr b="1" lang="en" sz="1100"/>
              <a:t>Cheng Zhang, Nilam Nur Amir Sjarif, Roslina Ibrahim</a:t>
            </a:r>
            <a:r>
              <a:rPr lang="en" sz="1100"/>
              <a:t>. (2023). "Deep learning models for price forecasting of financial time series: A review of recent advancements: 2020–2022." </a:t>
            </a:r>
            <a:r>
              <a:rPr i="1" lang="en" sz="1100"/>
              <a:t>Wiley: WIREs Data Mining and Knowledge Discovery</a:t>
            </a:r>
            <a:r>
              <a:rPr lang="en" sz="1100"/>
              <a:t>​</a:t>
            </a:r>
            <a:endParaRPr sz="11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53"/>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6000"/>
              <a:t>THANK </a:t>
            </a:r>
            <a:endParaRPr sz="6000"/>
          </a:p>
          <a:p>
            <a:pPr indent="0" lvl="0" marL="0" rtl="0" algn="l">
              <a:spcBef>
                <a:spcPts val="0"/>
              </a:spcBef>
              <a:spcAft>
                <a:spcPts val="0"/>
              </a:spcAft>
              <a:buNone/>
            </a:pPr>
            <a:r>
              <a:rPr lang="en" sz="6000"/>
              <a:t>YOU</a:t>
            </a:r>
            <a:endParaRPr sz="6000"/>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