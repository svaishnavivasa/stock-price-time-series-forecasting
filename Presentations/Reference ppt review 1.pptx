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Lst>
  <p:sldSz cy="5143500" cx="9144000"/>
  <p:notesSz cx="6858000" cy="9144000"/>
  <p:embeddedFontLst>
    <p:embeddedFont>
      <p:font typeface="Raleway"/>
      <p:regular r:id="rId49"/>
      <p:bold r:id="rId50"/>
      <p:italic r:id="rId51"/>
      <p:boldItalic r:id="rId52"/>
    </p:embeddedFont>
    <p:embeddedFont>
      <p:font typeface="Proxima Nova"/>
      <p:regular r:id="rId53"/>
      <p:bold r:id="rId54"/>
      <p:italic r:id="rId55"/>
      <p:boldItalic r:id="rId56"/>
    </p:embeddedFont>
    <p:embeddedFont>
      <p:font typeface="Raleway ExtraBold"/>
      <p:bold r:id="rId57"/>
      <p:boldItalic r:id="rId58"/>
    </p:embeddedFont>
    <p:embeddedFont>
      <p:font typeface="Lato"/>
      <p:regular r:id="rId59"/>
      <p:bold r:id="rId60"/>
      <p:italic r:id="rId61"/>
      <p:boldItalic r:id="rId62"/>
    </p:embeddedFont>
    <p:embeddedFont>
      <p:font typeface="Raleway Black"/>
      <p:bold r:id="rId63"/>
      <p:boldItalic r:id="rId6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font" Target="fonts/Raleway-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Lato-boldItalic.fntdata"/><Relationship Id="rId61" Type="http://schemas.openxmlformats.org/officeDocument/2006/relationships/font" Target="fonts/Lato-italic.fntdata"/><Relationship Id="rId20" Type="http://schemas.openxmlformats.org/officeDocument/2006/relationships/slide" Target="slides/slide15.xml"/><Relationship Id="rId64" Type="http://schemas.openxmlformats.org/officeDocument/2006/relationships/font" Target="fonts/RalewayBlack-boldItalic.fntdata"/><Relationship Id="rId63" Type="http://schemas.openxmlformats.org/officeDocument/2006/relationships/font" Target="fonts/RalewayBlack-bold.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Lato-bold.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Raleway-italic.fntdata"/><Relationship Id="rId50" Type="http://schemas.openxmlformats.org/officeDocument/2006/relationships/font" Target="fonts/Raleway-bold.fntdata"/><Relationship Id="rId53" Type="http://schemas.openxmlformats.org/officeDocument/2006/relationships/font" Target="fonts/ProximaNova-regular.fntdata"/><Relationship Id="rId52" Type="http://schemas.openxmlformats.org/officeDocument/2006/relationships/font" Target="fonts/Raleway-boldItalic.fntdata"/><Relationship Id="rId11" Type="http://schemas.openxmlformats.org/officeDocument/2006/relationships/slide" Target="slides/slide6.xml"/><Relationship Id="rId55" Type="http://schemas.openxmlformats.org/officeDocument/2006/relationships/font" Target="fonts/ProximaNova-italic.fntdata"/><Relationship Id="rId10" Type="http://schemas.openxmlformats.org/officeDocument/2006/relationships/slide" Target="slides/slide5.xml"/><Relationship Id="rId54" Type="http://schemas.openxmlformats.org/officeDocument/2006/relationships/font" Target="fonts/ProximaNova-bold.fntdata"/><Relationship Id="rId13" Type="http://schemas.openxmlformats.org/officeDocument/2006/relationships/slide" Target="slides/slide8.xml"/><Relationship Id="rId57" Type="http://schemas.openxmlformats.org/officeDocument/2006/relationships/font" Target="fonts/RalewayExtraBold-bold.fntdata"/><Relationship Id="rId12" Type="http://schemas.openxmlformats.org/officeDocument/2006/relationships/slide" Target="slides/slide7.xml"/><Relationship Id="rId56" Type="http://schemas.openxmlformats.org/officeDocument/2006/relationships/font" Target="fonts/ProximaNova-boldItalic.fntdata"/><Relationship Id="rId15" Type="http://schemas.openxmlformats.org/officeDocument/2006/relationships/slide" Target="slides/slide10.xml"/><Relationship Id="rId59" Type="http://schemas.openxmlformats.org/officeDocument/2006/relationships/font" Target="fonts/Lato-regular.fntdata"/><Relationship Id="rId14" Type="http://schemas.openxmlformats.org/officeDocument/2006/relationships/slide" Target="slides/slide9.xml"/><Relationship Id="rId58" Type="http://schemas.openxmlformats.org/officeDocument/2006/relationships/font" Target="fonts/RalewayExtraBold-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2f8cc55d244_0_18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2f8cc55d244_0_18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060921cd85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060921cd85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2f8cc55d244_0_18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2f8cc55d244_0_18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060921cd8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060921cd8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2f8cc55d244_0_18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2f8cc55d244_0_18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2f8cc55d244_0_18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2f8cc55d244_0_18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2f8cc55d244_0_18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2f8cc55d244_0_18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2f8cc55d244_0_18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2f8cc55d244_0_18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2f8d3b6a75b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2f8d3b6a75b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060921cd85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060921cd85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060921cd85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060921cd85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2f8d3b6a75b_5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2f8d3b6a75b_5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060f1c995a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060f1c995a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060f1c995a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060f1c995a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060f1c995a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060f1c995a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060f1c995a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060f1c995a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060f1c995a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060f1c995a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060f1c995a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060f1c995a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060f1c995a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3060f1c995a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060f1c995a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060f1c995a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060f1c995a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3060f1c995a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060f1c995a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3060f1c995a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060f1c995a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3060f1c995a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060f1c995a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3060f1c995a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060f1c995a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3060f1c995a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060f1c995a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3060f1c995a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060f1c995a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3060f1c995a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060f1c995a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3060f1c995a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060f1c995a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3060f1c995a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060f1c995a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3060f1c995a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060f1c995a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3060f1c995a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060f1c995a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3060f1c995a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060f1c995a_0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3060f1c995a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060f1c995a_0_2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3060f1c995a_0_2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060f1c995a_0_2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3060f1c995a_0_2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3060f1c995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3060f1c995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2f8d3b6a75b_5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2f8d3b6a75b_5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060f1c995a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3060f1c995a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060f1c995a_0_2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3060f1c995a_0_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060f1c995a_0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3060f1c995a_0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3060f1c995a_0_1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3060f1c995a_0_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3060f1c995a_0_2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3060f1c995a_0_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0.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2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9.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 Id="rId3" Type="http://schemas.openxmlformats.org/officeDocument/2006/relationships/image" Target="../media/image6.png"/><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8.png"/><Relationship Id="rId4" Type="http://schemas.openxmlformats.org/officeDocument/2006/relationships/image" Target="../media/image3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 Id="rId3"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 Id="rId3" Type="http://schemas.openxmlformats.org/officeDocument/2006/relationships/image" Target="../media/image1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 Id="rId3" Type="http://schemas.openxmlformats.org/officeDocument/2006/relationships/image" Target="../media/image1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xml"/><Relationship Id="rId3" Type="http://schemas.openxmlformats.org/officeDocument/2006/relationships/image" Target="../media/image1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3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2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2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5.xml"/><Relationship Id="rId3" Type="http://schemas.openxmlformats.org/officeDocument/2006/relationships/image" Target="../media/image23.png"/><Relationship Id="rId4" Type="http://schemas.openxmlformats.org/officeDocument/2006/relationships/image" Target="../media/image2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6.xml"/><Relationship Id="rId3" Type="http://schemas.openxmlformats.org/officeDocument/2006/relationships/image" Target="../media/image31.png"/><Relationship Id="rId4" Type="http://schemas.openxmlformats.org/officeDocument/2006/relationships/image" Target="../media/image2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0.xml"/><Relationship Id="rId3" Type="http://schemas.openxmlformats.org/officeDocument/2006/relationships/image" Target="../media/image35.png"/><Relationship Id="rId4" Type="http://schemas.openxmlformats.org/officeDocument/2006/relationships/image" Target="../media/image34.png"/><Relationship Id="rId5" Type="http://schemas.openxmlformats.org/officeDocument/2006/relationships/image" Target="../media/image36.png"/><Relationship Id="rId6" Type="http://schemas.openxmlformats.org/officeDocument/2006/relationships/image" Target="../media/image3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613675" y="1894525"/>
            <a:ext cx="8628300" cy="838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0" lang="en" sz="2800">
                <a:latin typeface="Raleway Black"/>
                <a:ea typeface="Raleway Black"/>
                <a:cs typeface="Raleway Black"/>
                <a:sym typeface="Raleway Black"/>
              </a:rPr>
              <a:t>Leveraging</a:t>
            </a:r>
            <a:r>
              <a:rPr b="0" lang="en" sz="2800">
                <a:latin typeface="Raleway Black"/>
                <a:ea typeface="Raleway Black"/>
                <a:cs typeface="Raleway Black"/>
                <a:sym typeface="Raleway Black"/>
              </a:rPr>
              <a:t> predictability of deep learning techniques on financial time series forecasting</a:t>
            </a:r>
            <a:endParaRPr b="0" sz="2800">
              <a:latin typeface="Raleway Black"/>
              <a:ea typeface="Raleway Black"/>
              <a:cs typeface="Raleway Black"/>
              <a:sym typeface="Raleway Black"/>
            </a:endParaRPr>
          </a:p>
        </p:txBody>
      </p:sp>
      <p:sp>
        <p:nvSpPr>
          <p:cNvPr id="87" name="Google Shape;87;p13"/>
          <p:cNvSpPr txBox="1"/>
          <p:nvPr>
            <p:ph idx="1" type="subTitle"/>
          </p:nvPr>
        </p:nvSpPr>
        <p:spPr>
          <a:xfrm>
            <a:off x="613675" y="3490800"/>
            <a:ext cx="6937200" cy="2069700"/>
          </a:xfrm>
          <a:prstGeom prst="rect">
            <a:avLst/>
          </a:prstGeom>
        </p:spPr>
        <p:txBody>
          <a:bodyPr anchorCtr="0" anchor="t" bIns="91425" lIns="91425" spcFirstLastPara="1" rIns="91425" wrap="square" tIns="91425">
            <a:normAutofit/>
          </a:bodyPr>
          <a:lstStyle/>
          <a:p>
            <a:pPr indent="0" lvl="0" marL="0" rtl="0" algn="l">
              <a:lnSpc>
                <a:spcPct val="150000"/>
              </a:lnSpc>
              <a:spcBef>
                <a:spcPts val="0"/>
              </a:spcBef>
              <a:spcAft>
                <a:spcPts val="0"/>
              </a:spcAft>
              <a:buNone/>
            </a:pPr>
            <a:r>
              <a:rPr b="1" lang="en" sz="1000"/>
              <a:t>PROJECT BATCH NO. :</a:t>
            </a:r>
            <a:r>
              <a:rPr lang="en" sz="1000"/>
              <a:t>  P10-15							</a:t>
            </a:r>
            <a:r>
              <a:rPr b="1" lang="en" sz="1000"/>
              <a:t>GUIDE NAME:-</a:t>
            </a:r>
            <a:endParaRPr b="1" sz="1000"/>
          </a:p>
          <a:p>
            <a:pPr indent="0" lvl="0" marL="0" rtl="0" algn="l">
              <a:lnSpc>
                <a:spcPct val="150000"/>
              </a:lnSpc>
              <a:spcBef>
                <a:spcPts val="0"/>
              </a:spcBef>
              <a:spcAft>
                <a:spcPts val="0"/>
              </a:spcAft>
              <a:buNone/>
            </a:pPr>
            <a:r>
              <a:rPr b="1" lang="en" sz="1000"/>
              <a:t>NAME OF THE STUDENTS:-						                               </a:t>
            </a:r>
            <a:r>
              <a:rPr lang="en" sz="1000"/>
              <a:t>PROF. SARAT CHANDRA NAYAK</a:t>
            </a:r>
            <a:endParaRPr sz="1000"/>
          </a:p>
          <a:p>
            <a:pPr indent="0" lvl="0" marL="0" rtl="0" algn="l">
              <a:lnSpc>
                <a:spcPct val="150000"/>
              </a:lnSpc>
              <a:spcBef>
                <a:spcPts val="0"/>
              </a:spcBef>
              <a:spcAft>
                <a:spcPts val="0"/>
              </a:spcAft>
              <a:buNone/>
            </a:pPr>
            <a:r>
              <a:rPr lang="en" sz="1000"/>
              <a:t>	SRI VAISHNAVI VASA (HU21CSEN0100673)</a:t>
            </a:r>
            <a:endParaRPr sz="1000"/>
          </a:p>
          <a:p>
            <a:pPr indent="0" lvl="0" marL="0" rtl="0" algn="l">
              <a:lnSpc>
                <a:spcPct val="150000"/>
              </a:lnSpc>
              <a:spcBef>
                <a:spcPts val="0"/>
              </a:spcBef>
              <a:spcAft>
                <a:spcPts val="0"/>
              </a:spcAft>
              <a:buNone/>
            </a:pPr>
            <a:r>
              <a:rPr lang="en" sz="1000"/>
              <a:t>	LEENA DEEKOLLU       (HU21CSEN0100741)</a:t>
            </a:r>
            <a:endParaRPr sz="1000"/>
          </a:p>
          <a:p>
            <a:pPr indent="0" lvl="0" marL="0" rtl="0" algn="l">
              <a:lnSpc>
                <a:spcPct val="150000"/>
              </a:lnSpc>
              <a:spcBef>
                <a:spcPts val="0"/>
              </a:spcBef>
              <a:spcAft>
                <a:spcPts val="0"/>
              </a:spcAft>
              <a:buNone/>
            </a:pPr>
            <a:r>
              <a:rPr lang="en" sz="1000"/>
              <a:t>	BINDU SRI                          (HU21CSEN0101184)</a:t>
            </a:r>
            <a:endParaRPr sz="1000"/>
          </a:p>
          <a:p>
            <a:pPr indent="0" lvl="0" marL="0" rtl="0" algn="l">
              <a:spcBef>
                <a:spcPts val="0"/>
              </a:spcBef>
              <a:spcAft>
                <a:spcPts val="0"/>
              </a:spcAft>
              <a:buNone/>
            </a:pPr>
            <a:r>
              <a:t/>
            </a:r>
            <a:endParaRPr sz="1200"/>
          </a:p>
          <a:p>
            <a:pPr indent="0" lvl="0" marL="0" rtl="0" algn="l">
              <a:spcBef>
                <a:spcPts val="0"/>
              </a:spcBef>
              <a:spcAft>
                <a:spcPts val="0"/>
              </a:spcAft>
              <a:buNone/>
            </a:pPr>
            <a:r>
              <a:t/>
            </a:r>
            <a:endParaRPr sz="1200"/>
          </a:p>
        </p:txBody>
      </p:sp>
      <p:pic>
        <p:nvPicPr>
          <p:cNvPr id="88" name="Google Shape;88;p13"/>
          <p:cNvPicPr preferRelativeResize="0"/>
          <p:nvPr/>
        </p:nvPicPr>
        <p:blipFill>
          <a:blip r:embed="rId3">
            <a:alphaModFix/>
          </a:blip>
          <a:stretch>
            <a:fillRect/>
          </a:stretch>
        </p:blipFill>
        <p:spPr>
          <a:xfrm>
            <a:off x="1483000" y="137825"/>
            <a:ext cx="2250604" cy="838800"/>
          </a:xfrm>
          <a:prstGeom prst="rect">
            <a:avLst/>
          </a:prstGeom>
          <a:noFill/>
          <a:ln>
            <a:noFill/>
          </a:ln>
        </p:spPr>
      </p:pic>
      <p:sp>
        <p:nvSpPr>
          <p:cNvPr id="89" name="Google Shape;89;p13"/>
          <p:cNvSpPr txBox="1"/>
          <p:nvPr/>
        </p:nvSpPr>
        <p:spPr>
          <a:xfrm>
            <a:off x="2729525" y="63225"/>
            <a:ext cx="5688000" cy="1371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100">
                <a:solidFill>
                  <a:schemeClr val="accent1"/>
                </a:solidFill>
                <a:latin typeface="Proxima Nova"/>
                <a:ea typeface="Proxima Nova"/>
                <a:cs typeface="Proxima Nova"/>
                <a:sym typeface="Proxima Nova"/>
              </a:rPr>
              <a:t>GITAM</a:t>
            </a:r>
            <a:endParaRPr b="1" sz="1100">
              <a:solidFill>
                <a:schemeClr val="accent1"/>
              </a:solidFill>
              <a:latin typeface="Proxima Nova"/>
              <a:ea typeface="Proxima Nova"/>
              <a:cs typeface="Proxima Nova"/>
              <a:sym typeface="Proxima Nova"/>
            </a:endParaRPr>
          </a:p>
          <a:p>
            <a:pPr indent="0" lvl="0" marL="0" rtl="0" algn="ctr">
              <a:spcBef>
                <a:spcPts val="0"/>
              </a:spcBef>
              <a:spcAft>
                <a:spcPts val="0"/>
              </a:spcAft>
              <a:buNone/>
            </a:pPr>
            <a:r>
              <a:rPr b="1" lang="en" sz="1100">
                <a:solidFill>
                  <a:schemeClr val="accent1"/>
                </a:solidFill>
                <a:latin typeface="Proxima Nova"/>
                <a:ea typeface="Proxima Nova"/>
                <a:cs typeface="Proxima Nova"/>
                <a:sym typeface="Proxima Nova"/>
              </a:rPr>
              <a:t>(Deemed to be University)</a:t>
            </a:r>
            <a:endParaRPr b="1" sz="1100">
              <a:solidFill>
                <a:schemeClr val="accent1"/>
              </a:solidFill>
              <a:latin typeface="Proxima Nova"/>
              <a:ea typeface="Proxima Nova"/>
              <a:cs typeface="Proxima Nova"/>
              <a:sym typeface="Proxima Nova"/>
            </a:endParaRPr>
          </a:p>
          <a:p>
            <a:pPr indent="0" lvl="0" marL="0" rtl="0" algn="ctr">
              <a:spcBef>
                <a:spcPts val="0"/>
              </a:spcBef>
              <a:spcAft>
                <a:spcPts val="0"/>
              </a:spcAft>
              <a:buNone/>
            </a:pPr>
            <a:r>
              <a:rPr b="1" lang="en" sz="1100">
                <a:solidFill>
                  <a:schemeClr val="accent1"/>
                </a:solidFill>
                <a:latin typeface="Proxima Nova"/>
                <a:ea typeface="Proxima Nova"/>
                <a:cs typeface="Proxima Nova"/>
                <a:sym typeface="Proxima Nova"/>
              </a:rPr>
              <a:t>School of Technology, Hyderabad </a:t>
            </a:r>
            <a:endParaRPr b="1" sz="1100">
              <a:solidFill>
                <a:schemeClr val="accent1"/>
              </a:solidFill>
              <a:latin typeface="Proxima Nova"/>
              <a:ea typeface="Proxima Nova"/>
              <a:cs typeface="Proxima Nova"/>
              <a:sym typeface="Proxima Nova"/>
            </a:endParaRPr>
          </a:p>
          <a:p>
            <a:pPr indent="0" lvl="0" marL="0" rtl="0" algn="ctr">
              <a:spcBef>
                <a:spcPts val="0"/>
              </a:spcBef>
              <a:spcAft>
                <a:spcPts val="0"/>
              </a:spcAft>
              <a:buNone/>
            </a:pPr>
            <a:r>
              <a:rPr b="1" lang="en" sz="1100">
                <a:solidFill>
                  <a:schemeClr val="accent1"/>
                </a:solidFill>
                <a:latin typeface="Proxima Nova"/>
                <a:ea typeface="Proxima Nova"/>
                <a:cs typeface="Proxima Nova"/>
                <a:sym typeface="Proxima Nova"/>
              </a:rPr>
              <a:t>Department of Computer Science and Engineering</a:t>
            </a:r>
            <a:endParaRPr b="1" sz="1100">
              <a:solidFill>
                <a:schemeClr val="accent1"/>
              </a:solidFill>
              <a:latin typeface="Proxima Nova"/>
              <a:ea typeface="Proxima Nova"/>
              <a:cs typeface="Proxima Nova"/>
              <a:sym typeface="Proxima Nov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4"/>
          <p:cNvSpPr txBox="1"/>
          <p:nvPr>
            <p:ph type="title"/>
          </p:nvPr>
        </p:nvSpPr>
        <p:spPr>
          <a:xfrm>
            <a:off x="653250" y="556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640"/>
              <a:t>CONTENTS</a:t>
            </a:r>
            <a:endParaRPr sz="3640"/>
          </a:p>
        </p:txBody>
      </p:sp>
      <p:sp>
        <p:nvSpPr>
          <p:cNvPr id="95" name="Google Shape;95;p14"/>
          <p:cNvSpPr txBox="1"/>
          <p:nvPr>
            <p:ph idx="1" type="body"/>
          </p:nvPr>
        </p:nvSpPr>
        <p:spPr>
          <a:xfrm>
            <a:off x="729400" y="1413775"/>
            <a:ext cx="7688700" cy="3432600"/>
          </a:xfrm>
          <a:prstGeom prst="rect">
            <a:avLst/>
          </a:prstGeom>
        </p:spPr>
        <p:txBody>
          <a:bodyPr anchorCtr="0" anchor="t" bIns="91425" lIns="91425" spcFirstLastPara="1" rIns="91425" wrap="square" tIns="91425">
            <a:normAutofit/>
          </a:bodyPr>
          <a:lstStyle/>
          <a:p>
            <a:pPr indent="-336550" lvl="0" marL="457200" rtl="0" algn="l">
              <a:spcBef>
                <a:spcPts val="0"/>
              </a:spcBef>
              <a:spcAft>
                <a:spcPts val="0"/>
              </a:spcAft>
              <a:buClr>
                <a:schemeClr val="dk2"/>
              </a:buClr>
              <a:buSzPts val="1700"/>
              <a:buChar char="❏"/>
            </a:pPr>
            <a:r>
              <a:rPr lang="en" sz="1700">
                <a:solidFill>
                  <a:schemeClr val="dk2"/>
                </a:solidFill>
              </a:rPr>
              <a:t>INTRODUCTION</a:t>
            </a:r>
            <a:endParaRPr sz="1700">
              <a:solidFill>
                <a:schemeClr val="dk2"/>
              </a:solidFill>
            </a:endParaRPr>
          </a:p>
          <a:p>
            <a:pPr indent="-336550" lvl="0" marL="457200" rtl="0" algn="l">
              <a:spcBef>
                <a:spcPts val="0"/>
              </a:spcBef>
              <a:spcAft>
                <a:spcPts val="0"/>
              </a:spcAft>
              <a:buClr>
                <a:schemeClr val="dk2"/>
              </a:buClr>
              <a:buSzPts val="1700"/>
              <a:buChar char="❏"/>
            </a:pPr>
            <a:r>
              <a:rPr lang="en" sz="1700">
                <a:solidFill>
                  <a:schemeClr val="dk2"/>
                </a:solidFill>
              </a:rPr>
              <a:t>ABSTRACT</a:t>
            </a:r>
            <a:endParaRPr sz="1700">
              <a:solidFill>
                <a:schemeClr val="dk2"/>
              </a:solidFill>
            </a:endParaRPr>
          </a:p>
          <a:p>
            <a:pPr indent="-336550" lvl="0" marL="457200" rtl="0" algn="l">
              <a:spcBef>
                <a:spcPts val="0"/>
              </a:spcBef>
              <a:spcAft>
                <a:spcPts val="0"/>
              </a:spcAft>
              <a:buClr>
                <a:schemeClr val="dk2"/>
              </a:buClr>
              <a:buSzPts val="1700"/>
              <a:buChar char="❏"/>
            </a:pPr>
            <a:r>
              <a:rPr lang="en" sz="1700">
                <a:solidFill>
                  <a:schemeClr val="dk2"/>
                </a:solidFill>
              </a:rPr>
              <a:t>REVIEW OF LITERATURE SURVEY</a:t>
            </a:r>
            <a:endParaRPr sz="1700">
              <a:solidFill>
                <a:schemeClr val="dk2"/>
              </a:solidFill>
            </a:endParaRPr>
          </a:p>
          <a:p>
            <a:pPr indent="-336550" lvl="0" marL="457200" rtl="0" algn="l">
              <a:spcBef>
                <a:spcPts val="0"/>
              </a:spcBef>
              <a:spcAft>
                <a:spcPts val="0"/>
              </a:spcAft>
              <a:buClr>
                <a:schemeClr val="dk2"/>
              </a:buClr>
              <a:buSzPts val="1700"/>
              <a:buChar char="❏"/>
            </a:pPr>
            <a:r>
              <a:rPr lang="en" sz="1700">
                <a:solidFill>
                  <a:schemeClr val="dk2"/>
                </a:solidFill>
              </a:rPr>
              <a:t>PROBLEM STATEMENT</a:t>
            </a:r>
            <a:endParaRPr sz="1700">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5"/>
          <p:cNvSpPr txBox="1"/>
          <p:nvPr>
            <p:ph idx="1" type="body"/>
          </p:nvPr>
        </p:nvSpPr>
        <p:spPr>
          <a:xfrm>
            <a:off x="496350" y="2467551"/>
            <a:ext cx="7697400" cy="460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4600">
                <a:solidFill>
                  <a:schemeClr val="dk2"/>
                </a:solidFill>
                <a:latin typeface="Raleway Black"/>
                <a:ea typeface="Raleway Black"/>
                <a:cs typeface="Raleway Black"/>
                <a:sym typeface="Raleway Black"/>
              </a:rPr>
              <a:t>INTRODUCTION</a:t>
            </a:r>
            <a:endParaRPr sz="4600">
              <a:solidFill>
                <a:schemeClr val="dk2"/>
              </a:solidFill>
              <a:latin typeface="Raleway Black"/>
              <a:ea typeface="Raleway Black"/>
              <a:cs typeface="Raleway Black"/>
              <a:sym typeface="Raleway Black"/>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6"/>
          <p:cNvSpPr txBox="1"/>
          <p:nvPr>
            <p:ph type="title"/>
          </p:nvPr>
        </p:nvSpPr>
        <p:spPr>
          <a:xfrm>
            <a:off x="729450" y="6328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640"/>
              <a:t>WHAT IS TIME SERIES DATA?</a:t>
            </a:r>
            <a:endParaRPr sz="2640"/>
          </a:p>
        </p:txBody>
      </p:sp>
      <p:sp>
        <p:nvSpPr>
          <p:cNvPr id="106" name="Google Shape;106;p16"/>
          <p:cNvSpPr txBox="1"/>
          <p:nvPr>
            <p:ph idx="1" type="body"/>
          </p:nvPr>
        </p:nvSpPr>
        <p:spPr>
          <a:xfrm>
            <a:off x="649200" y="1328400"/>
            <a:ext cx="7849200" cy="3252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400">
                <a:solidFill>
                  <a:schemeClr val="dk2"/>
                </a:solidFill>
              </a:rPr>
              <a:t>Time series data is a collection of data points that are recorded in order over time. Each data point is linked to a specific moment, like every minute, hour, day, or year. </a:t>
            </a:r>
            <a:endParaRPr sz="1400">
              <a:solidFill>
                <a:schemeClr val="dk2"/>
              </a:solidFill>
            </a:endParaRPr>
          </a:p>
          <a:p>
            <a:pPr indent="0" lvl="0" marL="0" rtl="0" algn="l">
              <a:spcBef>
                <a:spcPts val="0"/>
              </a:spcBef>
              <a:spcAft>
                <a:spcPts val="0"/>
              </a:spcAft>
              <a:buNone/>
            </a:pPr>
            <a:r>
              <a:t/>
            </a:r>
            <a:endParaRPr>
              <a:solidFill>
                <a:schemeClr val="dk2"/>
              </a:solidFill>
              <a:latin typeface="Arial"/>
              <a:ea typeface="Arial"/>
              <a:cs typeface="Arial"/>
              <a:sym typeface="Arial"/>
            </a:endParaRPr>
          </a:p>
        </p:txBody>
      </p:sp>
      <p:pic>
        <p:nvPicPr>
          <p:cNvPr id="107" name="Google Shape;107;p16"/>
          <p:cNvPicPr preferRelativeResize="0"/>
          <p:nvPr/>
        </p:nvPicPr>
        <p:blipFill>
          <a:blip r:embed="rId3">
            <a:alphaModFix/>
          </a:blip>
          <a:stretch>
            <a:fillRect/>
          </a:stretch>
        </p:blipFill>
        <p:spPr>
          <a:xfrm>
            <a:off x="1077200" y="2164413"/>
            <a:ext cx="2929351" cy="2643326"/>
          </a:xfrm>
          <a:prstGeom prst="rect">
            <a:avLst/>
          </a:prstGeom>
          <a:noFill/>
          <a:ln>
            <a:noFill/>
          </a:ln>
        </p:spPr>
      </p:pic>
      <p:pic>
        <p:nvPicPr>
          <p:cNvPr id="108" name="Google Shape;108;p16"/>
          <p:cNvPicPr preferRelativeResize="0"/>
          <p:nvPr/>
        </p:nvPicPr>
        <p:blipFill>
          <a:blip r:embed="rId4">
            <a:alphaModFix/>
          </a:blip>
          <a:stretch>
            <a:fillRect/>
          </a:stretch>
        </p:blipFill>
        <p:spPr>
          <a:xfrm>
            <a:off x="4572000" y="2640799"/>
            <a:ext cx="3858476" cy="1846363"/>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7"/>
          <p:cNvSpPr txBox="1"/>
          <p:nvPr>
            <p:ph type="title"/>
          </p:nvPr>
        </p:nvSpPr>
        <p:spPr>
          <a:xfrm>
            <a:off x="729450" y="6328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TIME SERIES FORECASTING</a:t>
            </a:r>
            <a:endParaRPr/>
          </a:p>
        </p:txBody>
      </p:sp>
      <p:sp>
        <p:nvSpPr>
          <p:cNvPr id="114" name="Google Shape;114;p17"/>
          <p:cNvSpPr txBox="1"/>
          <p:nvPr>
            <p:ph idx="1" type="body"/>
          </p:nvPr>
        </p:nvSpPr>
        <p:spPr>
          <a:xfrm>
            <a:off x="805650" y="1393075"/>
            <a:ext cx="7688700" cy="3542100"/>
          </a:xfrm>
          <a:prstGeom prst="rect">
            <a:avLst/>
          </a:prstGeom>
        </p:spPr>
        <p:txBody>
          <a:bodyPr anchorCtr="0" anchor="t" bIns="91425" lIns="91425" spcFirstLastPara="1" rIns="91425" wrap="square" tIns="91425">
            <a:normAutofit/>
          </a:bodyPr>
          <a:lstStyle/>
          <a:p>
            <a:pPr indent="-304800" lvl="0" marL="457200" rtl="0" algn="l">
              <a:spcBef>
                <a:spcPts val="0"/>
              </a:spcBef>
              <a:spcAft>
                <a:spcPts val="0"/>
              </a:spcAft>
              <a:buClr>
                <a:schemeClr val="dk2"/>
              </a:buClr>
              <a:buSzPts val="1200"/>
              <a:buChar char="➔"/>
            </a:pPr>
            <a:r>
              <a:rPr lang="en" sz="1200">
                <a:solidFill>
                  <a:schemeClr val="dk2"/>
                </a:solidFill>
              </a:rPr>
              <a:t>Time series forecasting is a data science technique that uses historical data to predict future values. It's used in many industries, including finance, marketing, sales, and retail, to predict things like sales numbers, stock prices, weather, and consumer demand.</a:t>
            </a:r>
            <a:endParaRPr sz="1200">
              <a:solidFill>
                <a:schemeClr val="dk2"/>
              </a:solidFill>
            </a:endParaRPr>
          </a:p>
          <a:p>
            <a:pPr indent="0" lvl="0" marL="0" rtl="0" algn="l">
              <a:spcBef>
                <a:spcPts val="0"/>
              </a:spcBef>
              <a:spcAft>
                <a:spcPts val="0"/>
              </a:spcAft>
              <a:buNone/>
            </a:pPr>
            <a:r>
              <a:t/>
            </a:r>
            <a:endParaRPr sz="1200">
              <a:solidFill>
                <a:schemeClr val="dk2"/>
              </a:solidFill>
            </a:endParaRPr>
          </a:p>
          <a:p>
            <a:pPr indent="0" lvl="0" marL="0" rtl="0" algn="l">
              <a:spcBef>
                <a:spcPts val="0"/>
              </a:spcBef>
              <a:spcAft>
                <a:spcPts val="0"/>
              </a:spcAft>
              <a:buNone/>
            </a:pPr>
            <a:r>
              <a:t/>
            </a:r>
            <a:endParaRPr sz="1200">
              <a:solidFill>
                <a:schemeClr val="dk2"/>
              </a:solidFill>
            </a:endParaRPr>
          </a:p>
          <a:p>
            <a:pPr indent="-304800" lvl="0" marL="457200" rtl="0" algn="l">
              <a:spcBef>
                <a:spcPts val="0"/>
              </a:spcBef>
              <a:spcAft>
                <a:spcPts val="0"/>
              </a:spcAft>
              <a:buClr>
                <a:srgbClr val="000000"/>
              </a:buClr>
              <a:buSzPts val="1200"/>
              <a:buChar char="➔"/>
            </a:pPr>
            <a:r>
              <a:rPr lang="en" sz="1200">
                <a:solidFill>
                  <a:srgbClr val="000000"/>
                </a:solidFill>
              </a:rPr>
              <a:t>For a time series X={X</a:t>
            </a:r>
            <a:r>
              <a:rPr baseline="-25000" lang="en" sz="1200">
                <a:solidFill>
                  <a:srgbClr val="000000"/>
                </a:solidFill>
              </a:rPr>
              <a:t>1</a:t>
            </a:r>
            <a:r>
              <a:rPr lang="en" sz="1200">
                <a:solidFill>
                  <a:srgbClr val="000000"/>
                </a:solidFill>
              </a:rPr>
              <a:t>,X</a:t>
            </a:r>
            <a:r>
              <a:rPr baseline="-25000" lang="en" sz="1200">
                <a:solidFill>
                  <a:srgbClr val="000000"/>
                </a:solidFill>
              </a:rPr>
              <a:t>2</a:t>
            </a:r>
            <a:r>
              <a:rPr lang="en" sz="1200">
                <a:solidFill>
                  <a:srgbClr val="000000"/>
                </a:solidFill>
              </a:rPr>
              <a:t>,...,X</a:t>
            </a:r>
            <a:r>
              <a:rPr baseline="-25000" lang="en" sz="1200">
                <a:solidFill>
                  <a:srgbClr val="000000"/>
                </a:solidFill>
              </a:rPr>
              <a:t>t</a:t>
            </a:r>
            <a:r>
              <a:rPr lang="en" sz="1200">
                <a:solidFill>
                  <a:srgbClr val="000000"/>
                </a:solidFill>
              </a:rPr>
              <a:t>}, where each X</a:t>
            </a:r>
            <a:r>
              <a:rPr baseline="-25000" lang="en" sz="1200">
                <a:solidFill>
                  <a:srgbClr val="000000"/>
                </a:solidFill>
              </a:rPr>
              <a:t>t</a:t>
            </a:r>
            <a:r>
              <a:rPr lang="en" sz="1200">
                <a:solidFill>
                  <a:srgbClr val="000000"/>
                </a:solidFill>
              </a:rPr>
              <a:t> is an observation at time t, the forecast for the next time period t+1 can be expressed as:</a:t>
            </a:r>
            <a:endParaRPr sz="1200">
              <a:solidFill>
                <a:srgbClr val="000000"/>
              </a:solidFill>
            </a:endParaRPr>
          </a:p>
          <a:p>
            <a:pPr indent="0" lvl="0" marL="0" rtl="0" algn="l">
              <a:spcBef>
                <a:spcPts val="0"/>
              </a:spcBef>
              <a:spcAft>
                <a:spcPts val="0"/>
              </a:spcAft>
              <a:buNone/>
            </a:pPr>
            <a:r>
              <a:t/>
            </a:r>
            <a:endParaRPr sz="1200">
              <a:solidFill>
                <a:srgbClr val="000000"/>
              </a:solidFill>
            </a:endParaRPr>
          </a:p>
          <a:p>
            <a:pPr indent="0" lvl="0" marL="0" rtl="0" algn="l">
              <a:spcBef>
                <a:spcPts val="0"/>
              </a:spcBef>
              <a:spcAft>
                <a:spcPts val="0"/>
              </a:spcAft>
              <a:buNone/>
            </a:pPr>
            <a:r>
              <a:t/>
            </a:r>
            <a:endParaRPr sz="1200">
              <a:solidFill>
                <a:srgbClr val="000000"/>
              </a:solidFill>
            </a:endParaRPr>
          </a:p>
          <a:p>
            <a:pPr indent="0" lvl="0" marL="0" rtl="0" algn="l">
              <a:spcBef>
                <a:spcPts val="0"/>
              </a:spcBef>
              <a:spcAft>
                <a:spcPts val="0"/>
              </a:spcAft>
              <a:buNone/>
            </a:pPr>
            <a:r>
              <a:t/>
            </a:r>
            <a:endParaRPr sz="1200">
              <a:solidFill>
                <a:srgbClr val="000000"/>
              </a:solidFill>
            </a:endParaRPr>
          </a:p>
          <a:p>
            <a:pPr indent="0" lvl="0" marL="0" rtl="0" algn="l">
              <a:spcBef>
                <a:spcPts val="0"/>
              </a:spcBef>
              <a:spcAft>
                <a:spcPts val="0"/>
              </a:spcAft>
              <a:buNone/>
            </a:pPr>
            <a:r>
              <a:t/>
            </a:r>
            <a:endParaRPr sz="1200">
              <a:solidFill>
                <a:srgbClr val="000000"/>
              </a:solidFill>
            </a:endParaRPr>
          </a:p>
          <a:p>
            <a:pPr indent="0" lvl="0" marL="457200" rtl="0" algn="l">
              <a:lnSpc>
                <a:spcPct val="150000"/>
              </a:lnSpc>
              <a:spcBef>
                <a:spcPts val="0"/>
              </a:spcBef>
              <a:spcAft>
                <a:spcPts val="0"/>
              </a:spcAft>
              <a:buNone/>
            </a:pPr>
            <a:r>
              <a:rPr lang="en" sz="1200">
                <a:solidFill>
                  <a:srgbClr val="000000"/>
                </a:solidFill>
              </a:rPr>
              <a:t>This equation indicates that the forecast </a:t>
            </a:r>
            <a:r>
              <a:rPr lang="en" sz="1200">
                <a:solidFill>
                  <a:schemeClr val="dk2"/>
                </a:solidFill>
              </a:rPr>
              <a:t>X̂</a:t>
            </a:r>
            <a:r>
              <a:rPr baseline="-25000" lang="en" sz="1200">
                <a:solidFill>
                  <a:schemeClr val="dk2"/>
                </a:solidFill>
              </a:rPr>
              <a:t>t+1</a:t>
            </a:r>
            <a:r>
              <a:rPr lang="en" sz="1200">
                <a:solidFill>
                  <a:schemeClr val="dk2"/>
                </a:solidFill>
              </a:rPr>
              <a:t> </a:t>
            </a:r>
            <a:r>
              <a:rPr lang="en" sz="1200">
                <a:solidFill>
                  <a:srgbClr val="000000"/>
                </a:solidFill>
              </a:rPr>
              <a:t>is simply the average of all past observations up to time </a:t>
            </a:r>
            <a:r>
              <a:rPr i="1" lang="en" sz="1200">
                <a:solidFill>
                  <a:srgbClr val="000000"/>
                </a:solidFill>
              </a:rPr>
              <a:t>t</a:t>
            </a:r>
            <a:r>
              <a:rPr lang="en" sz="1200">
                <a:solidFill>
                  <a:srgbClr val="000000"/>
                </a:solidFill>
              </a:rPr>
              <a:t>. This approach assumes that future values will follow the same distribution as past values and is particularly useful when the time series does not exhibit trends or seasonality.</a:t>
            </a:r>
            <a:endParaRPr sz="1200">
              <a:solidFill>
                <a:schemeClr val="dk2"/>
              </a:solidFill>
            </a:endParaRPr>
          </a:p>
        </p:txBody>
      </p:sp>
      <p:pic>
        <p:nvPicPr>
          <p:cNvPr id="115" name="Google Shape;115;p17"/>
          <p:cNvPicPr preferRelativeResize="0"/>
          <p:nvPr/>
        </p:nvPicPr>
        <p:blipFill>
          <a:blip r:embed="rId3">
            <a:alphaModFix/>
          </a:blip>
          <a:stretch>
            <a:fillRect/>
          </a:stretch>
        </p:blipFill>
        <p:spPr>
          <a:xfrm>
            <a:off x="3796724" y="2912925"/>
            <a:ext cx="1751800" cy="7089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8"/>
          <p:cNvSpPr txBox="1"/>
          <p:nvPr>
            <p:ph type="title"/>
          </p:nvPr>
        </p:nvSpPr>
        <p:spPr>
          <a:xfrm>
            <a:off x="729450" y="556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940"/>
              <a:t>CHARACTERISTICS OF TIME SERIES DATA</a:t>
            </a:r>
            <a:endParaRPr sz="2940"/>
          </a:p>
        </p:txBody>
      </p:sp>
      <p:pic>
        <p:nvPicPr>
          <p:cNvPr id="121" name="Google Shape;121;p18"/>
          <p:cNvPicPr preferRelativeResize="0"/>
          <p:nvPr/>
        </p:nvPicPr>
        <p:blipFill>
          <a:blip r:embed="rId3">
            <a:alphaModFix/>
          </a:blip>
          <a:stretch>
            <a:fillRect/>
          </a:stretch>
        </p:blipFill>
        <p:spPr>
          <a:xfrm>
            <a:off x="833974" y="1488025"/>
            <a:ext cx="3438357" cy="2273900"/>
          </a:xfrm>
          <a:prstGeom prst="rect">
            <a:avLst/>
          </a:prstGeom>
          <a:noFill/>
          <a:ln>
            <a:noFill/>
          </a:ln>
        </p:spPr>
      </p:pic>
      <p:pic>
        <p:nvPicPr>
          <p:cNvPr id="122" name="Google Shape;122;p18"/>
          <p:cNvPicPr preferRelativeResize="0"/>
          <p:nvPr/>
        </p:nvPicPr>
        <p:blipFill>
          <a:blip r:embed="rId4">
            <a:alphaModFix/>
          </a:blip>
          <a:stretch>
            <a:fillRect/>
          </a:stretch>
        </p:blipFill>
        <p:spPr>
          <a:xfrm>
            <a:off x="5078725" y="1532163"/>
            <a:ext cx="3344100" cy="2185619"/>
          </a:xfrm>
          <a:prstGeom prst="rect">
            <a:avLst/>
          </a:prstGeom>
          <a:noFill/>
          <a:ln>
            <a:noFill/>
          </a:ln>
        </p:spPr>
      </p:pic>
      <p:sp>
        <p:nvSpPr>
          <p:cNvPr id="123" name="Google Shape;123;p18"/>
          <p:cNvSpPr txBox="1"/>
          <p:nvPr/>
        </p:nvSpPr>
        <p:spPr>
          <a:xfrm>
            <a:off x="881100" y="3854825"/>
            <a:ext cx="3344100" cy="70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2"/>
                </a:solidFill>
                <a:latin typeface="Lato"/>
                <a:ea typeface="Lato"/>
                <a:cs typeface="Lato"/>
                <a:sym typeface="Lato"/>
              </a:rPr>
              <a:t>TREND:</a:t>
            </a:r>
            <a:r>
              <a:rPr b="1" lang="en">
                <a:solidFill>
                  <a:schemeClr val="accent1"/>
                </a:solidFill>
                <a:latin typeface="Lato"/>
                <a:ea typeface="Lato"/>
                <a:cs typeface="Lato"/>
                <a:sym typeface="Lato"/>
              </a:rPr>
              <a:t> </a:t>
            </a:r>
            <a:r>
              <a:rPr lang="en" sz="1500">
                <a:latin typeface="Lato"/>
                <a:ea typeface="Lato"/>
                <a:cs typeface="Lato"/>
                <a:sym typeface="Lato"/>
              </a:rPr>
              <a:t>Time series data may show long-term increases or decreases over time, known as trends.</a:t>
            </a:r>
            <a:endParaRPr>
              <a:solidFill>
                <a:schemeClr val="accent1"/>
              </a:solidFill>
              <a:latin typeface="Lato"/>
              <a:ea typeface="Lato"/>
              <a:cs typeface="Lato"/>
              <a:sym typeface="Lato"/>
            </a:endParaRPr>
          </a:p>
        </p:txBody>
      </p:sp>
      <p:sp>
        <p:nvSpPr>
          <p:cNvPr id="124" name="Google Shape;124;p18"/>
          <p:cNvSpPr txBox="1"/>
          <p:nvPr/>
        </p:nvSpPr>
        <p:spPr>
          <a:xfrm>
            <a:off x="5109625" y="3807500"/>
            <a:ext cx="3344100" cy="70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Lato"/>
                <a:ea typeface="Lato"/>
                <a:cs typeface="Lato"/>
                <a:sym typeface="Lato"/>
              </a:rPr>
              <a:t>SEASONALITY:</a:t>
            </a:r>
            <a:r>
              <a:rPr b="1" lang="en" sz="1200">
                <a:solidFill>
                  <a:schemeClr val="accent1"/>
                </a:solidFill>
                <a:latin typeface="Lato"/>
                <a:ea typeface="Lato"/>
                <a:cs typeface="Lato"/>
                <a:sym typeface="Lato"/>
              </a:rPr>
              <a:t> </a:t>
            </a:r>
            <a:r>
              <a:rPr lang="en" sz="1300">
                <a:latin typeface="Lato"/>
                <a:ea typeface="Lato"/>
                <a:cs typeface="Lato"/>
                <a:sym typeface="Lato"/>
              </a:rPr>
              <a:t>Time series data can exhibit repeating patterns or cycles over specific periods, like daily, weekly, monthly, or yearly. </a:t>
            </a:r>
            <a:endParaRPr sz="1200">
              <a:solidFill>
                <a:schemeClr val="accent1"/>
              </a:solidFill>
              <a:latin typeface="Lato"/>
              <a:ea typeface="Lato"/>
              <a:cs typeface="Lato"/>
              <a:sym typeface="Lato"/>
            </a:endParaRPr>
          </a:p>
        </p:txBody>
      </p:sp>
      <p:sp>
        <p:nvSpPr>
          <p:cNvPr id="125" name="Google Shape;125;p18"/>
          <p:cNvSpPr txBox="1"/>
          <p:nvPr/>
        </p:nvSpPr>
        <p:spPr>
          <a:xfrm>
            <a:off x="5708825" y="4898725"/>
            <a:ext cx="3773100" cy="9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rgbClr val="B7B7B7"/>
                </a:solidFill>
                <a:latin typeface="Lato"/>
                <a:ea typeface="Lato"/>
                <a:cs typeface="Lato"/>
                <a:sym typeface="Lato"/>
              </a:rPr>
              <a:t>Source: https://www.geeksforgeeks.org/components-of-time-series-data/</a:t>
            </a:r>
            <a:endParaRPr sz="800">
              <a:solidFill>
                <a:srgbClr val="B7B7B7"/>
              </a:solidFill>
              <a:latin typeface="Lato"/>
              <a:ea typeface="Lato"/>
              <a:cs typeface="Lato"/>
              <a:sym typeface="La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pic>
        <p:nvPicPr>
          <p:cNvPr id="130" name="Google Shape;130;p19"/>
          <p:cNvPicPr preferRelativeResize="0"/>
          <p:nvPr/>
        </p:nvPicPr>
        <p:blipFill>
          <a:blip r:embed="rId3">
            <a:alphaModFix/>
          </a:blip>
          <a:stretch>
            <a:fillRect/>
          </a:stretch>
        </p:blipFill>
        <p:spPr>
          <a:xfrm>
            <a:off x="886350" y="1467150"/>
            <a:ext cx="3202207" cy="2190750"/>
          </a:xfrm>
          <a:prstGeom prst="rect">
            <a:avLst/>
          </a:prstGeom>
          <a:noFill/>
          <a:ln>
            <a:noFill/>
          </a:ln>
        </p:spPr>
      </p:pic>
      <p:pic>
        <p:nvPicPr>
          <p:cNvPr id="131" name="Google Shape;131;p19"/>
          <p:cNvPicPr preferRelativeResize="0"/>
          <p:nvPr/>
        </p:nvPicPr>
        <p:blipFill>
          <a:blip r:embed="rId4">
            <a:alphaModFix/>
          </a:blip>
          <a:stretch>
            <a:fillRect/>
          </a:stretch>
        </p:blipFill>
        <p:spPr>
          <a:xfrm>
            <a:off x="5134675" y="1520888"/>
            <a:ext cx="3202199" cy="2101718"/>
          </a:xfrm>
          <a:prstGeom prst="rect">
            <a:avLst/>
          </a:prstGeom>
          <a:noFill/>
          <a:ln>
            <a:noFill/>
          </a:ln>
        </p:spPr>
      </p:pic>
      <p:sp>
        <p:nvSpPr>
          <p:cNvPr id="132" name="Google Shape;132;p19"/>
          <p:cNvSpPr txBox="1"/>
          <p:nvPr/>
        </p:nvSpPr>
        <p:spPr>
          <a:xfrm>
            <a:off x="1005425" y="3823750"/>
            <a:ext cx="3490500" cy="95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2"/>
                </a:solidFill>
                <a:latin typeface="Lato"/>
                <a:ea typeface="Lato"/>
                <a:cs typeface="Lato"/>
                <a:sym typeface="Lato"/>
              </a:rPr>
              <a:t>CYCLICITY:</a:t>
            </a:r>
            <a:r>
              <a:rPr lang="en" sz="1200">
                <a:solidFill>
                  <a:schemeClr val="dk2"/>
                </a:solidFill>
                <a:latin typeface="Lato"/>
                <a:ea typeface="Lato"/>
                <a:cs typeface="Lato"/>
                <a:sym typeface="Lato"/>
              </a:rPr>
              <a:t> </a:t>
            </a:r>
            <a:r>
              <a:rPr lang="en" sz="1250">
                <a:solidFill>
                  <a:schemeClr val="dk2"/>
                </a:solidFill>
                <a:latin typeface="Lato"/>
                <a:ea typeface="Lato"/>
                <a:cs typeface="Lato"/>
                <a:sym typeface="Lato"/>
              </a:rPr>
              <a:t>Cyclicity, on the other hand, refers to the repeated patterns or fluctuations that occur in the data over an unspecified time interval</a:t>
            </a:r>
            <a:endParaRPr sz="1200">
              <a:solidFill>
                <a:schemeClr val="dk2"/>
              </a:solidFill>
              <a:latin typeface="Lato"/>
              <a:ea typeface="Lato"/>
              <a:cs typeface="Lato"/>
              <a:sym typeface="Lato"/>
            </a:endParaRPr>
          </a:p>
        </p:txBody>
      </p:sp>
      <p:sp>
        <p:nvSpPr>
          <p:cNvPr id="133" name="Google Shape;133;p19"/>
          <p:cNvSpPr txBox="1"/>
          <p:nvPr/>
        </p:nvSpPr>
        <p:spPr>
          <a:xfrm>
            <a:off x="5210925" y="3792000"/>
            <a:ext cx="3329100" cy="80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chemeClr val="dk2"/>
                </a:solidFill>
                <a:latin typeface="Lato"/>
                <a:ea typeface="Lato"/>
                <a:cs typeface="Lato"/>
                <a:sym typeface="Lato"/>
              </a:rPr>
              <a:t>IRREGULARITIES</a:t>
            </a:r>
            <a:r>
              <a:rPr lang="en" sz="1300">
                <a:solidFill>
                  <a:schemeClr val="dk2"/>
                </a:solidFill>
                <a:latin typeface="Lato"/>
                <a:ea typeface="Lato"/>
                <a:cs typeface="Lato"/>
                <a:sym typeface="Lato"/>
              </a:rPr>
              <a:t>: </a:t>
            </a:r>
            <a:r>
              <a:rPr lang="en" sz="1350">
                <a:solidFill>
                  <a:schemeClr val="dk2"/>
                </a:solidFill>
                <a:latin typeface="Lato"/>
                <a:ea typeface="Lato"/>
                <a:cs typeface="Lato"/>
                <a:sym typeface="Lato"/>
              </a:rPr>
              <a:t>Unexpected or unusual fluctuations in the data that do not follow the general pattern of the data. </a:t>
            </a:r>
            <a:endParaRPr sz="1300">
              <a:solidFill>
                <a:schemeClr val="dk2"/>
              </a:solidFill>
              <a:latin typeface="Lato"/>
              <a:ea typeface="Lato"/>
              <a:cs typeface="Lato"/>
              <a:sym typeface="Lato"/>
            </a:endParaRPr>
          </a:p>
        </p:txBody>
      </p:sp>
      <p:sp>
        <p:nvSpPr>
          <p:cNvPr id="134" name="Google Shape;134;p19"/>
          <p:cNvSpPr txBox="1"/>
          <p:nvPr/>
        </p:nvSpPr>
        <p:spPr>
          <a:xfrm>
            <a:off x="5713950" y="4911725"/>
            <a:ext cx="3735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rgbClr val="B7B7B7"/>
                </a:solidFill>
                <a:latin typeface="Lato"/>
                <a:ea typeface="Lato"/>
                <a:cs typeface="Lato"/>
                <a:sym typeface="Lato"/>
              </a:rPr>
              <a:t>Source: https://www.geeksforgeeks.org/components-of-time-series-data/</a:t>
            </a:r>
            <a:endParaRPr sz="800">
              <a:solidFill>
                <a:srgbClr val="B7B7B7"/>
              </a:solidFill>
              <a:latin typeface="Lato"/>
              <a:ea typeface="Lato"/>
              <a:cs typeface="Lato"/>
              <a:sym typeface="La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pic>
        <p:nvPicPr>
          <p:cNvPr id="139" name="Google Shape;139;p20"/>
          <p:cNvPicPr preferRelativeResize="0"/>
          <p:nvPr/>
        </p:nvPicPr>
        <p:blipFill>
          <a:blip r:embed="rId3">
            <a:alphaModFix/>
          </a:blip>
          <a:stretch>
            <a:fillRect/>
          </a:stretch>
        </p:blipFill>
        <p:spPr>
          <a:xfrm>
            <a:off x="4350792" y="1530350"/>
            <a:ext cx="4523333" cy="2362200"/>
          </a:xfrm>
          <a:prstGeom prst="rect">
            <a:avLst/>
          </a:prstGeom>
          <a:noFill/>
          <a:ln>
            <a:noFill/>
          </a:ln>
        </p:spPr>
      </p:pic>
      <p:sp>
        <p:nvSpPr>
          <p:cNvPr id="140" name="Google Shape;140;p20"/>
          <p:cNvSpPr txBox="1"/>
          <p:nvPr/>
        </p:nvSpPr>
        <p:spPr>
          <a:xfrm>
            <a:off x="910175" y="4122200"/>
            <a:ext cx="3376200" cy="79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300">
              <a:solidFill>
                <a:schemeClr val="accent1"/>
              </a:solidFill>
              <a:latin typeface="Lato"/>
              <a:ea typeface="Lato"/>
              <a:cs typeface="Lato"/>
              <a:sym typeface="Lato"/>
            </a:endParaRPr>
          </a:p>
        </p:txBody>
      </p:sp>
      <p:pic>
        <p:nvPicPr>
          <p:cNvPr id="141" name="Google Shape;141;p20"/>
          <p:cNvPicPr preferRelativeResize="0"/>
          <p:nvPr/>
        </p:nvPicPr>
        <p:blipFill>
          <a:blip r:embed="rId4">
            <a:alphaModFix/>
          </a:blip>
          <a:stretch>
            <a:fillRect/>
          </a:stretch>
        </p:blipFill>
        <p:spPr>
          <a:xfrm>
            <a:off x="814925" y="1530350"/>
            <a:ext cx="3376200" cy="2362200"/>
          </a:xfrm>
          <a:prstGeom prst="rect">
            <a:avLst/>
          </a:prstGeom>
          <a:noFill/>
          <a:ln>
            <a:noFill/>
          </a:ln>
        </p:spPr>
      </p:pic>
      <p:sp>
        <p:nvSpPr>
          <p:cNvPr id="142" name="Google Shape;142;p20"/>
          <p:cNvSpPr txBox="1"/>
          <p:nvPr/>
        </p:nvSpPr>
        <p:spPr>
          <a:xfrm>
            <a:off x="910175" y="3995200"/>
            <a:ext cx="3207000" cy="92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chemeClr val="dk2"/>
                </a:solidFill>
                <a:latin typeface="Lato"/>
                <a:ea typeface="Lato"/>
                <a:cs typeface="Lato"/>
                <a:sym typeface="Lato"/>
              </a:rPr>
              <a:t>AUTOCORRELATION</a:t>
            </a:r>
            <a:r>
              <a:rPr lang="en" sz="1300">
                <a:solidFill>
                  <a:schemeClr val="dk2"/>
                </a:solidFill>
                <a:latin typeface="Lato"/>
                <a:ea typeface="Lato"/>
                <a:cs typeface="Lato"/>
                <a:sym typeface="Lato"/>
              </a:rPr>
              <a:t>: </a:t>
            </a:r>
            <a:r>
              <a:rPr lang="en" sz="1350">
                <a:solidFill>
                  <a:schemeClr val="dk2"/>
                </a:solidFill>
                <a:latin typeface="Lato"/>
                <a:ea typeface="Lato"/>
                <a:cs typeface="Lato"/>
                <a:sym typeface="Lato"/>
              </a:rPr>
              <a:t>It measures how closely related the values in the time series are to each other at different time lags</a:t>
            </a:r>
            <a:endParaRPr sz="1300">
              <a:solidFill>
                <a:schemeClr val="dk2"/>
              </a:solidFill>
              <a:latin typeface="Lato"/>
              <a:ea typeface="Lato"/>
              <a:cs typeface="Lato"/>
              <a:sym typeface="Lato"/>
            </a:endParaRPr>
          </a:p>
        </p:txBody>
      </p:sp>
      <p:sp>
        <p:nvSpPr>
          <p:cNvPr id="143" name="Google Shape;143;p20"/>
          <p:cNvSpPr txBox="1"/>
          <p:nvPr/>
        </p:nvSpPr>
        <p:spPr>
          <a:xfrm>
            <a:off x="5012275" y="4014250"/>
            <a:ext cx="3376200" cy="79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chemeClr val="dk2"/>
                </a:solidFill>
                <a:latin typeface="Lato"/>
                <a:ea typeface="Lato"/>
                <a:cs typeface="Lato"/>
                <a:sym typeface="Lato"/>
              </a:rPr>
              <a:t>STATIONARITY:</a:t>
            </a:r>
            <a:r>
              <a:rPr lang="en" sz="1300">
                <a:solidFill>
                  <a:schemeClr val="dk2"/>
                </a:solidFill>
                <a:latin typeface="Lato"/>
                <a:ea typeface="Lato"/>
                <a:cs typeface="Lato"/>
                <a:sym typeface="Lato"/>
              </a:rPr>
              <a:t> </a:t>
            </a:r>
            <a:r>
              <a:rPr lang="en" sz="1350">
                <a:solidFill>
                  <a:schemeClr val="dk2"/>
                </a:solidFill>
                <a:latin typeface="Lato"/>
                <a:ea typeface="Lato"/>
                <a:cs typeface="Lato"/>
                <a:sym typeface="Lato"/>
              </a:rPr>
              <a:t>Property of a time series that describes when its statistical properties, like mean and variance, do not change over time.</a:t>
            </a:r>
            <a:endParaRPr sz="1300">
              <a:solidFill>
                <a:schemeClr val="dk2"/>
              </a:solidFill>
              <a:latin typeface="Lato"/>
              <a:ea typeface="Lato"/>
              <a:cs typeface="Lato"/>
              <a:sym typeface="La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1"/>
          <p:cNvSpPr txBox="1"/>
          <p:nvPr>
            <p:ph idx="1" type="body"/>
          </p:nvPr>
        </p:nvSpPr>
        <p:spPr>
          <a:xfrm>
            <a:off x="653250" y="1393075"/>
            <a:ext cx="6543300" cy="3446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chemeClr val="dk2"/>
                </a:solidFill>
              </a:rPr>
              <a:t>NOISE</a:t>
            </a:r>
            <a:r>
              <a:rPr lang="en">
                <a:solidFill>
                  <a:schemeClr val="dk2"/>
                </a:solidFill>
              </a:rPr>
              <a:t>: </a:t>
            </a:r>
            <a:r>
              <a:rPr lang="en">
                <a:solidFill>
                  <a:schemeClr val="dk2"/>
                </a:solidFill>
              </a:rPr>
              <a:t>Refers to random fluctuations or variations that are not due to an underlying pattern or trend. It is typically considered as any unpredictable and random variation in the data. The presence of noise can make it difficult to identify the underlying trend or pattern in the data, and therefore it is important to remove or reduce the noise before any further analysis.</a:t>
            </a:r>
            <a:endParaRPr>
              <a:solidFill>
                <a:schemeClr val="dk2"/>
              </a:solidFill>
            </a:endParaRPr>
          </a:p>
          <a:p>
            <a:pPr indent="0" lvl="0" marL="0" rtl="0" algn="l">
              <a:spcBef>
                <a:spcPts val="1200"/>
              </a:spcBef>
              <a:spcAft>
                <a:spcPts val="0"/>
              </a:spcAft>
              <a:buNone/>
            </a:pPr>
            <a:r>
              <a:t/>
            </a:r>
            <a:endParaRPr>
              <a:solidFill>
                <a:schemeClr val="dk2"/>
              </a:solidFill>
            </a:endParaRPr>
          </a:p>
          <a:p>
            <a:pPr indent="0" lvl="0" marL="0" rtl="0" algn="l">
              <a:spcBef>
                <a:spcPts val="1200"/>
              </a:spcBef>
              <a:spcAft>
                <a:spcPts val="1200"/>
              </a:spcAft>
              <a:buNone/>
            </a:pPr>
            <a:r>
              <a:t/>
            </a:r>
            <a:endParaRPr b="1">
              <a:solidFill>
                <a:schemeClr val="dk2"/>
              </a:solidFill>
            </a:endParaRPr>
          </a:p>
        </p:txBody>
      </p:sp>
      <p:pic>
        <p:nvPicPr>
          <p:cNvPr id="149" name="Google Shape;149;p21"/>
          <p:cNvPicPr preferRelativeResize="0"/>
          <p:nvPr/>
        </p:nvPicPr>
        <p:blipFill>
          <a:blip r:embed="rId3">
            <a:alphaModFix/>
          </a:blip>
          <a:stretch>
            <a:fillRect/>
          </a:stretch>
        </p:blipFill>
        <p:spPr>
          <a:xfrm>
            <a:off x="5752050" y="2765225"/>
            <a:ext cx="2885325" cy="2182500"/>
          </a:xfrm>
          <a:prstGeom prst="rect">
            <a:avLst/>
          </a:prstGeom>
          <a:noFill/>
          <a:ln>
            <a:noFill/>
          </a:ln>
        </p:spPr>
      </p:pic>
      <p:sp>
        <p:nvSpPr>
          <p:cNvPr id="150" name="Google Shape;150;p21"/>
          <p:cNvSpPr txBox="1"/>
          <p:nvPr/>
        </p:nvSpPr>
        <p:spPr>
          <a:xfrm>
            <a:off x="1519775" y="3020475"/>
            <a:ext cx="4349700" cy="1841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300">
                <a:solidFill>
                  <a:schemeClr val="dk2"/>
                </a:solidFill>
                <a:latin typeface="Lato"/>
                <a:ea typeface="Lato"/>
                <a:cs typeface="Lato"/>
                <a:sym typeface="Lato"/>
              </a:rPr>
              <a:t>OUTLIERS</a:t>
            </a:r>
            <a:r>
              <a:rPr lang="en" sz="1300">
                <a:solidFill>
                  <a:schemeClr val="dk2"/>
                </a:solidFill>
                <a:latin typeface="Lato"/>
                <a:ea typeface="Lato"/>
                <a:cs typeface="Lato"/>
                <a:sym typeface="Lato"/>
              </a:rPr>
              <a:t>: Outliers in time series data are data points that are significantly different from the rest of the data points in the series. These can be due to various reasons such as measurement errors, extreme events, or changes in underlying data-generating processes. </a:t>
            </a:r>
            <a:endParaRPr sz="1300">
              <a:solidFill>
                <a:schemeClr val="dk2"/>
              </a:solidFill>
              <a:latin typeface="Lato"/>
              <a:ea typeface="Lato"/>
              <a:cs typeface="Lato"/>
              <a:sym typeface="Lato"/>
            </a:endParaRPr>
          </a:p>
          <a:p>
            <a:pPr indent="0" lvl="0" marL="0" rtl="0" algn="l">
              <a:spcBef>
                <a:spcPts val="1200"/>
              </a:spcBef>
              <a:spcAft>
                <a:spcPts val="0"/>
              </a:spcAft>
              <a:buNone/>
            </a:pPr>
            <a:r>
              <a:t/>
            </a:r>
            <a:endParaRPr sz="1300">
              <a:solidFill>
                <a:schemeClr val="accent1"/>
              </a:solidFill>
              <a:latin typeface="Lato"/>
              <a:ea typeface="Lato"/>
              <a:cs typeface="Lato"/>
              <a:sym typeface="La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2"/>
          <p:cNvSpPr txBox="1"/>
          <p:nvPr>
            <p:ph type="title"/>
          </p:nvPr>
        </p:nvSpPr>
        <p:spPr>
          <a:xfrm>
            <a:off x="729450" y="6328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FINANCIAL TIME SERIES</a:t>
            </a:r>
            <a:endParaRPr/>
          </a:p>
        </p:txBody>
      </p:sp>
      <p:sp>
        <p:nvSpPr>
          <p:cNvPr id="156" name="Google Shape;156;p22"/>
          <p:cNvSpPr txBox="1"/>
          <p:nvPr>
            <p:ph idx="1" type="body"/>
          </p:nvPr>
        </p:nvSpPr>
        <p:spPr>
          <a:xfrm>
            <a:off x="729450" y="1396650"/>
            <a:ext cx="7688700" cy="912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chemeClr val="dk2"/>
                </a:solidFill>
              </a:rPr>
              <a:t>A financial time series is a sequence of financial data points, like stock prices, interest rates, or exchange rates, recorded at regular time intervals. It shows how these values change over time, helping investors and analysts track and predict market trends.</a:t>
            </a:r>
            <a:endParaRPr>
              <a:solidFill>
                <a:schemeClr val="dk2"/>
              </a:solidFill>
            </a:endParaRPr>
          </a:p>
        </p:txBody>
      </p:sp>
      <p:pic>
        <p:nvPicPr>
          <p:cNvPr id="157" name="Google Shape;157;p22"/>
          <p:cNvPicPr preferRelativeResize="0"/>
          <p:nvPr/>
        </p:nvPicPr>
        <p:blipFill>
          <a:blip r:embed="rId3">
            <a:alphaModFix/>
          </a:blip>
          <a:stretch>
            <a:fillRect/>
          </a:stretch>
        </p:blipFill>
        <p:spPr>
          <a:xfrm>
            <a:off x="2871175" y="2309250"/>
            <a:ext cx="3683049" cy="2529451"/>
          </a:xfrm>
          <a:prstGeom prst="rect">
            <a:avLst/>
          </a:prstGeom>
          <a:noFill/>
          <a:ln>
            <a:noFill/>
          </a:ln>
        </p:spPr>
      </p:pic>
      <p:sp>
        <p:nvSpPr>
          <p:cNvPr id="158" name="Google Shape;158;p22"/>
          <p:cNvSpPr txBox="1"/>
          <p:nvPr/>
        </p:nvSpPr>
        <p:spPr>
          <a:xfrm>
            <a:off x="3415225" y="4827575"/>
            <a:ext cx="3683100" cy="15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800">
                <a:solidFill>
                  <a:srgbClr val="999999"/>
                </a:solidFill>
                <a:latin typeface="Lato"/>
                <a:ea typeface="Lato"/>
                <a:cs typeface="Lato"/>
                <a:sym typeface="Lato"/>
              </a:rPr>
              <a:t>Source: Yahoo finance - NIFTY 50 Chart</a:t>
            </a:r>
            <a:endParaRPr i="1" sz="800">
              <a:solidFill>
                <a:srgbClr val="999999"/>
              </a:solidFill>
              <a:latin typeface="Lato"/>
              <a:ea typeface="Lato"/>
              <a:cs typeface="Lato"/>
              <a:sym typeface="La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3"/>
          <p:cNvSpPr txBox="1"/>
          <p:nvPr>
            <p:ph type="title"/>
          </p:nvPr>
        </p:nvSpPr>
        <p:spPr>
          <a:xfrm>
            <a:off x="729450" y="6328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FINANCIAL TIME SERIES FORECASTING</a:t>
            </a:r>
            <a:endParaRPr/>
          </a:p>
        </p:txBody>
      </p:sp>
      <p:sp>
        <p:nvSpPr>
          <p:cNvPr id="164" name="Google Shape;164;p23"/>
          <p:cNvSpPr txBox="1"/>
          <p:nvPr>
            <p:ph idx="1" type="body"/>
          </p:nvPr>
        </p:nvSpPr>
        <p:spPr>
          <a:xfrm>
            <a:off x="729450" y="1316875"/>
            <a:ext cx="79368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200">
                <a:solidFill>
                  <a:schemeClr val="dk2"/>
                </a:solidFill>
              </a:rPr>
              <a:t>Financial time series forecasting is the process of predicting future financial data, such as stock prices or interest rates, based on past data patterns. It helps investors and analysts make informed decisions by estimating how these values might change over time.</a:t>
            </a:r>
            <a:endParaRPr sz="1200">
              <a:solidFill>
                <a:schemeClr val="dk2"/>
              </a:solidFill>
            </a:endParaRPr>
          </a:p>
          <a:p>
            <a:pPr indent="0" lvl="0" marL="0" rtl="0" algn="l">
              <a:spcBef>
                <a:spcPts val="1200"/>
              </a:spcBef>
              <a:spcAft>
                <a:spcPts val="1200"/>
              </a:spcAft>
              <a:buNone/>
            </a:pPr>
            <a:r>
              <a:rPr lang="en" sz="1200">
                <a:solidFill>
                  <a:schemeClr val="dk2"/>
                </a:solidFill>
              </a:rPr>
              <a:t>Research in this field started almost 40 years back and since then there have been multiple advancements in this field.</a:t>
            </a:r>
            <a:endParaRPr sz="1200">
              <a:solidFill>
                <a:schemeClr val="dk2"/>
              </a:solidFill>
            </a:endParaRPr>
          </a:p>
        </p:txBody>
      </p:sp>
      <p:pic>
        <p:nvPicPr>
          <p:cNvPr id="165" name="Google Shape;165;p23"/>
          <p:cNvPicPr preferRelativeResize="0"/>
          <p:nvPr/>
        </p:nvPicPr>
        <p:blipFill>
          <a:blip r:embed="rId3">
            <a:alphaModFix/>
          </a:blip>
          <a:stretch>
            <a:fillRect/>
          </a:stretch>
        </p:blipFill>
        <p:spPr>
          <a:xfrm>
            <a:off x="2517498" y="2696825"/>
            <a:ext cx="4360715" cy="22611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4"/>
          <p:cNvSpPr txBox="1"/>
          <p:nvPr>
            <p:ph idx="1" type="body"/>
          </p:nvPr>
        </p:nvSpPr>
        <p:spPr>
          <a:xfrm>
            <a:off x="496350" y="2467551"/>
            <a:ext cx="7697400" cy="460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4600">
                <a:solidFill>
                  <a:schemeClr val="dk2"/>
                </a:solidFill>
                <a:latin typeface="Raleway Black"/>
                <a:ea typeface="Raleway Black"/>
                <a:cs typeface="Raleway Black"/>
                <a:sym typeface="Raleway Black"/>
              </a:rPr>
              <a:t>ABSTRACT</a:t>
            </a:r>
            <a:endParaRPr sz="4600">
              <a:solidFill>
                <a:schemeClr val="dk2"/>
              </a:solidFill>
              <a:latin typeface="Raleway Black"/>
              <a:ea typeface="Raleway Black"/>
              <a:cs typeface="Raleway Black"/>
              <a:sym typeface="Raleway Black"/>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5"/>
          <p:cNvSpPr txBox="1"/>
          <p:nvPr>
            <p:ph idx="1" type="body"/>
          </p:nvPr>
        </p:nvSpPr>
        <p:spPr>
          <a:xfrm>
            <a:off x="729450" y="1396650"/>
            <a:ext cx="7282200" cy="36303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solidFill>
                  <a:schemeClr val="dk2"/>
                </a:solidFill>
              </a:rPr>
              <a:t>Financial time series forecasting is undoubtedly the top choice of computational intelligence for finance researchers in both academia and the finance industry due to its broad implementation areas and substantial impact. Machine Learning (ML) researchers have created various models, and a vast number of studies have been published accordingly. As such, a significant number of surveys exist covering ML studies on financial time series forecasting. </a:t>
            </a:r>
            <a:endParaRPr>
              <a:solidFill>
                <a:schemeClr val="dk2"/>
              </a:solidFill>
            </a:endParaRPr>
          </a:p>
          <a:p>
            <a:pPr indent="0" lvl="0" marL="0" rtl="0" algn="l">
              <a:spcBef>
                <a:spcPts val="1200"/>
              </a:spcBef>
              <a:spcAft>
                <a:spcPts val="0"/>
              </a:spcAft>
              <a:buNone/>
            </a:pPr>
            <a:r>
              <a:rPr lang="en">
                <a:solidFill>
                  <a:schemeClr val="dk2"/>
                </a:solidFill>
              </a:rPr>
              <a:t>Lately, Deep Learning (DL) models have appeared within the field, with results that significantly outperform their traditional ML counterparts. Even though there is a growing interest in developing models for financial time series forecasting, there is a lack of review papers that solely focus on DL for finance. Hence, the motivation of this research  is to provide a comprehensive literature review of DL studies on financial time series forecasting implementation. We try to envision the future of the field by highlighting its possible setbacks and opportunities for the benefit of interested researchers. We aim to choose the best algorithm for overcoming existing ambiguities in the chosen dataset and aligning with the future objectives outlined in prior studies.</a:t>
            </a:r>
            <a:endParaRPr>
              <a:solidFill>
                <a:schemeClr val="dk2"/>
              </a:solidFill>
            </a:endParaRPr>
          </a:p>
          <a:p>
            <a:pPr indent="0" lvl="0" marL="0" rtl="0" algn="l">
              <a:spcBef>
                <a:spcPts val="1200"/>
              </a:spcBef>
              <a:spcAft>
                <a:spcPts val="1200"/>
              </a:spcAft>
              <a:buNone/>
            </a:pPr>
            <a:r>
              <a:rPr lang="en">
                <a:solidFill>
                  <a:schemeClr val="dk2"/>
                </a:solidFill>
              </a:rPr>
              <a:t>.</a:t>
            </a:r>
            <a:endParaRPr>
              <a:solidFill>
                <a:schemeClr val="dk2"/>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6"/>
          <p:cNvSpPr txBox="1"/>
          <p:nvPr>
            <p:ph idx="1" type="body"/>
          </p:nvPr>
        </p:nvSpPr>
        <p:spPr>
          <a:xfrm>
            <a:off x="496350" y="2467551"/>
            <a:ext cx="7697400" cy="460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4600">
                <a:solidFill>
                  <a:schemeClr val="dk2"/>
                </a:solidFill>
                <a:latin typeface="Raleway Black"/>
                <a:ea typeface="Raleway Black"/>
                <a:cs typeface="Raleway Black"/>
                <a:sym typeface="Raleway Black"/>
              </a:rPr>
              <a:t>REVIEW OF </a:t>
            </a:r>
            <a:endParaRPr sz="4600">
              <a:solidFill>
                <a:schemeClr val="dk2"/>
              </a:solidFill>
              <a:latin typeface="Raleway Black"/>
              <a:ea typeface="Raleway Black"/>
              <a:cs typeface="Raleway Black"/>
              <a:sym typeface="Raleway Black"/>
            </a:endParaRPr>
          </a:p>
          <a:p>
            <a:pPr indent="0" lvl="0" marL="0" rtl="0" algn="l">
              <a:spcBef>
                <a:spcPts val="0"/>
              </a:spcBef>
              <a:spcAft>
                <a:spcPts val="0"/>
              </a:spcAft>
              <a:buNone/>
            </a:pPr>
            <a:r>
              <a:rPr lang="en" sz="4600">
                <a:solidFill>
                  <a:schemeClr val="dk2"/>
                </a:solidFill>
                <a:latin typeface="Raleway Black"/>
                <a:ea typeface="Raleway Black"/>
                <a:cs typeface="Raleway Black"/>
                <a:sym typeface="Raleway Black"/>
              </a:rPr>
              <a:t>LITERATURE SURVEY</a:t>
            </a:r>
            <a:endParaRPr sz="4600">
              <a:solidFill>
                <a:schemeClr val="dk2"/>
              </a:solidFill>
              <a:latin typeface="Raleway Black"/>
              <a:ea typeface="Raleway Black"/>
              <a:cs typeface="Raleway Black"/>
              <a:sym typeface="Raleway Black"/>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7"/>
          <p:cNvSpPr txBox="1"/>
          <p:nvPr>
            <p:ph type="title"/>
          </p:nvPr>
        </p:nvSpPr>
        <p:spPr>
          <a:xfrm>
            <a:off x="729450" y="251850"/>
            <a:ext cx="8063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0" lang="en" sz="2200">
                <a:solidFill>
                  <a:srgbClr val="000000"/>
                </a:solidFill>
                <a:highlight>
                  <a:srgbClr val="FFFFFF"/>
                </a:highlight>
                <a:latin typeface="Raleway ExtraBold"/>
                <a:ea typeface="Raleway ExtraBold"/>
                <a:cs typeface="Raleway ExtraBold"/>
                <a:sym typeface="Raleway ExtraBold"/>
              </a:rPr>
              <a:t>Financial time series forecasting with deep learning : </a:t>
            </a:r>
            <a:endParaRPr b="0" sz="2200">
              <a:solidFill>
                <a:srgbClr val="000000"/>
              </a:solidFill>
              <a:highlight>
                <a:srgbClr val="FFFFFF"/>
              </a:highlight>
              <a:latin typeface="Raleway ExtraBold"/>
              <a:ea typeface="Raleway ExtraBold"/>
              <a:cs typeface="Raleway ExtraBold"/>
              <a:sym typeface="Raleway ExtraBold"/>
            </a:endParaRPr>
          </a:p>
          <a:p>
            <a:pPr indent="0" lvl="0" marL="0" rtl="0" algn="l">
              <a:spcBef>
                <a:spcPts val="0"/>
              </a:spcBef>
              <a:spcAft>
                <a:spcPts val="0"/>
              </a:spcAft>
              <a:buNone/>
            </a:pPr>
            <a:r>
              <a:rPr b="0" lang="en" sz="2200">
                <a:solidFill>
                  <a:srgbClr val="000000"/>
                </a:solidFill>
                <a:highlight>
                  <a:srgbClr val="FFFFFF"/>
                </a:highlight>
                <a:latin typeface="Raleway ExtraBold"/>
                <a:ea typeface="Raleway ExtraBold"/>
                <a:cs typeface="Raleway ExtraBold"/>
                <a:sym typeface="Raleway ExtraBold"/>
              </a:rPr>
              <a:t>A systematic literature review: 2005–2019</a:t>
            </a:r>
            <a:endParaRPr b="0" sz="2200">
              <a:latin typeface="Raleway ExtraBold"/>
              <a:ea typeface="Raleway ExtraBold"/>
              <a:cs typeface="Raleway ExtraBold"/>
              <a:sym typeface="Raleway ExtraBold"/>
            </a:endParaRPr>
          </a:p>
        </p:txBody>
      </p:sp>
      <p:sp>
        <p:nvSpPr>
          <p:cNvPr id="186" name="Google Shape;186;p27"/>
          <p:cNvSpPr txBox="1"/>
          <p:nvPr>
            <p:ph idx="1" type="body"/>
          </p:nvPr>
        </p:nvSpPr>
        <p:spPr>
          <a:xfrm>
            <a:off x="729450" y="1469275"/>
            <a:ext cx="8063700" cy="3501300"/>
          </a:xfrm>
          <a:prstGeom prst="rect">
            <a:avLst/>
          </a:prstGeom>
        </p:spPr>
        <p:txBody>
          <a:bodyPr anchorCtr="0" anchor="t" bIns="91425" lIns="91425" spcFirstLastPara="1" rIns="91425" wrap="square" tIns="91425">
            <a:normAutofit lnSpcReduction="20000"/>
          </a:bodyPr>
          <a:lstStyle/>
          <a:p>
            <a:pPr indent="-311150" lvl="0" marL="457200" rtl="0" algn="l">
              <a:lnSpc>
                <a:spcPct val="150000"/>
              </a:lnSpc>
              <a:spcBef>
                <a:spcPts val="0"/>
              </a:spcBef>
              <a:spcAft>
                <a:spcPts val="0"/>
              </a:spcAft>
              <a:buClr>
                <a:schemeClr val="dk2"/>
              </a:buClr>
              <a:buSzPts val="1300"/>
              <a:buChar char="●"/>
            </a:pPr>
            <a:r>
              <a:rPr lang="en">
                <a:solidFill>
                  <a:schemeClr val="dk2"/>
                </a:solidFill>
              </a:rPr>
              <a:t>This paper focuses on providing a comprehensive literature review of deep learning (DL) models used for financial time series forecasting. </a:t>
            </a:r>
            <a:endParaRPr>
              <a:solidFill>
                <a:schemeClr val="dk2"/>
              </a:solidFill>
            </a:endParaRPr>
          </a:p>
          <a:p>
            <a:pPr indent="-311150" lvl="0" marL="457200" rtl="0" algn="l">
              <a:lnSpc>
                <a:spcPct val="150000"/>
              </a:lnSpc>
              <a:spcBef>
                <a:spcPts val="0"/>
              </a:spcBef>
              <a:spcAft>
                <a:spcPts val="0"/>
              </a:spcAft>
              <a:buClr>
                <a:schemeClr val="dk2"/>
              </a:buClr>
              <a:buSzPts val="1300"/>
              <a:buChar char="●"/>
            </a:pPr>
            <a:r>
              <a:rPr lang="en">
                <a:solidFill>
                  <a:schemeClr val="dk2"/>
                </a:solidFill>
              </a:rPr>
              <a:t>It categorizes existing studies based on their application areas (e.g., index, forex, and commodity forecasting) and the DL models employed, such as CNNs, DBNs, and LSTMs. </a:t>
            </a:r>
            <a:endParaRPr>
              <a:solidFill>
                <a:schemeClr val="dk2"/>
              </a:solidFill>
            </a:endParaRPr>
          </a:p>
          <a:p>
            <a:pPr indent="-311150" lvl="0" marL="457200" rtl="0" algn="l">
              <a:lnSpc>
                <a:spcPct val="150000"/>
              </a:lnSpc>
              <a:spcBef>
                <a:spcPts val="0"/>
              </a:spcBef>
              <a:spcAft>
                <a:spcPts val="0"/>
              </a:spcAft>
              <a:buClr>
                <a:schemeClr val="dk2"/>
              </a:buClr>
              <a:buSzPts val="1300"/>
              <a:buChar char="●"/>
            </a:pPr>
            <a:r>
              <a:rPr lang="en">
                <a:solidFill>
                  <a:schemeClr val="dk2"/>
                </a:solidFill>
              </a:rPr>
              <a:t>The paper addresses the gap in review articles specific to DL in finance and discusses future challenges and opportunities in the field.</a:t>
            </a:r>
            <a:endParaRPr>
              <a:solidFill>
                <a:schemeClr val="dk2"/>
              </a:solidFill>
            </a:endParaRPr>
          </a:p>
          <a:p>
            <a:pPr indent="-311150" lvl="0" marL="457200" rtl="0" algn="l">
              <a:lnSpc>
                <a:spcPct val="150000"/>
              </a:lnSpc>
              <a:spcBef>
                <a:spcPts val="0"/>
              </a:spcBef>
              <a:spcAft>
                <a:spcPts val="0"/>
              </a:spcAft>
              <a:buClr>
                <a:schemeClr val="dk2"/>
              </a:buClr>
              <a:buSzPts val="1300"/>
              <a:buChar char="●"/>
            </a:pPr>
            <a:r>
              <a:rPr lang="en">
                <a:solidFill>
                  <a:schemeClr val="dk2"/>
                </a:solidFill>
              </a:rPr>
              <a:t>The paper reviewed  </a:t>
            </a:r>
            <a:r>
              <a:rPr b="1" lang="en">
                <a:solidFill>
                  <a:schemeClr val="dk2"/>
                </a:solidFill>
              </a:rPr>
              <a:t>200 studies</a:t>
            </a:r>
            <a:r>
              <a:rPr lang="en">
                <a:solidFill>
                  <a:schemeClr val="dk2"/>
                </a:solidFill>
              </a:rPr>
              <a:t> on financial time series forecasting using deep learning models. </a:t>
            </a:r>
            <a:endParaRPr>
              <a:solidFill>
                <a:schemeClr val="dk2"/>
              </a:solidFill>
            </a:endParaRPr>
          </a:p>
          <a:p>
            <a:pPr indent="-311150" lvl="0" marL="457200" rtl="0" algn="l">
              <a:lnSpc>
                <a:spcPct val="150000"/>
              </a:lnSpc>
              <a:spcBef>
                <a:spcPts val="0"/>
              </a:spcBef>
              <a:spcAft>
                <a:spcPts val="0"/>
              </a:spcAft>
              <a:buClr>
                <a:schemeClr val="dk2"/>
              </a:buClr>
              <a:buSzPts val="1300"/>
              <a:buChar char="●"/>
            </a:pPr>
            <a:r>
              <a:rPr lang="en">
                <a:solidFill>
                  <a:schemeClr val="dk2"/>
                </a:solidFill>
              </a:rPr>
              <a:t>These studies span a wide variety of datasets, including indices like the S&amp;P 500, Chinese stock markets, and other financial assets such as stocks, forex, and commodities.</a:t>
            </a:r>
            <a:endParaRPr>
              <a:solidFill>
                <a:schemeClr val="dk2"/>
              </a:solidFill>
            </a:endParaRPr>
          </a:p>
          <a:p>
            <a:pPr indent="-311150" lvl="0" marL="457200" rtl="0" algn="l">
              <a:lnSpc>
                <a:spcPct val="150000"/>
              </a:lnSpc>
              <a:spcBef>
                <a:spcPts val="0"/>
              </a:spcBef>
              <a:spcAft>
                <a:spcPts val="0"/>
              </a:spcAft>
              <a:buClr>
                <a:schemeClr val="dk2"/>
              </a:buClr>
              <a:buSzPts val="1300"/>
              <a:buChar char="●"/>
            </a:pPr>
            <a:r>
              <a:rPr lang="en">
                <a:solidFill>
                  <a:schemeClr val="dk2"/>
                </a:solidFill>
              </a:rPr>
              <a:t>DL models have outperformed their traditional ML counterparts.</a:t>
            </a:r>
            <a:endParaRPr>
              <a:solidFill>
                <a:schemeClr val="dk2"/>
              </a:solidFill>
            </a:endParaRPr>
          </a:p>
          <a:p>
            <a:pPr indent="-311150" lvl="0" marL="457200" rtl="0" algn="l">
              <a:lnSpc>
                <a:spcPct val="150000"/>
              </a:lnSpc>
              <a:spcBef>
                <a:spcPts val="0"/>
              </a:spcBef>
              <a:spcAft>
                <a:spcPts val="0"/>
              </a:spcAft>
              <a:buClr>
                <a:schemeClr val="dk2"/>
              </a:buClr>
              <a:buSzPts val="1300"/>
              <a:buChar char="●"/>
            </a:pPr>
            <a:r>
              <a:rPr lang="en">
                <a:solidFill>
                  <a:schemeClr val="dk2"/>
                </a:solidFill>
              </a:rPr>
              <a:t>Lack of review papers that solely focus on DL for finance</a:t>
            </a:r>
            <a:endParaRPr>
              <a:solidFill>
                <a:schemeClr val="dk2"/>
              </a:solidFill>
            </a:endParaRPr>
          </a:p>
          <a:p>
            <a:pPr indent="0" lvl="0" marL="0" rtl="0" algn="l">
              <a:spcBef>
                <a:spcPts val="1200"/>
              </a:spcBef>
              <a:spcAft>
                <a:spcPts val="120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pic>
        <p:nvPicPr>
          <p:cNvPr id="191" name="Google Shape;191;p28"/>
          <p:cNvPicPr preferRelativeResize="0"/>
          <p:nvPr/>
        </p:nvPicPr>
        <p:blipFill>
          <a:blip r:embed="rId3">
            <a:alphaModFix/>
          </a:blip>
          <a:stretch>
            <a:fillRect/>
          </a:stretch>
        </p:blipFill>
        <p:spPr>
          <a:xfrm>
            <a:off x="201675" y="1207024"/>
            <a:ext cx="4091151" cy="2526606"/>
          </a:xfrm>
          <a:prstGeom prst="rect">
            <a:avLst/>
          </a:prstGeom>
          <a:noFill/>
          <a:ln>
            <a:noFill/>
          </a:ln>
        </p:spPr>
      </p:pic>
      <p:pic>
        <p:nvPicPr>
          <p:cNvPr id="192" name="Google Shape;192;p28"/>
          <p:cNvPicPr preferRelativeResize="0"/>
          <p:nvPr/>
        </p:nvPicPr>
        <p:blipFill>
          <a:blip r:embed="rId4">
            <a:alphaModFix/>
          </a:blip>
          <a:stretch>
            <a:fillRect/>
          </a:stretch>
        </p:blipFill>
        <p:spPr>
          <a:xfrm>
            <a:off x="4572000" y="873225"/>
            <a:ext cx="3960876" cy="2860400"/>
          </a:xfrm>
          <a:prstGeom prst="rect">
            <a:avLst/>
          </a:prstGeom>
          <a:noFill/>
          <a:ln>
            <a:noFill/>
          </a:ln>
        </p:spPr>
      </p:pic>
      <p:sp>
        <p:nvSpPr>
          <p:cNvPr id="193" name="Google Shape;193;p28"/>
          <p:cNvSpPr txBox="1"/>
          <p:nvPr/>
        </p:nvSpPr>
        <p:spPr>
          <a:xfrm>
            <a:off x="4961750" y="4831900"/>
            <a:ext cx="4877700" cy="22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999999"/>
                </a:solidFill>
                <a:latin typeface="Lato"/>
                <a:ea typeface="Lato"/>
                <a:cs typeface="Lato"/>
                <a:sym typeface="Lato"/>
              </a:rPr>
              <a:t>Source: https://www.sciencedirect.com/science/article/pii/S1568494620301216</a:t>
            </a:r>
            <a:endParaRPr sz="900">
              <a:solidFill>
                <a:srgbClr val="999999"/>
              </a:solidFill>
              <a:latin typeface="Lato"/>
              <a:ea typeface="Lato"/>
              <a:cs typeface="Lato"/>
              <a:sym typeface="La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pic>
        <p:nvPicPr>
          <p:cNvPr id="198" name="Google Shape;198;p29"/>
          <p:cNvPicPr preferRelativeResize="0"/>
          <p:nvPr/>
        </p:nvPicPr>
        <p:blipFill rotWithShape="1">
          <a:blip r:embed="rId3">
            <a:alphaModFix/>
          </a:blip>
          <a:srcRect b="6655" l="0" r="0" t="0"/>
          <a:stretch/>
        </p:blipFill>
        <p:spPr>
          <a:xfrm>
            <a:off x="152400" y="1072050"/>
            <a:ext cx="4419601" cy="3389375"/>
          </a:xfrm>
          <a:prstGeom prst="rect">
            <a:avLst/>
          </a:prstGeom>
          <a:noFill/>
          <a:ln>
            <a:noFill/>
          </a:ln>
        </p:spPr>
      </p:pic>
      <p:pic>
        <p:nvPicPr>
          <p:cNvPr id="199" name="Google Shape;199;p29"/>
          <p:cNvPicPr preferRelativeResize="0"/>
          <p:nvPr/>
        </p:nvPicPr>
        <p:blipFill>
          <a:blip r:embed="rId4">
            <a:alphaModFix/>
          </a:blip>
          <a:stretch>
            <a:fillRect/>
          </a:stretch>
        </p:blipFill>
        <p:spPr>
          <a:xfrm>
            <a:off x="4675151" y="1639550"/>
            <a:ext cx="4267199" cy="2254369"/>
          </a:xfrm>
          <a:prstGeom prst="rect">
            <a:avLst/>
          </a:prstGeom>
          <a:noFill/>
          <a:ln>
            <a:noFill/>
          </a:ln>
        </p:spPr>
      </p:pic>
      <p:sp>
        <p:nvSpPr>
          <p:cNvPr id="200" name="Google Shape;200;p29"/>
          <p:cNvSpPr txBox="1"/>
          <p:nvPr/>
        </p:nvSpPr>
        <p:spPr>
          <a:xfrm>
            <a:off x="4765125" y="4800600"/>
            <a:ext cx="59010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rgbClr val="999999"/>
                </a:solidFill>
                <a:latin typeface="Lato"/>
                <a:ea typeface="Lato"/>
                <a:cs typeface="Lato"/>
                <a:sym typeface="Lato"/>
              </a:rPr>
              <a:t>Source: https://www.sciencedirect.com/science/article/pii/S1568494620301216</a:t>
            </a:r>
            <a:endParaRPr sz="9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0"/>
          <p:cNvSpPr txBox="1"/>
          <p:nvPr>
            <p:ph idx="1" type="body"/>
          </p:nvPr>
        </p:nvSpPr>
        <p:spPr>
          <a:xfrm>
            <a:off x="645950" y="1324750"/>
            <a:ext cx="8129100" cy="38187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sz="1250"/>
              <a:t>The paper concludes that:</a:t>
            </a:r>
            <a:endParaRPr sz="1250"/>
          </a:p>
          <a:p>
            <a:pPr indent="0" lvl="0" marL="0" rtl="0" algn="l">
              <a:spcBef>
                <a:spcPts val="1200"/>
              </a:spcBef>
              <a:spcAft>
                <a:spcPts val="0"/>
              </a:spcAft>
              <a:buNone/>
            </a:pPr>
            <a:r>
              <a:rPr lang="en" sz="1250">
                <a:solidFill>
                  <a:srgbClr val="000000"/>
                </a:solidFill>
              </a:rPr>
              <a:t>- Stock/index forecasting has always had the most interest among all asset groups.</a:t>
            </a:r>
            <a:endParaRPr sz="1250">
              <a:solidFill>
                <a:srgbClr val="000000"/>
              </a:solidFill>
            </a:endParaRPr>
          </a:p>
          <a:p>
            <a:pPr indent="0" lvl="0" marL="0" rtl="0" algn="l">
              <a:spcBef>
                <a:spcPts val="0"/>
              </a:spcBef>
              <a:spcAft>
                <a:spcPts val="0"/>
              </a:spcAft>
              <a:buNone/>
            </a:pPr>
            <a:r>
              <a:rPr lang="en" sz="1250">
                <a:solidFill>
                  <a:srgbClr val="000000"/>
                </a:solidFill>
              </a:rPr>
              <a:t>- Financial time series forecasting research on cryptocurrencies is a hot topic</a:t>
            </a:r>
            <a:endParaRPr sz="1250">
              <a:solidFill>
                <a:srgbClr val="000000"/>
              </a:solidFill>
            </a:endParaRPr>
          </a:p>
          <a:p>
            <a:pPr indent="0" lvl="0" marL="0" rtl="0" algn="l">
              <a:spcBef>
                <a:spcPts val="0"/>
              </a:spcBef>
              <a:spcAft>
                <a:spcPts val="0"/>
              </a:spcAft>
              <a:buNone/>
            </a:pPr>
            <a:r>
              <a:rPr lang="en" sz="1250">
                <a:solidFill>
                  <a:srgbClr val="000000"/>
                </a:solidFill>
              </a:rPr>
              <a:t>- Because this topic is relatively new, we might see more studies and implementations in the near future due to high expectations and promising rewards</a:t>
            </a:r>
            <a:endParaRPr sz="1250">
              <a:solidFill>
                <a:srgbClr val="000000"/>
              </a:solidFill>
            </a:endParaRPr>
          </a:p>
          <a:p>
            <a:pPr indent="0" lvl="0" marL="0" rtl="0" algn="l">
              <a:spcBef>
                <a:spcPts val="0"/>
              </a:spcBef>
              <a:spcAft>
                <a:spcPts val="0"/>
              </a:spcAft>
              <a:buNone/>
            </a:pPr>
            <a:r>
              <a:rPr lang="en" sz="1250">
                <a:solidFill>
                  <a:srgbClr val="000000"/>
                </a:solidFill>
              </a:rPr>
              <a:t>- Oil price prediction is crucial due to its tremendous effect on world economic activities and planning.</a:t>
            </a:r>
            <a:endParaRPr sz="1250">
              <a:solidFill>
                <a:srgbClr val="000000"/>
              </a:solidFill>
            </a:endParaRPr>
          </a:p>
          <a:p>
            <a:pPr indent="0" lvl="0" marL="0" rtl="0" algn="l">
              <a:spcBef>
                <a:spcPts val="0"/>
              </a:spcBef>
              <a:spcAft>
                <a:spcPts val="0"/>
              </a:spcAft>
              <a:buNone/>
            </a:pPr>
            <a:r>
              <a:rPr lang="en" sz="1250">
                <a:solidFill>
                  <a:srgbClr val="000000"/>
                </a:solidFill>
              </a:rPr>
              <a:t>- Meanwhile, gold is considered a safe investment and almost every investor, at one time, considers allocating some portion of their portfolio for gold-related investments. In times of political uncertainty, many people turn to gold to protect their savings. Although we did not encounter a noteworthy study for gold price forecasting, due to its historical importance, there might be opportunities in this area in years to come.</a:t>
            </a:r>
            <a:endParaRPr sz="1250">
              <a:solidFill>
                <a:srgbClr val="000000"/>
              </a:solidFill>
            </a:endParaRPr>
          </a:p>
          <a:p>
            <a:pPr indent="0" lvl="0" marL="0" rtl="0" algn="l">
              <a:spcBef>
                <a:spcPts val="0"/>
              </a:spcBef>
              <a:spcAft>
                <a:spcPts val="0"/>
              </a:spcAft>
              <a:buNone/>
            </a:pPr>
            <a:r>
              <a:rPr lang="en" sz="1250">
                <a:solidFill>
                  <a:srgbClr val="000000"/>
                </a:solidFill>
              </a:rPr>
              <a:t>- The dominance of RNN-based models for price/trend prediction will probably not disappear anytime soon, mainly due to their easy adaptation to most asset forecasting problems.</a:t>
            </a:r>
            <a:endParaRPr sz="1250">
              <a:solidFill>
                <a:srgbClr val="000000"/>
              </a:solidFill>
            </a:endParaRPr>
          </a:p>
          <a:p>
            <a:pPr indent="0" lvl="0" marL="0" rtl="0" algn="l">
              <a:spcBef>
                <a:spcPts val="0"/>
              </a:spcBef>
              <a:spcAft>
                <a:spcPts val="0"/>
              </a:spcAft>
              <a:buNone/>
            </a:pPr>
            <a:r>
              <a:rPr lang="en" sz="1250">
                <a:solidFill>
                  <a:srgbClr val="000000"/>
                </a:solidFill>
              </a:rPr>
              <a:t>- Some enhanced versions of the original LSTM or RNN models, generally integrated with hybrid learning systems, are now becoming more common.</a:t>
            </a:r>
            <a:endParaRPr sz="1250">
              <a:solidFill>
                <a:srgbClr val="000000"/>
              </a:solidFill>
            </a:endParaRPr>
          </a:p>
          <a:p>
            <a:pPr indent="0" lvl="0" marL="0" rtl="0" algn="l">
              <a:spcBef>
                <a:spcPts val="0"/>
              </a:spcBef>
              <a:spcAft>
                <a:spcPts val="0"/>
              </a:spcAft>
              <a:buNone/>
            </a:pPr>
            <a:r>
              <a:rPr lang="en" sz="1250">
                <a:solidFill>
                  <a:srgbClr val="000000"/>
                </a:solidFill>
              </a:rPr>
              <a:t>-  2-D CNN implementations of financial forecasting problems by converting the time series into an image-like data type</a:t>
            </a:r>
            <a:endParaRPr sz="1250">
              <a:solidFill>
                <a:srgbClr val="000000"/>
              </a:solidFill>
            </a:endParaRPr>
          </a:p>
          <a:p>
            <a:pPr indent="0" lvl="0" marL="0" rtl="0" algn="l">
              <a:spcBef>
                <a:spcPts val="0"/>
              </a:spcBef>
              <a:spcAft>
                <a:spcPts val="0"/>
              </a:spcAft>
              <a:buNone/>
            </a:pPr>
            <a:r>
              <a:rPr lang="en" sz="1250">
                <a:solidFill>
                  <a:srgbClr val="000000"/>
                </a:solidFill>
              </a:rPr>
              <a:t>-  Financial time series forecasting has not been investigated for Generative Adversarial Network (GAN), and Capsule networks, Graph CNN models yet</a:t>
            </a:r>
            <a:endParaRPr sz="1250">
              <a:solidFill>
                <a:srgbClr val="000000"/>
              </a:solidFill>
            </a:endParaRPr>
          </a:p>
          <a:p>
            <a:pPr indent="0" lvl="0" marL="0" rtl="0" algn="l">
              <a:spcBef>
                <a:spcPts val="0"/>
              </a:spcBef>
              <a:spcAft>
                <a:spcPts val="0"/>
              </a:spcAft>
              <a:buNone/>
            </a:pPr>
            <a:r>
              <a:rPr lang="en" sz="1250">
                <a:solidFill>
                  <a:srgbClr val="000000"/>
                </a:solidFill>
              </a:rPr>
              <a:t>- Deep RL and agent-based models offer great opportunities for researchers</a:t>
            </a:r>
            <a:endParaRPr sz="1250">
              <a:solidFill>
                <a:srgbClr val="000000"/>
              </a:solidFill>
            </a:endParaRPr>
          </a:p>
          <a:p>
            <a:pPr indent="0" lvl="0" marL="0" rtl="0" algn="l">
              <a:spcBef>
                <a:spcPts val="0"/>
              </a:spcBef>
              <a:spcAft>
                <a:spcPts val="120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1"/>
          <p:cNvSpPr txBox="1"/>
          <p:nvPr>
            <p:ph type="title"/>
          </p:nvPr>
        </p:nvSpPr>
        <p:spPr>
          <a:xfrm>
            <a:off x="514575" y="251850"/>
            <a:ext cx="84903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0" lang="en" sz="2300">
                <a:solidFill>
                  <a:srgbClr val="1F1F1F"/>
                </a:solidFill>
                <a:highlight>
                  <a:srgbClr val="FFFFFF"/>
                </a:highlight>
                <a:latin typeface="Raleway ExtraBold"/>
                <a:ea typeface="Raleway ExtraBold"/>
                <a:cs typeface="Raleway ExtraBold"/>
                <a:sym typeface="Raleway ExtraBold"/>
              </a:rPr>
              <a:t>Deep learning models for price forecasting of financial </a:t>
            </a:r>
            <a:r>
              <a:rPr b="0" lang="en" sz="2300">
                <a:solidFill>
                  <a:srgbClr val="1F1F1F"/>
                </a:solidFill>
                <a:highlight>
                  <a:srgbClr val="FFFFFF"/>
                </a:highlight>
                <a:latin typeface="Raleway ExtraBold"/>
                <a:ea typeface="Raleway ExtraBold"/>
                <a:cs typeface="Raleway ExtraBold"/>
                <a:sym typeface="Raleway ExtraBold"/>
              </a:rPr>
              <a:t>time series</a:t>
            </a:r>
            <a:r>
              <a:rPr b="0" lang="en" sz="2300">
                <a:solidFill>
                  <a:srgbClr val="1F1F1F"/>
                </a:solidFill>
                <a:highlight>
                  <a:srgbClr val="FFFFFF"/>
                </a:highlight>
                <a:latin typeface="Raleway ExtraBold"/>
                <a:ea typeface="Raleway ExtraBold"/>
                <a:cs typeface="Raleway ExtraBold"/>
                <a:sym typeface="Raleway ExtraBold"/>
              </a:rPr>
              <a:t>: A review of recent advancements: 2020–2022</a:t>
            </a:r>
            <a:endParaRPr b="0" sz="2300">
              <a:latin typeface="Raleway ExtraBold"/>
              <a:ea typeface="Raleway ExtraBold"/>
              <a:cs typeface="Raleway ExtraBold"/>
              <a:sym typeface="Raleway ExtraBold"/>
            </a:endParaRPr>
          </a:p>
        </p:txBody>
      </p:sp>
      <p:sp>
        <p:nvSpPr>
          <p:cNvPr id="211" name="Google Shape;211;p31"/>
          <p:cNvSpPr txBox="1"/>
          <p:nvPr>
            <p:ph idx="1" type="body"/>
          </p:nvPr>
        </p:nvSpPr>
        <p:spPr>
          <a:xfrm>
            <a:off x="729450" y="1469275"/>
            <a:ext cx="8063700" cy="3501300"/>
          </a:xfrm>
          <a:prstGeom prst="rect">
            <a:avLst/>
          </a:prstGeom>
        </p:spPr>
        <p:txBody>
          <a:bodyPr anchorCtr="0" anchor="t" bIns="91425" lIns="91425" spcFirstLastPara="1" rIns="91425" wrap="square" tIns="91425">
            <a:normAutofit lnSpcReduction="10000"/>
          </a:bodyPr>
          <a:lstStyle/>
          <a:p>
            <a:pPr indent="-311150" lvl="0" marL="457200" rtl="0" algn="l">
              <a:lnSpc>
                <a:spcPct val="150000"/>
              </a:lnSpc>
              <a:spcBef>
                <a:spcPts val="0"/>
              </a:spcBef>
              <a:spcAft>
                <a:spcPts val="0"/>
              </a:spcAft>
              <a:buClr>
                <a:schemeClr val="dk2"/>
              </a:buClr>
              <a:buSzPts val="1300"/>
              <a:buChar char="●"/>
            </a:pPr>
            <a:r>
              <a:rPr lang="en">
                <a:solidFill>
                  <a:schemeClr val="dk2"/>
                </a:solidFill>
              </a:rPr>
              <a:t>The paper primarily focuses on providing a comprehensive literature review of deep learning models used for price forecasting in financial time series, specifically examining advancements from 2020 to 2022. </a:t>
            </a:r>
            <a:endParaRPr>
              <a:solidFill>
                <a:schemeClr val="dk2"/>
              </a:solidFill>
            </a:endParaRPr>
          </a:p>
          <a:p>
            <a:pPr indent="-311150" lvl="0" marL="457200" rtl="0" algn="l">
              <a:lnSpc>
                <a:spcPct val="150000"/>
              </a:lnSpc>
              <a:spcBef>
                <a:spcPts val="0"/>
              </a:spcBef>
              <a:spcAft>
                <a:spcPts val="0"/>
              </a:spcAft>
              <a:buClr>
                <a:schemeClr val="dk2"/>
              </a:buClr>
              <a:buSzPts val="1300"/>
              <a:buChar char="●"/>
            </a:pPr>
            <a:r>
              <a:rPr lang="en">
                <a:solidFill>
                  <a:schemeClr val="dk2"/>
                </a:solidFill>
              </a:rPr>
              <a:t>It presents an analysis of different DL architectures, including models such as Transformers, GANs, graph neural networks (GNNs), and deep quantum neural networks (DQNNs).</a:t>
            </a:r>
            <a:endParaRPr>
              <a:solidFill>
                <a:schemeClr val="dk2"/>
              </a:solidFill>
            </a:endParaRPr>
          </a:p>
          <a:p>
            <a:pPr indent="-311150" lvl="0" marL="457200" rtl="0" algn="l">
              <a:lnSpc>
                <a:spcPct val="150000"/>
              </a:lnSpc>
              <a:spcBef>
                <a:spcPts val="0"/>
              </a:spcBef>
              <a:spcAft>
                <a:spcPts val="0"/>
              </a:spcAft>
              <a:buClr>
                <a:schemeClr val="dk2"/>
              </a:buClr>
              <a:buSzPts val="1300"/>
              <a:buChar char="●"/>
            </a:pPr>
            <a:r>
              <a:rPr lang="en">
                <a:solidFill>
                  <a:schemeClr val="dk2"/>
                </a:solidFill>
              </a:rPr>
              <a:t> The review highlights the practical applications, advantages, and disadvantages of these models, and suggests potential future research directions in the field. </a:t>
            </a:r>
            <a:endParaRPr>
              <a:solidFill>
                <a:schemeClr val="dk2"/>
              </a:solidFill>
            </a:endParaRPr>
          </a:p>
          <a:p>
            <a:pPr indent="-311150" lvl="0" marL="457200" rtl="0" algn="l">
              <a:lnSpc>
                <a:spcPct val="150000"/>
              </a:lnSpc>
              <a:spcBef>
                <a:spcPts val="0"/>
              </a:spcBef>
              <a:spcAft>
                <a:spcPts val="0"/>
              </a:spcAft>
              <a:buClr>
                <a:schemeClr val="dk2"/>
              </a:buClr>
              <a:buSzPts val="1300"/>
              <a:buChar char="●"/>
            </a:pPr>
            <a:r>
              <a:rPr lang="en">
                <a:solidFill>
                  <a:schemeClr val="dk2"/>
                </a:solidFill>
              </a:rPr>
              <a:t>The paper considered a total of 72 research studies in its review of deep learning models for price forecasting of financial time series.</a:t>
            </a:r>
            <a:endParaRPr>
              <a:solidFill>
                <a:schemeClr val="dk2"/>
              </a:solidFill>
            </a:endParaRPr>
          </a:p>
          <a:p>
            <a:pPr indent="0" lvl="0" marL="0" rtl="0" algn="l">
              <a:lnSpc>
                <a:spcPct val="150000"/>
              </a:lnSpc>
              <a:spcBef>
                <a:spcPts val="1200"/>
              </a:spcBef>
              <a:spcAft>
                <a:spcPts val="0"/>
              </a:spcAft>
              <a:buNone/>
            </a:pPr>
            <a:r>
              <a:rPr lang="en">
                <a:solidFill>
                  <a:schemeClr val="dk2"/>
                </a:solidFill>
              </a:rPr>
              <a:t>.</a:t>
            </a:r>
            <a:endParaRPr>
              <a:solidFill>
                <a:schemeClr val="dk2"/>
              </a:solidFill>
            </a:endParaRPr>
          </a:p>
          <a:p>
            <a:pPr indent="0" lvl="0" marL="0" rtl="0" algn="l">
              <a:spcBef>
                <a:spcPts val="1200"/>
              </a:spcBef>
              <a:spcAft>
                <a:spcPts val="120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pic>
        <p:nvPicPr>
          <p:cNvPr id="216" name="Google Shape;216;p32"/>
          <p:cNvPicPr preferRelativeResize="0"/>
          <p:nvPr/>
        </p:nvPicPr>
        <p:blipFill>
          <a:blip r:embed="rId3">
            <a:alphaModFix/>
          </a:blip>
          <a:stretch>
            <a:fillRect/>
          </a:stretch>
        </p:blipFill>
        <p:spPr>
          <a:xfrm>
            <a:off x="1827500" y="131400"/>
            <a:ext cx="5666600" cy="4438600"/>
          </a:xfrm>
          <a:prstGeom prst="rect">
            <a:avLst/>
          </a:prstGeom>
          <a:noFill/>
          <a:ln>
            <a:noFill/>
          </a:ln>
        </p:spPr>
      </p:pic>
      <p:sp>
        <p:nvSpPr>
          <p:cNvPr id="217" name="Google Shape;217;p32"/>
          <p:cNvSpPr txBox="1"/>
          <p:nvPr/>
        </p:nvSpPr>
        <p:spPr>
          <a:xfrm>
            <a:off x="5262625" y="5073650"/>
            <a:ext cx="4631100" cy="11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999999"/>
                </a:solidFill>
                <a:latin typeface="Lato"/>
                <a:ea typeface="Lato"/>
                <a:cs typeface="Lato"/>
                <a:sym typeface="Lato"/>
              </a:rPr>
              <a:t>Source: https://wires.onlinelibrary.wiley.com/doi/epdf/10.1002/widm.1519</a:t>
            </a:r>
            <a:endParaRPr sz="900">
              <a:solidFill>
                <a:srgbClr val="999999"/>
              </a:solidFill>
              <a:latin typeface="Lato"/>
              <a:ea typeface="Lato"/>
              <a:cs typeface="Lato"/>
              <a:sym typeface="La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pic>
        <p:nvPicPr>
          <p:cNvPr id="222" name="Google Shape;222;p33"/>
          <p:cNvPicPr preferRelativeResize="0"/>
          <p:nvPr/>
        </p:nvPicPr>
        <p:blipFill>
          <a:blip r:embed="rId3">
            <a:alphaModFix/>
          </a:blip>
          <a:stretch>
            <a:fillRect/>
          </a:stretch>
        </p:blipFill>
        <p:spPr>
          <a:xfrm>
            <a:off x="273963" y="365900"/>
            <a:ext cx="8596075" cy="4128375"/>
          </a:xfrm>
          <a:prstGeom prst="rect">
            <a:avLst/>
          </a:prstGeom>
          <a:noFill/>
          <a:ln>
            <a:noFill/>
          </a:ln>
        </p:spPr>
      </p:pic>
      <p:sp>
        <p:nvSpPr>
          <p:cNvPr id="223" name="Google Shape;223;p33"/>
          <p:cNvSpPr txBox="1"/>
          <p:nvPr/>
        </p:nvSpPr>
        <p:spPr>
          <a:xfrm>
            <a:off x="5184600" y="4926725"/>
            <a:ext cx="51786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rgbClr val="999999"/>
                </a:solidFill>
                <a:latin typeface="Lato"/>
                <a:ea typeface="Lato"/>
                <a:cs typeface="Lato"/>
                <a:sym typeface="Lato"/>
              </a:rPr>
              <a:t>Source: https://wires.onlinelibrary.wiley.com/doi/epdf/10.1002/widm.1519</a:t>
            </a:r>
            <a:endParaRPr sz="900">
              <a:solidFill>
                <a:srgbClr val="999999"/>
              </a:solidFill>
              <a:latin typeface="Lato"/>
              <a:ea typeface="Lato"/>
              <a:cs typeface="Lato"/>
              <a:sym typeface="Lat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4"/>
          <p:cNvSpPr txBox="1"/>
          <p:nvPr>
            <p:ph idx="1" type="body"/>
          </p:nvPr>
        </p:nvSpPr>
        <p:spPr>
          <a:xfrm>
            <a:off x="729450" y="1406850"/>
            <a:ext cx="7914300" cy="3736800"/>
          </a:xfrm>
          <a:prstGeom prst="rect">
            <a:avLst/>
          </a:prstGeom>
        </p:spPr>
        <p:txBody>
          <a:bodyPr anchorCtr="0" anchor="t" bIns="91425" lIns="91425" spcFirstLastPara="1" rIns="91425" wrap="square" tIns="91425">
            <a:normAutofit lnSpcReduction="10000"/>
          </a:bodyPr>
          <a:lstStyle/>
          <a:p>
            <a:pPr indent="-304800" lvl="0" marL="457200" rtl="0" algn="l">
              <a:spcBef>
                <a:spcPts val="1200"/>
              </a:spcBef>
              <a:spcAft>
                <a:spcPts val="0"/>
              </a:spcAft>
              <a:buClr>
                <a:srgbClr val="000000"/>
              </a:buClr>
              <a:buSzPts val="1200"/>
              <a:buFont typeface="Arial"/>
              <a:buChar char="●"/>
            </a:pPr>
            <a:r>
              <a:rPr lang="en" sz="1200">
                <a:solidFill>
                  <a:srgbClr val="000000"/>
                </a:solidFill>
              </a:rPr>
              <a:t>The conclusion of this research paper emphasizes the growing importance of deep learning (DL) models in financial time series forecasting, particularly over the past three years. </a:t>
            </a:r>
            <a:endParaRPr sz="1200">
              <a:solidFill>
                <a:srgbClr val="000000"/>
              </a:solidFill>
            </a:endParaRPr>
          </a:p>
          <a:p>
            <a:pPr indent="-304800" lvl="0" marL="457200" rtl="0" algn="l">
              <a:spcBef>
                <a:spcPts val="0"/>
              </a:spcBef>
              <a:spcAft>
                <a:spcPts val="0"/>
              </a:spcAft>
              <a:buClr>
                <a:srgbClr val="000000"/>
              </a:buClr>
              <a:buSzPts val="1200"/>
              <a:buChar char="●"/>
            </a:pPr>
            <a:r>
              <a:rPr lang="en" sz="1200">
                <a:solidFill>
                  <a:srgbClr val="000000"/>
                </a:solidFill>
              </a:rPr>
              <a:t>It notes that DL models have demonstrated significant potential in capturing complex patterns in financial data, outperforming traditional machine learning models. </a:t>
            </a:r>
            <a:endParaRPr sz="1200">
              <a:solidFill>
                <a:srgbClr val="000000"/>
              </a:solidFill>
            </a:endParaRPr>
          </a:p>
          <a:p>
            <a:pPr indent="-304800" lvl="0" marL="457200" rtl="0" algn="l">
              <a:spcBef>
                <a:spcPts val="0"/>
              </a:spcBef>
              <a:spcAft>
                <a:spcPts val="0"/>
              </a:spcAft>
              <a:buClr>
                <a:srgbClr val="000000"/>
              </a:buClr>
              <a:buSzPts val="1200"/>
              <a:buFont typeface="Arial"/>
              <a:buChar char="●"/>
            </a:pPr>
            <a:r>
              <a:rPr lang="en" sz="1200">
                <a:solidFill>
                  <a:srgbClr val="000000"/>
                </a:solidFill>
              </a:rPr>
              <a:t>However, the paper also highlights several challenges, such as the need for larger datasets, model interpretability, and high computational costs.</a:t>
            </a:r>
            <a:endParaRPr sz="1200">
              <a:solidFill>
                <a:srgbClr val="000000"/>
              </a:solidFill>
            </a:endParaRPr>
          </a:p>
          <a:p>
            <a:pPr indent="0" lvl="0" marL="457200" rtl="0" algn="l">
              <a:spcBef>
                <a:spcPts val="1200"/>
              </a:spcBef>
              <a:spcAft>
                <a:spcPts val="0"/>
              </a:spcAft>
              <a:buNone/>
            </a:pPr>
            <a:r>
              <a:t/>
            </a:r>
            <a:endParaRPr sz="1200">
              <a:solidFill>
                <a:srgbClr val="000000"/>
              </a:solidFill>
            </a:endParaRPr>
          </a:p>
          <a:p>
            <a:pPr indent="0" lvl="0" marL="0" rtl="0" algn="l">
              <a:spcBef>
                <a:spcPts val="1200"/>
              </a:spcBef>
              <a:spcAft>
                <a:spcPts val="0"/>
              </a:spcAft>
              <a:buNone/>
            </a:pPr>
            <a:r>
              <a:rPr lang="en" sz="1200" u="sng">
                <a:solidFill>
                  <a:srgbClr val="000000"/>
                </a:solidFill>
              </a:rPr>
              <a:t>FUTURE RESEARCH DIRECTIONS</a:t>
            </a:r>
            <a:r>
              <a:rPr lang="en" sz="1200">
                <a:solidFill>
                  <a:srgbClr val="000000"/>
                </a:solidFill>
              </a:rPr>
              <a:t>-:</a:t>
            </a:r>
            <a:endParaRPr sz="1200">
              <a:solidFill>
                <a:srgbClr val="000000"/>
              </a:solidFill>
            </a:endParaRPr>
          </a:p>
          <a:p>
            <a:pPr indent="-304800" lvl="0" marL="457200" rtl="0" algn="l">
              <a:spcBef>
                <a:spcPts val="1200"/>
              </a:spcBef>
              <a:spcAft>
                <a:spcPts val="0"/>
              </a:spcAft>
              <a:buClr>
                <a:srgbClr val="000000"/>
              </a:buClr>
              <a:buSzPts val="1200"/>
              <a:buFont typeface="Arial"/>
              <a:buAutoNum type="arabicPeriod"/>
            </a:pPr>
            <a:r>
              <a:rPr lang="en" sz="1200">
                <a:solidFill>
                  <a:srgbClr val="000000"/>
                </a:solidFill>
              </a:rPr>
              <a:t>Exploring more complex DL models such as Graph Neural Networks (GNNs) and deep reinforcement learning for financial forecasting.</a:t>
            </a:r>
            <a:endParaRPr sz="1200">
              <a:solidFill>
                <a:srgbClr val="000000"/>
              </a:solidFill>
            </a:endParaRPr>
          </a:p>
          <a:p>
            <a:pPr indent="-304800" lvl="0" marL="457200" rtl="0" algn="l">
              <a:spcBef>
                <a:spcPts val="0"/>
              </a:spcBef>
              <a:spcAft>
                <a:spcPts val="0"/>
              </a:spcAft>
              <a:buClr>
                <a:srgbClr val="000000"/>
              </a:buClr>
              <a:buSzPts val="1200"/>
              <a:buFont typeface="Arial"/>
              <a:buAutoNum type="arabicPeriod"/>
            </a:pPr>
            <a:r>
              <a:rPr lang="en" sz="1200">
                <a:solidFill>
                  <a:srgbClr val="000000"/>
                </a:solidFill>
              </a:rPr>
              <a:t>Investigating ensemble learning methods and decomposition techniques to improve prediction accuracy.</a:t>
            </a:r>
            <a:endParaRPr sz="1200">
              <a:solidFill>
                <a:srgbClr val="000000"/>
              </a:solidFill>
            </a:endParaRPr>
          </a:p>
          <a:p>
            <a:pPr indent="-304800" lvl="0" marL="457200" rtl="0" algn="l">
              <a:spcBef>
                <a:spcPts val="0"/>
              </a:spcBef>
              <a:spcAft>
                <a:spcPts val="0"/>
              </a:spcAft>
              <a:buClr>
                <a:srgbClr val="000000"/>
              </a:buClr>
              <a:buSzPts val="1200"/>
              <a:buFont typeface="Arial"/>
              <a:buAutoNum type="arabicPeriod"/>
            </a:pPr>
            <a:r>
              <a:rPr lang="en" sz="1200">
                <a:solidFill>
                  <a:srgbClr val="000000"/>
                </a:solidFill>
              </a:rPr>
              <a:t>Expanding forecasting from point prediction to interval prediction for better risk management.</a:t>
            </a:r>
            <a:endParaRPr sz="1200">
              <a:solidFill>
                <a:srgbClr val="000000"/>
              </a:solidFill>
            </a:endParaRPr>
          </a:p>
          <a:p>
            <a:pPr indent="-304800" lvl="0" marL="457200" rtl="0" algn="l">
              <a:spcBef>
                <a:spcPts val="0"/>
              </a:spcBef>
              <a:spcAft>
                <a:spcPts val="0"/>
              </a:spcAft>
              <a:buClr>
                <a:srgbClr val="000000"/>
              </a:buClr>
              <a:buSzPts val="1200"/>
              <a:buFont typeface="Arial"/>
              <a:buAutoNum type="arabicPeriod"/>
            </a:pPr>
            <a:r>
              <a:rPr lang="en" sz="1200">
                <a:solidFill>
                  <a:srgbClr val="000000"/>
                </a:solidFill>
              </a:rPr>
              <a:t>Addressing the impact of data volume on model performance and considering the validity of decomposition ensembles</a:t>
            </a:r>
            <a:endParaRPr sz="1200">
              <a:solidFill>
                <a:srgbClr val="000000"/>
              </a:solidFill>
            </a:endParaRPr>
          </a:p>
          <a:p>
            <a:pPr indent="0" lvl="0" marL="0" rtl="0" algn="l">
              <a:spcBef>
                <a:spcPts val="1200"/>
              </a:spcBef>
              <a:spcAft>
                <a:spcPts val="1200"/>
              </a:spcAft>
              <a:buNone/>
            </a:pPr>
            <a:r>
              <a:t/>
            </a:r>
            <a:endParaRPr sz="12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5"/>
          <p:cNvSpPr txBox="1"/>
          <p:nvPr>
            <p:ph idx="1" type="body"/>
          </p:nvPr>
        </p:nvSpPr>
        <p:spPr>
          <a:xfrm>
            <a:off x="729450" y="1469275"/>
            <a:ext cx="8063700" cy="3501300"/>
          </a:xfrm>
          <a:prstGeom prst="rect">
            <a:avLst/>
          </a:prstGeom>
        </p:spPr>
        <p:txBody>
          <a:bodyPr anchorCtr="0" anchor="t" bIns="91425" lIns="91425" spcFirstLastPara="1" rIns="91425" wrap="square" tIns="91425">
            <a:normAutofit lnSpcReduction="20000"/>
          </a:bodyPr>
          <a:lstStyle/>
          <a:p>
            <a:pPr indent="-311150" lvl="0" marL="457200" rtl="0" algn="l">
              <a:lnSpc>
                <a:spcPct val="150000"/>
              </a:lnSpc>
              <a:spcBef>
                <a:spcPts val="0"/>
              </a:spcBef>
              <a:spcAft>
                <a:spcPts val="0"/>
              </a:spcAft>
              <a:buClr>
                <a:schemeClr val="dk2"/>
              </a:buClr>
              <a:buSzPts val="1300"/>
              <a:buChar char="●"/>
            </a:pPr>
            <a:r>
              <a:rPr lang="en">
                <a:solidFill>
                  <a:schemeClr val="dk2"/>
                </a:solidFill>
              </a:rPr>
              <a:t>This paper focuses on providing a comprehensive literature review of deep learning (DL) models used for financial time series forecasting. </a:t>
            </a:r>
            <a:endParaRPr>
              <a:solidFill>
                <a:schemeClr val="dk2"/>
              </a:solidFill>
            </a:endParaRPr>
          </a:p>
          <a:p>
            <a:pPr indent="-311150" lvl="0" marL="457200" rtl="0" algn="l">
              <a:lnSpc>
                <a:spcPct val="150000"/>
              </a:lnSpc>
              <a:spcBef>
                <a:spcPts val="0"/>
              </a:spcBef>
              <a:spcAft>
                <a:spcPts val="0"/>
              </a:spcAft>
              <a:buClr>
                <a:schemeClr val="dk2"/>
              </a:buClr>
              <a:buSzPts val="1300"/>
              <a:buChar char="●"/>
            </a:pPr>
            <a:r>
              <a:rPr lang="en">
                <a:solidFill>
                  <a:schemeClr val="dk2"/>
                </a:solidFill>
              </a:rPr>
              <a:t>It categorizes existing studies based on their application areas (e.g., index, forex, and commodity forecasting) and the DL models employed, such as CNNs, DBNs, and LSTMs. </a:t>
            </a:r>
            <a:endParaRPr>
              <a:solidFill>
                <a:schemeClr val="dk2"/>
              </a:solidFill>
            </a:endParaRPr>
          </a:p>
          <a:p>
            <a:pPr indent="-311150" lvl="0" marL="457200" rtl="0" algn="l">
              <a:lnSpc>
                <a:spcPct val="150000"/>
              </a:lnSpc>
              <a:spcBef>
                <a:spcPts val="0"/>
              </a:spcBef>
              <a:spcAft>
                <a:spcPts val="0"/>
              </a:spcAft>
              <a:buClr>
                <a:schemeClr val="dk2"/>
              </a:buClr>
              <a:buSzPts val="1300"/>
              <a:buChar char="●"/>
            </a:pPr>
            <a:r>
              <a:rPr lang="en">
                <a:solidFill>
                  <a:schemeClr val="dk2"/>
                </a:solidFill>
              </a:rPr>
              <a:t>The paper addresses the gap in review articles specific to DL in finance and discusses future challenges and opportunities in the field.</a:t>
            </a:r>
            <a:endParaRPr>
              <a:solidFill>
                <a:schemeClr val="dk2"/>
              </a:solidFill>
            </a:endParaRPr>
          </a:p>
          <a:p>
            <a:pPr indent="-311150" lvl="0" marL="457200" rtl="0" algn="l">
              <a:lnSpc>
                <a:spcPct val="150000"/>
              </a:lnSpc>
              <a:spcBef>
                <a:spcPts val="0"/>
              </a:spcBef>
              <a:spcAft>
                <a:spcPts val="0"/>
              </a:spcAft>
              <a:buClr>
                <a:schemeClr val="dk2"/>
              </a:buClr>
              <a:buSzPts val="1300"/>
              <a:buChar char="●"/>
            </a:pPr>
            <a:r>
              <a:rPr lang="en">
                <a:solidFill>
                  <a:schemeClr val="dk2"/>
                </a:solidFill>
              </a:rPr>
              <a:t>The paper reviewed  </a:t>
            </a:r>
            <a:r>
              <a:rPr b="1" lang="en">
                <a:solidFill>
                  <a:schemeClr val="dk2"/>
                </a:solidFill>
              </a:rPr>
              <a:t>200 studies</a:t>
            </a:r>
            <a:r>
              <a:rPr lang="en">
                <a:solidFill>
                  <a:schemeClr val="dk2"/>
                </a:solidFill>
              </a:rPr>
              <a:t> on financial time series forecasting using deep learning models. </a:t>
            </a:r>
            <a:endParaRPr>
              <a:solidFill>
                <a:schemeClr val="dk2"/>
              </a:solidFill>
            </a:endParaRPr>
          </a:p>
          <a:p>
            <a:pPr indent="-311150" lvl="0" marL="457200" rtl="0" algn="l">
              <a:lnSpc>
                <a:spcPct val="150000"/>
              </a:lnSpc>
              <a:spcBef>
                <a:spcPts val="0"/>
              </a:spcBef>
              <a:spcAft>
                <a:spcPts val="0"/>
              </a:spcAft>
              <a:buClr>
                <a:schemeClr val="dk2"/>
              </a:buClr>
              <a:buSzPts val="1300"/>
              <a:buChar char="●"/>
            </a:pPr>
            <a:r>
              <a:rPr lang="en">
                <a:solidFill>
                  <a:schemeClr val="dk2"/>
                </a:solidFill>
              </a:rPr>
              <a:t>These studies span a wide variety of datasets, including indices like the S&amp;P 500, Chinese stock markets, and other financial assets such as stocks, forex, and commodities.</a:t>
            </a:r>
            <a:endParaRPr>
              <a:solidFill>
                <a:schemeClr val="dk2"/>
              </a:solidFill>
            </a:endParaRPr>
          </a:p>
          <a:p>
            <a:pPr indent="-311150" lvl="0" marL="457200" rtl="0" algn="l">
              <a:lnSpc>
                <a:spcPct val="150000"/>
              </a:lnSpc>
              <a:spcBef>
                <a:spcPts val="0"/>
              </a:spcBef>
              <a:spcAft>
                <a:spcPts val="0"/>
              </a:spcAft>
              <a:buClr>
                <a:schemeClr val="dk2"/>
              </a:buClr>
              <a:buSzPts val="1300"/>
              <a:buChar char="●"/>
            </a:pPr>
            <a:r>
              <a:rPr lang="en">
                <a:solidFill>
                  <a:schemeClr val="dk2"/>
                </a:solidFill>
              </a:rPr>
              <a:t>DL models have outperformed their traditional ML counterparts.</a:t>
            </a:r>
            <a:endParaRPr>
              <a:solidFill>
                <a:schemeClr val="dk2"/>
              </a:solidFill>
            </a:endParaRPr>
          </a:p>
          <a:p>
            <a:pPr indent="-311150" lvl="0" marL="457200" rtl="0" algn="l">
              <a:lnSpc>
                <a:spcPct val="150000"/>
              </a:lnSpc>
              <a:spcBef>
                <a:spcPts val="0"/>
              </a:spcBef>
              <a:spcAft>
                <a:spcPts val="0"/>
              </a:spcAft>
              <a:buClr>
                <a:schemeClr val="dk2"/>
              </a:buClr>
              <a:buSzPts val="1300"/>
              <a:buChar char="●"/>
            </a:pPr>
            <a:r>
              <a:rPr lang="en">
                <a:solidFill>
                  <a:schemeClr val="dk2"/>
                </a:solidFill>
              </a:rPr>
              <a:t>Lack of review papers that solely focus on DL for finance</a:t>
            </a:r>
            <a:endParaRPr>
              <a:solidFill>
                <a:schemeClr val="dk2"/>
              </a:solidFill>
            </a:endParaRPr>
          </a:p>
          <a:p>
            <a:pPr indent="0" lvl="0" marL="0" rtl="0" algn="l">
              <a:spcBef>
                <a:spcPts val="1200"/>
              </a:spcBef>
              <a:spcAft>
                <a:spcPts val="120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6"/>
          <p:cNvSpPr txBox="1"/>
          <p:nvPr>
            <p:ph type="title"/>
          </p:nvPr>
        </p:nvSpPr>
        <p:spPr>
          <a:xfrm>
            <a:off x="729450" y="251850"/>
            <a:ext cx="8063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0" lang="en" sz="2200">
                <a:solidFill>
                  <a:srgbClr val="000000"/>
                </a:solidFill>
                <a:highlight>
                  <a:srgbClr val="FFFFFF"/>
                </a:highlight>
                <a:latin typeface="Raleway ExtraBold"/>
                <a:ea typeface="Raleway ExtraBold"/>
                <a:cs typeface="Raleway ExtraBold"/>
                <a:sym typeface="Raleway ExtraBold"/>
              </a:rPr>
              <a:t>Financial applications of machine learning: </a:t>
            </a:r>
            <a:endParaRPr b="0" sz="2200">
              <a:solidFill>
                <a:srgbClr val="000000"/>
              </a:solidFill>
              <a:highlight>
                <a:srgbClr val="FFFFFF"/>
              </a:highlight>
              <a:latin typeface="Raleway ExtraBold"/>
              <a:ea typeface="Raleway ExtraBold"/>
              <a:cs typeface="Raleway ExtraBold"/>
              <a:sym typeface="Raleway ExtraBold"/>
            </a:endParaRPr>
          </a:p>
          <a:p>
            <a:pPr indent="0" lvl="0" marL="0" rtl="0" algn="l">
              <a:spcBef>
                <a:spcPts val="0"/>
              </a:spcBef>
              <a:spcAft>
                <a:spcPts val="0"/>
              </a:spcAft>
              <a:buNone/>
            </a:pPr>
            <a:r>
              <a:rPr b="0" lang="en" sz="2200">
                <a:solidFill>
                  <a:srgbClr val="000000"/>
                </a:solidFill>
                <a:highlight>
                  <a:srgbClr val="FFFFFF"/>
                </a:highlight>
                <a:latin typeface="Raleway ExtraBold"/>
                <a:ea typeface="Raleway ExtraBold"/>
                <a:cs typeface="Raleway ExtraBold"/>
                <a:sym typeface="Raleway ExtraBold"/>
              </a:rPr>
              <a:t>A literature review  [2023]</a:t>
            </a:r>
            <a:endParaRPr b="0" sz="2200">
              <a:latin typeface="Raleway ExtraBold"/>
              <a:ea typeface="Raleway ExtraBold"/>
              <a:cs typeface="Raleway ExtraBold"/>
              <a:sym typeface="Raleway ExtraBold"/>
            </a:endParaRPr>
          </a:p>
        </p:txBody>
      </p:sp>
      <p:sp>
        <p:nvSpPr>
          <p:cNvPr id="239" name="Google Shape;239;p36"/>
          <p:cNvSpPr txBox="1"/>
          <p:nvPr>
            <p:ph idx="1" type="body"/>
          </p:nvPr>
        </p:nvSpPr>
        <p:spPr>
          <a:xfrm>
            <a:off x="729450" y="1469275"/>
            <a:ext cx="8063700" cy="3501300"/>
          </a:xfrm>
          <a:prstGeom prst="rect">
            <a:avLst/>
          </a:prstGeom>
        </p:spPr>
        <p:txBody>
          <a:bodyPr anchorCtr="0" anchor="t" bIns="91425" lIns="91425" spcFirstLastPara="1" rIns="91425" wrap="square" tIns="91425">
            <a:normAutofit lnSpcReduction="20000"/>
          </a:bodyPr>
          <a:lstStyle/>
          <a:p>
            <a:pPr indent="-311150" lvl="0" marL="457200" rtl="0" algn="l">
              <a:lnSpc>
                <a:spcPct val="150000"/>
              </a:lnSpc>
              <a:spcBef>
                <a:spcPts val="0"/>
              </a:spcBef>
              <a:spcAft>
                <a:spcPts val="0"/>
              </a:spcAft>
              <a:buClr>
                <a:schemeClr val="dk2"/>
              </a:buClr>
              <a:buSzPts val="1300"/>
              <a:buChar char="●"/>
            </a:pPr>
            <a:r>
              <a:rPr lang="en">
                <a:solidFill>
                  <a:schemeClr val="dk2"/>
                </a:solidFill>
              </a:rPr>
              <a:t>The paper focuses on providing a systematic literature review  of machine learning and deep learning applications in various financial domains, including stock markets, portfolio management, cryptocurrency, foreign exchange markets, financial crises, and bankruptcy and insolvency. </a:t>
            </a:r>
            <a:endParaRPr>
              <a:solidFill>
                <a:schemeClr val="dk2"/>
              </a:solidFill>
            </a:endParaRPr>
          </a:p>
          <a:p>
            <a:pPr indent="-311150" lvl="0" marL="457200" rtl="0" algn="l">
              <a:lnSpc>
                <a:spcPct val="150000"/>
              </a:lnSpc>
              <a:spcBef>
                <a:spcPts val="0"/>
              </a:spcBef>
              <a:spcAft>
                <a:spcPts val="0"/>
              </a:spcAft>
              <a:buClr>
                <a:schemeClr val="dk2"/>
              </a:buClr>
              <a:buSzPts val="1300"/>
              <a:buChar char="●"/>
            </a:pPr>
            <a:r>
              <a:rPr lang="en">
                <a:solidFill>
                  <a:schemeClr val="dk2"/>
                </a:solidFill>
              </a:rPr>
              <a:t>It analyzes 126 selected articles  and examines the characteristics of data, features used for model training, and performance evaluation metrics for addressing financial problems.</a:t>
            </a:r>
            <a:endParaRPr>
              <a:solidFill>
                <a:schemeClr val="dk2"/>
              </a:solidFill>
            </a:endParaRPr>
          </a:p>
          <a:p>
            <a:pPr indent="-311150" lvl="0" marL="457200" rtl="0" algn="l">
              <a:lnSpc>
                <a:spcPct val="150000"/>
              </a:lnSpc>
              <a:spcBef>
                <a:spcPts val="0"/>
              </a:spcBef>
              <a:spcAft>
                <a:spcPts val="0"/>
              </a:spcAft>
              <a:buClr>
                <a:schemeClr val="dk2"/>
              </a:buClr>
              <a:buSzPts val="1300"/>
              <a:buChar char="●"/>
            </a:pPr>
            <a:r>
              <a:rPr lang="en">
                <a:solidFill>
                  <a:schemeClr val="dk2"/>
                </a:solidFill>
              </a:rPr>
              <a:t>The paper considered datasets from various financial domains, including:</a:t>
            </a:r>
            <a:endParaRPr>
              <a:solidFill>
                <a:schemeClr val="dk2"/>
              </a:solidFill>
            </a:endParaRPr>
          </a:p>
          <a:p>
            <a:pPr indent="0" lvl="0" marL="457200" rtl="0" algn="l">
              <a:lnSpc>
                <a:spcPct val="100000"/>
              </a:lnSpc>
              <a:spcBef>
                <a:spcPts val="1200"/>
              </a:spcBef>
              <a:spcAft>
                <a:spcPts val="0"/>
              </a:spcAft>
              <a:buNone/>
            </a:pPr>
            <a:r>
              <a:rPr lang="en">
                <a:solidFill>
                  <a:schemeClr val="dk2"/>
                </a:solidFill>
              </a:rPr>
              <a:t> </a:t>
            </a:r>
            <a:r>
              <a:rPr lang="en" u="sng">
                <a:solidFill>
                  <a:schemeClr val="dk2"/>
                </a:solidFill>
              </a:rPr>
              <a:t>Stock Market Data</a:t>
            </a:r>
            <a:r>
              <a:rPr lang="en">
                <a:solidFill>
                  <a:schemeClr val="dk2"/>
                </a:solidFill>
              </a:rPr>
              <a:t>: Historical prices and returns of stocks and indices (e.g., S&amp;P 500, NASDAQ).</a:t>
            </a:r>
            <a:endParaRPr>
              <a:solidFill>
                <a:schemeClr val="dk2"/>
              </a:solidFill>
            </a:endParaRPr>
          </a:p>
          <a:p>
            <a:pPr indent="0" lvl="0" marL="457200" rtl="0" algn="l">
              <a:lnSpc>
                <a:spcPct val="100000"/>
              </a:lnSpc>
              <a:spcBef>
                <a:spcPts val="1200"/>
              </a:spcBef>
              <a:spcAft>
                <a:spcPts val="0"/>
              </a:spcAft>
              <a:buNone/>
            </a:pPr>
            <a:r>
              <a:rPr lang="en" u="sng">
                <a:solidFill>
                  <a:schemeClr val="dk2"/>
                </a:solidFill>
              </a:rPr>
              <a:t>Cryptocurrency Data</a:t>
            </a:r>
            <a:r>
              <a:rPr lang="en">
                <a:solidFill>
                  <a:schemeClr val="dk2"/>
                </a:solidFill>
              </a:rPr>
              <a:t>: Prices of cryptocurrencies like Bitcoin and Ethereum.</a:t>
            </a:r>
            <a:endParaRPr>
              <a:solidFill>
                <a:schemeClr val="dk2"/>
              </a:solidFill>
            </a:endParaRPr>
          </a:p>
          <a:p>
            <a:pPr indent="0" lvl="0" marL="457200" rtl="0" algn="l">
              <a:lnSpc>
                <a:spcPct val="100000"/>
              </a:lnSpc>
              <a:spcBef>
                <a:spcPts val="1200"/>
              </a:spcBef>
              <a:spcAft>
                <a:spcPts val="0"/>
              </a:spcAft>
              <a:buNone/>
            </a:pPr>
            <a:r>
              <a:rPr lang="en" u="sng">
                <a:solidFill>
                  <a:schemeClr val="dk2"/>
                </a:solidFill>
              </a:rPr>
              <a:t>Foreign Exchange Markets</a:t>
            </a:r>
            <a:r>
              <a:rPr lang="en">
                <a:solidFill>
                  <a:schemeClr val="dk2"/>
                </a:solidFill>
              </a:rPr>
              <a:t>: Currency exchange rates.</a:t>
            </a:r>
            <a:endParaRPr>
              <a:solidFill>
                <a:schemeClr val="dk2"/>
              </a:solidFill>
            </a:endParaRPr>
          </a:p>
          <a:p>
            <a:pPr indent="0" lvl="0" marL="457200" rtl="0" algn="l">
              <a:lnSpc>
                <a:spcPct val="100000"/>
              </a:lnSpc>
              <a:spcBef>
                <a:spcPts val="1200"/>
              </a:spcBef>
              <a:spcAft>
                <a:spcPts val="0"/>
              </a:spcAft>
              <a:buNone/>
            </a:pPr>
            <a:r>
              <a:rPr lang="en" u="sng">
                <a:solidFill>
                  <a:schemeClr val="dk2"/>
                </a:solidFill>
              </a:rPr>
              <a:t>Portfolio Management</a:t>
            </a:r>
            <a:r>
              <a:rPr lang="en">
                <a:solidFill>
                  <a:schemeClr val="dk2"/>
                </a:solidFill>
              </a:rPr>
              <a:t>: Stock prices and volumes for portfolio optimization.</a:t>
            </a:r>
            <a:endParaRPr>
              <a:solidFill>
                <a:schemeClr val="dk2"/>
              </a:solidFill>
            </a:endParaRPr>
          </a:p>
          <a:p>
            <a:pPr indent="0" lvl="0" marL="457200" rtl="0" algn="l">
              <a:lnSpc>
                <a:spcPct val="100000"/>
              </a:lnSpc>
              <a:spcBef>
                <a:spcPts val="1200"/>
              </a:spcBef>
              <a:spcAft>
                <a:spcPts val="1200"/>
              </a:spcAft>
              <a:buNone/>
            </a:pPr>
            <a:r>
              <a:rPr lang="en" u="sng">
                <a:solidFill>
                  <a:schemeClr val="dk2"/>
                </a:solidFill>
              </a:rPr>
              <a:t>Financial Crises and Bankruptcy:</a:t>
            </a:r>
            <a:r>
              <a:rPr lang="en">
                <a:solidFill>
                  <a:schemeClr val="dk2"/>
                </a:solidFill>
              </a:rPr>
              <a:t> Economic indicators and data related to market crashes and financial distress.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pic>
        <p:nvPicPr>
          <p:cNvPr id="244" name="Google Shape;244;p37"/>
          <p:cNvPicPr preferRelativeResize="0"/>
          <p:nvPr/>
        </p:nvPicPr>
        <p:blipFill>
          <a:blip r:embed="rId3">
            <a:alphaModFix/>
          </a:blip>
          <a:stretch>
            <a:fillRect/>
          </a:stretch>
        </p:blipFill>
        <p:spPr>
          <a:xfrm>
            <a:off x="1515450" y="119550"/>
            <a:ext cx="6514499" cy="4506101"/>
          </a:xfrm>
          <a:prstGeom prst="rect">
            <a:avLst/>
          </a:prstGeom>
          <a:noFill/>
          <a:ln>
            <a:noFill/>
          </a:ln>
        </p:spPr>
      </p:pic>
      <p:sp>
        <p:nvSpPr>
          <p:cNvPr id="245" name="Google Shape;245;p37"/>
          <p:cNvSpPr txBox="1"/>
          <p:nvPr/>
        </p:nvSpPr>
        <p:spPr>
          <a:xfrm>
            <a:off x="2668150" y="4820400"/>
            <a:ext cx="81345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rgbClr val="999999"/>
                </a:solidFill>
                <a:latin typeface="Lato"/>
                <a:ea typeface="Lato"/>
                <a:cs typeface="Lato"/>
                <a:sym typeface="Lato"/>
              </a:rPr>
              <a:t>Source: Financial applications of machine learning: A literature review  by </a:t>
            </a:r>
            <a:r>
              <a:rPr lang="en" sz="900">
                <a:solidFill>
                  <a:srgbClr val="999999"/>
                </a:solidFill>
                <a:highlight>
                  <a:srgbClr val="FFFFFF"/>
                </a:highlight>
                <a:latin typeface="Lato"/>
                <a:ea typeface="Lato"/>
                <a:cs typeface="Lato"/>
                <a:sym typeface="Lato"/>
              </a:rPr>
              <a:t>Cheng Zhang, Nilam Nur Amir Sjarif, Roslina Ibrahim</a:t>
            </a:r>
            <a:endParaRPr sz="900">
              <a:solidFill>
                <a:srgbClr val="999999"/>
              </a:solidFill>
              <a:latin typeface="Lato"/>
              <a:ea typeface="Lato"/>
              <a:cs typeface="Lato"/>
              <a:sym typeface="Lat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pic>
        <p:nvPicPr>
          <p:cNvPr id="250" name="Google Shape;250;p38"/>
          <p:cNvPicPr preferRelativeResize="0"/>
          <p:nvPr/>
        </p:nvPicPr>
        <p:blipFill>
          <a:blip r:embed="rId3">
            <a:alphaModFix/>
          </a:blip>
          <a:stretch>
            <a:fillRect/>
          </a:stretch>
        </p:blipFill>
        <p:spPr>
          <a:xfrm>
            <a:off x="1564725" y="135975"/>
            <a:ext cx="6307101" cy="4670101"/>
          </a:xfrm>
          <a:prstGeom prst="rect">
            <a:avLst/>
          </a:prstGeom>
          <a:noFill/>
          <a:ln>
            <a:noFill/>
          </a:ln>
        </p:spPr>
      </p:pic>
      <p:sp>
        <p:nvSpPr>
          <p:cNvPr id="251" name="Google Shape;251;p38"/>
          <p:cNvSpPr txBox="1"/>
          <p:nvPr/>
        </p:nvSpPr>
        <p:spPr>
          <a:xfrm>
            <a:off x="2698750" y="4866075"/>
            <a:ext cx="6552600" cy="19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999999"/>
                </a:solidFill>
                <a:latin typeface="Lato"/>
                <a:ea typeface="Lato"/>
                <a:cs typeface="Lato"/>
                <a:sym typeface="Lato"/>
              </a:rPr>
              <a:t>Source: Financial applications of machine learning: A literature review  by </a:t>
            </a:r>
            <a:r>
              <a:rPr lang="en" sz="900">
                <a:solidFill>
                  <a:srgbClr val="999999"/>
                </a:solidFill>
                <a:highlight>
                  <a:srgbClr val="FFFFFF"/>
                </a:highlight>
                <a:latin typeface="Lato"/>
                <a:ea typeface="Lato"/>
                <a:cs typeface="Lato"/>
                <a:sym typeface="Lato"/>
              </a:rPr>
              <a:t>Cheng Zhang, Nilam Nur Amir Sjarif, Roslina Ibrahim</a:t>
            </a:r>
            <a:endParaRPr sz="900">
              <a:solidFill>
                <a:srgbClr val="999999"/>
              </a:solidFill>
              <a:latin typeface="Lato"/>
              <a:ea typeface="Lato"/>
              <a:cs typeface="Lato"/>
              <a:sym typeface="Lato"/>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39"/>
          <p:cNvSpPr txBox="1"/>
          <p:nvPr>
            <p:ph idx="1" type="body"/>
          </p:nvPr>
        </p:nvSpPr>
        <p:spPr>
          <a:xfrm>
            <a:off x="729450" y="1469275"/>
            <a:ext cx="8063700" cy="3501300"/>
          </a:xfrm>
          <a:prstGeom prst="rect">
            <a:avLst/>
          </a:prstGeom>
        </p:spPr>
        <p:txBody>
          <a:bodyPr anchorCtr="0" anchor="t" bIns="91425" lIns="91425" spcFirstLastPara="1" rIns="91425" wrap="square" tIns="91425">
            <a:normAutofit lnSpcReduction="20000"/>
          </a:bodyPr>
          <a:lstStyle/>
          <a:p>
            <a:pPr indent="0" lvl="0" marL="0" rtl="0" algn="l">
              <a:spcBef>
                <a:spcPts val="1200"/>
              </a:spcBef>
              <a:spcAft>
                <a:spcPts val="0"/>
              </a:spcAft>
              <a:buNone/>
            </a:pPr>
            <a:r>
              <a:rPr lang="en">
                <a:solidFill>
                  <a:schemeClr val="dk2"/>
                </a:solidFill>
              </a:rPr>
              <a:t>The conclusion of the paper emphasizes the significant impact of machine learning and deep learning in various financial applications, highlighting the following key points:</a:t>
            </a:r>
            <a:endParaRPr>
              <a:solidFill>
                <a:schemeClr val="dk2"/>
              </a:solidFill>
            </a:endParaRPr>
          </a:p>
          <a:p>
            <a:pPr indent="0" lvl="0" marL="0" rtl="0" algn="l">
              <a:spcBef>
                <a:spcPts val="1200"/>
              </a:spcBef>
              <a:spcAft>
                <a:spcPts val="0"/>
              </a:spcAft>
              <a:buNone/>
            </a:pPr>
            <a:r>
              <a:rPr lang="en">
                <a:solidFill>
                  <a:schemeClr val="dk2"/>
                </a:solidFill>
              </a:rPr>
              <a:t>1. </a:t>
            </a:r>
            <a:r>
              <a:rPr lang="en" u="sng">
                <a:solidFill>
                  <a:schemeClr val="dk2"/>
                </a:solidFill>
              </a:rPr>
              <a:t>Advancements in Techniques</a:t>
            </a:r>
            <a:r>
              <a:rPr lang="en">
                <a:solidFill>
                  <a:schemeClr val="dk2"/>
                </a:solidFill>
              </a:rPr>
              <a:t>: There have been considerable advancements in machine learning techniques applied to financial problems, showcasing improved performance across different domains.</a:t>
            </a:r>
            <a:endParaRPr>
              <a:solidFill>
                <a:schemeClr val="dk2"/>
              </a:solidFill>
            </a:endParaRPr>
          </a:p>
          <a:p>
            <a:pPr indent="0" lvl="0" marL="0" rtl="0" algn="l">
              <a:spcBef>
                <a:spcPts val="1200"/>
              </a:spcBef>
              <a:spcAft>
                <a:spcPts val="0"/>
              </a:spcAft>
              <a:buNone/>
            </a:pPr>
            <a:r>
              <a:rPr lang="en">
                <a:solidFill>
                  <a:schemeClr val="dk2"/>
                </a:solidFill>
              </a:rPr>
              <a:t>2. </a:t>
            </a:r>
            <a:r>
              <a:rPr lang="en" u="sng">
                <a:solidFill>
                  <a:schemeClr val="dk2"/>
                </a:solidFill>
              </a:rPr>
              <a:t>Challenges</a:t>
            </a:r>
            <a:r>
              <a:rPr lang="en">
                <a:solidFill>
                  <a:schemeClr val="dk2"/>
                </a:solidFill>
              </a:rPr>
              <a:t>: Despite the progress, challenges remain in terms of data quality, model interpretability, and the need for more robust validation methods.</a:t>
            </a:r>
            <a:endParaRPr>
              <a:solidFill>
                <a:schemeClr val="dk2"/>
              </a:solidFill>
            </a:endParaRPr>
          </a:p>
          <a:p>
            <a:pPr indent="0" lvl="0" marL="0" rtl="0" algn="l">
              <a:spcBef>
                <a:spcPts val="1200"/>
              </a:spcBef>
              <a:spcAft>
                <a:spcPts val="0"/>
              </a:spcAft>
              <a:buNone/>
            </a:pPr>
            <a:r>
              <a:rPr lang="en">
                <a:solidFill>
                  <a:schemeClr val="dk2"/>
                </a:solidFill>
              </a:rPr>
              <a:t>3. </a:t>
            </a:r>
            <a:r>
              <a:rPr lang="en" u="sng">
                <a:solidFill>
                  <a:schemeClr val="dk2"/>
                </a:solidFill>
              </a:rPr>
              <a:t>Research Gaps</a:t>
            </a:r>
            <a:r>
              <a:rPr lang="en">
                <a:solidFill>
                  <a:schemeClr val="dk2"/>
                </a:solidFill>
              </a:rPr>
              <a:t>: The review identifies gaps in the literature, such as the need for more comprehensive studies on hybrid models and the exploration of emerging areas like cryptocurrency and reinforcement learning in portfolio management.</a:t>
            </a:r>
            <a:endParaRPr>
              <a:solidFill>
                <a:schemeClr val="dk2"/>
              </a:solidFill>
            </a:endParaRPr>
          </a:p>
          <a:p>
            <a:pPr indent="0" lvl="0" marL="0" rtl="0" algn="l">
              <a:spcBef>
                <a:spcPts val="1200"/>
              </a:spcBef>
              <a:spcAft>
                <a:spcPts val="0"/>
              </a:spcAft>
              <a:buNone/>
            </a:pPr>
            <a:r>
              <a:rPr lang="en">
                <a:solidFill>
                  <a:schemeClr val="dk2"/>
                </a:solidFill>
              </a:rPr>
              <a:t>4. </a:t>
            </a:r>
            <a:r>
              <a:rPr lang="en" u="sng">
                <a:solidFill>
                  <a:schemeClr val="dk2"/>
                </a:solidFill>
              </a:rPr>
              <a:t>Future Directions</a:t>
            </a:r>
            <a:r>
              <a:rPr lang="en">
                <a:solidFill>
                  <a:schemeClr val="dk2"/>
                </a:solidFill>
              </a:rPr>
              <a:t>: The paper suggests potential future research directions, including the integration of social media sentiment analysis, improved feature selection methods, and the application of novel machine learning techniques to enhance predictive accuracy. </a:t>
            </a:r>
            <a:endParaRPr>
              <a:solidFill>
                <a:schemeClr val="dk2"/>
              </a:solidFill>
            </a:endParaRPr>
          </a:p>
          <a:p>
            <a:pPr indent="0" lvl="0" marL="0" rtl="0" algn="l">
              <a:spcBef>
                <a:spcPts val="1200"/>
              </a:spcBef>
              <a:spcAft>
                <a:spcPts val="1200"/>
              </a:spcAft>
              <a:buNone/>
            </a:pPr>
            <a:r>
              <a:t/>
            </a:r>
            <a:endParaRPr>
              <a:solidFill>
                <a:schemeClr val="dk2"/>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0"/>
          <p:cNvSpPr txBox="1"/>
          <p:nvPr>
            <p:ph type="title"/>
          </p:nvPr>
        </p:nvSpPr>
        <p:spPr>
          <a:xfrm>
            <a:off x="729450" y="6328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COMMONLY USED MODELS</a:t>
            </a:r>
            <a:endParaRPr/>
          </a:p>
        </p:txBody>
      </p:sp>
      <p:sp>
        <p:nvSpPr>
          <p:cNvPr id="262" name="Google Shape;262;p40"/>
          <p:cNvSpPr txBox="1"/>
          <p:nvPr>
            <p:ph idx="1" type="body"/>
          </p:nvPr>
        </p:nvSpPr>
        <p:spPr>
          <a:xfrm>
            <a:off x="729450" y="1505400"/>
            <a:ext cx="3332400" cy="36381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None/>
            </a:pPr>
            <a:r>
              <a:rPr b="1" lang="en" sz="1516" u="sng"/>
              <a:t>ARIMA</a:t>
            </a:r>
            <a:endParaRPr b="1" sz="1516" u="sng"/>
          </a:p>
          <a:p>
            <a:pPr indent="0" lvl="0" marL="0" rtl="0" algn="l">
              <a:spcBef>
                <a:spcPts val="1200"/>
              </a:spcBef>
              <a:spcAft>
                <a:spcPts val="0"/>
              </a:spcAft>
              <a:buNone/>
            </a:pPr>
            <a:r>
              <a:rPr lang="en"/>
              <a:t>ARIMA is a widely used statistical model for analyzing and forecasting time series data. It combines AutoRegression (AR), Differencing (I), and Moving Average (MA) to handle trends and seasonality in time series.</a:t>
            </a:r>
            <a:endParaRPr/>
          </a:p>
          <a:p>
            <a:pPr indent="0" lvl="0" marL="0" rtl="0" algn="l">
              <a:spcBef>
                <a:spcPts val="1200"/>
              </a:spcBef>
              <a:spcAft>
                <a:spcPts val="0"/>
              </a:spcAft>
              <a:buNone/>
            </a:pPr>
            <a:r>
              <a:rPr lang="en"/>
              <a:t>ARIMA(p, d, q) where:</a:t>
            </a:r>
            <a:endParaRPr/>
          </a:p>
          <a:p>
            <a:pPr indent="0" lvl="0" marL="0" rtl="0" algn="l">
              <a:spcBef>
                <a:spcPts val="1200"/>
              </a:spcBef>
              <a:spcAft>
                <a:spcPts val="0"/>
              </a:spcAft>
              <a:buNone/>
            </a:pPr>
            <a:r>
              <a:rPr lang="en"/>
              <a:t>p = Order of autoregression (AR)</a:t>
            </a:r>
            <a:endParaRPr/>
          </a:p>
          <a:p>
            <a:pPr indent="0" lvl="0" marL="0" rtl="0" algn="l">
              <a:spcBef>
                <a:spcPts val="1200"/>
              </a:spcBef>
              <a:spcAft>
                <a:spcPts val="0"/>
              </a:spcAft>
              <a:buNone/>
            </a:pPr>
            <a:r>
              <a:rPr lang="en"/>
              <a:t>d = Number of differences (I)</a:t>
            </a:r>
            <a:endParaRPr/>
          </a:p>
          <a:p>
            <a:pPr indent="0" lvl="0" marL="0" rtl="0" algn="l">
              <a:spcBef>
                <a:spcPts val="1200"/>
              </a:spcBef>
              <a:spcAft>
                <a:spcPts val="0"/>
              </a:spcAft>
              <a:buNone/>
            </a:pPr>
            <a:r>
              <a:rPr lang="en"/>
              <a:t>q = Order of moving average (MA)</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id="263" name="Google Shape;263;p40"/>
          <p:cNvPicPr preferRelativeResize="0"/>
          <p:nvPr/>
        </p:nvPicPr>
        <p:blipFill>
          <a:blip r:embed="rId3">
            <a:alphaModFix/>
          </a:blip>
          <a:stretch>
            <a:fillRect/>
          </a:stretch>
        </p:blipFill>
        <p:spPr>
          <a:xfrm>
            <a:off x="4174600" y="2095507"/>
            <a:ext cx="4572001" cy="2009368"/>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41"/>
          <p:cNvSpPr txBox="1"/>
          <p:nvPr>
            <p:ph idx="1" type="body"/>
          </p:nvPr>
        </p:nvSpPr>
        <p:spPr>
          <a:xfrm>
            <a:off x="729450" y="1472550"/>
            <a:ext cx="3430800" cy="367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u="sng"/>
              <a:t>SARIMA</a:t>
            </a:r>
            <a:endParaRPr b="1" u="sng"/>
          </a:p>
          <a:p>
            <a:pPr indent="0" lvl="0" marL="0" rtl="0" algn="l">
              <a:spcBef>
                <a:spcPts val="1200"/>
              </a:spcBef>
              <a:spcAft>
                <a:spcPts val="0"/>
              </a:spcAft>
              <a:buNone/>
            </a:pPr>
            <a:r>
              <a:rPr lang="en"/>
              <a:t>SARIMA extends ARIMA by adding seasonal components to account for patterns that repeat over a fixed period (seasonality).</a:t>
            </a:r>
            <a:endParaRPr/>
          </a:p>
          <a:p>
            <a:pPr indent="0" lvl="0" marL="0" rtl="0" algn="l">
              <a:spcBef>
                <a:spcPts val="1200"/>
              </a:spcBef>
              <a:spcAft>
                <a:spcPts val="0"/>
              </a:spcAft>
              <a:buNone/>
            </a:pPr>
            <a:r>
              <a:rPr lang="en"/>
              <a:t>SARIMA(p, d, q)(P, D, Q, s) where:</a:t>
            </a:r>
            <a:endParaRPr/>
          </a:p>
          <a:p>
            <a:pPr indent="-311150" lvl="0" marL="457200" rtl="0" algn="l">
              <a:spcBef>
                <a:spcPts val="1200"/>
              </a:spcBef>
              <a:spcAft>
                <a:spcPts val="0"/>
              </a:spcAft>
              <a:buSzPts val="1300"/>
              <a:buChar char="●"/>
            </a:pPr>
            <a:r>
              <a:rPr lang="en"/>
              <a:t>p,d,q are as in ARIMA</a:t>
            </a:r>
            <a:endParaRPr/>
          </a:p>
          <a:p>
            <a:pPr indent="-311150" lvl="0" marL="457200" rtl="0" algn="l">
              <a:spcBef>
                <a:spcPts val="0"/>
              </a:spcBef>
              <a:spcAft>
                <a:spcPts val="0"/>
              </a:spcAft>
              <a:buSzPts val="1300"/>
              <a:buChar char="●"/>
            </a:pPr>
            <a:r>
              <a:rPr lang="en"/>
              <a:t>P,D,Q represent the seasonal part orders of AR, differencing, and MA</a:t>
            </a:r>
            <a:endParaRPr/>
          </a:p>
          <a:p>
            <a:pPr indent="-311150" lvl="0" marL="457200" rtl="0" algn="l">
              <a:spcBef>
                <a:spcPts val="0"/>
              </a:spcBef>
              <a:spcAft>
                <a:spcPts val="0"/>
              </a:spcAft>
              <a:buSzPts val="1300"/>
              <a:buChar char="●"/>
            </a:pPr>
            <a:r>
              <a:rPr lang="en"/>
              <a:t>s is the length of the seasonal cycle</a:t>
            </a:r>
            <a:endParaRPr/>
          </a:p>
          <a:p>
            <a:pPr indent="0" lvl="0" marL="0" rtl="0" algn="l">
              <a:spcBef>
                <a:spcPts val="1200"/>
              </a:spcBef>
              <a:spcAft>
                <a:spcPts val="1200"/>
              </a:spcAft>
              <a:buNone/>
            </a:pPr>
            <a:r>
              <a:t/>
            </a:r>
            <a:endParaRPr/>
          </a:p>
        </p:txBody>
      </p:sp>
      <p:pic>
        <p:nvPicPr>
          <p:cNvPr id="269" name="Google Shape;269;p41"/>
          <p:cNvPicPr preferRelativeResize="0"/>
          <p:nvPr/>
        </p:nvPicPr>
        <p:blipFill>
          <a:blip r:embed="rId3">
            <a:alphaModFix/>
          </a:blip>
          <a:stretch>
            <a:fillRect/>
          </a:stretch>
        </p:blipFill>
        <p:spPr>
          <a:xfrm>
            <a:off x="4309167" y="2210469"/>
            <a:ext cx="4505358" cy="17097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42"/>
          <p:cNvSpPr txBox="1"/>
          <p:nvPr>
            <p:ph idx="1" type="body"/>
          </p:nvPr>
        </p:nvSpPr>
        <p:spPr>
          <a:xfrm>
            <a:off x="678800" y="1320150"/>
            <a:ext cx="3893100" cy="36711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b="1" lang="en" u="sng"/>
              <a:t>RNN</a:t>
            </a:r>
            <a:endParaRPr b="1" u="sng"/>
          </a:p>
          <a:p>
            <a:pPr indent="0" lvl="0" marL="0" rtl="0" algn="l">
              <a:spcBef>
                <a:spcPts val="1200"/>
              </a:spcBef>
              <a:spcAft>
                <a:spcPts val="0"/>
              </a:spcAft>
              <a:buNone/>
            </a:pPr>
            <a:r>
              <a:rPr lang="en"/>
              <a:t>Recurrent Neural Networks (RNNs) are designed to handle sequential data, making them suitable for time series forecasting. They use feedback loops to process input sequences and maintain a hidden state that captures information from previous time steps.</a:t>
            </a:r>
            <a:endParaRPr/>
          </a:p>
          <a:p>
            <a:pPr indent="-304958" lvl="0" marL="457200" rtl="0" algn="l">
              <a:spcBef>
                <a:spcPts val="1200"/>
              </a:spcBef>
              <a:spcAft>
                <a:spcPts val="0"/>
              </a:spcAft>
              <a:buSzPct val="118181"/>
              <a:buAutoNum type="arabicPeriod"/>
            </a:pPr>
            <a:r>
              <a:rPr lang="en" sz="1100" u="sng">
                <a:solidFill>
                  <a:srgbClr val="000000"/>
                </a:solidFill>
              </a:rPr>
              <a:t>Hidden State</a:t>
            </a:r>
            <a:r>
              <a:rPr lang="en" sz="1100">
                <a:solidFill>
                  <a:srgbClr val="000000"/>
                </a:solidFill>
              </a:rPr>
              <a:t>: RNNs maintain a hidden state hth_tht​ that updates at each time step ttt based on the current input xtx_txt​ and the previous hidden state ht−1h_{t-1}ht−1​.</a:t>
            </a:r>
            <a:endParaRPr sz="1100">
              <a:solidFill>
                <a:srgbClr val="000000"/>
              </a:solidFill>
            </a:endParaRPr>
          </a:p>
          <a:p>
            <a:pPr indent="-293211" lvl="0" marL="457200" rtl="0" algn="l">
              <a:spcBef>
                <a:spcPts val="0"/>
              </a:spcBef>
              <a:spcAft>
                <a:spcPts val="0"/>
              </a:spcAft>
              <a:buSzPct val="100000"/>
              <a:buAutoNum type="arabicPeriod"/>
            </a:pPr>
            <a:r>
              <a:rPr lang="en" sz="1100" u="sng">
                <a:solidFill>
                  <a:srgbClr val="000000"/>
                </a:solidFill>
              </a:rPr>
              <a:t>Sequential Processing</a:t>
            </a:r>
            <a:r>
              <a:rPr lang="en" sz="1100">
                <a:solidFill>
                  <a:srgbClr val="000000"/>
                </a:solidFill>
              </a:rPr>
              <a:t>: The hidden state passes information from one time step to the next, capturing dependencies between the current and previous inputs.</a:t>
            </a:r>
            <a:endParaRPr sz="1100">
              <a:solidFill>
                <a:srgbClr val="000000"/>
              </a:solidFill>
            </a:endParaRPr>
          </a:p>
          <a:p>
            <a:pPr indent="-293211" lvl="0" marL="457200" rtl="0" algn="l">
              <a:spcBef>
                <a:spcPts val="0"/>
              </a:spcBef>
              <a:spcAft>
                <a:spcPts val="0"/>
              </a:spcAft>
              <a:buSzPct val="100000"/>
              <a:buAutoNum type="arabicPeriod"/>
            </a:pPr>
            <a:r>
              <a:rPr lang="en" sz="1100" u="sng">
                <a:solidFill>
                  <a:srgbClr val="000000"/>
                </a:solidFill>
              </a:rPr>
              <a:t>Output</a:t>
            </a:r>
            <a:r>
              <a:rPr lang="en" sz="1100">
                <a:solidFill>
                  <a:srgbClr val="000000"/>
                </a:solidFill>
              </a:rPr>
              <a:t>: At each time step, the RNN produces an output yty_tyt​ based on the hidden state</a:t>
            </a:r>
            <a:endParaRPr sz="1100">
              <a:solidFill>
                <a:srgbClr val="000000"/>
              </a:solidFill>
            </a:endParaRPr>
          </a:p>
          <a:p>
            <a:pPr indent="-293211" lvl="0" marL="457200" rtl="0" algn="l">
              <a:spcBef>
                <a:spcPts val="0"/>
              </a:spcBef>
              <a:spcAft>
                <a:spcPts val="0"/>
              </a:spcAft>
              <a:buClr>
                <a:srgbClr val="000000"/>
              </a:buClr>
              <a:buSzPct val="100000"/>
              <a:buAutoNum type="arabicPeriod"/>
            </a:pPr>
            <a:r>
              <a:rPr lang="en" sz="1100" u="sng">
                <a:solidFill>
                  <a:srgbClr val="000000"/>
                </a:solidFill>
              </a:rPr>
              <a:t>Backpropagation Through Time (BPTT): </a:t>
            </a:r>
            <a:r>
              <a:rPr lang="en" sz="1100">
                <a:solidFill>
                  <a:srgbClr val="000000"/>
                </a:solidFill>
              </a:rPr>
              <a:t>During training, RNNs use BPTT to update weights by propagating errors backward through the sequence.</a:t>
            </a:r>
            <a:endParaRPr sz="1100">
              <a:solidFill>
                <a:srgbClr val="000000"/>
              </a:solidFill>
            </a:endParaRPr>
          </a:p>
          <a:p>
            <a:pPr indent="0" lvl="0" marL="457200" rtl="0" algn="l">
              <a:spcBef>
                <a:spcPts val="1200"/>
              </a:spcBef>
              <a:spcAft>
                <a:spcPts val="1200"/>
              </a:spcAft>
              <a:buNone/>
            </a:pPr>
            <a:r>
              <a:t/>
            </a:r>
            <a:endParaRPr sz="1100">
              <a:solidFill>
                <a:srgbClr val="000000"/>
              </a:solidFill>
              <a:latin typeface="Arial"/>
              <a:ea typeface="Arial"/>
              <a:cs typeface="Arial"/>
              <a:sym typeface="Arial"/>
            </a:endParaRPr>
          </a:p>
        </p:txBody>
      </p:sp>
      <p:pic>
        <p:nvPicPr>
          <p:cNvPr id="275" name="Google Shape;275;p42"/>
          <p:cNvPicPr preferRelativeResize="0"/>
          <p:nvPr/>
        </p:nvPicPr>
        <p:blipFill rotWithShape="1">
          <a:blip r:embed="rId3">
            <a:alphaModFix/>
          </a:blip>
          <a:srcRect b="5814" l="0" r="0" t="5814"/>
          <a:stretch/>
        </p:blipFill>
        <p:spPr>
          <a:xfrm>
            <a:off x="4767974" y="2090250"/>
            <a:ext cx="4030526" cy="190567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43"/>
          <p:cNvSpPr txBox="1"/>
          <p:nvPr>
            <p:ph idx="1" type="body"/>
          </p:nvPr>
        </p:nvSpPr>
        <p:spPr>
          <a:xfrm>
            <a:off x="729450" y="1320150"/>
            <a:ext cx="3430800" cy="36711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n" u="sng"/>
              <a:t>LSTM</a:t>
            </a:r>
            <a:endParaRPr b="1" u="sng"/>
          </a:p>
          <a:p>
            <a:pPr indent="0" lvl="0" marL="0" rtl="0" algn="l">
              <a:spcBef>
                <a:spcPts val="1200"/>
              </a:spcBef>
              <a:spcAft>
                <a:spcPts val="0"/>
              </a:spcAft>
              <a:buNone/>
            </a:pPr>
            <a:r>
              <a:rPr lang="en"/>
              <a:t>LSTM (Long Short-Term Memory) is a type of recurrent neural network (RNN) designed to capture long-term dependencies in sequential data, making it highly effective for time series forecasting.</a:t>
            </a:r>
            <a:endParaRPr/>
          </a:p>
          <a:p>
            <a:pPr indent="-311150" lvl="0" marL="457200" rtl="0" algn="l">
              <a:spcBef>
                <a:spcPts val="1200"/>
              </a:spcBef>
              <a:spcAft>
                <a:spcPts val="0"/>
              </a:spcAft>
              <a:buSzPts val="1300"/>
              <a:buAutoNum type="arabicPeriod"/>
            </a:pPr>
            <a:r>
              <a:rPr lang="en" sz="1100" u="sng">
                <a:latin typeface="Arial"/>
                <a:ea typeface="Arial"/>
                <a:cs typeface="Arial"/>
                <a:sym typeface="Arial"/>
              </a:rPr>
              <a:t>Memory Cells</a:t>
            </a:r>
            <a:r>
              <a:rPr lang="en" sz="1100">
                <a:latin typeface="Arial"/>
                <a:ea typeface="Arial"/>
                <a:cs typeface="Arial"/>
                <a:sym typeface="Arial"/>
              </a:rPr>
              <a:t>: LSTM units contain memory cells that maintain information over time, which helps the model remember patterns in the time series data.</a:t>
            </a:r>
            <a:endParaRPr sz="1100">
              <a:latin typeface="Arial"/>
              <a:ea typeface="Arial"/>
              <a:cs typeface="Arial"/>
              <a:sym typeface="Arial"/>
            </a:endParaRPr>
          </a:p>
          <a:p>
            <a:pPr indent="-298450" lvl="0" marL="457200" rtl="0" algn="l">
              <a:spcBef>
                <a:spcPts val="0"/>
              </a:spcBef>
              <a:spcAft>
                <a:spcPts val="0"/>
              </a:spcAft>
              <a:buSzPts val="1100"/>
              <a:buFont typeface="Arial"/>
              <a:buAutoNum type="arabicPeriod"/>
            </a:pPr>
            <a:r>
              <a:rPr lang="en" sz="1100" u="sng">
                <a:latin typeface="Arial"/>
                <a:ea typeface="Arial"/>
                <a:cs typeface="Arial"/>
                <a:sym typeface="Arial"/>
              </a:rPr>
              <a:t>Gates</a:t>
            </a:r>
            <a:r>
              <a:rPr lang="en" sz="1100">
                <a:latin typeface="Arial"/>
                <a:ea typeface="Arial"/>
                <a:cs typeface="Arial"/>
                <a:sym typeface="Arial"/>
              </a:rPr>
              <a:t>: LSTM uses three gates to control the flow of information: Forget Gate, Input Gate, Output Gate</a:t>
            </a:r>
            <a:endParaRPr sz="1100">
              <a:latin typeface="Arial"/>
              <a:ea typeface="Arial"/>
              <a:cs typeface="Arial"/>
              <a:sym typeface="Arial"/>
            </a:endParaRPr>
          </a:p>
          <a:p>
            <a:pPr indent="-298450" lvl="0" marL="457200" rtl="0" algn="l">
              <a:spcBef>
                <a:spcPts val="0"/>
              </a:spcBef>
              <a:spcAft>
                <a:spcPts val="0"/>
              </a:spcAft>
              <a:buSzPts val="1100"/>
              <a:buFont typeface="Arial"/>
              <a:buAutoNum type="arabicPeriod"/>
            </a:pPr>
            <a:r>
              <a:rPr lang="en" sz="1100" u="sng">
                <a:latin typeface="Arial"/>
                <a:ea typeface="Arial"/>
                <a:cs typeface="Arial"/>
                <a:sym typeface="Arial"/>
              </a:rPr>
              <a:t>Cell State Update</a:t>
            </a:r>
            <a:r>
              <a:rPr lang="en" sz="1100">
                <a:latin typeface="Arial"/>
                <a:ea typeface="Arial"/>
                <a:cs typeface="Arial"/>
                <a:sym typeface="Arial"/>
              </a:rPr>
              <a:t>: The cell state is updated based on the forget and input gates. It allows LSTM to carry forward relevant information and discard irrelevant data.</a:t>
            </a:r>
            <a:endParaRPr sz="1100">
              <a:latin typeface="Arial"/>
              <a:ea typeface="Arial"/>
              <a:cs typeface="Arial"/>
              <a:sym typeface="Arial"/>
            </a:endParaRPr>
          </a:p>
        </p:txBody>
      </p:sp>
      <p:pic>
        <p:nvPicPr>
          <p:cNvPr id="281" name="Google Shape;281;p43"/>
          <p:cNvPicPr preferRelativeResize="0"/>
          <p:nvPr/>
        </p:nvPicPr>
        <p:blipFill>
          <a:blip r:embed="rId3">
            <a:alphaModFix/>
          </a:blip>
          <a:stretch>
            <a:fillRect/>
          </a:stretch>
        </p:blipFill>
        <p:spPr>
          <a:xfrm>
            <a:off x="4329075" y="2090250"/>
            <a:ext cx="4617218" cy="1905669"/>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44"/>
          <p:cNvSpPr txBox="1"/>
          <p:nvPr>
            <p:ph idx="1" type="body"/>
          </p:nvPr>
        </p:nvSpPr>
        <p:spPr>
          <a:xfrm>
            <a:off x="729450" y="1320150"/>
            <a:ext cx="3430800" cy="36711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b="1" lang="en" u="sng"/>
              <a:t>CNN</a:t>
            </a:r>
            <a:endParaRPr b="1" u="sng"/>
          </a:p>
          <a:p>
            <a:pPr indent="0" lvl="0" marL="0" rtl="0" algn="l">
              <a:spcBef>
                <a:spcPts val="1200"/>
              </a:spcBef>
              <a:spcAft>
                <a:spcPts val="0"/>
              </a:spcAft>
              <a:buNone/>
            </a:pPr>
            <a:r>
              <a:rPr lang="en"/>
              <a:t>Convolutional Neural Networks (CNNs), traditionally used for image processing, are also effective for time series forecasting by capturing local patterns and trends in the data through convolution operations.</a:t>
            </a:r>
            <a:endParaRPr/>
          </a:p>
          <a:p>
            <a:pPr indent="-298767" lvl="0" marL="457200" rtl="0" algn="l">
              <a:spcBef>
                <a:spcPts val="1200"/>
              </a:spcBef>
              <a:spcAft>
                <a:spcPts val="0"/>
              </a:spcAft>
              <a:buSzPct val="118181"/>
              <a:buAutoNum type="arabicPeriod"/>
            </a:pPr>
            <a:r>
              <a:rPr lang="en" sz="1100">
                <a:solidFill>
                  <a:srgbClr val="000000"/>
                </a:solidFill>
              </a:rPr>
              <a:t>Convolution Layers: CNNs use filters to slide over input data, identifying local patterns like trends or seasonality.</a:t>
            </a:r>
            <a:endParaRPr sz="1100">
              <a:solidFill>
                <a:srgbClr val="000000"/>
              </a:solidFill>
            </a:endParaRPr>
          </a:p>
          <a:p>
            <a:pPr indent="-287972" lvl="0" marL="457200" rtl="0" algn="l">
              <a:spcBef>
                <a:spcPts val="0"/>
              </a:spcBef>
              <a:spcAft>
                <a:spcPts val="0"/>
              </a:spcAft>
              <a:buClr>
                <a:srgbClr val="000000"/>
              </a:buClr>
              <a:buSzPct val="100000"/>
              <a:buFont typeface="Arial"/>
              <a:buAutoNum type="arabicPeriod"/>
            </a:pPr>
            <a:r>
              <a:rPr lang="en" sz="1100">
                <a:solidFill>
                  <a:srgbClr val="000000"/>
                </a:solidFill>
              </a:rPr>
              <a:t>Pooling: Pooling layers (e.g., max-pooling) reduce dimensionality, preserving key features while minimizing noise.</a:t>
            </a:r>
            <a:endParaRPr sz="1100">
              <a:solidFill>
                <a:srgbClr val="000000"/>
              </a:solidFill>
            </a:endParaRPr>
          </a:p>
          <a:p>
            <a:pPr indent="-287972" lvl="0" marL="457200" rtl="0" algn="l">
              <a:spcBef>
                <a:spcPts val="0"/>
              </a:spcBef>
              <a:spcAft>
                <a:spcPts val="0"/>
              </a:spcAft>
              <a:buClr>
                <a:srgbClr val="000000"/>
              </a:buClr>
              <a:buSzPct val="100000"/>
              <a:buFont typeface="Arial"/>
              <a:buAutoNum type="arabicPeriod"/>
            </a:pPr>
            <a:r>
              <a:rPr lang="en" sz="1100">
                <a:solidFill>
                  <a:srgbClr val="000000"/>
                </a:solidFill>
              </a:rPr>
              <a:t>Feature Learning: Stacked convolutional layers extract higher-level, abstract features from the time series.</a:t>
            </a:r>
            <a:endParaRPr sz="1100">
              <a:solidFill>
                <a:srgbClr val="000000"/>
              </a:solidFill>
            </a:endParaRPr>
          </a:p>
          <a:p>
            <a:pPr indent="-287972" lvl="0" marL="457200" rtl="0" algn="l">
              <a:spcBef>
                <a:spcPts val="0"/>
              </a:spcBef>
              <a:spcAft>
                <a:spcPts val="0"/>
              </a:spcAft>
              <a:buClr>
                <a:srgbClr val="000000"/>
              </a:buClr>
              <a:buSzPct val="100000"/>
              <a:buFont typeface="Arial"/>
              <a:buAutoNum type="arabicPeriod"/>
            </a:pPr>
            <a:r>
              <a:rPr lang="en" sz="1100">
                <a:solidFill>
                  <a:srgbClr val="000000"/>
                </a:solidFill>
              </a:rPr>
              <a:t>Fully Connected Layer: Flattened features are fed into a fully connected layer for final prediction.</a:t>
            </a:r>
            <a:endParaRPr sz="1100">
              <a:solidFill>
                <a:srgbClr val="000000"/>
              </a:solidFill>
            </a:endParaRPr>
          </a:p>
          <a:p>
            <a:pPr indent="-287972" lvl="0" marL="457200" rtl="0" algn="l">
              <a:spcBef>
                <a:spcPts val="0"/>
              </a:spcBef>
              <a:spcAft>
                <a:spcPts val="0"/>
              </a:spcAft>
              <a:buClr>
                <a:srgbClr val="000000"/>
              </a:buClr>
              <a:buSzPct val="100000"/>
              <a:buFont typeface="Arial"/>
              <a:buAutoNum type="arabicPeriod"/>
            </a:pPr>
            <a:r>
              <a:rPr lang="en" sz="1100">
                <a:solidFill>
                  <a:srgbClr val="000000"/>
                </a:solidFill>
              </a:rPr>
              <a:t>Non-Linearity: Activation functions like ReLU introduce non-linearity, helping the model learn complex patterns.</a:t>
            </a:r>
            <a:endParaRPr sz="1100">
              <a:solidFill>
                <a:srgbClr val="000000"/>
              </a:solidFill>
            </a:endParaRPr>
          </a:p>
          <a:p>
            <a:pPr indent="0" lvl="0" marL="457200" rtl="0" algn="l">
              <a:spcBef>
                <a:spcPts val="1200"/>
              </a:spcBef>
              <a:spcAft>
                <a:spcPts val="1200"/>
              </a:spcAft>
              <a:buNone/>
            </a:pPr>
            <a:r>
              <a:t/>
            </a:r>
            <a:endParaRPr sz="1100">
              <a:latin typeface="Arial"/>
              <a:ea typeface="Arial"/>
              <a:cs typeface="Arial"/>
              <a:sym typeface="Arial"/>
            </a:endParaRPr>
          </a:p>
        </p:txBody>
      </p:sp>
      <p:pic>
        <p:nvPicPr>
          <p:cNvPr id="287" name="Google Shape;287;p44"/>
          <p:cNvPicPr preferRelativeResize="0"/>
          <p:nvPr/>
        </p:nvPicPr>
        <p:blipFill>
          <a:blip r:embed="rId3">
            <a:alphaModFix/>
          </a:blip>
          <a:stretch>
            <a:fillRect/>
          </a:stretch>
        </p:blipFill>
        <p:spPr>
          <a:xfrm>
            <a:off x="4324575" y="2262125"/>
            <a:ext cx="4589974" cy="152697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5"/>
          <p:cNvSpPr txBox="1"/>
          <p:nvPr>
            <p:ph idx="1" type="body"/>
          </p:nvPr>
        </p:nvSpPr>
        <p:spPr>
          <a:xfrm>
            <a:off x="729450" y="1320150"/>
            <a:ext cx="3742800" cy="36711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0"/>
              </a:spcAft>
              <a:buNone/>
            </a:pPr>
            <a:r>
              <a:rPr b="1" lang="en" u="sng"/>
              <a:t>ARCH</a:t>
            </a:r>
            <a:endParaRPr b="1" u="sng"/>
          </a:p>
          <a:p>
            <a:pPr indent="0" lvl="0" marL="0" rtl="0" algn="l">
              <a:spcBef>
                <a:spcPts val="1200"/>
              </a:spcBef>
              <a:spcAft>
                <a:spcPts val="0"/>
              </a:spcAft>
              <a:buNone/>
            </a:pPr>
            <a:r>
              <a:rPr lang="en"/>
              <a:t>ARCH is an Autoregressive model with Conditional Heteroskedasticity .</a:t>
            </a:r>
            <a:endParaRPr/>
          </a:p>
          <a:p>
            <a:pPr indent="0" lvl="0" marL="0" rtl="0" algn="l">
              <a:spcBef>
                <a:spcPts val="1200"/>
              </a:spcBef>
              <a:spcAft>
                <a:spcPts val="0"/>
              </a:spcAft>
              <a:buNone/>
            </a:pPr>
            <a:r>
              <a:rPr lang="en"/>
              <a:t>“The ARCH process introduced by Engle (1982) explicitly recognizes the difference between the unconditional and the conditional variance allowing the latter to change over time as a function of past errors.”</a:t>
            </a:r>
            <a:endParaRPr/>
          </a:p>
          <a:p>
            <a:pPr indent="0" lvl="0" marL="0" rtl="0" algn="l">
              <a:spcBef>
                <a:spcPts val="1200"/>
              </a:spcBef>
              <a:spcAft>
                <a:spcPts val="0"/>
              </a:spcAft>
              <a:buNone/>
            </a:pPr>
            <a:r>
              <a:rPr lang="en"/>
              <a:t>Autoregressive: The current value can be expressed as a function of the previous values i.e. they are correlated.</a:t>
            </a:r>
            <a:endParaRPr/>
          </a:p>
          <a:p>
            <a:pPr indent="0" lvl="0" marL="0" rtl="0" algn="l">
              <a:spcBef>
                <a:spcPts val="1200"/>
              </a:spcBef>
              <a:spcAft>
                <a:spcPts val="0"/>
              </a:spcAft>
              <a:buNone/>
            </a:pPr>
            <a:r>
              <a:rPr lang="en"/>
              <a:t>Conditional: This informs that the variance is based on past errors.</a:t>
            </a:r>
            <a:endParaRPr/>
          </a:p>
          <a:p>
            <a:pPr indent="0" lvl="0" marL="0" rtl="0" algn="l">
              <a:spcBef>
                <a:spcPts val="1200"/>
              </a:spcBef>
              <a:spcAft>
                <a:spcPts val="0"/>
              </a:spcAft>
              <a:buNone/>
            </a:pPr>
            <a:r>
              <a:rPr lang="en"/>
              <a:t>Heteroskedasticity: This implies the series displays unusual variance (varying variance).</a:t>
            </a:r>
            <a:endParaRPr/>
          </a:p>
          <a:p>
            <a:pPr indent="0" lvl="0" marL="0" rtl="0" algn="l">
              <a:spcBef>
                <a:spcPts val="1200"/>
              </a:spcBef>
              <a:spcAft>
                <a:spcPts val="1200"/>
              </a:spcAft>
              <a:buNone/>
            </a:pPr>
            <a:r>
              <a:t/>
            </a:r>
            <a:endParaRPr b="1" u="sng"/>
          </a:p>
        </p:txBody>
      </p:sp>
      <p:pic>
        <p:nvPicPr>
          <p:cNvPr id="293" name="Google Shape;293;p45"/>
          <p:cNvPicPr preferRelativeResize="0"/>
          <p:nvPr/>
        </p:nvPicPr>
        <p:blipFill>
          <a:blip r:embed="rId3">
            <a:alphaModFix/>
          </a:blip>
          <a:stretch>
            <a:fillRect/>
          </a:stretch>
        </p:blipFill>
        <p:spPr>
          <a:xfrm>
            <a:off x="4867600" y="1499864"/>
            <a:ext cx="3808899" cy="3311675"/>
          </a:xfrm>
          <a:prstGeom prst="rect">
            <a:avLst/>
          </a:prstGeom>
          <a:noFill/>
          <a:ln>
            <a:noFill/>
          </a:ln>
        </p:spPr>
      </p:pic>
      <p:sp>
        <p:nvSpPr>
          <p:cNvPr id="294" name="Google Shape;294;p45"/>
          <p:cNvSpPr txBox="1"/>
          <p:nvPr/>
        </p:nvSpPr>
        <p:spPr>
          <a:xfrm>
            <a:off x="3734025" y="4909425"/>
            <a:ext cx="5780700" cy="6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999999"/>
                </a:solidFill>
                <a:latin typeface="Lato"/>
                <a:ea typeface="Lato"/>
                <a:cs typeface="Lato"/>
                <a:sym typeface="Lato"/>
              </a:rPr>
              <a:t>Source:https://medium.com/@ranjithkumar.rocking/time-series-model-s-arch-and-garch-2781a982b448</a:t>
            </a:r>
            <a:endParaRPr sz="900">
              <a:solidFill>
                <a:srgbClr val="999999"/>
              </a:solidFill>
              <a:latin typeface="Lato"/>
              <a:ea typeface="Lato"/>
              <a:cs typeface="Lato"/>
              <a:sym typeface="Lato"/>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46"/>
          <p:cNvSpPr txBox="1"/>
          <p:nvPr>
            <p:ph idx="1" type="body"/>
          </p:nvPr>
        </p:nvSpPr>
        <p:spPr>
          <a:xfrm>
            <a:off x="729450" y="1320150"/>
            <a:ext cx="3742800" cy="367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u="sng"/>
              <a:t>G</a:t>
            </a:r>
            <a:r>
              <a:rPr b="1" lang="en" u="sng"/>
              <a:t>ARCH</a:t>
            </a:r>
            <a:endParaRPr b="1" u="sng"/>
          </a:p>
          <a:p>
            <a:pPr indent="0" lvl="0" marL="0" rtl="0" algn="l">
              <a:spcBef>
                <a:spcPts val="1200"/>
              </a:spcBef>
              <a:spcAft>
                <a:spcPts val="0"/>
              </a:spcAft>
              <a:buNone/>
            </a:pPr>
            <a:r>
              <a:rPr lang="en"/>
              <a:t>GARCH (Generalized Autoregressive Conditional Heteroskedasticity) is a statistical model used to forecast time series data, particularly for financial data where volatility varies over time (heteroskedasticity).</a:t>
            </a:r>
            <a:endParaRPr/>
          </a:p>
          <a:p>
            <a:pPr indent="0" lvl="0" marL="0" rtl="0" algn="l">
              <a:spcBef>
                <a:spcPts val="1200"/>
              </a:spcBef>
              <a:spcAft>
                <a:spcPts val="0"/>
              </a:spcAft>
              <a:buNone/>
            </a:pPr>
            <a:r>
              <a:rPr lang="en"/>
              <a:t>In a GARCH model, the conditional variance of the error term at time ttt is expressed as a function of past squared residuals and past variances. </a:t>
            </a:r>
            <a:endParaRPr/>
          </a:p>
          <a:p>
            <a:pPr indent="0" lvl="0" marL="0" rtl="0" algn="l">
              <a:spcBef>
                <a:spcPts val="1200"/>
              </a:spcBef>
              <a:spcAft>
                <a:spcPts val="1200"/>
              </a:spcAft>
              <a:buNone/>
            </a:pPr>
            <a:r>
              <a:t/>
            </a:r>
            <a:endParaRPr b="1" u="sng"/>
          </a:p>
        </p:txBody>
      </p:sp>
      <p:pic>
        <p:nvPicPr>
          <p:cNvPr id="300" name="Google Shape;300;p46"/>
          <p:cNvPicPr preferRelativeResize="0"/>
          <p:nvPr/>
        </p:nvPicPr>
        <p:blipFill>
          <a:blip r:embed="rId3">
            <a:alphaModFix/>
          </a:blip>
          <a:stretch>
            <a:fillRect/>
          </a:stretch>
        </p:blipFill>
        <p:spPr>
          <a:xfrm>
            <a:off x="4900425" y="1466175"/>
            <a:ext cx="3742800" cy="3225466"/>
          </a:xfrm>
          <a:prstGeom prst="rect">
            <a:avLst/>
          </a:prstGeom>
          <a:noFill/>
          <a:ln>
            <a:noFill/>
          </a:ln>
        </p:spPr>
      </p:pic>
      <p:sp>
        <p:nvSpPr>
          <p:cNvPr id="301" name="Google Shape;301;p46"/>
          <p:cNvSpPr txBox="1"/>
          <p:nvPr/>
        </p:nvSpPr>
        <p:spPr>
          <a:xfrm>
            <a:off x="3695050" y="4918925"/>
            <a:ext cx="82824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rgbClr val="999999"/>
                </a:solidFill>
                <a:latin typeface="Lato"/>
                <a:ea typeface="Lato"/>
                <a:cs typeface="Lato"/>
                <a:sym typeface="Lato"/>
              </a:rPr>
              <a:t>Source:https://medium.com/@ranjithkumar.rocking/time-series-model-s-arch-and-garch-2781a982b448</a:t>
            </a:r>
            <a:endParaRPr sz="900">
              <a:solidFill>
                <a:srgbClr val="999999"/>
              </a:solidFill>
              <a:latin typeface="Lato"/>
              <a:ea typeface="Lato"/>
              <a:cs typeface="Lato"/>
              <a:sym typeface="Lato"/>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pic>
        <p:nvPicPr>
          <p:cNvPr id="306" name="Google Shape;306;p47"/>
          <p:cNvPicPr preferRelativeResize="0"/>
          <p:nvPr/>
        </p:nvPicPr>
        <p:blipFill>
          <a:blip r:embed="rId3">
            <a:alphaModFix/>
          </a:blip>
          <a:stretch>
            <a:fillRect/>
          </a:stretch>
        </p:blipFill>
        <p:spPr>
          <a:xfrm>
            <a:off x="152400" y="3029219"/>
            <a:ext cx="8839200" cy="1441777"/>
          </a:xfrm>
          <a:prstGeom prst="rect">
            <a:avLst/>
          </a:prstGeom>
          <a:noFill/>
          <a:ln>
            <a:noFill/>
          </a:ln>
        </p:spPr>
      </p:pic>
      <p:pic>
        <p:nvPicPr>
          <p:cNvPr id="307" name="Google Shape;307;p47"/>
          <p:cNvPicPr preferRelativeResize="0"/>
          <p:nvPr/>
        </p:nvPicPr>
        <p:blipFill>
          <a:blip r:embed="rId4">
            <a:alphaModFix/>
          </a:blip>
          <a:stretch>
            <a:fillRect/>
          </a:stretch>
        </p:blipFill>
        <p:spPr>
          <a:xfrm>
            <a:off x="152400" y="622125"/>
            <a:ext cx="8839200" cy="1646953"/>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pic>
        <p:nvPicPr>
          <p:cNvPr id="312" name="Google Shape;312;p48"/>
          <p:cNvPicPr preferRelativeResize="0"/>
          <p:nvPr/>
        </p:nvPicPr>
        <p:blipFill>
          <a:blip r:embed="rId3">
            <a:alphaModFix/>
          </a:blip>
          <a:stretch>
            <a:fillRect/>
          </a:stretch>
        </p:blipFill>
        <p:spPr>
          <a:xfrm>
            <a:off x="152400" y="2508179"/>
            <a:ext cx="8839200" cy="1967973"/>
          </a:xfrm>
          <a:prstGeom prst="rect">
            <a:avLst/>
          </a:prstGeom>
          <a:noFill/>
          <a:ln>
            <a:noFill/>
          </a:ln>
        </p:spPr>
      </p:pic>
      <p:pic>
        <p:nvPicPr>
          <p:cNvPr id="313" name="Google Shape;313;p48"/>
          <p:cNvPicPr preferRelativeResize="0"/>
          <p:nvPr/>
        </p:nvPicPr>
        <p:blipFill>
          <a:blip r:embed="rId4">
            <a:alphaModFix/>
          </a:blip>
          <a:stretch>
            <a:fillRect/>
          </a:stretch>
        </p:blipFill>
        <p:spPr>
          <a:xfrm>
            <a:off x="152400" y="452500"/>
            <a:ext cx="8839199" cy="1250882"/>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9"/>
          <p:cNvSpPr txBox="1"/>
          <p:nvPr>
            <p:ph idx="1" type="body"/>
          </p:nvPr>
        </p:nvSpPr>
        <p:spPr>
          <a:xfrm>
            <a:off x="496350" y="2467551"/>
            <a:ext cx="7697400" cy="460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4600">
                <a:solidFill>
                  <a:schemeClr val="dk2"/>
                </a:solidFill>
                <a:latin typeface="Raleway Black"/>
                <a:ea typeface="Raleway Black"/>
                <a:cs typeface="Raleway Black"/>
                <a:sym typeface="Raleway Black"/>
              </a:rPr>
              <a:t>PROBLEM STATEMENT</a:t>
            </a:r>
            <a:endParaRPr sz="4600">
              <a:solidFill>
                <a:schemeClr val="dk2"/>
              </a:solidFill>
              <a:latin typeface="Raleway Black"/>
              <a:ea typeface="Raleway Black"/>
              <a:cs typeface="Raleway Black"/>
              <a:sym typeface="Raleway Black"/>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50"/>
          <p:cNvSpPr txBox="1"/>
          <p:nvPr>
            <p:ph type="title"/>
          </p:nvPr>
        </p:nvSpPr>
        <p:spPr>
          <a:xfrm>
            <a:off x="729450" y="67742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PROBLEMS AND CHALLENGES</a:t>
            </a:r>
            <a:endParaRPr/>
          </a:p>
        </p:txBody>
      </p:sp>
      <p:sp>
        <p:nvSpPr>
          <p:cNvPr id="324" name="Google Shape;324;p50"/>
          <p:cNvSpPr txBox="1"/>
          <p:nvPr>
            <p:ph idx="1" type="body"/>
          </p:nvPr>
        </p:nvSpPr>
        <p:spPr>
          <a:xfrm>
            <a:off x="729450" y="1603925"/>
            <a:ext cx="7963500" cy="36378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sz="1400" u="sng">
                <a:solidFill>
                  <a:srgbClr val="000000"/>
                </a:solidFill>
              </a:rPr>
              <a:t>Data Quality and Availability</a:t>
            </a:r>
            <a:r>
              <a:rPr lang="en" sz="1400">
                <a:solidFill>
                  <a:srgbClr val="000000"/>
                </a:solidFill>
              </a:rPr>
              <a:t>:</a:t>
            </a:r>
            <a:br>
              <a:rPr lang="en" sz="1400">
                <a:solidFill>
                  <a:srgbClr val="000000"/>
                </a:solidFill>
              </a:rPr>
            </a:br>
            <a:r>
              <a:rPr lang="en" sz="1400">
                <a:solidFill>
                  <a:srgbClr val="000000"/>
                </a:solidFill>
              </a:rPr>
              <a:t>Forecasting is often hindered by missing data or gaps in historical records, which can lead to inaccurate predictions. The quality and relevance of the data are crucial to producing reliable forecasts.</a:t>
            </a:r>
            <a:endParaRPr sz="1400">
              <a:solidFill>
                <a:srgbClr val="000000"/>
              </a:solidFill>
            </a:endParaRPr>
          </a:p>
          <a:p>
            <a:pPr indent="0" lvl="0" marL="0" rtl="0" algn="l">
              <a:spcBef>
                <a:spcPts val="1200"/>
              </a:spcBef>
              <a:spcAft>
                <a:spcPts val="0"/>
              </a:spcAft>
              <a:buNone/>
            </a:pPr>
            <a:r>
              <a:t/>
            </a:r>
            <a:endParaRPr sz="1400">
              <a:solidFill>
                <a:srgbClr val="000000"/>
              </a:solidFill>
            </a:endParaRPr>
          </a:p>
          <a:p>
            <a:pPr indent="0" lvl="0" marL="0" rtl="0" algn="l">
              <a:spcBef>
                <a:spcPts val="1200"/>
              </a:spcBef>
              <a:spcAft>
                <a:spcPts val="0"/>
              </a:spcAft>
              <a:buNone/>
            </a:pPr>
            <a:r>
              <a:rPr lang="en" sz="1400" u="sng">
                <a:solidFill>
                  <a:srgbClr val="000000"/>
                </a:solidFill>
              </a:rPr>
              <a:t>Nonstationarity and Structural Breaks</a:t>
            </a:r>
            <a:r>
              <a:rPr lang="en" sz="1400">
                <a:solidFill>
                  <a:srgbClr val="000000"/>
                </a:solidFill>
              </a:rPr>
              <a:t>:</a:t>
            </a:r>
            <a:br>
              <a:rPr lang="en" sz="1400">
                <a:solidFill>
                  <a:srgbClr val="000000"/>
                </a:solidFill>
              </a:rPr>
            </a:br>
            <a:r>
              <a:rPr lang="en" sz="1400">
                <a:solidFill>
                  <a:srgbClr val="000000"/>
                </a:solidFill>
              </a:rPr>
              <a:t>Financial time series often exhibit nonstationarity, where statistical properties change over time due to factors like market regulations or global events. Structural breaks can further disrupt forecasting models, impacting their accuracy.</a:t>
            </a:r>
            <a:endParaRPr sz="1400">
              <a:solidFill>
                <a:srgbClr val="000000"/>
              </a:solidFill>
            </a:endParaRPr>
          </a:p>
          <a:p>
            <a:pPr indent="0" lvl="0" marL="0" rtl="0" algn="l">
              <a:spcBef>
                <a:spcPts val="1200"/>
              </a:spcBef>
              <a:spcAft>
                <a:spcPts val="0"/>
              </a:spcAft>
              <a:buNone/>
            </a:pPr>
            <a:r>
              <a:t/>
            </a:r>
            <a:endParaRPr sz="1400">
              <a:solidFill>
                <a:srgbClr val="000000"/>
              </a:solidFill>
            </a:endParaRPr>
          </a:p>
          <a:p>
            <a:pPr indent="0" lvl="0" marL="0" rtl="0" algn="l">
              <a:spcBef>
                <a:spcPts val="1200"/>
              </a:spcBef>
              <a:spcAft>
                <a:spcPts val="0"/>
              </a:spcAft>
              <a:buNone/>
            </a:pPr>
            <a:r>
              <a:rPr lang="en" sz="1400" u="sng">
                <a:solidFill>
                  <a:srgbClr val="000000"/>
                </a:solidFill>
              </a:rPr>
              <a:t>Complexity and Nonlinearity</a:t>
            </a:r>
            <a:r>
              <a:rPr lang="en" sz="1400">
                <a:solidFill>
                  <a:srgbClr val="000000"/>
                </a:solidFill>
              </a:rPr>
              <a:t>:</a:t>
            </a:r>
            <a:br>
              <a:rPr lang="en" sz="1400">
                <a:solidFill>
                  <a:srgbClr val="000000"/>
                </a:solidFill>
              </a:rPr>
            </a:br>
            <a:r>
              <a:rPr lang="en" sz="1400">
                <a:solidFill>
                  <a:srgbClr val="000000"/>
                </a:solidFill>
              </a:rPr>
              <a:t>Financial markets are complex and often feature nonlinear relationships between variables. Capturing these nonlinearities requires advanced models like neural networks or ensemble methods, as linear models may not fully capture the dynamics.</a:t>
            </a:r>
            <a:endParaRPr sz="1400">
              <a:solidFill>
                <a:srgbClr val="000000"/>
              </a:solidFill>
            </a:endParaRPr>
          </a:p>
          <a:p>
            <a:pPr indent="0" lvl="0" marL="0" rtl="0" algn="l">
              <a:spcBef>
                <a:spcPts val="1200"/>
              </a:spcBef>
              <a:spcAft>
                <a:spcPts val="0"/>
              </a:spcAft>
              <a:buNone/>
            </a:pPr>
            <a:r>
              <a:t/>
            </a:r>
            <a:endParaRPr sz="1400">
              <a:solidFill>
                <a:srgbClr val="000000"/>
              </a:solidFill>
            </a:endParaRPr>
          </a:p>
          <a:p>
            <a:pPr indent="0" lvl="0" marL="0" rtl="0" algn="l">
              <a:spcBef>
                <a:spcPts val="1200"/>
              </a:spcBef>
              <a:spcAft>
                <a:spcPts val="1200"/>
              </a:spcAft>
              <a:buNone/>
            </a:pPr>
            <a:r>
              <a:t/>
            </a:r>
            <a:endParaRPr>
              <a:solidFill>
                <a:srgbClr val="000000"/>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51"/>
          <p:cNvSpPr txBox="1"/>
          <p:nvPr>
            <p:ph idx="1" type="body"/>
          </p:nvPr>
        </p:nvSpPr>
        <p:spPr>
          <a:xfrm>
            <a:off x="738575" y="1320150"/>
            <a:ext cx="8145600" cy="36708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en" sz="1000" u="sng">
                <a:solidFill>
                  <a:srgbClr val="000000"/>
                </a:solidFill>
              </a:rPr>
              <a:t>Volatility and Uncertainty</a:t>
            </a:r>
            <a:r>
              <a:rPr lang="en" sz="1000">
                <a:solidFill>
                  <a:srgbClr val="000000"/>
                </a:solidFill>
              </a:rPr>
              <a:t>:</a:t>
            </a:r>
            <a:br>
              <a:rPr lang="en" sz="1000">
                <a:solidFill>
                  <a:srgbClr val="000000"/>
                </a:solidFill>
              </a:rPr>
            </a:br>
            <a:r>
              <a:rPr lang="en" sz="1000">
                <a:solidFill>
                  <a:srgbClr val="000000"/>
                </a:solidFill>
              </a:rPr>
              <a:t>High volatility and sudden price fluctuations in financial markets pose significant forecasting challenges. Accounting for this uncertainty is essential to improve prediction accuracy.</a:t>
            </a:r>
            <a:endParaRPr sz="1000">
              <a:solidFill>
                <a:srgbClr val="000000"/>
              </a:solidFill>
            </a:endParaRPr>
          </a:p>
          <a:p>
            <a:pPr indent="0" lvl="0" marL="0" rtl="0" algn="l">
              <a:spcBef>
                <a:spcPts val="1200"/>
              </a:spcBef>
              <a:spcAft>
                <a:spcPts val="0"/>
              </a:spcAft>
              <a:buNone/>
            </a:pPr>
            <a:r>
              <a:t/>
            </a:r>
            <a:endParaRPr sz="1000">
              <a:solidFill>
                <a:srgbClr val="000000"/>
              </a:solidFill>
            </a:endParaRPr>
          </a:p>
          <a:p>
            <a:pPr indent="0" lvl="0" marL="0" rtl="0" algn="l">
              <a:spcBef>
                <a:spcPts val="1200"/>
              </a:spcBef>
              <a:spcAft>
                <a:spcPts val="0"/>
              </a:spcAft>
              <a:buNone/>
            </a:pPr>
            <a:r>
              <a:rPr lang="en" sz="1000" u="sng">
                <a:solidFill>
                  <a:srgbClr val="000000"/>
                </a:solidFill>
              </a:rPr>
              <a:t>Overfitting and Generalization</a:t>
            </a:r>
            <a:r>
              <a:rPr lang="en" sz="1000">
                <a:solidFill>
                  <a:srgbClr val="000000"/>
                </a:solidFill>
              </a:rPr>
              <a:t>:</a:t>
            </a:r>
            <a:br>
              <a:rPr lang="en" sz="1000">
                <a:solidFill>
                  <a:srgbClr val="000000"/>
                </a:solidFill>
              </a:rPr>
            </a:br>
            <a:r>
              <a:rPr lang="en" sz="1000">
                <a:solidFill>
                  <a:srgbClr val="000000"/>
                </a:solidFill>
              </a:rPr>
              <a:t>Models risk overfitting to training data, performing poorly on unseen data. Balancing model complexity with generalization is key to ensuring reliable real-world performance.</a:t>
            </a:r>
            <a:endParaRPr sz="1000">
              <a:solidFill>
                <a:srgbClr val="000000"/>
              </a:solidFill>
            </a:endParaRPr>
          </a:p>
          <a:p>
            <a:pPr indent="0" lvl="0" marL="0" rtl="0" algn="l">
              <a:spcBef>
                <a:spcPts val="1200"/>
              </a:spcBef>
              <a:spcAft>
                <a:spcPts val="0"/>
              </a:spcAft>
              <a:buNone/>
            </a:pPr>
            <a:r>
              <a:t/>
            </a:r>
            <a:endParaRPr sz="1000">
              <a:solidFill>
                <a:srgbClr val="000000"/>
              </a:solidFill>
            </a:endParaRPr>
          </a:p>
          <a:p>
            <a:pPr indent="0" lvl="0" marL="0" rtl="0" algn="l">
              <a:spcBef>
                <a:spcPts val="1200"/>
              </a:spcBef>
              <a:spcAft>
                <a:spcPts val="0"/>
              </a:spcAft>
              <a:buNone/>
            </a:pPr>
            <a:r>
              <a:rPr lang="en" sz="1000" u="sng">
                <a:solidFill>
                  <a:srgbClr val="000000"/>
                </a:solidFill>
              </a:rPr>
              <a:t>Evaluation and Comparison</a:t>
            </a:r>
            <a:r>
              <a:rPr lang="en" sz="1000">
                <a:solidFill>
                  <a:srgbClr val="000000"/>
                </a:solidFill>
              </a:rPr>
              <a:t>:</a:t>
            </a:r>
            <a:br>
              <a:rPr lang="en" sz="1000">
                <a:solidFill>
                  <a:srgbClr val="000000"/>
                </a:solidFill>
              </a:rPr>
            </a:br>
            <a:r>
              <a:rPr lang="en" sz="1000">
                <a:solidFill>
                  <a:srgbClr val="000000"/>
                </a:solidFill>
              </a:rPr>
              <a:t>Comparing forecasting models is complex due to varying evaluation metrics and benchmarks. Developing standardized evaluation frameworks is important for fair comparisons and effective decision-making.</a:t>
            </a:r>
            <a:endParaRPr sz="1000">
              <a:solidFill>
                <a:srgbClr val="000000"/>
              </a:solidFill>
            </a:endParaRPr>
          </a:p>
          <a:p>
            <a:pPr indent="0" lvl="0" marL="0" rtl="0" algn="l">
              <a:spcBef>
                <a:spcPts val="1200"/>
              </a:spcBef>
              <a:spcAft>
                <a:spcPts val="0"/>
              </a:spcAft>
              <a:buNone/>
            </a:pPr>
            <a:r>
              <a:t/>
            </a:r>
            <a:endParaRPr sz="1000">
              <a:solidFill>
                <a:srgbClr val="000000"/>
              </a:solidFill>
            </a:endParaRPr>
          </a:p>
          <a:p>
            <a:pPr indent="0" lvl="0" marL="0" rtl="0" algn="l">
              <a:spcBef>
                <a:spcPts val="1200"/>
              </a:spcBef>
              <a:spcAft>
                <a:spcPts val="0"/>
              </a:spcAft>
              <a:buNone/>
            </a:pPr>
            <a:r>
              <a:rPr lang="en" sz="1000" u="sng">
                <a:solidFill>
                  <a:srgbClr val="000000"/>
                </a:solidFill>
              </a:rPr>
              <a:t>Practical Challenges</a:t>
            </a:r>
            <a:r>
              <a:rPr lang="en" sz="1000">
                <a:solidFill>
                  <a:srgbClr val="000000"/>
                </a:solidFill>
              </a:rPr>
              <a:t>:</a:t>
            </a:r>
            <a:br>
              <a:rPr lang="en" sz="1000">
                <a:solidFill>
                  <a:srgbClr val="000000"/>
                </a:solidFill>
              </a:rPr>
            </a:br>
            <a:r>
              <a:rPr lang="en" sz="1000">
                <a:solidFill>
                  <a:srgbClr val="000000"/>
                </a:solidFill>
              </a:rPr>
              <a:t>Real-world deployment of forecasting models faces practical issues, such as data latency, model updates, retraining, and integrating forecasts into business processes.</a:t>
            </a:r>
            <a:endParaRPr sz="1000">
              <a:solidFill>
                <a:srgbClr val="000000"/>
              </a:solidFill>
            </a:endParaRPr>
          </a:p>
          <a:p>
            <a:pPr indent="0" lvl="0" marL="0" rtl="0" algn="l">
              <a:spcBef>
                <a:spcPts val="1200"/>
              </a:spcBef>
              <a:spcAft>
                <a:spcPts val="0"/>
              </a:spcAft>
              <a:buNone/>
            </a:pPr>
            <a:r>
              <a:t/>
            </a:r>
            <a:endParaRPr sz="1000"/>
          </a:p>
          <a:p>
            <a:pPr indent="0" lvl="0" marL="0" rtl="0" algn="l">
              <a:spcBef>
                <a:spcPts val="1200"/>
              </a:spcBef>
              <a:spcAft>
                <a:spcPts val="1200"/>
              </a:spcAft>
              <a:buNone/>
            </a:pPr>
            <a:r>
              <a:t/>
            </a:r>
            <a:endParaRPr sz="10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pic>
        <p:nvPicPr>
          <p:cNvPr id="334" name="Google Shape;334;p52"/>
          <p:cNvPicPr preferRelativeResize="0"/>
          <p:nvPr/>
        </p:nvPicPr>
        <p:blipFill>
          <a:blip r:embed="rId3">
            <a:alphaModFix/>
          </a:blip>
          <a:stretch>
            <a:fillRect/>
          </a:stretch>
        </p:blipFill>
        <p:spPr>
          <a:xfrm>
            <a:off x="300200" y="349475"/>
            <a:ext cx="3860150" cy="1930075"/>
          </a:xfrm>
          <a:prstGeom prst="rect">
            <a:avLst/>
          </a:prstGeom>
          <a:noFill/>
          <a:ln>
            <a:noFill/>
          </a:ln>
        </p:spPr>
      </p:pic>
      <p:pic>
        <p:nvPicPr>
          <p:cNvPr id="335" name="Google Shape;335;p52"/>
          <p:cNvPicPr preferRelativeResize="0"/>
          <p:nvPr/>
        </p:nvPicPr>
        <p:blipFill>
          <a:blip r:embed="rId4">
            <a:alphaModFix/>
          </a:blip>
          <a:stretch>
            <a:fillRect/>
          </a:stretch>
        </p:blipFill>
        <p:spPr>
          <a:xfrm>
            <a:off x="794571" y="2798250"/>
            <a:ext cx="3365782" cy="1930075"/>
          </a:xfrm>
          <a:prstGeom prst="rect">
            <a:avLst/>
          </a:prstGeom>
          <a:noFill/>
          <a:ln>
            <a:noFill/>
          </a:ln>
        </p:spPr>
      </p:pic>
      <p:sp>
        <p:nvSpPr>
          <p:cNvPr id="336" name="Google Shape;336;p52"/>
          <p:cNvSpPr txBox="1"/>
          <p:nvPr/>
        </p:nvSpPr>
        <p:spPr>
          <a:xfrm>
            <a:off x="1746900" y="2065075"/>
            <a:ext cx="2299200" cy="6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accent1"/>
                </a:solidFill>
                <a:latin typeface="Lato"/>
                <a:ea typeface="Lato"/>
                <a:cs typeface="Lato"/>
                <a:sym typeface="Lato"/>
              </a:rPr>
              <a:t>OVERFITTING</a:t>
            </a:r>
            <a:endParaRPr sz="1300">
              <a:solidFill>
                <a:schemeClr val="accent1"/>
              </a:solidFill>
              <a:latin typeface="Lato"/>
              <a:ea typeface="Lato"/>
              <a:cs typeface="Lato"/>
              <a:sym typeface="Lato"/>
            </a:endParaRPr>
          </a:p>
        </p:txBody>
      </p:sp>
      <p:sp>
        <p:nvSpPr>
          <p:cNvPr id="337" name="Google Shape;337;p52"/>
          <p:cNvSpPr txBox="1"/>
          <p:nvPr/>
        </p:nvSpPr>
        <p:spPr>
          <a:xfrm>
            <a:off x="1830325" y="4834550"/>
            <a:ext cx="2299200" cy="6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accent1"/>
                </a:solidFill>
                <a:latin typeface="Lato"/>
                <a:ea typeface="Lato"/>
                <a:cs typeface="Lato"/>
                <a:sym typeface="Lato"/>
              </a:rPr>
              <a:t>UNCERTAINTY</a:t>
            </a:r>
            <a:endParaRPr sz="1300">
              <a:solidFill>
                <a:schemeClr val="accent1"/>
              </a:solidFill>
              <a:latin typeface="Lato"/>
              <a:ea typeface="Lato"/>
              <a:cs typeface="Lato"/>
              <a:sym typeface="Lato"/>
            </a:endParaRPr>
          </a:p>
        </p:txBody>
      </p:sp>
      <p:pic>
        <p:nvPicPr>
          <p:cNvPr id="338" name="Google Shape;338;p52"/>
          <p:cNvPicPr preferRelativeResize="0"/>
          <p:nvPr/>
        </p:nvPicPr>
        <p:blipFill>
          <a:blip r:embed="rId5">
            <a:alphaModFix/>
          </a:blip>
          <a:stretch>
            <a:fillRect/>
          </a:stretch>
        </p:blipFill>
        <p:spPr>
          <a:xfrm>
            <a:off x="5051025" y="349475"/>
            <a:ext cx="3209606" cy="1781300"/>
          </a:xfrm>
          <a:prstGeom prst="rect">
            <a:avLst/>
          </a:prstGeom>
          <a:noFill/>
          <a:ln>
            <a:noFill/>
          </a:ln>
        </p:spPr>
      </p:pic>
      <p:sp>
        <p:nvSpPr>
          <p:cNvPr id="339" name="Google Shape;339;p52"/>
          <p:cNvSpPr txBox="1"/>
          <p:nvPr/>
        </p:nvSpPr>
        <p:spPr>
          <a:xfrm>
            <a:off x="5843325" y="2195125"/>
            <a:ext cx="2479800" cy="16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accent1"/>
                </a:solidFill>
                <a:latin typeface="Lato"/>
                <a:ea typeface="Lato"/>
                <a:cs typeface="Lato"/>
                <a:sym typeface="Lato"/>
              </a:rPr>
              <a:t>STRUCTURAL BREAKS</a:t>
            </a:r>
            <a:endParaRPr sz="1300">
              <a:solidFill>
                <a:schemeClr val="accent1"/>
              </a:solidFill>
              <a:latin typeface="Lato"/>
              <a:ea typeface="Lato"/>
              <a:cs typeface="Lato"/>
              <a:sym typeface="Lato"/>
            </a:endParaRPr>
          </a:p>
        </p:txBody>
      </p:sp>
      <p:sp>
        <p:nvSpPr>
          <p:cNvPr id="340" name="Google Shape;340;p52"/>
          <p:cNvSpPr txBox="1"/>
          <p:nvPr/>
        </p:nvSpPr>
        <p:spPr>
          <a:xfrm>
            <a:off x="5631800" y="4621700"/>
            <a:ext cx="27699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accent1"/>
                </a:solidFill>
                <a:latin typeface="Lato"/>
                <a:ea typeface="Lato"/>
                <a:cs typeface="Lato"/>
                <a:sym typeface="Lato"/>
              </a:rPr>
              <a:t>LAGGING PROBLEMS</a:t>
            </a:r>
            <a:endParaRPr sz="1300">
              <a:solidFill>
                <a:schemeClr val="accent1"/>
              </a:solidFill>
              <a:latin typeface="Lato"/>
              <a:ea typeface="Lato"/>
              <a:cs typeface="Lato"/>
              <a:sym typeface="Lato"/>
            </a:endParaRPr>
          </a:p>
        </p:txBody>
      </p:sp>
      <p:pic>
        <p:nvPicPr>
          <p:cNvPr id="341" name="Google Shape;341;p52"/>
          <p:cNvPicPr preferRelativeResize="0"/>
          <p:nvPr/>
        </p:nvPicPr>
        <p:blipFill>
          <a:blip r:embed="rId6">
            <a:alphaModFix/>
          </a:blip>
          <a:stretch>
            <a:fillRect/>
          </a:stretch>
        </p:blipFill>
        <p:spPr>
          <a:xfrm>
            <a:off x="5042525" y="2784450"/>
            <a:ext cx="3226595" cy="1957674"/>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53"/>
          <p:cNvSpPr txBox="1"/>
          <p:nvPr>
            <p:ph type="title"/>
          </p:nvPr>
        </p:nvSpPr>
        <p:spPr>
          <a:xfrm>
            <a:off x="729450" y="632850"/>
            <a:ext cx="7688700" cy="535200"/>
          </a:xfrm>
          <a:prstGeom prst="rect">
            <a:avLst/>
          </a:prstGeom>
        </p:spPr>
        <p:txBody>
          <a:bodyPr anchorCtr="0" anchor="t" bIns="91425" lIns="91425" spcFirstLastPara="1" rIns="91425" wrap="square" tIns="91425">
            <a:normAutofit/>
          </a:bodyPr>
          <a:lstStyle/>
          <a:p>
            <a:pPr indent="0" lvl="0" marL="0" rtl="0" algn="l">
              <a:lnSpc>
                <a:spcPct val="115000"/>
              </a:lnSpc>
              <a:spcBef>
                <a:spcPts val="1500"/>
              </a:spcBef>
              <a:spcAft>
                <a:spcPts val="1200"/>
              </a:spcAft>
              <a:buClr>
                <a:schemeClr val="dk1"/>
              </a:buClr>
              <a:buSzPts val="1100"/>
              <a:buFont typeface="Arial"/>
              <a:buNone/>
            </a:pPr>
            <a:r>
              <a:rPr b="1" lang="en" sz="1900">
                <a:solidFill>
                  <a:srgbClr val="171717"/>
                </a:solidFill>
              </a:rPr>
              <a:t>LAGGING PROBLEM</a:t>
            </a:r>
            <a:endParaRPr sz="3300"/>
          </a:p>
        </p:txBody>
      </p:sp>
      <p:sp>
        <p:nvSpPr>
          <p:cNvPr id="347" name="Google Shape;347;p53"/>
          <p:cNvSpPr txBox="1"/>
          <p:nvPr>
            <p:ph idx="1" type="body"/>
          </p:nvPr>
        </p:nvSpPr>
        <p:spPr>
          <a:xfrm>
            <a:off x="729450" y="1636775"/>
            <a:ext cx="7688700" cy="3136800"/>
          </a:xfrm>
          <a:prstGeom prst="rect">
            <a:avLst/>
          </a:prstGeom>
        </p:spPr>
        <p:txBody>
          <a:bodyPr anchorCtr="0" anchor="t" bIns="91425" lIns="91425" spcFirstLastPara="1" rIns="91425" wrap="square" tIns="91425">
            <a:normAutofit lnSpcReduction="10000"/>
          </a:bodyPr>
          <a:lstStyle/>
          <a:p>
            <a:pPr indent="0" lvl="0" marL="0" rtl="0" algn="l">
              <a:spcBef>
                <a:spcPts val="1200"/>
              </a:spcBef>
              <a:spcAft>
                <a:spcPts val="0"/>
              </a:spcAft>
              <a:buClr>
                <a:schemeClr val="dk1"/>
              </a:buClr>
              <a:buSzPts val="1100"/>
              <a:buFont typeface="Arial"/>
              <a:buNone/>
            </a:pPr>
            <a:r>
              <a:rPr b="1" lang="en" sz="1500">
                <a:solidFill>
                  <a:schemeClr val="dk2"/>
                </a:solidFill>
              </a:rPr>
              <a:t>Delayed Reaction to Market Changes:</a:t>
            </a:r>
            <a:br>
              <a:rPr b="1" lang="en" sz="1500">
                <a:solidFill>
                  <a:schemeClr val="dk2"/>
                </a:solidFill>
              </a:rPr>
            </a:br>
            <a:r>
              <a:rPr lang="en" sz="1500">
                <a:solidFill>
                  <a:schemeClr val="dk2"/>
                </a:solidFill>
              </a:rPr>
              <a:t>Lagging indicators reflect past events, confirming trends only after they occur. This delay can cause missed opportunities in timely investment and risk management, as decisions are based on outdated data.</a:t>
            </a:r>
            <a:endParaRPr sz="1500">
              <a:solidFill>
                <a:schemeClr val="dk2"/>
              </a:solidFill>
            </a:endParaRPr>
          </a:p>
          <a:p>
            <a:pPr indent="0" lvl="0" marL="0" rtl="0" algn="l">
              <a:spcBef>
                <a:spcPts val="1200"/>
              </a:spcBef>
              <a:spcAft>
                <a:spcPts val="0"/>
              </a:spcAft>
              <a:buClr>
                <a:schemeClr val="dk1"/>
              </a:buClr>
              <a:buSzPts val="1100"/>
              <a:buFont typeface="Arial"/>
              <a:buNone/>
            </a:pPr>
            <a:r>
              <a:t/>
            </a:r>
            <a:endParaRPr sz="1500">
              <a:solidFill>
                <a:schemeClr val="dk2"/>
              </a:solidFill>
            </a:endParaRPr>
          </a:p>
          <a:p>
            <a:pPr indent="0" lvl="0" marL="0" rtl="0" algn="l">
              <a:spcBef>
                <a:spcPts val="1200"/>
              </a:spcBef>
              <a:spcAft>
                <a:spcPts val="0"/>
              </a:spcAft>
              <a:buClr>
                <a:schemeClr val="dk1"/>
              </a:buClr>
              <a:buSzPts val="1100"/>
              <a:buFont typeface="Arial"/>
              <a:buNone/>
            </a:pPr>
            <a:r>
              <a:rPr b="1" lang="en" sz="1500">
                <a:solidFill>
                  <a:schemeClr val="dk2"/>
                </a:solidFill>
              </a:rPr>
              <a:t>Inefficient Decision-Making:</a:t>
            </a:r>
            <a:br>
              <a:rPr b="1" lang="en" sz="1500">
                <a:solidFill>
                  <a:schemeClr val="dk2"/>
                </a:solidFill>
              </a:rPr>
            </a:br>
            <a:r>
              <a:rPr lang="en" sz="1500">
                <a:solidFill>
                  <a:schemeClr val="dk2"/>
                </a:solidFill>
              </a:rPr>
              <a:t>Relying on historical data for forecasting leads to reactive rather than proactive decisions. In fast-moving markets, this can result in suboptimal outcomes since new information is not accounted for promptly.</a:t>
            </a:r>
            <a:endParaRPr sz="1500">
              <a:solidFill>
                <a:schemeClr val="dk2"/>
              </a:solidFill>
            </a:endParaRPr>
          </a:p>
          <a:p>
            <a:pPr indent="0" lvl="0" marL="0" rtl="0" algn="l">
              <a:spcBef>
                <a:spcPts val="1200"/>
              </a:spcBef>
              <a:spcAft>
                <a:spcPts val="1200"/>
              </a:spcAft>
              <a:buNone/>
            </a:pPr>
            <a:r>
              <a:t/>
            </a:r>
            <a:endParaRPr sz="2200">
              <a:solidFill>
                <a:schemeClr val="dk2"/>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54"/>
          <p:cNvSpPr txBox="1"/>
          <p:nvPr>
            <p:ph idx="1" type="body"/>
          </p:nvPr>
        </p:nvSpPr>
        <p:spPr>
          <a:xfrm>
            <a:off x="711650" y="1406850"/>
            <a:ext cx="8227800" cy="37368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en">
                <a:solidFill>
                  <a:schemeClr val="dk2"/>
                </a:solidFill>
              </a:rPr>
              <a:t>Overfitting and Model Complexity:</a:t>
            </a:r>
            <a:br>
              <a:rPr lang="en">
                <a:solidFill>
                  <a:schemeClr val="dk2"/>
                </a:solidFill>
              </a:rPr>
            </a:br>
            <a:r>
              <a:rPr lang="en">
                <a:solidFill>
                  <a:schemeClr val="dk2"/>
                </a:solidFill>
              </a:rPr>
              <a:t>Using lagged variables can make models overly complex, risking overfitting by capturing noise rather than true trends. This reduces the model's effectiveness on new data.</a:t>
            </a:r>
            <a:endParaRPr>
              <a:solidFill>
                <a:schemeClr val="dk2"/>
              </a:solidFill>
            </a:endParaRPr>
          </a:p>
          <a:p>
            <a:pPr indent="0" lvl="0" marL="0" rtl="0" algn="l">
              <a:spcBef>
                <a:spcPts val="1200"/>
              </a:spcBef>
              <a:spcAft>
                <a:spcPts val="0"/>
              </a:spcAft>
              <a:buNone/>
            </a:pPr>
            <a:r>
              <a:rPr b="1" lang="en">
                <a:solidFill>
                  <a:schemeClr val="dk2"/>
                </a:solidFill>
              </a:rPr>
              <a:t>Nonstationarity and Structural Breaks:</a:t>
            </a:r>
            <a:br>
              <a:rPr lang="en">
                <a:solidFill>
                  <a:schemeClr val="dk2"/>
                </a:solidFill>
              </a:rPr>
            </a:br>
            <a:r>
              <a:rPr lang="en">
                <a:solidFill>
                  <a:schemeClr val="dk2"/>
                </a:solidFill>
              </a:rPr>
              <a:t>Lagged data complicates dealing with nonstationary series, where statistical properties change over time. Structural breaks can further diminish the relevance of historical data, complicating accurate forecasting.</a:t>
            </a:r>
            <a:endParaRPr>
              <a:solidFill>
                <a:schemeClr val="dk2"/>
              </a:solidFill>
            </a:endParaRPr>
          </a:p>
          <a:p>
            <a:pPr indent="0" lvl="0" marL="0" rtl="0" algn="l">
              <a:spcBef>
                <a:spcPts val="1200"/>
              </a:spcBef>
              <a:spcAft>
                <a:spcPts val="0"/>
              </a:spcAft>
              <a:buNone/>
            </a:pPr>
            <a:r>
              <a:rPr b="1" lang="en">
                <a:solidFill>
                  <a:schemeClr val="dk2"/>
                </a:solidFill>
              </a:rPr>
              <a:t>Limited Use of Leading Indicators:</a:t>
            </a:r>
            <a:br>
              <a:rPr lang="en">
                <a:solidFill>
                  <a:schemeClr val="dk2"/>
                </a:solidFill>
              </a:rPr>
            </a:br>
            <a:r>
              <a:rPr lang="en">
                <a:solidFill>
                  <a:schemeClr val="dk2"/>
                </a:solidFill>
              </a:rPr>
              <a:t>Over-reliance on lagging indicators may cause analysts to miss leading indicators, which provide foresight into future trends, potentially leading to better forecasts and strategic decisions.</a:t>
            </a:r>
            <a:endParaRPr>
              <a:solidFill>
                <a:schemeClr val="dk2"/>
              </a:solidFill>
            </a:endParaRPr>
          </a:p>
          <a:p>
            <a:pPr indent="0" lvl="0" marL="0" rtl="0" algn="l">
              <a:spcBef>
                <a:spcPts val="1200"/>
              </a:spcBef>
              <a:spcAft>
                <a:spcPts val="1200"/>
              </a:spcAft>
              <a:buClr>
                <a:schemeClr val="dk1"/>
              </a:buClr>
              <a:buSzPts val="1100"/>
              <a:buFont typeface="Arial"/>
              <a:buNone/>
            </a:pPr>
            <a:r>
              <a:rPr b="1" lang="en">
                <a:solidFill>
                  <a:schemeClr val="dk2"/>
                </a:solidFill>
              </a:rPr>
              <a:t>Impact on Risk Management:</a:t>
            </a:r>
            <a:br>
              <a:rPr lang="en">
                <a:solidFill>
                  <a:schemeClr val="dk2"/>
                </a:solidFill>
              </a:rPr>
            </a:br>
            <a:r>
              <a:rPr lang="en">
                <a:solidFill>
                  <a:schemeClr val="dk2"/>
                </a:solidFill>
              </a:rPr>
              <a:t>Lagging data can impair risk management by failing to reflect current market conditions, potentially exposing financial institutions to unforeseen risks.</a:t>
            </a:r>
            <a:endParaRPr>
              <a:solidFill>
                <a:schemeClr val="dk2"/>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55"/>
          <p:cNvSpPr txBox="1"/>
          <p:nvPr>
            <p:ph type="title"/>
          </p:nvPr>
        </p:nvSpPr>
        <p:spPr>
          <a:xfrm>
            <a:off x="729450" y="6328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PROBLEM STATEMENT</a:t>
            </a:r>
            <a:endParaRPr/>
          </a:p>
        </p:txBody>
      </p:sp>
      <p:sp>
        <p:nvSpPr>
          <p:cNvPr id="358" name="Google Shape;358;p55"/>
          <p:cNvSpPr txBox="1"/>
          <p:nvPr>
            <p:ph idx="1" type="body"/>
          </p:nvPr>
        </p:nvSpPr>
        <p:spPr>
          <a:xfrm>
            <a:off x="729450" y="1439700"/>
            <a:ext cx="7881300" cy="35145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Financial time series forecasting faces significant challenges that can compromise the accuracy and reliability of predictions. Issues such as data quality, including missing values and gaps in historical records, pose considerable hurdles for forecasting models. Additionally, nonstationarity in financial data, often caused by structural breaks from market regulations or global events, complicates the modeling process. The inherent volatility and uncertainty of financial markets further necessitate advanced modeling techniques capable of capturing the complex, nonlinear relationships among variables, as traditional linear models may not adequately reflect the dynamics of these systems.</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Despite the increasing interest in deep learning (DL) techniques, there is a notable lack of comprehensive literature reviews focusing on their implementation and effectiveness in financial time series forecasting. This research aims to fill this gap by systematically reviewing existing DL methodologies, highlighting their strengths and weaknesses, and evaluating their predictability in overcoming common challenges such as overfitting and model generalization. By leveraging the predictive capabilities of deep learning techniques, this study seeks to enhance forecasting accuracy, ultimately contributing to improved decision-making processes within the finance industry.</a:t>
            </a:r>
            <a:endParaRPr/>
          </a:p>
          <a:p>
            <a:pPr indent="0" lvl="0" marL="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