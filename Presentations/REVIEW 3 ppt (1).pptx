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87" r:id="rId3"/>
    <p:sldId id="257" r:id="rId4"/>
    <p:sldId id="261" r:id="rId5"/>
    <p:sldId id="275" r:id="rId6"/>
    <p:sldId id="276" r:id="rId7"/>
    <p:sldId id="278" r:id="rId8"/>
    <p:sldId id="270" r:id="rId9"/>
    <p:sldId id="271" r:id="rId10"/>
    <p:sldId id="262" r:id="rId11"/>
    <p:sldId id="263" r:id="rId12"/>
    <p:sldId id="264" r:id="rId13"/>
    <p:sldId id="266" r:id="rId14"/>
    <p:sldId id="277" r:id="rId15"/>
    <p:sldId id="279" r:id="rId16"/>
    <p:sldId id="267" r:id="rId17"/>
    <p:sldId id="280" r:id="rId18"/>
    <p:sldId id="268" r:id="rId19"/>
    <p:sldId id="265" r:id="rId20"/>
    <p:sldId id="272" r:id="rId21"/>
    <p:sldId id="273" r:id="rId22"/>
    <p:sldId id="274" r:id="rId23"/>
    <p:sldId id="258" r:id="rId24"/>
    <p:sldId id="281" r:id="rId25"/>
    <p:sldId id="282" r:id="rId26"/>
    <p:sldId id="283" r:id="rId27"/>
    <p:sldId id="286" r:id="rId28"/>
    <p:sldId id="284" r:id="rId29"/>
    <p:sldId id="259" r:id="rId30"/>
    <p:sldId id="260" r:id="rId31"/>
  </p:sldIdLst>
  <p:sldSz cx="12192000" cy="6858000"/>
  <p:notesSz cx="6858000" cy="9144000"/>
  <p:embeddedFontLst>
    <p:embeddedFont>
      <p:font typeface="Inter" panose="020B0604020202020204" charset="0"/>
      <p:regular r:id="rId33"/>
      <p:bold r:id="rId34"/>
    </p:embeddedFont>
    <p:embeddedFont>
      <p:font typeface="Open Sans" panose="020B0606030504020204" pitchFamily="34" charset="0"/>
      <p:regular r:id="rId35"/>
      <p:bold r:id="rId36"/>
      <p:italic r:id="rId37"/>
      <p:boldItalic r:id="rId38"/>
    </p:embeddedFont>
    <p:embeddedFont>
      <p:font typeface="Play" panose="020B0604020202020204" charset="0"/>
      <p:regular r:id="rId39"/>
      <p:bold r:id="rId40"/>
    </p:embeddedFont>
    <p:embeddedFont>
      <p:font typeface="Plus Jakarta Sans" panose="020B060402020202020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haw7R1ZIsv2CMvKNaVklE+ELCCj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3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C1A5F2-C7F4-42EF-8194-A367FB17F6C2}">
  <a:tblStyle styleId="{B1C1A5F2-C7F4-42EF-8194-A367FB17F6C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34" autoAdjust="0"/>
    <p:restoredTop sz="94660"/>
  </p:normalViewPr>
  <p:slideViewPr>
    <p:cSldViewPr snapToGrid="0">
      <p:cViewPr varScale="1">
        <p:scale>
          <a:sx n="62" d="100"/>
          <a:sy n="62" d="100"/>
        </p:scale>
        <p:origin x="84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71304874-F360-3AD3-DADE-931F26AD05CA}"/>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BE951962-53F1-B45A-EFDA-91A3671199F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D4BA8C37-3B0E-0E4F-D99B-B1F5C17018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6871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B576F8AC-605F-37C7-5C50-BD1FFA39DAFE}"/>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B43A5D77-8A7E-3740-54CD-AF0D233A53D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5FEA1442-90DD-E205-DDBA-74EA8FB8DB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07959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C19EE7FA-F9E4-B18B-FB83-58E0FB67AB52}"/>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72CAE860-BDDE-BE0F-FAC4-79ADC08B9B1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CEC25E3E-F39C-6D7B-E046-052C5AD9B6E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788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EFE098EF-5211-1080-E7CD-20B1BF3B6860}"/>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D120BE2E-FFDF-6E3D-76A5-0997DA4411E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95E9DD47-DB1B-515A-E2FC-9A1ECA300E3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7310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64556803-F5E3-FF13-B6F8-EDEF25A4E972}"/>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72A7D72B-DF96-69F1-8327-B861CD153C3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55FA47D9-BA02-29E6-5FB3-1B14AA5D2D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43276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DC73C3E6-288B-35C6-65BF-8728E856296F}"/>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934DD430-017E-1E0F-0E2E-D093625409B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839D8B62-E5F4-E07F-2917-60464C532A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87955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7ADC2312-8F31-5A50-706B-3FA06C955D54}"/>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97AE8483-B9A1-CC09-A248-E7FF91F6A0E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829BCC16-A5F5-7C3A-B74A-9D373FA7043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73699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060B4EEB-A406-F623-22C9-0062536B9C88}"/>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D494C0E4-C487-38C8-B851-5D0C590CA5E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B19D2B16-02B2-3622-7D60-C1A4E2682A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80209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3A31D2D7-8077-8767-64B9-B0EE63234131}"/>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977B1404-802E-7879-2B90-B8FCE0332BD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3E71CE05-6CDD-D89F-66B8-4873730F179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0907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B45211B4-E656-2F59-5976-F5395C461A9E}"/>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94E02D77-741D-5511-7358-73D6FFE7810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46F291AE-CB1C-A06F-3FE2-A0436D07CAB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43795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08EBEBF3-C0BA-23BA-8DD6-20FCC69FAC9B}"/>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DF248C38-60C8-61A6-5715-751A494D732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D9B4DF6F-574F-C200-DFB5-04EB4C98FCC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66622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6AADD4FB-50D3-4891-E5DE-DA33558F9C05}"/>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E91B144C-4E26-D78A-946E-B351DFA1696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EF97130C-207A-7D39-ADAA-E6F1D8092FA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2776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BF44CE2B-3392-8B15-F192-D14125BEB798}"/>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BC2EEA95-22C5-D65A-A6AF-84746F32798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EB87FD0E-DAE7-63F0-2D17-48DDA3B108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99548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EB674F88-EB15-EC69-4292-59E1AA3B5C4C}"/>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8EBEF55F-D611-9730-7522-68D9618F988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471CAF59-A9D9-7847-DA50-EAA299ED619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66561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9DDDA325-D0ED-991E-712F-ECA82611F4DF}"/>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E9929ABD-D1C1-7F0D-AEAD-56FA059DE24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79513B78-D39F-D9D1-5809-9A80D8D619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99349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30856741-52FA-F886-A28A-899FF2947A2D}"/>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FE8670CE-85BD-A458-769F-CE3E9F0B71F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85506AD6-AF3F-69F4-F90B-6E468D8BD1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6003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D2EB379E-273B-3D61-3CB5-0EB0D161A2FC}"/>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CBCDE7F0-8DF6-7F55-5E5B-EEEF86B2E27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4981B852-041B-E588-AFC0-8983CF58E80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49691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4CA503E5-FFF7-B8AC-BAD5-DF36C5407DE6}"/>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24FC3B33-3560-DDD7-CF63-69779D6F935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78F258F1-6990-B7F5-0F1D-0E7C5C30644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18484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F62D547B-523E-867B-6C77-8D3F67A02195}"/>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3360DEDC-BCD7-BB97-B8FC-380A79F69E4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0BF7A9FB-633F-01CB-735A-96F2168D61B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65136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2E19F5C3-A9B8-C3C4-C1EA-29BFE601AF38}"/>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DA1CEAA6-5544-6066-173F-D9C6116609E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E5CDBBD0-0595-19A7-A552-A1A0D130B24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57916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 name="Google Shape;5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a:extLst>
            <a:ext uri="{FF2B5EF4-FFF2-40B4-BE49-F238E27FC236}">
              <a16:creationId xmlns:a16="http://schemas.microsoft.com/office/drawing/2014/main" id="{F1DDF9AF-50C2-3570-93C8-9E1D1105664C}"/>
            </a:ext>
          </a:extLst>
        </p:cNvPr>
        <p:cNvGrpSpPr/>
        <p:nvPr/>
      </p:nvGrpSpPr>
      <p:grpSpPr>
        <a:xfrm>
          <a:off x="0" y="0"/>
          <a:ext cx="0" cy="0"/>
          <a:chOff x="0" y="0"/>
          <a:chExt cx="0" cy="0"/>
        </a:xfrm>
      </p:grpSpPr>
      <p:sp>
        <p:nvSpPr>
          <p:cNvPr id="50" name="Google Shape;50;p3:notes">
            <a:extLst>
              <a:ext uri="{FF2B5EF4-FFF2-40B4-BE49-F238E27FC236}">
                <a16:creationId xmlns:a16="http://schemas.microsoft.com/office/drawing/2014/main" id="{1D32B3DA-A7F9-BC07-F5CF-117ED9A6934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 name="Google Shape;51;p3:notes">
            <a:extLst>
              <a:ext uri="{FF2B5EF4-FFF2-40B4-BE49-F238E27FC236}">
                <a16:creationId xmlns:a16="http://schemas.microsoft.com/office/drawing/2014/main" id="{D2A9CA36-0AE7-292F-F2DA-EC35A562EA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43537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6E39E9BD-0033-6E62-F47F-B07798D86757}"/>
            </a:ext>
          </a:extLst>
        </p:cNvPr>
        <p:cNvGrpSpPr/>
        <p:nvPr/>
      </p:nvGrpSpPr>
      <p:grpSpPr>
        <a:xfrm>
          <a:off x="0" y="0"/>
          <a:ext cx="0" cy="0"/>
          <a:chOff x="0" y="0"/>
          <a:chExt cx="0" cy="0"/>
        </a:xfrm>
      </p:grpSpPr>
      <p:sp>
        <p:nvSpPr>
          <p:cNvPr id="42" name="Google Shape;42;p2:notes">
            <a:extLst>
              <a:ext uri="{FF2B5EF4-FFF2-40B4-BE49-F238E27FC236}">
                <a16:creationId xmlns:a16="http://schemas.microsoft.com/office/drawing/2014/main" id="{3FF07FB9-9009-A076-C376-C34DCA2985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a:extLst>
              <a:ext uri="{FF2B5EF4-FFF2-40B4-BE49-F238E27FC236}">
                <a16:creationId xmlns:a16="http://schemas.microsoft.com/office/drawing/2014/main" id="{54EA3044-EB79-464B-E6A7-F1B9004C24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67466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Plus Jakarta Sans"/>
              <a:buNone/>
            </a:pPr>
            <a:endParaRPr/>
          </a:p>
        </p:txBody>
      </p:sp>
      <p:sp>
        <p:nvSpPr>
          <p:cNvPr id="57" name="Google Shape;5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7_Title Slide">
  <p:cSld name="7_Title Slide">
    <p:spTree>
      <p:nvGrpSpPr>
        <p:cNvPr id="1" name="Shape 12"/>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3"/>
        <p:cNvGrpSpPr/>
        <p:nvPr/>
      </p:nvGrpSpPr>
      <p:grpSpPr>
        <a:xfrm>
          <a:off x="0" y="0"/>
          <a:ext cx="0" cy="0"/>
          <a:chOff x="0" y="0"/>
          <a:chExt cx="0" cy="0"/>
        </a:xfrm>
      </p:grpSpPr>
      <p:sp>
        <p:nvSpPr>
          <p:cNvPr id="14" name="Google Shape;14;p8"/>
          <p:cNvSpPr>
            <a:spLocks noGrp="1"/>
          </p:cNvSpPr>
          <p:nvPr>
            <p:ph type="pic" idx="2"/>
          </p:nvPr>
        </p:nvSpPr>
        <p:spPr>
          <a:xfrm>
            <a:off x="1055687" y="1268413"/>
            <a:ext cx="4319586" cy="5040312"/>
          </a:xfrm>
          <a:prstGeom prst="rect">
            <a:avLst/>
          </a:prstGeom>
          <a:solidFill>
            <a:srgbClr val="F2F2F2"/>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15"/>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16"/>
        <p:cNvGrpSpPr/>
        <p:nvPr/>
      </p:nvGrpSpPr>
      <p:grpSpPr>
        <a:xfrm>
          <a:off x="0" y="0"/>
          <a:ext cx="0" cy="0"/>
          <a:chOff x="0" y="0"/>
          <a:chExt cx="0" cy="0"/>
        </a:xfrm>
      </p:grpSpPr>
      <p:sp>
        <p:nvSpPr>
          <p:cNvPr id="17" name="Google Shape;17;p10"/>
          <p:cNvSpPr>
            <a:spLocks noGrp="1"/>
          </p:cNvSpPr>
          <p:nvPr>
            <p:ph type="pic" idx="2"/>
          </p:nvPr>
        </p:nvSpPr>
        <p:spPr>
          <a:xfrm>
            <a:off x="0" y="0"/>
            <a:ext cx="12192000" cy="6858000"/>
          </a:xfrm>
          <a:prstGeom prst="rect">
            <a:avLst/>
          </a:prstGeom>
          <a:solidFill>
            <a:srgbClr val="F2F2F2"/>
          </a:solid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18"/>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0_Title Slide">
  <p:cSld name="30_Title Slide">
    <p:spTree>
      <p:nvGrpSpPr>
        <p:cNvPr id="1" name="Shape 21"/>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1_Title Slide">
  <p:cSld name="31_Title Slide">
    <p:spTree>
      <p:nvGrpSpPr>
        <p:cNvPr id="1" name="Shape 22"/>
        <p:cNvGrpSpPr/>
        <p:nvPr/>
      </p:nvGrpSpPr>
      <p:grpSpPr>
        <a:xfrm>
          <a:off x="0" y="0"/>
          <a:ext cx="0" cy="0"/>
          <a:chOff x="0" y="0"/>
          <a:chExt cx="0" cy="0"/>
        </a:xfrm>
      </p:grpSpPr>
      <p:sp>
        <p:nvSpPr>
          <p:cNvPr id="23" name="Google Shape;23;p15"/>
          <p:cNvSpPr>
            <a:spLocks noGrp="1"/>
          </p:cNvSpPr>
          <p:nvPr>
            <p:ph type="pic" idx="2"/>
          </p:nvPr>
        </p:nvSpPr>
        <p:spPr>
          <a:xfrm>
            <a:off x="-1" y="0"/>
            <a:ext cx="9696450" cy="4868863"/>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24"/>
        <p:cNvGrpSpPr/>
        <p:nvPr/>
      </p:nvGrpSpPr>
      <p:grpSpPr>
        <a:xfrm>
          <a:off x="0" y="0"/>
          <a:ext cx="0" cy="0"/>
          <a:chOff x="0" y="0"/>
          <a:chExt cx="0" cy="0"/>
        </a:xfrm>
      </p:grpSpPr>
      <p:sp>
        <p:nvSpPr>
          <p:cNvPr id="25" name="Google Shape;25;p16"/>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us Jakarta Sans"/>
              <a:ea typeface="Plus Jakarta Sans"/>
              <a:cs typeface="Plus Jakarta Sans"/>
              <a:sym typeface="Plus Jakarta Sans"/>
            </a:endParaRPr>
          </a:p>
        </p:txBody>
      </p:sp>
      <p:sp>
        <p:nvSpPr>
          <p:cNvPr id="26" name="Google Shape;26;p16"/>
          <p:cNvSpPr>
            <a:spLocks noGrp="1"/>
          </p:cNvSpPr>
          <p:nvPr>
            <p:ph type="pic" idx="2"/>
          </p:nvPr>
        </p:nvSpPr>
        <p:spPr>
          <a:xfrm>
            <a:off x="6816725" y="1268413"/>
            <a:ext cx="2381023" cy="2976935"/>
          </a:xfrm>
          <a:prstGeom prst="rect">
            <a:avLst/>
          </a:prstGeom>
          <a:solidFill>
            <a:srgbClr val="F2F2F2"/>
          </a:solidFill>
          <a:ln>
            <a:noFill/>
          </a:ln>
        </p:spPr>
      </p:sp>
      <p:sp>
        <p:nvSpPr>
          <p:cNvPr id="27" name="Google Shape;27;p16"/>
          <p:cNvSpPr>
            <a:spLocks noGrp="1"/>
          </p:cNvSpPr>
          <p:nvPr>
            <p:ph type="pic" idx="3"/>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3_Title Slide">
  <p:cSld name="33_Title Slide">
    <p:spTree>
      <p:nvGrpSpPr>
        <p:cNvPr id="1" name="Shape 28"/>
        <p:cNvGrpSpPr/>
        <p:nvPr/>
      </p:nvGrpSpPr>
      <p:grpSpPr>
        <a:xfrm>
          <a:off x="0" y="0"/>
          <a:ext cx="0" cy="0"/>
          <a:chOff x="0" y="0"/>
          <a:chExt cx="0" cy="0"/>
        </a:xfrm>
      </p:grpSpPr>
      <p:sp>
        <p:nvSpPr>
          <p:cNvPr id="29" name="Google Shape;29;p17"/>
          <p:cNvSpPr>
            <a:spLocks noGrp="1"/>
          </p:cNvSpPr>
          <p:nvPr>
            <p:ph type="pic" idx="2"/>
          </p:nvPr>
        </p:nvSpPr>
        <p:spPr>
          <a:xfrm>
            <a:off x="-1" y="549274"/>
            <a:ext cx="4995082" cy="5759450"/>
          </a:xfrm>
          <a:prstGeom prst="rect">
            <a:avLst/>
          </a:prstGeom>
          <a:solidFill>
            <a:srgbClr val="F2F2F2"/>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4_Title Slide">
  <p:cSld name="34_Title Slide">
    <p:spTree>
      <p:nvGrpSpPr>
        <p:cNvPr id="1" name="Shape 30"/>
        <p:cNvGrpSpPr/>
        <p:nvPr/>
      </p:nvGrpSpPr>
      <p:grpSpPr>
        <a:xfrm>
          <a:off x="0" y="0"/>
          <a:ext cx="0" cy="0"/>
          <a:chOff x="0" y="0"/>
          <a:chExt cx="0" cy="0"/>
        </a:xfrm>
      </p:grpSpPr>
      <p:sp>
        <p:nvSpPr>
          <p:cNvPr id="31" name="Google Shape;31;p18"/>
          <p:cNvSpPr>
            <a:spLocks noGrp="1"/>
          </p:cNvSpPr>
          <p:nvPr>
            <p:ph type="pic" idx="2"/>
          </p:nvPr>
        </p:nvSpPr>
        <p:spPr>
          <a:xfrm>
            <a:off x="6095999" y="1270000"/>
            <a:ext cx="6096001" cy="4319588"/>
          </a:xfrm>
          <a:prstGeom prst="rect">
            <a:avLst/>
          </a:prstGeom>
          <a:solidFill>
            <a:srgbClr val="F2F2F2"/>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1"/>
          <p:cNvSpPr/>
          <p:nvPr/>
        </p:nvSpPr>
        <p:spPr>
          <a:xfrm>
            <a:off x="596491" y="2010119"/>
            <a:ext cx="10263290" cy="21697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500" b="1" dirty="0">
                <a:solidFill>
                  <a:srgbClr val="007069"/>
                </a:solidFill>
                <a:latin typeface="Inter"/>
                <a:ea typeface="Inter"/>
                <a:cs typeface="Inter"/>
                <a:sym typeface="Inter"/>
              </a:rPr>
              <a:t>Leveraging predictability of </a:t>
            </a:r>
          </a:p>
          <a:p>
            <a:pPr marL="0" marR="0" lvl="0" indent="0" algn="l" rtl="0">
              <a:spcBef>
                <a:spcPts val="0"/>
              </a:spcBef>
              <a:spcAft>
                <a:spcPts val="0"/>
              </a:spcAft>
              <a:buNone/>
            </a:pPr>
            <a:r>
              <a:rPr lang="en-US" sz="4500" b="1" dirty="0">
                <a:solidFill>
                  <a:srgbClr val="007069"/>
                </a:solidFill>
                <a:latin typeface="Inter"/>
                <a:ea typeface="Inter"/>
                <a:cs typeface="Inter"/>
                <a:sym typeface="Inter"/>
              </a:rPr>
              <a:t>Deep Learning techniques on financial time series forecasting </a:t>
            </a:r>
            <a:r>
              <a:rPr lang="en-US" sz="4500" b="1" i="0" u="none" strike="noStrike" cap="none" dirty="0">
                <a:solidFill>
                  <a:srgbClr val="007069"/>
                </a:solidFill>
                <a:latin typeface="Inter"/>
                <a:ea typeface="Inter"/>
                <a:cs typeface="Inter"/>
                <a:sym typeface="Inter"/>
              </a:rPr>
              <a:t> </a:t>
            </a:r>
          </a:p>
        </p:txBody>
      </p:sp>
      <p:grpSp>
        <p:nvGrpSpPr>
          <p:cNvPr id="37" name="Google Shape;37;p1"/>
          <p:cNvGrpSpPr/>
          <p:nvPr/>
        </p:nvGrpSpPr>
        <p:grpSpPr>
          <a:xfrm>
            <a:off x="596491" y="1903208"/>
            <a:ext cx="9965343" cy="2383605"/>
            <a:chOff x="894442" y="2675335"/>
            <a:chExt cx="7570108" cy="940767"/>
          </a:xfrm>
        </p:grpSpPr>
        <p:sp>
          <p:nvSpPr>
            <p:cNvPr id="38" name="Google Shape;38;p1"/>
            <p:cNvSpPr/>
            <p:nvPr/>
          </p:nvSpPr>
          <p:spPr>
            <a:xfrm>
              <a:off x="894442" y="2675335"/>
              <a:ext cx="7570108" cy="45719"/>
            </a:xfrm>
            <a:prstGeom prst="rect">
              <a:avLst/>
            </a:prstGeom>
            <a:solidFill>
              <a:srgbClr val="A582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Inter"/>
                <a:ea typeface="Inter"/>
                <a:cs typeface="Inter"/>
                <a:sym typeface="Inter"/>
              </a:endParaRPr>
            </a:p>
          </p:txBody>
        </p:sp>
        <p:sp>
          <p:nvSpPr>
            <p:cNvPr id="39" name="Google Shape;39;p1"/>
            <p:cNvSpPr/>
            <p:nvPr/>
          </p:nvSpPr>
          <p:spPr>
            <a:xfrm>
              <a:off x="894442" y="3570383"/>
              <a:ext cx="7570108" cy="45719"/>
            </a:xfrm>
            <a:prstGeom prst="rect">
              <a:avLst/>
            </a:prstGeom>
            <a:solidFill>
              <a:srgbClr val="A582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Inter"/>
                <a:ea typeface="Inter"/>
                <a:cs typeface="Inter"/>
                <a:sym typeface="Inter"/>
              </a:endParaRPr>
            </a:p>
          </p:txBody>
        </p:sp>
      </p:grpSp>
      <p:sp>
        <p:nvSpPr>
          <p:cNvPr id="40" name="Google Shape;40;p1"/>
          <p:cNvSpPr txBox="1"/>
          <p:nvPr/>
        </p:nvSpPr>
        <p:spPr>
          <a:xfrm>
            <a:off x="596491" y="4683287"/>
            <a:ext cx="7879686" cy="14465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u="none" dirty="0">
                <a:solidFill>
                  <a:srgbClr val="004740"/>
                </a:solidFill>
                <a:latin typeface="Inter"/>
                <a:ea typeface="Inter"/>
                <a:cs typeface="Inter"/>
                <a:sym typeface="Inter"/>
              </a:rPr>
              <a:t>GUIDE NAME: Prof. SARAT CHANDRA NAYAK</a:t>
            </a:r>
          </a:p>
          <a:p>
            <a:pPr marL="0" marR="0" lvl="0" indent="0" algn="l" rtl="0">
              <a:spcBef>
                <a:spcPts val="0"/>
              </a:spcBef>
              <a:spcAft>
                <a:spcPts val="0"/>
              </a:spcAft>
              <a:buNone/>
            </a:pPr>
            <a:r>
              <a:rPr lang="en-US" sz="2000" u="none" dirty="0">
                <a:solidFill>
                  <a:srgbClr val="004740"/>
                </a:solidFill>
                <a:latin typeface="Inter"/>
                <a:ea typeface="Inter"/>
                <a:cs typeface="Inter"/>
                <a:sym typeface="Inter"/>
              </a:rPr>
              <a:t>PROJECT GROUP: P10-15</a:t>
            </a:r>
          </a:p>
          <a:p>
            <a:pPr marL="0" marR="0" lvl="0" indent="0" algn="l" rtl="0">
              <a:spcBef>
                <a:spcPts val="0"/>
              </a:spcBef>
              <a:spcAft>
                <a:spcPts val="0"/>
              </a:spcAft>
              <a:buNone/>
            </a:pPr>
            <a:r>
              <a:rPr lang="en-US" sz="1600" dirty="0">
                <a:solidFill>
                  <a:srgbClr val="004740"/>
                </a:solidFill>
                <a:latin typeface="Inter"/>
                <a:ea typeface="Inter"/>
                <a:cs typeface="Inter"/>
                <a:sym typeface="Inter"/>
              </a:rPr>
              <a:t>	SRI VAISHNAVI VASA HU21CSEN0100673</a:t>
            </a:r>
          </a:p>
          <a:p>
            <a:pPr marL="0" marR="0" lvl="0" indent="0" algn="l" rtl="0">
              <a:spcBef>
                <a:spcPts val="0"/>
              </a:spcBef>
              <a:spcAft>
                <a:spcPts val="0"/>
              </a:spcAft>
              <a:buNone/>
            </a:pPr>
            <a:r>
              <a:rPr lang="en-US" sz="1600" dirty="0">
                <a:solidFill>
                  <a:srgbClr val="004740"/>
                </a:solidFill>
                <a:latin typeface="Inter"/>
                <a:ea typeface="Inter"/>
                <a:cs typeface="Inter"/>
                <a:sym typeface="Inter"/>
              </a:rPr>
              <a:t>	LEENA DEEKOLLU       HU21CSEN0100741</a:t>
            </a:r>
          </a:p>
          <a:p>
            <a:pPr marL="0" marR="0" lvl="0" indent="0" algn="l" rtl="0">
              <a:spcBef>
                <a:spcPts val="0"/>
              </a:spcBef>
              <a:spcAft>
                <a:spcPts val="0"/>
              </a:spcAft>
              <a:buNone/>
            </a:pPr>
            <a:r>
              <a:rPr lang="en-US" sz="1600" dirty="0">
                <a:solidFill>
                  <a:srgbClr val="004740"/>
                </a:solidFill>
                <a:latin typeface="Inter"/>
                <a:ea typeface="Inter"/>
                <a:cs typeface="Inter"/>
                <a:sym typeface="Inter"/>
              </a:rPr>
              <a:t>	BINDU SRI                     HU21CSEN0101184</a:t>
            </a:r>
          </a:p>
        </p:txBody>
      </p:sp>
      <p:sp>
        <p:nvSpPr>
          <p:cNvPr id="10" name="Google Shape;10;p6"/>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pic>
        <p:nvPicPr>
          <p:cNvPr id="2" name="Google Shape;11;p6">
            <a:extLst>
              <a:ext uri="{FF2B5EF4-FFF2-40B4-BE49-F238E27FC236}">
                <a16:creationId xmlns:a16="http://schemas.microsoft.com/office/drawing/2014/main" id="{0324EE09-1FE3-83CC-CB40-F6F37CD2801E}"/>
              </a:ext>
            </a:extLst>
          </p:cNvPr>
          <p:cNvPicPr preferRelativeResize="0"/>
          <p:nvPr/>
        </p:nvPicPr>
        <p:blipFill rotWithShape="1">
          <a:blip r:embed="rId3">
            <a:alphaModFix/>
          </a:blip>
          <a:srcRect/>
          <a:stretch/>
        </p:blipFill>
        <p:spPr>
          <a:xfrm>
            <a:off x="9657588" y="5780138"/>
            <a:ext cx="2100001" cy="900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59A47F27-6A03-1F10-9999-AAFC1734927B}"/>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DDA15AA7-FD21-1024-A88A-4841ED27164A}"/>
              </a:ext>
            </a:extLst>
          </p:cNvPr>
          <p:cNvSpPr txBox="1"/>
          <p:nvPr/>
        </p:nvSpPr>
        <p:spPr>
          <a:xfrm>
            <a:off x="491533" y="303192"/>
            <a:ext cx="47898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CONTENTS</a:t>
            </a:r>
            <a:endParaRPr sz="2800" dirty="0">
              <a:latin typeface="Inter"/>
              <a:ea typeface="Inter"/>
              <a:cs typeface="Inter"/>
              <a:sym typeface="Inter"/>
            </a:endParaRPr>
          </a:p>
        </p:txBody>
      </p:sp>
      <p:sp>
        <p:nvSpPr>
          <p:cNvPr id="46" name="Google Shape;46;p2">
            <a:extLst>
              <a:ext uri="{FF2B5EF4-FFF2-40B4-BE49-F238E27FC236}">
                <a16:creationId xmlns:a16="http://schemas.microsoft.com/office/drawing/2014/main" id="{8F360B40-3B24-47B7-019E-2C0778B5C901}"/>
              </a:ext>
            </a:extLst>
          </p:cNvPr>
          <p:cNvSpPr txBox="1"/>
          <p:nvPr/>
        </p:nvSpPr>
        <p:spPr>
          <a:xfrm>
            <a:off x="491533" y="924736"/>
            <a:ext cx="10996461" cy="5909270"/>
          </a:xfrm>
          <a:prstGeom prst="rect">
            <a:avLst/>
          </a:prstGeom>
          <a:noFill/>
          <a:ln>
            <a:noFill/>
          </a:ln>
        </p:spPr>
        <p:txBody>
          <a:bodyPr spcFirstLastPara="1" wrap="square" lIns="91425" tIns="45700" rIns="91425" bIns="45700" anchor="t" anchorCtr="0">
            <a:spAutoFit/>
          </a:bodyPr>
          <a:lstStyle/>
          <a:p>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OVERVIEW</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ABSTRACT</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PROBLEM STATEMENT</a:t>
            </a:r>
          </a:p>
          <a:p>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MODELS</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ARIMA</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SARIMA</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EXPONENTIAL SMOOTHING</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PROPHET</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GARCH</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CNN</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RNN</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LSTM</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BI-LSTM</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GRU</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GNN</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RESNET</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TRANSFORMER</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DEEPAR</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TIMESNET</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TIMESNET+CNN 3D</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TIMESNET+ GRU</a:t>
            </a:r>
          </a:p>
          <a:p>
            <a:r>
              <a:rPr lang="en-US" dirty="0">
                <a:solidFill>
                  <a:schemeClr val="tx1"/>
                </a:solidFill>
                <a:latin typeface="Inter" panose="020B0604020202020204" charset="0"/>
                <a:ea typeface="Inter" panose="020B0604020202020204" charset="0"/>
                <a:cs typeface="Inter"/>
                <a:sym typeface="Inter"/>
              </a:rPr>
              <a:t>	</a:t>
            </a:r>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TIMESNET+BI LSTM</a:t>
            </a:r>
          </a:p>
          <a:p>
            <a:r>
              <a:rPr lang="en-US" dirty="0">
                <a:solidFill>
                  <a:schemeClr val="tx1"/>
                </a:solidFill>
                <a:latin typeface="Inter" panose="020B0604020202020204" charset="0"/>
                <a:ea typeface="Inter" panose="020B0604020202020204" charset="0"/>
                <a:cs typeface="Inter"/>
                <a:sym typeface="Wingdings" panose="05000000000000000000" pitchFamily="2" charset="2"/>
              </a:rPr>
              <a:t>MODEL PERFORMANCE RESULTS</a:t>
            </a:r>
          </a:p>
          <a:p>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PROPOSED MODEL</a:t>
            </a:r>
          </a:p>
          <a:p>
            <a:r>
              <a:rPr lang="en-US" dirty="0">
                <a:solidFill>
                  <a:schemeClr val="tx1"/>
                </a:solidFill>
                <a:latin typeface="Inter" panose="020B0604020202020204" charset="0"/>
                <a:ea typeface="Inter" panose="020B0604020202020204" charset="0"/>
                <a:cs typeface="Inter"/>
                <a:sym typeface="Wingdings" panose="05000000000000000000" pitchFamily="2" charset="2"/>
              </a:rPr>
              <a:t></a:t>
            </a:r>
            <a:r>
              <a:rPr lang="en-US" dirty="0">
                <a:solidFill>
                  <a:schemeClr val="tx1"/>
                </a:solidFill>
                <a:latin typeface="Inter" panose="020B0604020202020204" charset="0"/>
                <a:ea typeface="Inter" panose="020B0604020202020204" charset="0"/>
                <a:cs typeface="Inter"/>
                <a:sym typeface="Inter"/>
              </a:rPr>
              <a:t>CHALLENGES</a:t>
            </a:r>
          </a:p>
          <a:p>
            <a:r>
              <a:rPr lang="en-US" dirty="0">
                <a:solidFill>
                  <a:schemeClr val="tx1"/>
                </a:solidFill>
                <a:latin typeface="Inter" panose="020B0604020202020204" charset="0"/>
                <a:ea typeface="Inter" panose="020B0604020202020204" charset="0"/>
                <a:cs typeface="Inter"/>
                <a:sym typeface="Inter"/>
              </a:rPr>
              <a:t>	</a:t>
            </a:r>
          </a:p>
          <a:p>
            <a:r>
              <a:rPr lang="en-US" dirty="0">
                <a:solidFill>
                  <a:schemeClr val="tx1"/>
                </a:solidFill>
                <a:latin typeface="Inter" panose="020B0604020202020204" charset="0"/>
                <a:ea typeface="Inter" panose="020B0604020202020204" charset="0"/>
                <a:cs typeface="Inter"/>
                <a:sym typeface="Inter"/>
              </a:rPr>
              <a:t>	</a:t>
            </a:r>
            <a:endParaRPr dirty="0">
              <a:solidFill>
                <a:schemeClr val="tx1"/>
              </a:solidFill>
              <a:latin typeface="Inter" panose="020B0604020202020204" charset="0"/>
              <a:ea typeface="Inter" panose="020B0604020202020204" charset="0"/>
              <a:cs typeface="Inter"/>
              <a:sym typeface="Inter"/>
            </a:endParaRPr>
          </a:p>
        </p:txBody>
      </p:sp>
      <p:pic>
        <p:nvPicPr>
          <p:cNvPr id="4" name="Google Shape;11;p6">
            <a:extLst>
              <a:ext uri="{FF2B5EF4-FFF2-40B4-BE49-F238E27FC236}">
                <a16:creationId xmlns:a16="http://schemas.microsoft.com/office/drawing/2014/main" id="{F2A4D79F-4214-69ED-5F29-5AF05495261A}"/>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AE7C231C-6C82-19B7-0E12-331524E7F48C}"/>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Tree>
    <p:extLst>
      <p:ext uri="{BB962C8B-B14F-4D97-AF65-F5344CB8AC3E}">
        <p14:creationId xmlns:p14="http://schemas.microsoft.com/office/powerpoint/2010/main" val="4145579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2"/>
          <p:cNvSpPr txBox="1"/>
          <p:nvPr/>
        </p:nvSpPr>
        <p:spPr>
          <a:xfrm>
            <a:off x="459224" y="430192"/>
            <a:ext cx="4789800"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600" b="1" dirty="0">
                <a:solidFill>
                  <a:srgbClr val="007367"/>
                </a:solidFill>
                <a:latin typeface="Inter"/>
                <a:ea typeface="Inter"/>
                <a:cs typeface="Inter"/>
                <a:sym typeface="Inter"/>
              </a:rPr>
              <a:t>ABSTRACT</a:t>
            </a:r>
            <a:endParaRPr dirty="0">
              <a:latin typeface="Inter"/>
              <a:ea typeface="Inter"/>
              <a:cs typeface="Inter"/>
              <a:sym typeface="Inter"/>
            </a:endParaRPr>
          </a:p>
        </p:txBody>
      </p:sp>
      <p:sp>
        <p:nvSpPr>
          <p:cNvPr id="46" name="Google Shape;46;p2"/>
          <p:cNvSpPr txBox="1"/>
          <p:nvPr/>
        </p:nvSpPr>
        <p:spPr>
          <a:xfrm>
            <a:off x="459224" y="1288996"/>
            <a:ext cx="10996461" cy="3323946"/>
          </a:xfrm>
          <a:prstGeom prst="rect">
            <a:avLst/>
          </a:prstGeom>
          <a:noFill/>
          <a:ln>
            <a:noFill/>
          </a:ln>
        </p:spPr>
        <p:txBody>
          <a:bodyPr spcFirstLastPara="1" wrap="square" lIns="91425" tIns="45700" rIns="91425" bIns="45700" anchor="t" anchorCtr="0">
            <a:spAutoFit/>
          </a:bodyPr>
          <a:lstStyle/>
          <a:p>
            <a:pPr algn="just" rtl="0"/>
            <a:r>
              <a:rPr lang="en-US" b="0" i="0" u="none" strike="noStrike" dirty="0">
                <a:solidFill>
                  <a:schemeClr val="tx1"/>
                </a:solidFill>
                <a:effectLst/>
                <a:latin typeface="Inter" panose="020B0604020202020204" charset="0"/>
                <a:ea typeface="Inter" panose="020B0604020202020204" charset="0"/>
              </a:rPr>
              <a:t>Financial time series forecasting has become a vital focus within computational intelligence, engaging finance researchers in academia and industry alike due to its broad applications and substantial impact. While numerous Machine Learning (ML) models have been developed for this purpose, an extensive array of surveys already exists covering ML applications in financial forecasting.</a:t>
            </a:r>
          </a:p>
          <a:p>
            <a:pPr algn="just" rtl="0"/>
            <a:r>
              <a:rPr lang="en-US" b="0" i="0" u="none" strike="noStrike" dirty="0">
                <a:solidFill>
                  <a:schemeClr val="tx1"/>
                </a:solidFill>
                <a:effectLst/>
                <a:latin typeface="Inter" panose="020B0604020202020204" charset="0"/>
                <a:ea typeface="Inter" panose="020B0604020202020204" charset="0"/>
              </a:rPr>
              <a:t>  </a:t>
            </a:r>
            <a:br>
              <a:rPr lang="en-US" b="0" dirty="0">
                <a:solidFill>
                  <a:schemeClr val="tx1"/>
                </a:solidFill>
                <a:effectLst/>
                <a:latin typeface="Inter" panose="020B0604020202020204" charset="0"/>
                <a:ea typeface="Inter" panose="020B0604020202020204" charset="0"/>
              </a:rPr>
            </a:br>
            <a:r>
              <a:rPr lang="en-US" b="0" i="0" u="none" strike="noStrike" dirty="0">
                <a:solidFill>
                  <a:schemeClr val="tx1"/>
                </a:solidFill>
                <a:effectLst/>
                <a:latin typeface="Inter" panose="020B0604020202020204" charset="0"/>
                <a:ea typeface="Inter" panose="020B0604020202020204" charset="0"/>
              </a:rPr>
              <a:t>More recently, Deep Learning (DL) models have entered the field, showing significant performance improvements over traditional ML methods. However, despite the growing interest in DL for financial time series forecasting, there is a notable lack of research focused specifically on DL applications for finance, particularly for region-specific data. This research aims to bridge this gap by experimenting with various DL models to optimize forecasting accuracy specifically for the Bombay Stock Exchange. Through this study, we seek not only to review current DL approaches but also to identify, improve, and potentially introduce a novel model tailored to Indian stock data. In addition to providing a comprehensive review, this research highlights potential setbacks and emerging opportunities in DL for financial forecasting, offering insights valuable to future researchers in the field.</a:t>
            </a:r>
            <a:endParaRPr lang="en-US" b="0" dirty="0">
              <a:solidFill>
                <a:schemeClr val="tx1"/>
              </a:solidFill>
              <a:effectLst/>
              <a:latin typeface="Inter" panose="020B0604020202020204" charset="0"/>
              <a:ea typeface="Inter" panose="020B0604020202020204" charset="0"/>
            </a:endParaRPr>
          </a:p>
          <a:p>
            <a:br>
              <a:rPr lang="en-US" b="0" dirty="0">
                <a:solidFill>
                  <a:schemeClr val="tx1"/>
                </a:solidFill>
                <a:effectLst/>
                <a:latin typeface="Inter" panose="020B0604020202020204" charset="0"/>
                <a:ea typeface="Inter" panose="020B0604020202020204" charset="0"/>
              </a:rPr>
            </a:br>
            <a:endParaRPr dirty="0">
              <a:solidFill>
                <a:schemeClr val="tx1"/>
              </a:solidFill>
              <a:latin typeface="Inter" panose="020B0604020202020204" charset="0"/>
              <a:ea typeface="Inter" panose="020B0604020202020204" charset="0"/>
              <a:cs typeface="Inter"/>
              <a:sym typeface="Inter"/>
            </a:endParaRPr>
          </a:p>
        </p:txBody>
      </p:sp>
      <p:pic>
        <p:nvPicPr>
          <p:cNvPr id="4" name="Google Shape;11;p6">
            <a:extLst>
              <a:ext uri="{FF2B5EF4-FFF2-40B4-BE49-F238E27FC236}">
                <a16:creationId xmlns:a16="http://schemas.microsoft.com/office/drawing/2014/main" id="{E61D169B-34FA-ECBC-A6D4-A92F233B5E3F}"/>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D6E4952B-7552-BC21-AE9F-17E06473808B}"/>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54EDF25F-BD06-3DD0-D889-774521C22FE9}"/>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D32DCC8C-300D-B2F0-523C-E4871C5938E2}"/>
              </a:ext>
            </a:extLst>
          </p:cNvPr>
          <p:cNvSpPr txBox="1"/>
          <p:nvPr/>
        </p:nvSpPr>
        <p:spPr>
          <a:xfrm>
            <a:off x="434411" y="484562"/>
            <a:ext cx="6218981"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600" b="1" dirty="0">
                <a:solidFill>
                  <a:srgbClr val="007367"/>
                </a:solidFill>
                <a:latin typeface="Inter"/>
                <a:ea typeface="Inter"/>
                <a:cs typeface="Inter"/>
                <a:sym typeface="Inter"/>
              </a:rPr>
              <a:t>PROBLEM</a:t>
            </a:r>
            <a:r>
              <a:rPr lang="en-US" sz="3600" b="1" dirty="0">
                <a:solidFill>
                  <a:schemeClr val="dk1"/>
                </a:solidFill>
                <a:latin typeface="Inter"/>
                <a:ea typeface="Inter"/>
                <a:cs typeface="Inter"/>
                <a:sym typeface="Inter"/>
              </a:rPr>
              <a:t> </a:t>
            </a:r>
            <a:r>
              <a:rPr lang="en-US" sz="3600" b="1" dirty="0">
                <a:solidFill>
                  <a:srgbClr val="A58255"/>
                </a:solidFill>
                <a:latin typeface="Inter"/>
                <a:ea typeface="Inter"/>
                <a:cs typeface="Inter"/>
                <a:sym typeface="Inter"/>
              </a:rPr>
              <a:t>STATEMENT</a:t>
            </a:r>
            <a:endParaRPr dirty="0">
              <a:latin typeface="Inter"/>
              <a:ea typeface="Inter"/>
              <a:cs typeface="Inter"/>
              <a:sym typeface="Inter"/>
            </a:endParaRPr>
          </a:p>
        </p:txBody>
      </p:sp>
      <p:sp>
        <p:nvSpPr>
          <p:cNvPr id="46" name="Google Shape;46;p2">
            <a:extLst>
              <a:ext uri="{FF2B5EF4-FFF2-40B4-BE49-F238E27FC236}">
                <a16:creationId xmlns:a16="http://schemas.microsoft.com/office/drawing/2014/main" id="{236812E7-1F8D-103A-F5F9-6441C9B12DFE}"/>
              </a:ext>
            </a:extLst>
          </p:cNvPr>
          <p:cNvSpPr txBox="1"/>
          <p:nvPr/>
        </p:nvSpPr>
        <p:spPr>
          <a:xfrm>
            <a:off x="434411" y="1130852"/>
            <a:ext cx="10928807" cy="4154943"/>
          </a:xfrm>
          <a:prstGeom prst="rect">
            <a:avLst/>
          </a:prstGeom>
          <a:noFill/>
          <a:ln>
            <a:noFill/>
          </a:ln>
        </p:spPr>
        <p:txBody>
          <a:bodyPr spcFirstLastPara="1" wrap="square" lIns="91425" tIns="45700" rIns="91425" bIns="45700" anchor="t" anchorCtr="0">
            <a:spAutoFit/>
          </a:bodyPr>
          <a:lstStyle/>
          <a:p>
            <a:pPr algn="just" rtl="0">
              <a:spcBef>
                <a:spcPts val="1200"/>
              </a:spcBef>
              <a:spcAft>
                <a:spcPts val="1200"/>
              </a:spcAft>
            </a:pPr>
            <a:r>
              <a:rPr lang="en-US" b="0" i="0" u="none" strike="noStrike" dirty="0">
                <a:solidFill>
                  <a:schemeClr val="tx1"/>
                </a:solidFill>
                <a:effectLst/>
                <a:latin typeface="Inter" panose="020B0604020202020204" charset="0"/>
                <a:ea typeface="Inter" panose="020B0604020202020204" charset="0"/>
              </a:rPr>
              <a:t>Financial time series forecasting faces significant challenges that can compromise the accuracy and reliability of predictions. Issues such as data quality, including missing values and gaps in historical records, pose considerable hurdles for forecasting models. Additionally, non-stationarity in financial data, often caused by structural breaks from market regulations or global events, complicates the modeling process. The inherent volatility and uncertainty of financial markets further necessitate advanced modeling techniques capable of capturing the complex, nonlinear relationships among variables, as traditional linear models may not adequately reflect the dynamics of these systems.</a:t>
            </a:r>
            <a:endParaRPr lang="en-US" b="0" dirty="0">
              <a:solidFill>
                <a:schemeClr val="tx1"/>
              </a:solidFill>
              <a:effectLst/>
              <a:latin typeface="Inter" panose="020B0604020202020204" charset="0"/>
              <a:ea typeface="Inter" panose="020B0604020202020204" charset="0"/>
            </a:endParaRPr>
          </a:p>
          <a:p>
            <a:pPr algn="just" rtl="0">
              <a:spcBef>
                <a:spcPts val="1200"/>
              </a:spcBef>
              <a:spcAft>
                <a:spcPts val="1200"/>
              </a:spcAft>
            </a:pPr>
            <a:r>
              <a:rPr lang="en-US" b="0" i="0" u="none" strike="noStrike" dirty="0">
                <a:solidFill>
                  <a:schemeClr val="tx1"/>
                </a:solidFill>
                <a:effectLst/>
                <a:latin typeface="Inter" panose="020B0604020202020204" charset="0"/>
                <a:ea typeface="Inter" panose="020B0604020202020204" charset="0"/>
              </a:rPr>
              <a:t>Despite the increasing interest in deep learning (DL) techniques, there is a notable lack of comprehensive literature reviews focusing on their implementation and effectiveness in financial time series forecasting. This research aims to fill this gap by systematically reviewing existing DL methodologies, highlighting their strengths and weaknesses, and evaluating their predictability in overcoming common challenges such as overfitting and model generalization. Furthermore, we will experiment with various DL models on financial datasets, specifically focusing on the Bombay Stock Exchange, to identify an optimized model for this context. By leveraging the predictive capabilities of DL, this study seeks to enhance forecasting accuracy, ultimately contributing to improved decision-making processes within the finance industry.</a:t>
            </a:r>
            <a:endParaRPr lang="en-US" b="0" dirty="0">
              <a:solidFill>
                <a:schemeClr val="tx1"/>
              </a:solidFill>
              <a:effectLst/>
              <a:latin typeface="Inter" panose="020B0604020202020204" charset="0"/>
              <a:ea typeface="Inter" panose="020B0604020202020204" charset="0"/>
            </a:endParaRPr>
          </a:p>
          <a:p>
            <a:pPr>
              <a:lnSpc>
                <a:spcPct val="150000"/>
              </a:lnSpc>
            </a:pPr>
            <a:br>
              <a:rPr lang="en-US" dirty="0">
                <a:solidFill>
                  <a:schemeClr val="tx1"/>
                </a:solidFill>
                <a:latin typeface="Inter" panose="020B0604020202020204" charset="0"/>
                <a:ea typeface="Inter" panose="020B0604020202020204" charset="0"/>
              </a:rPr>
            </a:br>
            <a:endParaRPr dirty="0">
              <a:solidFill>
                <a:schemeClr val="tx1"/>
              </a:solidFill>
              <a:latin typeface="Inter" panose="020B0604020202020204" charset="0"/>
              <a:ea typeface="Inter" panose="020B0604020202020204" charset="0"/>
              <a:cs typeface="Inter"/>
              <a:sym typeface="Inter"/>
            </a:endParaRPr>
          </a:p>
        </p:txBody>
      </p:sp>
      <p:pic>
        <p:nvPicPr>
          <p:cNvPr id="4" name="Google Shape;11;p6">
            <a:extLst>
              <a:ext uri="{FF2B5EF4-FFF2-40B4-BE49-F238E27FC236}">
                <a16:creationId xmlns:a16="http://schemas.microsoft.com/office/drawing/2014/main" id="{D5E4E307-626A-B654-9817-9C6E2E9AEC89}"/>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D8780390-C7C5-86F2-948E-95A2E827CA52}"/>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Tree>
    <p:extLst>
      <p:ext uri="{BB962C8B-B14F-4D97-AF65-F5344CB8AC3E}">
        <p14:creationId xmlns:p14="http://schemas.microsoft.com/office/powerpoint/2010/main" val="2841039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EAF896BB-A21F-33EE-1BBB-26628D28A733}"/>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738C9311-EC57-E94E-D260-6E73096EDE52}"/>
              </a:ext>
            </a:extLst>
          </p:cNvPr>
          <p:cNvSpPr txBox="1"/>
          <p:nvPr/>
        </p:nvSpPr>
        <p:spPr>
          <a:xfrm>
            <a:off x="385363" y="405392"/>
            <a:ext cx="10873868"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ARIMA </a:t>
            </a:r>
            <a:r>
              <a:rPr lang="en-US" sz="2800" b="1" dirty="0">
                <a:solidFill>
                  <a:srgbClr val="A58255"/>
                </a:solidFill>
                <a:latin typeface="Inter"/>
                <a:ea typeface="Inter"/>
                <a:cs typeface="Inter"/>
                <a:sym typeface="Inter"/>
              </a:rPr>
              <a:t>(AUTOREGRESSIVE INTEGRATED MOVING AVERAGE) </a:t>
            </a:r>
            <a:endParaRPr lang="en-US" sz="2800" dirty="0">
              <a:latin typeface="Inter"/>
              <a:ea typeface="Inter"/>
              <a:cs typeface="Inter"/>
              <a:sym typeface="Inter"/>
            </a:endParaRPr>
          </a:p>
        </p:txBody>
      </p:sp>
      <p:sp>
        <p:nvSpPr>
          <p:cNvPr id="46" name="Google Shape;46;p2">
            <a:extLst>
              <a:ext uri="{FF2B5EF4-FFF2-40B4-BE49-F238E27FC236}">
                <a16:creationId xmlns:a16="http://schemas.microsoft.com/office/drawing/2014/main" id="{6D7E3957-36D5-F9E7-72CD-EDAAAEABB4DF}"/>
              </a:ext>
            </a:extLst>
          </p:cNvPr>
          <p:cNvSpPr txBox="1"/>
          <p:nvPr/>
        </p:nvSpPr>
        <p:spPr>
          <a:xfrm>
            <a:off x="388769" y="1163612"/>
            <a:ext cx="5377031" cy="4616608"/>
          </a:xfrm>
          <a:prstGeom prst="rect">
            <a:avLst/>
          </a:prstGeom>
          <a:noFill/>
          <a:ln>
            <a:noFill/>
          </a:ln>
        </p:spPr>
        <p:txBody>
          <a:bodyPr spcFirstLastPara="1" wrap="square" lIns="91425" tIns="45700" rIns="91425" bIns="45700" anchor="t" anchorCtr="0">
            <a:spAutoFit/>
          </a:bodyPr>
          <a:lstStyle/>
          <a:p>
            <a:pPr rtl="0">
              <a:spcBef>
                <a:spcPts val="1200"/>
              </a:spcBef>
              <a:spcAft>
                <a:spcPts val="1200"/>
              </a:spcAft>
            </a:pPr>
            <a:r>
              <a:rPr lang="en-US" b="0" i="0" u="none" strike="noStrike" dirty="0">
                <a:solidFill>
                  <a:schemeClr val="tx1"/>
                </a:solidFill>
                <a:effectLst/>
                <a:latin typeface="Inter" panose="020B0604020202020204" charset="0"/>
                <a:ea typeface="Inter" panose="020B0604020202020204" charset="0"/>
              </a:rPr>
              <a:t>ARIMA models are statistical tools used to analyze and predict time series data. They break down time series into three components:</a:t>
            </a:r>
            <a:endParaRPr lang="en-US" b="0" dirty="0">
              <a:solidFill>
                <a:schemeClr val="tx1"/>
              </a:solidFill>
              <a:effectLst/>
              <a:latin typeface="Inter" panose="020B0604020202020204" charset="0"/>
              <a:ea typeface="Inter" panose="020B0604020202020204" charset="0"/>
            </a:endParaRPr>
          </a:p>
          <a:p>
            <a:pPr rtl="0" fontAlgn="base">
              <a:spcBef>
                <a:spcPts val="1200"/>
              </a:spcBef>
              <a:buFont typeface="+mj-lt"/>
              <a:buAutoNum type="arabicPeriod"/>
            </a:pPr>
            <a:r>
              <a:rPr lang="en-US" b="0" i="0" u="sng" strike="noStrike" dirty="0">
                <a:solidFill>
                  <a:schemeClr val="tx1"/>
                </a:solidFill>
                <a:effectLst/>
                <a:latin typeface="Inter" panose="020B0604020202020204" charset="0"/>
                <a:ea typeface="Inter" panose="020B0604020202020204" charset="0"/>
              </a:rPr>
              <a:t>Autoregression (AR)</a:t>
            </a:r>
            <a:r>
              <a:rPr lang="en-US" b="1" i="0" u="none" strike="noStrike" dirty="0">
                <a:solidFill>
                  <a:schemeClr val="tx1"/>
                </a:solidFill>
                <a:effectLst/>
                <a:latin typeface="Inter" panose="020B0604020202020204" charset="0"/>
                <a:ea typeface="Inter" panose="020B0604020202020204" charset="0"/>
              </a:rPr>
              <a:t>:</a:t>
            </a:r>
            <a:r>
              <a:rPr lang="en-US" b="0" i="0" u="none" strike="noStrike" dirty="0">
                <a:solidFill>
                  <a:schemeClr val="tx1"/>
                </a:solidFill>
                <a:effectLst/>
                <a:latin typeface="Inter" panose="020B0604020202020204" charset="0"/>
                <a:ea typeface="Inter" panose="020B0604020202020204" charset="0"/>
              </a:rPr>
              <a:t> Uses past values of the series to predict future values.</a:t>
            </a:r>
          </a:p>
          <a:p>
            <a:pPr rtl="0" fontAlgn="base">
              <a:spcBef>
                <a:spcPts val="1200"/>
              </a:spcBef>
              <a:buFont typeface="+mj-lt"/>
              <a:buAutoNum type="arabicPeriod"/>
            </a:pPr>
            <a:r>
              <a:rPr lang="en-US" b="0" i="0" u="sng" strike="noStrike" dirty="0">
                <a:solidFill>
                  <a:schemeClr val="tx1"/>
                </a:solidFill>
                <a:effectLst/>
                <a:latin typeface="Inter" panose="020B0604020202020204" charset="0"/>
                <a:ea typeface="Inter" panose="020B0604020202020204" charset="0"/>
              </a:rPr>
              <a:t>Integration (I)</a:t>
            </a:r>
            <a:r>
              <a:rPr lang="en-US" b="1" i="0" u="none" strike="noStrike" dirty="0">
                <a:solidFill>
                  <a:schemeClr val="tx1"/>
                </a:solidFill>
                <a:effectLst/>
                <a:latin typeface="Inter" panose="020B0604020202020204" charset="0"/>
                <a:ea typeface="Inter" panose="020B0604020202020204" charset="0"/>
              </a:rPr>
              <a:t>:</a:t>
            </a:r>
            <a:r>
              <a:rPr lang="en-US" b="0" i="0" u="none" strike="noStrike" dirty="0">
                <a:solidFill>
                  <a:schemeClr val="tx1"/>
                </a:solidFill>
                <a:effectLst/>
                <a:latin typeface="Inter" panose="020B0604020202020204" charset="0"/>
                <a:ea typeface="Inter" panose="020B0604020202020204" charset="0"/>
              </a:rPr>
              <a:t> Makes the series stationary by differencing.</a:t>
            </a:r>
          </a:p>
          <a:p>
            <a:pPr rtl="0" fontAlgn="base">
              <a:spcBef>
                <a:spcPts val="1200"/>
              </a:spcBef>
              <a:buFont typeface="+mj-lt"/>
              <a:buAutoNum type="arabicPeriod"/>
            </a:pPr>
            <a:r>
              <a:rPr lang="en-US" b="0" i="0" u="sng" strike="noStrike" dirty="0">
                <a:solidFill>
                  <a:schemeClr val="tx1"/>
                </a:solidFill>
                <a:effectLst/>
                <a:latin typeface="Inter" panose="020B0604020202020204" charset="0"/>
                <a:ea typeface="Inter" panose="020B0604020202020204" charset="0"/>
              </a:rPr>
              <a:t>Moving Average (MA)</a:t>
            </a:r>
            <a:r>
              <a:rPr lang="en-US" b="1" i="0" u="none" strike="noStrike" dirty="0">
                <a:solidFill>
                  <a:schemeClr val="tx1"/>
                </a:solidFill>
                <a:effectLst/>
                <a:latin typeface="Inter" panose="020B0604020202020204" charset="0"/>
                <a:ea typeface="Inter" panose="020B0604020202020204" charset="0"/>
              </a:rPr>
              <a:t>:</a:t>
            </a:r>
            <a:r>
              <a:rPr lang="en-US" b="0" i="0" u="none" strike="noStrike" dirty="0">
                <a:solidFill>
                  <a:schemeClr val="tx1"/>
                </a:solidFill>
                <a:effectLst/>
                <a:latin typeface="Inter" panose="020B0604020202020204" charset="0"/>
                <a:ea typeface="Inter" panose="020B0604020202020204" charset="0"/>
              </a:rPr>
              <a:t> Uses past errors in the model to predict future values.</a:t>
            </a:r>
          </a:p>
          <a:p>
            <a:pPr rtl="0" fontAlgn="base">
              <a:spcAft>
                <a:spcPts val="1200"/>
              </a:spcAft>
            </a:pPr>
            <a:endParaRPr lang="en-US" b="0" i="0" u="none" strike="noStrike" dirty="0">
              <a:solidFill>
                <a:schemeClr val="tx1"/>
              </a:solidFill>
              <a:effectLst/>
              <a:latin typeface="Inter" panose="020B0604020202020204" charset="0"/>
              <a:ea typeface="Inter" panose="020B0604020202020204" charset="0"/>
            </a:endParaRPr>
          </a:p>
          <a:p>
            <a:pPr rtl="0" fontAlgn="base">
              <a:spcAft>
                <a:spcPts val="1200"/>
              </a:spcAft>
            </a:pPr>
            <a:endParaRPr lang="en-US" b="0" i="0" u="none" strike="noStrike" dirty="0">
              <a:solidFill>
                <a:schemeClr val="tx1"/>
              </a:solidFill>
              <a:effectLst/>
              <a:latin typeface="Inter" panose="020B0604020202020204" charset="0"/>
              <a:ea typeface="Inter" panose="020B0604020202020204" charset="0"/>
            </a:endParaRPr>
          </a:p>
          <a:p>
            <a:r>
              <a:rPr lang="en-US" dirty="0">
                <a:latin typeface="Inter" panose="020B0604020202020204" charset="0"/>
                <a:ea typeface="Inter" panose="020B0604020202020204" charset="0"/>
              </a:rPr>
              <a:t>It is expressed as ARIMA(</a:t>
            </a:r>
            <a:r>
              <a:rPr lang="en-US" dirty="0" err="1">
                <a:latin typeface="Inter" panose="020B0604020202020204" charset="0"/>
                <a:ea typeface="Inter" panose="020B0604020202020204" charset="0"/>
              </a:rPr>
              <a:t>p,d,q</a:t>
            </a:r>
            <a:r>
              <a:rPr lang="en-US" dirty="0">
                <a:latin typeface="Inter" panose="020B0604020202020204" charset="0"/>
                <a:ea typeface="Inter" panose="020B0604020202020204" charset="0"/>
              </a:rPr>
              <a:t>) where; </a:t>
            </a:r>
          </a:p>
          <a:p>
            <a:r>
              <a:rPr lang="en-US" dirty="0">
                <a:latin typeface="Inter" panose="020B0604020202020204" charset="0"/>
                <a:ea typeface="Inter" panose="020B0604020202020204" charset="0"/>
              </a:rPr>
              <a:t>p → order of autoregressive model </a:t>
            </a:r>
          </a:p>
          <a:p>
            <a:r>
              <a:rPr lang="en-US" dirty="0">
                <a:latin typeface="Inter" panose="020B0604020202020204" charset="0"/>
                <a:ea typeface="Inter" panose="020B0604020202020204" charset="0"/>
              </a:rPr>
              <a:t>d → degree of differencing </a:t>
            </a:r>
          </a:p>
          <a:p>
            <a:r>
              <a:rPr lang="en-US" dirty="0">
                <a:latin typeface="Inter" panose="020B0604020202020204" charset="0"/>
                <a:ea typeface="Inter" panose="020B0604020202020204" charset="0"/>
              </a:rPr>
              <a:t>q → order of the moving average model </a:t>
            </a:r>
          </a:p>
          <a:p>
            <a:br>
              <a:rPr lang="en-US" dirty="0">
                <a:solidFill>
                  <a:schemeClr val="tx1"/>
                </a:solidFill>
                <a:latin typeface="Inter" panose="020B0604020202020204" charset="0"/>
                <a:ea typeface="Inter" panose="020B0604020202020204" charset="0"/>
              </a:rPr>
            </a:br>
            <a:endParaRPr lang="en-US" b="0" i="0" u="none" strike="noStrike" dirty="0">
              <a:solidFill>
                <a:schemeClr val="tx1"/>
              </a:solidFill>
              <a:effectLst/>
              <a:latin typeface="Inter" panose="020B0604020202020204" charset="0"/>
              <a:ea typeface="Inter" panose="020B0604020202020204" charset="0"/>
            </a:endParaRPr>
          </a:p>
        </p:txBody>
      </p:sp>
      <p:sp>
        <p:nvSpPr>
          <p:cNvPr id="47" name="Google Shape;47;p2">
            <a:extLst>
              <a:ext uri="{FF2B5EF4-FFF2-40B4-BE49-F238E27FC236}">
                <a16:creationId xmlns:a16="http://schemas.microsoft.com/office/drawing/2014/main" id="{38F50D09-8865-D9AA-CB81-74052EB75A56}"/>
              </a:ext>
            </a:extLst>
          </p:cNvPr>
          <p:cNvSpPr/>
          <p:nvPr/>
        </p:nvSpPr>
        <p:spPr>
          <a:xfrm>
            <a:off x="5830889" y="1966966"/>
            <a:ext cx="88900" cy="3009900"/>
          </a:xfrm>
          <a:prstGeom prst="rect">
            <a:avLst/>
          </a:prstGeom>
          <a:solidFill>
            <a:srgbClr val="0073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ay"/>
              <a:ea typeface="Play"/>
              <a:cs typeface="Play"/>
              <a:sym typeface="Play"/>
            </a:endParaRPr>
          </a:p>
        </p:txBody>
      </p:sp>
      <p:pic>
        <p:nvPicPr>
          <p:cNvPr id="11266" name="Picture 2">
            <a:extLst>
              <a:ext uri="{FF2B5EF4-FFF2-40B4-BE49-F238E27FC236}">
                <a16:creationId xmlns:a16="http://schemas.microsoft.com/office/drawing/2014/main" id="{8B1EE4BF-BFC5-C58F-4AF8-DB9552C0A1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3224" y="1163612"/>
            <a:ext cx="4606925" cy="1845351"/>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7D8D8073-FBFB-B9E7-73E0-083B4B4F75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3224" y="3533176"/>
            <a:ext cx="4843631" cy="2128759"/>
          </a:xfrm>
          <a:prstGeom prst="rect">
            <a:avLst/>
          </a:prstGeom>
          <a:noFill/>
          <a:extLst>
            <a:ext uri="{909E8E84-426E-40DD-AFC4-6F175D3DCCD1}">
              <a14:hiddenFill xmlns:a14="http://schemas.microsoft.com/office/drawing/2010/main">
                <a:solidFill>
                  <a:srgbClr val="FFFFFF"/>
                </a:solidFill>
              </a14:hiddenFill>
            </a:ext>
          </a:extLst>
        </p:spPr>
      </p:pic>
      <p:pic>
        <p:nvPicPr>
          <p:cNvPr id="4" name="Google Shape;11;p6">
            <a:extLst>
              <a:ext uri="{FF2B5EF4-FFF2-40B4-BE49-F238E27FC236}">
                <a16:creationId xmlns:a16="http://schemas.microsoft.com/office/drawing/2014/main" id="{2490E600-56A2-5A7A-A397-747F3F3D7F08}"/>
              </a:ext>
            </a:extLst>
          </p:cNvPr>
          <p:cNvPicPr preferRelativeResize="0"/>
          <p:nvPr/>
        </p:nvPicPr>
        <p:blipFill rotWithShape="1">
          <a:blip r:embed="rId5">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6A7AEA96-8179-41CA-905A-F31A0102B097}"/>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6" name="TextBox 5">
            <a:extLst>
              <a:ext uri="{FF2B5EF4-FFF2-40B4-BE49-F238E27FC236}">
                <a16:creationId xmlns:a16="http://schemas.microsoft.com/office/drawing/2014/main" id="{EEB718EB-06A5-6FD7-9418-B1CF8AD80829}"/>
              </a:ext>
            </a:extLst>
          </p:cNvPr>
          <p:cNvSpPr txBox="1"/>
          <p:nvPr/>
        </p:nvSpPr>
        <p:spPr>
          <a:xfrm>
            <a:off x="7688939" y="3008963"/>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Working/Architecture of the model</a:t>
            </a:r>
          </a:p>
        </p:txBody>
      </p:sp>
      <p:sp>
        <p:nvSpPr>
          <p:cNvPr id="7" name="TextBox 6">
            <a:extLst>
              <a:ext uri="{FF2B5EF4-FFF2-40B4-BE49-F238E27FC236}">
                <a16:creationId xmlns:a16="http://schemas.microsoft.com/office/drawing/2014/main" id="{75159A34-C625-086A-8CFB-05A972DC7C83}"/>
              </a:ext>
            </a:extLst>
          </p:cNvPr>
          <p:cNvSpPr txBox="1"/>
          <p:nvPr/>
        </p:nvSpPr>
        <p:spPr>
          <a:xfrm>
            <a:off x="8004176" y="5694388"/>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Equation of the model</a:t>
            </a:r>
          </a:p>
        </p:txBody>
      </p:sp>
    </p:spTree>
    <p:extLst>
      <p:ext uri="{BB962C8B-B14F-4D97-AF65-F5344CB8AC3E}">
        <p14:creationId xmlns:p14="http://schemas.microsoft.com/office/powerpoint/2010/main" val="1054426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A148A67F-8D68-928C-4B70-3CA174FB63FE}"/>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1E823975-6009-C886-4145-DF911A7B815D}"/>
              </a:ext>
            </a:extLst>
          </p:cNvPr>
          <p:cNvSpPr txBox="1"/>
          <p:nvPr/>
        </p:nvSpPr>
        <p:spPr>
          <a:xfrm>
            <a:off x="385363" y="405392"/>
            <a:ext cx="10873868"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SARIMA </a:t>
            </a:r>
            <a:r>
              <a:rPr lang="en-US" sz="2800" b="1" dirty="0">
                <a:solidFill>
                  <a:srgbClr val="A58255"/>
                </a:solidFill>
                <a:latin typeface="Inter"/>
                <a:ea typeface="Inter"/>
                <a:cs typeface="Inter"/>
                <a:sym typeface="Inter"/>
              </a:rPr>
              <a:t>(SEASONAL ARIMA) </a:t>
            </a:r>
            <a:endParaRPr lang="en-US" sz="2800" dirty="0">
              <a:latin typeface="Inter"/>
              <a:ea typeface="Inter"/>
              <a:cs typeface="Inter"/>
              <a:sym typeface="Inter"/>
            </a:endParaRPr>
          </a:p>
        </p:txBody>
      </p:sp>
      <p:sp>
        <p:nvSpPr>
          <p:cNvPr id="46" name="Google Shape;46;p2">
            <a:extLst>
              <a:ext uri="{FF2B5EF4-FFF2-40B4-BE49-F238E27FC236}">
                <a16:creationId xmlns:a16="http://schemas.microsoft.com/office/drawing/2014/main" id="{E9E868F1-018F-F230-7F99-E2D6F7E2DBDD}"/>
              </a:ext>
            </a:extLst>
          </p:cNvPr>
          <p:cNvSpPr txBox="1"/>
          <p:nvPr/>
        </p:nvSpPr>
        <p:spPr>
          <a:xfrm>
            <a:off x="385363" y="1163612"/>
            <a:ext cx="5951937" cy="2646838"/>
          </a:xfrm>
          <a:prstGeom prst="rect">
            <a:avLst/>
          </a:prstGeom>
          <a:noFill/>
          <a:ln>
            <a:noFill/>
          </a:ln>
        </p:spPr>
        <p:txBody>
          <a:bodyPr spcFirstLastPara="1" wrap="square" lIns="91425" tIns="45700" rIns="91425" bIns="45700" anchor="t" anchorCtr="0">
            <a:spAutoFit/>
          </a:bodyPr>
          <a:lstStyle/>
          <a:p>
            <a:pPr algn="just" rtl="0">
              <a:spcBef>
                <a:spcPts val="1200"/>
              </a:spcBef>
              <a:spcAft>
                <a:spcPts val="1200"/>
              </a:spcAft>
            </a:pPr>
            <a:r>
              <a:rPr lang="en-US" b="0" i="0" u="none" strike="noStrike" dirty="0">
                <a:solidFill>
                  <a:schemeClr val="tx1"/>
                </a:solidFill>
                <a:effectLst/>
                <a:latin typeface="Inter" panose="020B0604020202020204" charset="0"/>
                <a:ea typeface="Inter" panose="020B0604020202020204" charset="0"/>
              </a:rPr>
              <a:t>SARIMA, which stands for Seasonal Autoregressive Integrated Moving Average, extends ARIMA by adding seasonal components to account for patterns that repeat over a fixed period (seasonality).</a:t>
            </a:r>
          </a:p>
          <a:p>
            <a:pPr algn="just" rtl="0">
              <a:spcBef>
                <a:spcPts val="1200"/>
              </a:spcBef>
              <a:spcAft>
                <a:spcPts val="1200"/>
              </a:spcAft>
            </a:pPr>
            <a:endParaRPr lang="en-US" b="0" i="0" u="none" strike="noStrike" dirty="0">
              <a:solidFill>
                <a:schemeClr val="tx1"/>
              </a:solidFill>
              <a:effectLst/>
              <a:latin typeface="Inter" panose="020B0604020202020204" charset="0"/>
              <a:ea typeface="Inter" panose="020B0604020202020204" charset="0"/>
            </a:endParaRPr>
          </a:p>
          <a:p>
            <a:r>
              <a:rPr lang="en-US" dirty="0">
                <a:latin typeface="Inter" panose="020B0604020202020204" charset="0"/>
                <a:ea typeface="Inter" panose="020B0604020202020204" charset="0"/>
              </a:rPr>
              <a:t>It is represented as SARIMA(p, d, q)(P, D, Q, s) where: </a:t>
            </a:r>
          </a:p>
          <a:p>
            <a:r>
              <a:rPr lang="en-US" dirty="0" err="1">
                <a:latin typeface="Inter" panose="020B0604020202020204" charset="0"/>
                <a:ea typeface="Inter" panose="020B0604020202020204" charset="0"/>
              </a:rPr>
              <a:t>p,d,q</a:t>
            </a:r>
            <a:r>
              <a:rPr lang="en-US" dirty="0">
                <a:latin typeface="Inter" panose="020B0604020202020204" charset="0"/>
                <a:ea typeface="Inter" panose="020B0604020202020204" charset="0"/>
              </a:rPr>
              <a:t> are as in ARIMA </a:t>
            </a:r>
          </a:p>
          <a:p>
            <a:r>
              <a:rPr lang="en-US" dirty="0">
                <a:latin typeface="Inter" panose="020B0604020202020204" charset="0"/>
                <a:ea typeface="Inter" panose="020B0604020202020204" charset="0"/>
              </a:rPr>
              <a:t>P,D,Q represent the seasonal part orders of AR, differencing, and MA is the length of the seasonal cycle </a:t>
            </a:r>
          </a:p>
        </p:txBody>
      </p:sp>
      <p:sp>
        <p:nvSpPr>
          <p:cNvPr id="47" name="Google Shape;47;p2">
            <a:extLst>
              <a:ext uri="{FF2B5EF4-FFF2-40B4-BE49-F238E27FC236}">
                <a16:creationId xmlns:a16="http://schemas.microsoft.com/office/drawing/2014/main" id="{361BDBCE-7DF3-B6B2-98B8-F9E933C9B489}"/>
              </a:ext>
            </a:extLst>
          </p:cNvPr>
          <p:cNvSpPr/>
          <p:nvPr/>
        </p:nvSpPr>
        <p:spPr>
          <a:xfrm>
            <a:off x="6485904" y="1924050"/>
            <a:ext cx="88900" cy="3009900"/>
          </a:xfrm>
          <a:prstGeom prst="rect">
            <a:avLst/>
          </a:prstGeom>
          <a:solidFill>
            <a:srgbClr val="0073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ay"/>
              <a:ea typeface="Play"/>
              <a:cs typeface="Play"/>
              <a:sym typeface="Play"/>
            </a:endParaRPr>
          </a:p>
        </p:txBody>
      </p:sp>
      <p:pic>
        <p:nvPicPr>
          <p:cNvPr id="12290" name="Picture 2">
            <a:extLst>
              <a:ext uri="{FF2B5EF4-FFF2-40B4-BE49-F238E27FC236}">
                <a16:creationId xmlns:a16="http://schemas.microsoft.com/office/drawing/2014/main" id="{0CAE874C-52B3-7087-3976-777E818B47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8692" y="1328712"/>
            <a:ext cx="4430145" cy="3919358"/>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a:extLst>
              <a:ext uri="{FF2B5EF4-FFF2-40B4-BE49-F238E27FC236}">
                <a16:creationId xmlns:a16="http://schemas.microsoft.com/office/drawing/2014/main" id="{99F4C789-1260-A4E6-DF02-5843C37A13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5293" y="3929632"/>
            <a:ext cx="4411419" cy="1674100"/>
          </a:xfrm>
          <a:prstGeom prst="rect">
            <a:avLst/>
          </a:prstGeom>
          <a:noFill/>
          <a:extLst>
            <a:ext uri="{909E8E84-426E-40DD-AFC4-6F175D3DCCD1}">
              <a14:hiddenFill xmlns:a14="http://schemas.microsoft.com/office/drawing/2010/main">
                <a:solidFill>
                  <a:srgbClr val="FFFFFF"/>
                </a:solidFill>
              </a14:hiddenFill>
            </a:ext>
          </a:extLst>
        </p:spPr>
      </p:pic>
      <p:pic>
        <p:nvPicPr>
          <p:cNvPr id="4" name="Google Shape;11;p6">
            <a:extLst>
              <a:ext uri="{FF2B5EF4-FFF2-40B4-BE49-F238E27FC236}">
                <a16:creationId xmlns:a16="http://schemas.microsoft.com/office/drawing/2014/main" id="{F0468A7A-CB7E-A2F6-C3C8-88033C04776F}"/>
              </a:ext>
            </a:extLst>
          </p:cNvPr>
          <p:cNvPicPr preferRelativeResize="0"/>
          <p:nvPr/>
        </p:nvPicPr>
        <p:blipFill rotWithShape="1">
          <a:blip r:embed="rId5">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71C5F6B3-2966-75D6-04F1-E153572F005C}"/>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6" name="TextBox 5">
            <a:extLst>
              <a:ext uri="{FF2B5EF4-FFF2-40B4-BE49-F238E27FC236}">
                <a16:creationId xmlns:a16="http://schemas.microsoft.com/office/drawing/2014/main" id="{6A596DBA-E96D-F75F-CD72-9600465BFDB9}"/>
              </a:ext>
            </a:extLst>
          </p:cNvPr>
          <p:cNvSpPr txBox="1"/>
          <p:nvPr/>
        </p:nvSpPr>
        <p:spPr>
          <a:xfrm>
            <a:off x="8196939" y="5357511"/>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Working/Architecture of the model</a:t>
            </a:r>
          </a:p>
        </p:txBody>
      </p:sp>
      <p:sp>
        <p:nvSpPr>
          <p:cNvPr id="7" name="TextBox 6">
            <a:extLst>
              <a:ext uri="{FF2B5EF4-FFF2-40B4-BE49-F238E27FC236}">
                <a16:creationId xmlns:a16="http://schemas.microsoft.com/office/drawing/2014/main" id="{89C41D80-31E3-1886-1A13-E59E5533C52C}"/>
              </a:ext>
            </a:extLst>
          </p:cNvPr>
          <p:cNvSpPr txBox="1"/>
          <p:nvPr/>
        </p:nvSpPr>
        <p:spPr>
          <a:xfrm>
            <a:off x="2095534" y="5603732"/>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Equation of the model</a:t>
            </a:r>
          </a:p>
        </p:txBody>
      </p:sp>
    </p:spTree>
    <p:extLst>
      <p:ext uri="{BB962C8B-B14F-4D97-AF65-F5344CB8AC3E}">
        <p14:creationId xmlns:p14="http://schemas.microsoft.com/office/powerpoint/2010/main" val="246273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174430D9-6305-B9F4-F983-7215E84B4511}"/>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C7A085B1-ADDF-B690-B193-3B3A4C011D39}"/>
              </a:ext>
            </a:extLst>
          </p:cNvPr>
          <p:cNvSpPr txBox="1"/>
          <p:nvPr/>
        </p:nvSpPr>
        <p:spPr>
          <a:xfrm>
            <a:off x="385035" y="399181"/>
            <a:ext cx="10873868"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EXPONENTIAL </a:t>
            </a:r>
            <a:r>
              <a:rPr lang="en-US" sz="2800" b="1" dirty="0">
                <a:solidFill>
                  <a:srgbClr val="A58255"/>
                </a:solidFill>
                <a:latin typeface="Inter"/>
                <a:ea typeface="Inter"/>
                <a:cs typeface="Inter"/>
                <a:sym typeface="Inter"/>
              </a:rPr>
              <a:t>SMOOTHING</a:t>
            </a:r>
            <a:endParaRPr lang="en-US" sz="2800" dirty="0">
              <a:latin typeface="Inter"/>
              <a:ea typeface="Inter"/>
              <a:cs typeface="Inter"/>
              <a:sym typeface="Inter"/>
            </a:endParaRPr>
          </a:p>
        </p:txBody>
      </p:sp>
      <p:sp>
        <p:nvSpPr>
          <p:cNvPr id="46" name="Google Shape;46;p2">
            <a:extLst>
              <a:ext uri="{FF2B5EF4-FFF2-40B4-BE49-F238E27FC236}">
                <a16:creationId xmlns:a16="http://schemas.microsoft.com/office/drawing/2014/main" id="{6B366A3E-FA11-F4A5-F4D8-C2A578B4E12F}"/>
              </a:ext>
            </a:extLst>
          </p:cNvPr>
          <p:cNvSpPr txBox="1"/>
          <p:nvPr/>
        </p:nvSpPr>
        <p:spPr>
          <a:xfrm>
            <a:off x="385036" y="1029938"/>
            <a:ext cx="5524014" cy="4832052"/>
          </a:xfrm>
          <a:prstGeom prst="rect">
            <a:avLst/>
          </a:prstGeom>
          <a:noFill/>
          <a:ln>
            <a:noFill/>
          </a:ln>
        </p:spPr>
        <p:txBody>
          <a:bodyPr spcFirstLastPara="1" wrap="square" lIns="91425" tIns="45700" rIns="91425" bIns="45700" anchor="t" anchorCtr="0">
            <a:spAutoFit/>
          </a:bodyPr>
          <a:lstStyle/>
          <a:p>
            <a:pPr algn="just" rtl="0">
              <a:spcBef>
                <a:spcPts val="1200"/>
              </a:spcBef>
              <a:spcAft>
                <a:spcPts val="1200"/>
              </a:spcAft>
            </a:pPr>
            <a:r>
              <a:rPr lang="en-US" sz="1300" b="0" i="0" u="none" strike="noStrike" dirty="0">
                <a:solidFill>
                  <a:schemeClr val="tx1"/>
                </a:solidFill>
                <a:effectLst/>
                <a:latin typeface="Inter" panose="020B0604020202020204" charset="0"/>
                <a:ea typeface="Inter" panose="020B0604020202020204" charset="0"/>
              </a:rPr>
              <a:t>Exponential Smoothing is a time-series forecasting technique that uses weighted averages of past observations, where weights decrease exponentially over time, to predict future values. It assumes that more recent data is more relevant for forecasting.  </a:t>
            </a:r>
          </a:p>
          <a:p>
            <a:pPr algn="just" rtl="0">
              <a:spcBef>
                <a:spcPts val="1200"/>
              </a:spcBef>
              <a:spcAft>
                <a:spcPts val="1200"/>
              </a:spcAft>
            </a:pPr>
            <a:r>
              <a:rPr lang="en-US" sz="1300" b="1" i="0" u="none" strike="noStrike" dirty="0">
                <a:solidFill>
                  <a:schemeClr val="tx1"/>
                </a:solidFill>
                <a:effectLst/>
                <a:latin typeface="Inter" panose="020B0604020202020204" charset="0"/>
                <a:ea typeface="Inter" panose="020B0604020202020204" charset="0"/>
              </a:rPr>
              <a:t>Architecture Highlights:  </a:t>
            </a:r>
          </a:p>
          <a:p>
            <a:pPr marL="285750" indent="-285750" algn="just" rtl="0">
              <a:spcBef>
                <a:spcPts val="1200"/>
              </a:spcBef>
              <a:spcAft>
                <a:spcPts val="1200"/>
              </a:spcAft>
              <a:buFont typeface="Arial" panose="020B0604020202020204" pitchFamily="34" charset="0"/>
              <a:buChar char="•"/>
            </a:pPr>
            <a:r>
              <a:rPr lang="en-US" sz="1300" i="0" u="sng" strike="noStrike" dirty="0">
                <a:solidFill>
                  <a:schemeClr val="tx1"/>
                </a:solidFill>
                <a:effectLst/>
                <a:latin typeface="Inter" panose="020B0604020202020204" charset="0"/>
                <a:ea typeface="Inter" panose="020B0604020202020204" charset="0"/>
              </a:rPr>
              <a:t>Weighted Averaging Framework</a:t>
            </a:r>
            <a:r>
              <a:rPr lang="en-US" sz="1300" b="0" i="0" u="none" strike="noStrike" dirty="0">
                <a:solidFill>
                  <a:schemeClr val="tx1"/>
                </a:solidFill>
                <a:effectLst/>
                <a:latin typeface="Inter" panose="020B0604020202020204" charset="0"/>
                <a:ea typeface="Inter" panose="020B0604020202020204" charset="0"/>
              </a:rPr>
              <a:t>:    Assigns exponentially decreasing weights to past observations, ensuring recent data has a stronger influence on predictions while still accounting for older data.  </a:t>
            </a:r>
          </a:p>
          <a:p>
            <a:pPr marL="285750" indent="-285750" algn="just" rtl="0">
              <a:spcBef>
                <a:spcPts val="1200"/>
              </a:spcBef>
              <a:spcAft>
                <a:spcPts val="1200"/>
              </a:spcAft>
              <a:buFont typeface="Arial" panose="020B0604020202020204" pitchFamily="34" charset="0"/>
              <a:buChar char="•"/>
            </a:pPr>
            <a:r>
              <a:rPr lang="en-US" sz="1300" b="0" i="0" u="sng" strike="noStrike" dirty="0">
                <a:solidFill>
                  <a:schemeClr val="tx1"/>
                </a:solidFill>
                <a:effectLst/>
                <a:latin typeface="Inter" panose="020B0604020202020204" charset="0"/>
                <a:ea typeface="Inter" panose="020B0604020202020204" charset="0"/>
              </a:rPr>
              <a:t>Recursive Computation</a:t>
            </a:r>
            <a:r>
              <a:rPr lang="en-US" sz="1300" b="0" i="0" u="none" strike="noStrike" dirty="0">
                <a:solidFill>
                  <a:schemeClr val="tx1"/>
                </a:solidFill>
                <a:effectLst/>
                <a:latin typeface="Inter" panose="020B0604020202020204" charset="0"/>
                <a:ea typeface="Inter" panose="020B0604020202020204" charset="0"/>
              </a:rPr>
              <a:t>:    Computes forecasts using a recursive equation, which simplifies the model and allows efficient updating as new data arrives.  </a:t>
            </a:r>
          </a:p>
          <a:p>
            <a:pPr marL="285750" indent="-285750" algn="just" rtl="0">
              <a:spcBef>
                <a:spcPts val="1200"/>
              </a:spcBef>
              <a:spcAft>
                <a:spcPts val="1200"/>
              </a:spcAft>
              <a:buFont typeface="Arial" panose="020B0604020202020204" pitchFamily="34" charset="0"/>
              <a:buChar char="•"/>
            </a:pPr>
            <a:r>
              <a:rPr lang="en-US" sz="1300" b="0" i="0" u="sng" strike="noStrike" dirty="0">
                <a:solidFill>
                  <a:schemeClr val="tx1"/>
                </a:solidFill>
                <a:effectLst/>
                <a:latin typeface="Inter" panose="020B0604020202020204" charset="0"/>
                <a:ea typeface="Inter" panose="020B0604020202020204" charset="0"/>
              </a:rPr>
              <a:t>Variants for Trend and Seasonality</a:t>
            </a:r>
            <a:r>
              <a:rPr lang="en-US" sz="1300" b="0" i="0" u="none" strike="noStrike" dirty="0">
                <a:solidFill>
                  <a:schemeClr val="tx1"/>
                </a:solidFill>
                <a:effectLst/>
                <a:latin typeface="Inter" panose="020B0604020202020204" charset="0"/>
                <a:ea typeface="Inter" panose="020B0604020202020204" charset="0"/>
              </a:rPr>
              <a:t>:  Supports extensions like Holt’s Linear Trend Method for trend forecasting and Holt-Winters Method for handling seasonality, making it versatile for different time-series patterns.</a:t>
            </a:r>
          </a:p>
        </p:txBody>
      </p:sp>
      <p:sp>
        <p:nvSpPr>
          <p:cNvPr id="47" name="Google Shape;47;p2">
            <a:extLst>
              <a:ext uri="{FF2B5EF4-FFF2-40B4-BE49-F238E27FC236}">
                <a16:creationId xmlns:a16="http://schemas.microsoft.com/office/drawing/2014/main" id="{76EFB8A4-85F5-5C45-5440-C670914B6FCA}"/>
              </a:ext>
            </a:extLst>
          </p:cNvPr>
          <p:cNvSpPr/>
          <p:nvPr/>
        </p:nvSpPr>
        <p:spPr>
          <a:xfrm>
            <a:off x="6215000" y="2077403"/>
            <a:ext cx="88900" cy="3009900"/>
          </a:xfrm>
          <a:prstGeom prst="rect">
            <a:avLst/>
          </a:prstGeom>
          <a:solidFill>
            <a:srgbClr val="0073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ay"/>
              <a:ea typeface="Play"/>
              <a:cs typeface="Play"/>
              <a:sym typeface="Play"/>
            </a:endParaRPr>
          </a:p>
        </p:txBody>
      </p:sp>
      <p:pic>
        <p:nvPicPr>
          <p:cNvPr id="6" name="Picture 5">
            <a:extLst>
              <a:ext uri="{FF2B5EF4-FFF2-40B4-BE49-F238E27FC236}">
                <a16:creationId xmlns:a16="http://schemas.microsoft.com/office/drawing/2014/main" id="{70B8A7EA-E94A-B8D1-A78D-537B07BAB109}"/>
              </a:ext>
            </a:extLst>
          </p:cNvPr>
          <p:cNvPicPr>
            <a:picLocks noChangeAspect="1"/>
          </p:cNvPicPr>
          <p:nvPr/>
        </p:nvPicPr>
        <p:blipFill>
          <a:blip r:embed="rId3"/>
          <a:stretch>
            <a:fillRect/>
          </a:stretch>
        </p:blipFill>
        <p:spPr>
          <a:xfrm>
            <a:off x="8024405" y="3909244"/>
            <a:ext cx="2979218" cy="1818438"/>
          </a:xfrm>
          <a:prstGeom prst="rect">
            <a:avLst/>
          </a:prstGeom>
        </p:spPr>
      </p:pic>
      <p:pic>
        <p:nvPicPr>
          <p:cNvPr id="9" name="Picture 8">
            <a:extLst>
              <a:ext uri="{FF2B5EF4-FFF2-40B4-BE49-F238E27FC236}">
                <a16:creationId xmlns:a16="http://schemas.microsoft.com/office/drawing/2014/main" id="{9B63BCDB-114D-5E2C-6F6D-F2645A1ECDD8}"/>
              </a:ext>
            </a:extLst>
          </p:cNvPr>
          <p:cNvPicPr>
            <a:picLocks noChangeAspect="1"/>
          </p:cNvPicPr>
          <p:nvPr/>
        </p:nvPicPr>
        <p:blipFill>
          <a:blip r:embed="rId4"/>
          <a:srcRect l="12724" t="23532" r="11771" b="6089"/>
          <a:stretch/>
        </p:blipFill>
        <p:spPr>
          <a:xfrm>
            <a:off x="6698750" y="1029938"/>
            <a:ext cx="5231504" cy="2294472"/>
          </a:xfrm>
          <a:prstGeom prst="rect">
            <a:avLst/>
          </a:prstGeom>
        </p:spPr>
      </p:pic>
      <p:pic>
        <p:nvPicPr>
          <p:cNvPr id="11" name="Google Shape;11;p6">
            <a:extLst>
              <a:ext uri="{FF2B5EF4-FFF2-40B4-BE49-F238E27FC236}">
                <a16:creationId xmlns:a16="http://schemas.microsoft.com/office/drawing/2014/main" id="{0F45547E-DDE6-B53B-A869-E15DD43D0232}"/>
              </a:ext>
            </a:extLst>
          </p:cNvPr>
          <p:cNvPicPr preferRelativeResize="0"/>
          <p:nvPr/>
        </p:nvPicPr>
        <p:blipFill rotWithShape="1">
          <a:blip r:embed="rId5">
            <a:alphaModFix/>
          </a:blip>
          <a:srcRect/>
          <a:stretch/>
        </p:blipFill>
        <p:spPr>
          <a:xfrm>
            <a:off x="10859781" y="6332369"/>
            <a:ext cx="1256427" cy="534202"/>
          </a:xfrm>
          <a:prstGeom prst="rect">
            <a:avLst/>
          </a:prstGeom>
          <a:noFill/>
          <a:ln>
            <a:noFill/>
          </a:ln>
        </p:spPr>
      </p:pic>
      <p:sp>
        <p:nvSpPr>
          <p:cNvPr id="12" name="Google Shape;10;p6">
            <a:extLst>
              <a:ext uri="{FF2B5EF4-FFF2-40B4-BE49-F238E27FC236}">
                <a16:creationId xmlns:a16="http://schemas.microsoft.com/office/drawing/2014/main" id="{DD843B2E-D9AA-65E2-EBB5-7130E99DA69C}"/>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13" name="TextBox 12">
            <a:extLst>
              <a:ext uri="{FF2B5EF4-FFF2-40B4-BE49-F238E27FC236}">
                <a16:creationId xmlns:a16="http://schemas.microsoft.com/office/drawing/2014/main" id="{7F2F4B84-F952-B83B-CE8E-6BD5B30495FF}"/>
              </a:ext>
            </a:extLst>
          </p:cNvPr>
          <p:cNvSpPr txBox="1"/>
          <p:nvPr/>
        </p:nvSpPr>
        <p:spPr>
          <a:xfrm>
            <a:off x="8007909" y="3354984"/>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Working/Architecture of the model</a:t>
            </a:r>
          </a:p>
        </p:txBody>
      </p:sp>
      <p:sp>
        <p:nvSpPr>
          <p:cNvPr id="14" name="TextBox 13">
            <a:extLst>
              <a:ext uri="{FF2B5EF4-FFF2-40B4-BE49-F238E27FC236}">
                <a16:creationId xmlns:a16="http://schemas.microsoft.com/office/drawing/2014/main" id="{22F0226D-B0AB-F1CC-44ED-3A70E961D6F6}"/>
              </a:ext>
            </a:extLst>
          </p:cNvPr>
          <p:cNvSpPr txBox="1"/>
          <p:nvPr/>
        </p:nvSpPr>
        <p:spPr>
          <a:xfrm>
            <a:off x="8702676" y="5704951"/>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Equation of the model</a:t>
            </a:r>
          </a:p>
        </p:txBody>
      </p:sp>
    </p:spTree>
    <p:extLst>
      <p:ext uri="{BB962C8B-B14F-4D97-AF65-F5344CB8AC3E}">
        <p14:creationId xmlns:p14="http://schemas.microsoft.com/office/powerpoint/2010/main" val="3412289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2CCBA427-C51A-2B10-32DD-1557AE1D2B0D}"/>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50F0BD59-4BD4-8568-2FF5-3EEEBDE54340}"/>
              </a:ext>
            </a:extLst>
          </p:cNvPr>
          <p:cNvSpPr txBox="1"/>
          <p:nvPr/>
        </p:nvSpPr>
        <p:spPr>
          <a:xfrm>
            <a:off x="434419" y="451427"/>
            <a:ext cx="47898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PROPHET</a:t>
            </a:r>
            <a:endParaRPr sz="2800" dirty="0">
              <a:latin typeface="Inter"/>
              <a:ea typeface="Inter"/>
              <a:cs typeface="Inter"/>
              <a:sym typeface="Inter"/>
            </a:endParaRPr>
          </a:p>
        </p:txBody>
      </p:sp>
      <p:sp>
        <p:nvSpPr>
          <p:cNvPr id="47" name="Google Shape;47;p2">
            <a:extLst>
              <a:ext uri="{FF2B5EF4-FFF2-40B4-BE49-F238E27FC236}">
                <a16:creationId xmlns:a16="http://schemas.microsoft.com/office/drawing/2014/main" id="{821CEB1A-50C2-2B45-E84F-03E684245BA2}"/>
              </a:ext>
            </a:extLst>
          </p:cNvPr>
          <p:cNvSpPr/>
          <p:nvPr/>
        </p:nvSpPr>
        <p:spPr>
          <a:xfrm>
            <a:off x="5558937" y="1507532"/>
            <a:ext cx="109781" cy="3004457"/>
          </a:xfrm>
          <a:prstGeom prst="rect">
            <a:avLst/>
          </a:prstGeom>
          <a:solidFill>
            <a:srgbClr val="0073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ay"/>
              <a:ea typeface="Play"/>
              <a:cs typeface="Play"/>
              <a:sym typeface="Play"/>
            </a:endParaRPr>
          </a:p>
        </p:txBody>
      </p:sp>
      <p:sp>
        <p:nvSpPr>
          <p:cNvPr id="5" name="Rectangle 2">
            <a:extLst>
              <a:ext uri="{FF2B5EF4-FFF2-40B4-BE49-F238E27FC236}">
                <a16:creationId xmlns:a16="http://schemas.microsoft.com/office/drawing/2014/main" id="{20B49DE8-3CEC-CDD5-54F8-7A093A57C40B}"/>
              </a:ext>
            </a:extLst>
          </p:cNvPr>
          <p:cNvSpPr>
            <a:spLocks noChangeArrowheads="1"/>
          </p:cNvSpPr>
          <p:nvPr/>
        </p:nvSpPr>
        <p:spPr bwMode="auto">
          <a:xfrm>
            <a:off x="434411" y="1240046"/>
            <a:ext cx="458921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The Prophet model is a forecasting tool developed by Facebook for predicting time series data, particularly for business applications. It is designed to handle seasonality, holidays, and missing data with minimal preprocessing, making it user-friendly.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Inter" panose="020B0604020202020204" charset="0"/>
              <a:ea typeface="Inter" panose="020B060402020202020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The </a:t>
            </a:r>
            <a:r>
              <a:rPr kumimoji="0" lang="en-US" altLang="en-US" b="1" i="0" u="none" strike="noStrike" cap="none" normalizeH="0" baseline="0" dirty="0">
                <a:ln>
                  <a:noFill/>
                </a:ln>
                <a:solidFill>
                  <a:schemeClr val="tx1"/>
                </a:solidFill>
                <a:effectLst/>
                <a:latin typeface="Inter" panose="020B0604020202020204" charset="0"/>
                <a:ea typeface="Inter" panose="020B0604020202020204" charset="0"/>
              </a:rPr>
              <a:t>architecture</a:t>
            </a: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 of Prophet is based on an additive model that decomposes the time series into three components: trend, seasonality, and holidays.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The </a:t>
            </a:r>
            <a:r>
              <a:rPr kumimoji="0" lang="en-US" altLang="en-US" b="0" i="0" u="sng" strike="noStrike" cap="none" normalizeH="0" baseline="0" dirty="0">
                <a:ln>
                  <a:noFill/>
                </a:ln>
                <a:solidFill>
                  <a:schemeClr val="tx1"/>
                </a:solidFill>
                <a:effectLst/>
                <a:latin typeface="Inter" panose="020B0604020202020204" charset="0"/>
                <a:ea typeface="Inter" panose="020B0604020202020204" charset="0"/>
              </a:rPr>
              <a:t>trend</a:t>
            </a: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 is modeled using a piecewise linear or logistic growth curve</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sng" strike="noStrike" cap="none" normalizeH="0" baseline="0" dirty="0">
                <a:ln>
                  <a:noFill/>
                </a:ln>
                <a:solidFill>
                  <a:schemeClr val="tx1"/>
                </a:solidFill>
                <a:effectLst/>
                <a:latin typeface="Inter" panose="020B0604020202020204" charset="0"/>
                <a:ea typeface="Inter" panose="020B0604020202020204" charset="0"/>
              </a:rPr>
              <a:t>Seasonality</a:t>
            </a: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 is captured using Fourier series.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sng" strike="noStrike" cap="none" normalizeH="0" baseline="0" dirty="0">
                <a:ln>
                  <a:noFill/>
                </a:ln>
                <a:solidFill>
                  <a:schemeClr val="tx1"/>
                </a:solidFill>
                <a:effectLst/>
                <a:latin typeface="Inter" panose="020B0604020202020204" charset="0"/>
                <a:ea typeface="Inter" panose="020B0604020202020204" charset="0"/>
              </a:rPr>
              <a:t>Holidays</a:t>
            </a: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 and special events can be incorporated as custom regressors, allowing the model to adjust for specific influences..</a:t>
            </a:r>
          </a:p>
        </p:txBody>
      </p:sp>
      <p:pic>
        <p:nvPicPr>
          <p:cNvPr id="8196" name="Picture 4" descr="What is the Prophet Model">
            <a:extLst>
              <a:ext uri="{FF2B5EF4-FFF2-40B4-BE49-F238E27FC236}">
                <a16:creationId xmlns:a16="http://schemas.microsoft.com/office/drawing/2014/main" id="{F51F1F79-5984-1FD1-F9B1-34EA2A9CD30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572" t="8895" r="9184"/>
          <a:stretch/>
        </p:blipFill>
        <p:spPr bwMode="auto">
          <a:xfrm>
            <a:off x="7003625" y="713017"/>
            <a:ext cx="3585919" cy="226264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728D774B-43AB-F264-B69B-D5E538B3F385}"/>
              </a:ext>
            </a:extLst>
          </p:cNvPr>
          <p:cNvPicPr>
            <a:picLocks noChangeAspect="1"/>
          </p:cNvPicPr>
          <p:nvPr/>
        </p:nvPicPr>
        <p:blipFill>
          <a:blip r:embed="rId4"/>
          <a:stretch>
            <a:fillRect/>
          </a:stretch>
        </p:blipFill>
        <p:spPr>
          <a:xfrm>
            <a:off x="6523283" y="3619612"/>
            <a:ext cx="4802506" cy="2160526"/>
          </a:xfrm>
          <a:prstGeom prst="rect">
            <a:avLst/>
          </a:prstGeom>
        </p:spPr>
      </p:pic>
      <p:pic>
        <p:nvPicPr>
          <p:cNvPr id="4" name="Google Shape;11;p6">
            <a:extLst>
              <a:ext uri="{FF2B5EF4-FFF2-40B4-BE49-F238E27FC236}">
                <a16:creationId xmlns:a16="http://schemas.microsoft.com/office/drawing/2014/main" id="{E3ED10ED-7A90-4FCB-4F7B-F11910A8033A}"/>
              </a:ext>
            </a:extLst>
          </p:cNvPr>
          <p:cNvPicPr preferRelativeResize="0"/>
          <p:nvPr/>
        </p:nvPicPr>
        <p:blipFill rotWithShape="1">
          <a:blip r:embed="rId5">
            <a:alphaModFix/>
          </a:blip>
          <a:srcRect/>
          <a:stretch/>
        </p:blipFill>
        <p:spPr>
          <a:xfrm>
            <a:off x="10859781" y="6332369"/>
            <a:ext cx="1256427" cy="534202"/>
          </a:xfrm>
          <a:prstGeom prst="rect">
            <a:avLst/>
          </a:prstGeom>
          <a:noFill/>
          <a:ln>
            <a:noFill/>
          </a:ln>
        </p:spPr>
      </p:pic>
      <p:sp>
        <p:nvSpPr>
          <p:cNvPr id="6" name="Google Shape;10;p6">
            <a:extLst>
              <a:ext uri="{FF2B5EF4-FFF2-40B4-BE49-F238E27FC236}">
                <a16:creationId xmlns:a16="http://schemas.microsoft.com/office/drawing/2014/main" id="{6485132C-A62C-56A9-AF33-DF1087DDE6E3}"/>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8" name="TextBox 7">
            <a:extLst>
              <a:ext uri="{FF2B5EF4-FFF2-40B4-BE49-F238E27FC236}">
                <a16:creationId xmlns:a16="http://schemas.microsoft.com/office/drawing/2014/main" id="{6750E2D4-3784-938B-8C23-54879E5D1E26}"/>
              </a:ext>
            </a:extLst>
          </p:cNvPr>
          <p:cNvSpPr txBox="1"/>
          <p:nvPr/>
        </p:nvSpPr>
        <p:spPr>
          <a:xfrm>
            <a:off x="7434939" y="2999453"/>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Working/Architecture of the model</a:t>
            </a:r>
          </a:p>
        </p:txBody>
      </p:sp>
      <p:sp>
        <p:nvSpPr>
          <p:cNvPr id="9" name="TextBox 8">
            <a:extLst>
              <a:ext uri="{FF2B5EF4-FFF2-40B4-BE49-F238E27FC236}">
                <a16:creationId xmlns:a16="http://schemas.microsoft.com/office/drawing/2014/main" id="{8790ED8A-651D-D72D-B295-2C264CDB0AEF}"/>
              </a:ext>
            </a:extLst>
          </p:cNvPr>
          <p:cNvSpPr txBox="1"/>
          <p:nvPr/>
        </p:nvSpPr>
        <p:spPr>
          <a:xfrm>
            <a:off x="7851776" y="5780138"/>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Equation of the model</a:t>
            </a:r>
          </a:p>
        </p:txBody>
      </p:sp>
    </p:spTree>
    <p:extLst>
      <p:ext uri="{BB962C8B-B14F-4D97-AF65-F5344CB8AC3E}">
        <p14:creationId xmlns:p14="http://schemas.microsoft.com/office/powerpoint/2010/main" val="32634594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ABE21A7A-6739-DD34-9698-CCBA707E62D2}"/>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A6463F02-AA78-5E0D-49B9-3188531D0552}"/>
              </a:ext>
            </a:extLst>
          </p:cNvPr>
          <p:cNvSpPr txBox="1"/>
          <p:nvPr/>
        </p:nvSpPr>
        <p:spPr>
          <a:xfrm>
            <a:off x="434411" y="423602"/>
            <a:ext cx="1170267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GARCH</a:t>
            </a:r>
            <a:r>
              <a:rPr lang="en-US" sz="2800" b="1" dirty="0">
                <a:solidFill>
                  <a:schemeClr val="dk1"/>
                </a:solidFill>
                <a:latin typeface="Inter"/>
                <a:ea typeface="Inter"/>
                <a:cs typeface="Inter"/>
                <a:sym typeface="Inter"/>
              </a:rPr>
              <a:t> </a:t>
            </a:r>
          </a:p>
        </p:txBody>
      </p:sp>
      <p:sp>
        <p:nvSpPr>
          <p:cNvPr id="47" name="Google Shape;47;p2">
            <a:extLst>
              <a:ext uri="{FF2B5EF4-FFF2-40B4-BE49-F238E27FC236}">
                <a16:creationId xmlns:a16="http://schemas.microsoft.com/office/drawing/2014/main" id="{155100EE-C976-0C30-F80E-6FBB72AC2505}"/>
              </a:ext>
            </a:extLst>
          </p:cNvPr>
          <p:cNvSpPr/>
          <p:nvPr/>
        </p:nvSpPr>
        <p:spPr>
          <a:xfrm>
            <a:off x="5508764" y="1608412"/>
            <a:ext cx="100897" cy="3004457"/>
          </a:xfrm>
          <a:prstGeom prst="rect">
            <a:avLst/>
          </a:prstGeom>
          <a:solidFill>
            <a:srgbClr val="0073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ay"/>
              <a:ea typeface="Play"/>
              <a:cs typeface="Play"/>
              <a:sym typeface="Play"/>
            </a:endParaRPr>
          </a:p>
        </p:txBody>
      </p:sp>
      <p:sp>
        <p:nvSpPr>
          <p:cNvPr id="4" name="Rectangle 1">
            <a:extLst>
              <a:ext uri="{FF2B5EF4-FFF2-40B4-BE49-F238E27FC236}">
                <a16:creationId xmlns:a16="http://schemas.microsoft.com/office/drawing/2014/main" id="{2A16FC5F-E4E8-CD93-7553-58674E061680}"/>
              </a:ext>
            </a:extLst>
          </p:cNvPr>
          <p:cNvSpPr>
            <a:spLocks noChangeArrowheads="1"/>
          </p:cNvSpPr>
          <p:nvPr/>
        </p:nvSpPr>
        <p:spPr bwMode="auto">
          <a:xfrm>
            <a:off x="434411" y="1287118"/>
            <a:ext cx="4789808"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The GARCH (Generalized Autoregressive Conditional Heteroskedasticity) model is widely used for modeling financial time series data with time-varying volatility. It captures the changing variance over time, which is crucial for modeling asset returns, volatility clustering, and financial market risks.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Inter" panose="020B0604020202020204" charset="0"/>
              <a:ea typeface="Inter" panose="020B060402020202020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The </a:t>
            </a:r>
            <a:r>
              <a:rPr kumimoji="0" lang="en-US" altLang="en-US" b="1" i="0" u="none" strike="noStrike" cap="none" normalizeH="0" baseline="0" dirty="0">
                <a:ln>
                  <a:noFill/>
                </a:ln>
                <a:solidFill>
                  <a:schemeClr val="tx1"/>
                </a:solidFill>
                <a:effectLst/>
                <a:latin typeface="Inter" panose="020B0604020202020204" charset="0"/>
                <a:ea typeface="Inter" panose="020B0604020202020204" charset="0"/>
              </a:rPr>
              <a:t>architecture</a:t>
            </a: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 of GARCH includes following main components:</a:t>
            </a: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i="0" u="sng" strike="noStrike" cap="none" normalizeH="0" baseline="0" dirty="0">
                <a:ln>
                  <a:noFill/>
                </a:ln>
                <a:solidFill>
                  <a:schemeClr val="tx1"/>
                </a:solidFill>
                <a:effectLst/>
                <a:latin typeface="Inter" panose="020B0604020202020204" charset="0"/>
                <a:ea typeface="Inter" panose="020B0604020202020204" charset="0"/>
              </a:rPr>
              <a:t>Autoregressive (AR) part</a:t>
            </a: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 It models the dependence of past values on current volatility. </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i="0" u="sng" strike="noStrike" cap="none" normalizeH="0" baseline="0" dirty="0">
                <a:ln>
                  <a:noFill/>
                </a:ln>
                <a:solidFill>
                  <a:schemeClr val="tx1"/>
                </a:solidFill>
                <a:effectLst/>
                <a:latin typeface="Inter" panose="020B0604020202020204" charset="0"/>
                <a:ea typeface="Inter" panose="020B0604020202020204" charset="0"/>
              </a:rPr>
              <a:t>Moving Average (MA) part</a:t>
            </a: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 It incorporates the past squared errors in forecasting the conditional variance. </a:t>
            </a:r>
            <a:endParaRPr lang="en-US" altLang="en-US" dirty="0">
              <a:solidFill>
                <a:schemeClr val="tx1"/>
              </a:solidFill>
              <a:latin typeface="Inter" panose="020B0604020202020204" charset="0"/>
              <a:ea typeface="Inter" panose="020B060402020202020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lang="en-US" b="0" i="0" u="sng" strike="noStrike" dirty="0">
                <a:solidFill>
                  <a:schemeClr val="tx1"/>
                </a:solidFill>
                <a:effectLst/>
                <a:latin typeface="Inter" panose="020B0604020202020204" charset="0"/>
                <a:ea typeface="Inter" panose="020B0604020202020204" charset="0"/>
              </a:rPr>
              <a:t>Conditional</a:t>
            </a:r>
            <a:r>
              <a:rPr lang="en-US" b="0" i="0" u="none" strike="noStrike" dirty="0">
                <a:solidFill>
                  <a:schemeClr val="tx1"/>
                </a:solidFill>
                <a:effectLst/>
                <a:latin typeface="Inter" panose="020B0604020202020204" charset="0"/>
                <a:ea typeface="Inter" panose="020B0604020202020204" charset="0"/>
              </a:rPr>
              <a:t>: This informs that the variance is based on past errors.</a:t>
            </a:r>
            <a:endParaRPr lang="en-US" dirty="0">
              <a:solidFill>
                <a:schemeClr val="tx1"/>
              </a:solidFill>
              <a:latin typeface="Inter" panose="020B0604020202020204" charset="0"/>
              <a:ea typeface="Inter" panose="020B060402020202020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lang="en-US" b="0" i="0" u="sng" strike="noStrike" dirty="0">
                <a:solidFill>
                  <a:schemeClr val="tx1"/>
                </a:solidFill>
                <a:effectLst/>
                <a:latin typeface="Inter" panose="020B0604020202020204" charset="0"/>
                <a:ea typeface="Inter" panose="020B0604020202020204" charset="0"/>
              </a:rPr>
              <a:t>Heteroskedasticity</a:t>
            </a:r>
            <a:r>
              <a:rPr lang="en-US" b="0" i="0" u="none" strike="noStrike" dirty="0">
                <a:solidFill>
                  <a:schemeClr val="tx1"/>
                </a:solidFill>
                <a:effectLst/>
                <a:latin typeface="Inter" panose="020B0604020202020204" charset="0"/>
                <a:ea typeface="Inter" panose="020B0604020202020204" charset="0"/>
              </a:rPr>
              <a:t>: This implies the series displays unusual variance (varying variance).</a:t>
            </a:r>
            <a:endParaRPr lang="en-US" b="0" dirty="0">
              <a:solidFill>
                <a:schemeClr val="tx1"/>
              </a:solidFill>
              <a:effectLst/>
              <a:latin typeface="Inter" panose="020B0604020202020204" charset="0"/>
              <a:ea typeface="Inter" panose="020B0604020202020204" charset="0"/>
            </a:endParaRPr>
          </a:p>
          <a:p>
            <a:pPr algn="just"/>
            <a:br>
              <a:rPr lang="en-US" dirty="0"/>
            </a:br>
            <a:endParaRPr kumimoji="0" lang="en-US" altLang="en-US" b="0" i="0" u="none" strike="noStrike" cap="none" normalizeH="0" baseline="0" dirty="0">
              <a:ln>
                <a:noFill/>
              </a:ln>
              <a:solidFill>
                <a:schemeClr val="tx1"/>
              </a:solidFill>
              <a:effectLst/>
              <a:latin typeface="Inter" panose="020B0604020202020204" charset="0"/>
              <a:ea typeface="Inter" panose="020B0604020202020204" charset="0"/>
            </a:endParaRPr>
          </a:p>
          <a:p>
            <a:pPr marL="0" marR="0" lvl="0" indent="0" algn="just"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Inter" panose="020B0604020202020204" charset="0"/>
              <a:ea typeface="Inter" panose="020B0604020202020204" charset="0"/>
            </a:endParaRPr>
          </a:p>
        </p:txBody>
      </p:sp>
      <p:pic>
        <p:nvPicPr>
          <p:cNvPr id="6" name="Picture 5">
            <a:extLst>
              <a:ext uri="{FF2B5EF4-FFF2-40B4-BE49-F238E27FC236}">
                <a16:creationId xmlns:a16="http://schemas.microsoft.com/office/drawing/2014/main" id="{AC18687E-F058-749E-D622-44C8A1BBA084}"/>
              </a:ext>
            </a:extLst>
          </p:cNvPr>
          <p:cNvPicPr>
            <a:picLocks noChangeAspect="1"/>
          </p:cNvPicPr>
          <p:nvPr/>
        </p:nvPicPr>
        <p:blipFill>
          <a:blip r:embed="rId3"/>
          <a:stretch>
            <a:fillRect/>
          </a:stretch>
        </p:blipFill>
        <p:spPr>
          <a:xfrm>
            <a:off x="6096000" y="1608412"/>
            <a:ext cx="5413497" cy="3004457"/>
          </a:xfrm>
          <a:prstGeom prst="rect">
            <a:avLst/>
          </a:prstGeom>
        </p:spPr>
      </p:pic>
      <p:pic>
        <p:nvPicPr>
          <p:cNvPr id="5" name="Google Shape;11;p6">
            <a:extLst>
              <a:ext uri="{FF2B5EF4-FFF2-40B4-BE49-F238E27FC236}">
                <a16:creationId xmlns:a16="http://schemas.microsoft.com/office/drawing/2014/main" id="{7DE91B33-1C39-D27B-1349-C1681BC92BB8}"/>
              </a:ext>
            </a:extLst>
          </p:cNvPr>
          <p:cNvPicPr preferRelativeResize="0"/>
          <p:nvPr/>
        </p:nvPicPr>
        <p:blipFill rotWithShape="1">
          <a:blip r:embed="rId4">
            <a:alphaModFix/>
          </a:blip>
          <a:srcRect/>
          <a:stretch/>
        </p:blipFill>
        <p:spPr>
          <a:xfrm>
            <a:off x="10859781" y="6332369"/>
            <a:ext cx="1256427" cy="534202"/>
          </a:xfrm>
          <a:prstGeom prst="rect">
            <a:avLst/>
          </a:prstGeom>
          <a:noFill/>
          <a:ln>
            <a:noFill/>
          </a:ln>
        </p:spPr>
      </p:pic>
      <p:sp>
        <p:nvSpPr>
          <p:cNvPr id="7" name="Google Shape;10;p6">
            <a:extLst>
              <a:ext uri="{FF2B5EF4-FFF2-40B4-BE49-F238E27FC236}">
                <a16:creationId xmlns:a16="http://schemas.microsoft.com/office/drawing/2014/main" id="{5707CF2E-9DFE-8BB4-C44E-093B46870BBB}"/>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8" name="TextBox 7">
            <a:extLst>
              <a:ext uri="{FF2B5EF4-FFF2-40B4-BE49-F238E27FC236}">
                <a16:creationId xmlns:a16="http://schemas.microsoft.com/office/drawing/2014/main" id="{3F7F2411-D1C7-3144-3A58-BB7D224DFA19}"/>
              </a:ext>
            </a:extLst>
          </p:cNvPr>
          <p:cNvSpPr txBox="1"/>
          <p:nvPr/>
        </p:nvSpPr>
        <p:spPr>
          <a:xfrm>
            <a:off x="7958534" y="4612869"/>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Equation of the model</a:t>
            </a:r>
          </a:p>
        </p:txBody>
      </p:sp>
    </p:spTree>
    <p:extLst>
      <p:ext uri="{BB962C8B-B14F-4D97-AF65-F5344CB8AC3E}">
        <p14:creationId xmlns:p14="http://schemas.microsoft.com/office/powerpoint/2010/main" val="478776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457B0B89-593F-7678-C606-13B04324BC1E}"/>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8EF2350F-55C2-847A-114B-19DF815B7C77}"/>
              </a:ext>
            </a:extLst>
          </p:cNvPr>
          <p:cNvSpPr txBox="1"/>
          <p:nvPr/>
        </p:nvSpPr>
        <p:spPr>
          <a:xfrm>
            <a:off x="385363" y="405392"/>
            <a:ext cx="10873868"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CNN</a:t>
            </a:r>
            <a:r>
              <a:rPr lang="en-US" sz="2800" b="1" dirty="0">
                <a:solidFill>
                  <a:schemeClr val="dk1"/>
                </a:solidFill>
                <a:latin typeface="Inter"/>
                <a:ea typeface="Inter"/>
                <a:cs typeface="Inter"/>
                <a:sym typeface="Inter"/>
              </a:rPr>
              <a:t> </a:t>
            </a:r>
            <a:r>
              <a:rPr lang="en-US" sz="2800" b="1" dirty="0">
                <a:solidFill>
                  <a:srgbClr val="A58255"/>
                </a:solidFill>
                <a:latin typeface="Inter"/>
                <a:ea typeface="Inter"/>
                <a:cs typeface="Inter"/>
                <a:sym typeface="Inter"/>
              </a:rPr>
              <a:t>(CONVOLUTIONAL NEURAL NETWORK)</a:t>
            </a:r>
            <a:endParaRPr lang="en-US" sz="2800" dirty="0">
              <a:latin typeface="Inter"/>
              <a:ea typeface="Inter"/>
              <a:cs typeface="Inter"/>
              <a:sym typeface="Inter"/>
            </a:endParaRPr>
          </a:p>
        </p:txBody>
      </p:sp>
      <p:sp>
        <p:nvSpPr>
          <p:cNvPr id="46" name="Google Shape;46;p2">
            <a:extLst>
              <a:ext uri="{FF2B5EF4-FFF2-40B4-BE49-F238E27FC236}">
                <a16:creationId xmlns:a16="http://schemas.microsoft.com/office/drawing/2014/main" id="{EE213BAE-D9DF-23D9-9B47-21A7A7EDB065}"/>
              </a:ext>
            </a:extLst>
          </p:cNvPr>
          <p:cNvSpPr txBox="1"/>
          <p:nvPr/>
        </p:nvSpPr>
        <p:spPr>
          <a:xfrm>
            <a:off x="388769" y="1163612"/>
            <a:ext cx="6001757" cy="4455025"/>
          </a:xfrm>
          <a:prstGeom prst="rect">
            <a:avLst/>
          </a:prstGeom>
          <a:noFill/>
          <a:ln>
            <a:noFill/>
          </a:ln>
        </p:spPr>
        <p:txBody>
          <a:bodyPr spcFirstLastPara="1" wrap="square" lIns="91425" tIns="45700" rIns="91425" bIns="45700" anchor="t" anchorCtr="0">
            <a:spAutoFit/>
          </a:bodyPr>
          <a:lstStyle/>
          <a:p>
            <a:pPr algn="just" rtl="0">
              <a:lnSpc>
                <a:spcPct val="150000"/>
              </a:lnSpc>
              <a:spcAft>
                <a:spcPts val="1200"/>
              </a:spcAft>
            </a:pPr>
            <a:r>
              <a:rPr lang="en-US" sz="1300" b="0" i="0" u="none" strike="noStrike" dirty="0">
                <a:solidFill>
                  <a:schemeClr val="tx1"/>
                </a:solidFill>
                <a:effectLst/>
                <a:latin typeface="Inter" panose="020B0604020202020204" charset="0"/>
                <a:ea typeface="Inter" panose="020B0604020202020204" charset="0"/>
              </a:rPr>
              <a:t>Convolutional Neural Networks (CNNs), traditionally used for image processing, are also effective for time series forecasting by capturing local patterns and trends in the data through convolution operations.</a:t>
            </a:r>
            <a:endParaRPr lang="en-US" sz="1300" b="0" dirty="0">
              <a:solidFill>
                <a:schemeClr val="tx1"/>
              </a:solidFill>
              <a:effectLst/>
              <a:latin typeface="Inter" panose="020B0604020202020204" charset="0"/>
              <a:ea typeface="Inter" panose="020B0604020202020204" charset="0"/>
            </a:endParaRPr>
          </a:p>
          <a:p>
            <a:pPr algn="just" rtl="0" fontAlgn="base">
              <a:lnSpc>
                <a:spcPct val="150000"/>
              </a:lnSpc>
              <a:buFont typeface="+mj-lt"/>
              <a:buAutoNum type="arabicPeriod"/>
            </a:pPr>
            <a:r>
              <a:rPr lang="en-US" sz="1300" b="0" i="0" u="sng" strike="noStrike" dirty="0">
                <a:solidFill>
                  <a:schemeClr val="tx1"/>
                </a:solidFill>
                <a:effectLst/>
                <a:latin typeface="Inter" panose="020B0604020202020204" charset="0"/>
                <a:ea typeface="Inter" panose="020B0604020202020204" charset="0"/>
              </a:rPr>
              <a:t>Convolution Layers</a:t>
            </a:r>
            <a:r>
              <a:rPr lang="en-US" sz="1300" b="0" i="0" u="none" strike="noStrike" dirty="0">
                <a:solidFill>
                  <a:schemeClr val="tx1"/>
                </a:solidFill>
                <a:effectLst/>
                <a:latin typeface="Inter" panose="020B0604020202020204" charset="0"/>
                <a:ea typeface="Inter" panose="020B0604020202020204" charset="0"/>
              </a:rPr>
              <a:t>: CNNs use filters to slide over input data, identifying local patterns like trends or seasonality.</a:t>
            </a:r>
          </a:p>
          <a:p>
            <a:pPr algn="just" rtl="0" fontAlgn="base">
              <a:lnSpc>
                <a:spcPct val="150000"/>
              </a:lnSpc>
              <a:buFont typeface="+mj-lt"/>
              <a:buAutoNum type="arabicPeriod"/>
            </a:pPr>
            <a:r>
              <a:rPr lang="en-US" sz="1300" b="0" i="0" u="sng" strike="noStrike" dirty="0">
                <a:solidFill>
                  <a:schemeClr val="tx1"/>
                </a:solidFill>
                <a:effectLst/>
                <a:latin typeface="Inter" panose="020B0604020202020204" charset="0"/>
                <a:ea typeface="Inter" panose="020B0604020202020204" charset="0"/>
              </a:rPr>
              <a:t>Pooling</a:t>
            </a:r>
            <a:r>
              <a:rPr lang="en-US" sz="1300" b="0" i="0" u="none" strike="noStrike" dirty="0">
                <a:solidFill>
                  <a:schemeClr val="tx1"/>
                </a:solidFill>
                <a:effectLst/>
                <a:latin typeface="Inter" panose="020B0604020202020204" charset="0"/>
                <a:ea typeface="Inter" panose="020B0604020202020204" charset="0"/>
              </a:rPr>
              <a:t>: Pooling layers (e.g., max-pooling) reduce dimensionality, preserving key features while minimizing noise.</a:t>
            </a:r>
          </a:p>
          <a:p>
            <a:pPr algn="just" rtl="0" fontAlgn="base">
              <a:lnSpc>
                <a:spcPct val="150000"/>
              </a:lnSpc>
              <a:buFont typeface="+mj-lt"/>
              <a:buAutoNum type="arabicPeriod"/>
            </a:pPr>
            <a:r>
              <a:rPr lang="en-US" sz="1300" b="0" i="0" u="sng" strike="noStrike" dirty="0">
                <a:solidFill>
                  <a:schemeClr val="tx1"/>
                </a:solidFill>
                <a:effectLst/>
                <a:latin typeface="Inter" panose="020B0604020202020204" charset="0"/>
                <a:ea typeface="Inter" panose="020B0604020202020204" charset="0"/>
              </a:rPr>
              <a:t>Feature Learning</a:t>
            </a:r>
            <a:r>
              <a:rPr lang="en-US" sz="1300" b="0" i="0" u="none" strike="noStrike" dirty="0">
                <a:solidFill>
                  <a:schemeClr val="tx1"/>
                </a:solidFill>
                <a:effectLst/>
                <a:latin typeface="Inter" panose="020B0604020202020204" charset="0"/>
                <a:ea typeface="Inter" panose="020B0604020202020204" charset="0"/>
              </a:rPr>
              <a:t>: Stacked convolutional layers extract higher-level, abstract features from the time series.</a:t>
            </a:r>
          </a:p>
          <a:p>
            <a:pPr algn="just" rtl="0" fontAlgn="base">
              <a:lnSpc>
                <a:spcPct val="150000"/>
              </a:lnSpc>
              <a:buFont typeface="+mj-lt"/>
              <a:buAutoNum type="arabicPeriod"/>
            </a:pPr>
            <a:r>
              <a:rPr lang="en-US" sz="1300" b="0" i="0" u="sng" strike="noStrike" dirty="0">
                <a:solidFill>
                  <a:schemeClr val="tx1"/>
                </a:solidFill>
                <a:effectLst/>
                <a:latin typeface="Inter" panose="020B0604020202020204" charset="0"/>
                <a:ea typeface="Inter" panose="020B0604020202020204" charset="0"/>
              </a:rPr>
              <a:t>Fully Connected Layer</a:t>
            </a:r>
            <a:r>
              <a:rPr lang="en-US" sz="1300" b="0" i="0" u="none" strike="noStrike" dirty="0">
                <a:solidFill>
                  <a:schemeClr val="tx1"/>
                </a:solidFill>
                <a:effectLst/>
                <a:latin typeface="Inter" panose="020B0604020202020204" charset="0"/>
                <a:ea typeface="Inter" panose="020B0604020202020204" charset="0"/>
              </a:rPr>
              <a:t>: Flattened features are fed into a fully connected layer for final prediction.</a:t>
            </a:r>
          </a:p>
          <a:p>
            <a:pPr algn="just" rtl="0" fontAlgn="base">
              <a:lnSpc>
                <a:spcPct val="150000"/>
              </a:lnSpc>
              <a:spcAft>
                <a:spcPts val="1200"/>
              </a:spcAft>
              <a:buFont typeface="+mj-lt"/>
              <a:buAutoNum type="arabicPeriod"/>
            </a:pPr>
            <a:r>
              <a:rPr lang="en-US" sz="1300" b="0" i="0" u="sng" strike="noStrike" dirty="0">
                <a:solidFill>
                  <a:schemeClr val="tx1"/>
                </a:solidFill>
                <a:effectLst/>
                <a:latin typeface="Inter" panose="020B0604020202020204" charset="0"/>
                <a:ea typeface="Inter" panose="020B0604020202020204" charset="0"/>
              </a:rPr>
              <a:t>Non-Linearity</a:t>
            </a:r>
            <a:r>
              <a:rPr lang="en-US" sz="1300" b="0" i="0" u="none" strike="noStrike" dirty="0">
                <a:solidFill>
                  <a:schemeClr val="tx1"/>
                </a:solidFill>
                <a:effectLst/>
                <a:latin typeface="Inter" panose="020B0604020202020204" charset="0"/>
                <a:ea typeface="Inter" panose="020B0604020202020204" charset="0"/>
              </a:rPr>
              <a:t>: Activation functions like </a:t>
            </a:r>
            <a:r>
              <a:rPr lang="en-US" sz="1300" b="0" i="0" u="none" strike="noStrike" dirty="0" err="1">
                <a:solidFill>
                  <a:schemeClr val="tx1"/>
                </a:solidFill>
                <a:effectLst/>
                <a:latin typeface="Inter" panose="020B0604020202020204" charset="0"/>
                <a:ea typeface="Inter" panose="020B0604020202020204" charset="0"/>
              </a:rPr>
              <a:t>ReLU</a:t>
            </a:r>
            <a:r>
              <a:rPr lang="en-US" sz="1300" b="0" i="0" u="none" strike="noStrike" dirty="0">
                <a:solidFill>
                  <a:schemeClr val="tx1"/>
                </a:solidFill>
                <a:effectLst/>
                <a:latin typeface="Inter" panose="020B0604020202020204" charset="0"/>
                <a:ea typeface="Inter" panose="020B0604020202020204" charset="0"/>
              </a:rPr>
              <a:t> introduce non-linearity, helping the model learn complex patterns.</a:t>
            </a:r>
          </a:p>
        </p:txBody>
      </p:sp>
      <p:sp>
        <p:nvSpPr>
          <p:cNvPr id="47" name="Google Shape;47;p2">
            <a:extLst>
              <a:ext uri="{FF2B5EF4-FFF2-40B4-BE49-F238E27FC236}">
                <a16:creationId xmlns:a16="http://schemas.microsoft.com/office/drawing/2014/main" id="{BDF999D3-42CF-4907-2A31-E23BCF357906}"/>
              </a:ext>
            </a:extLst>
          </p:cNvPr>
          <p:cNvSpPr/>
          <p:nvPr/>
        </p:nvSpPr>
        <p:spPr>
          <a:xfrm>
            <a:off x="6651283" y="1747529"/>
            <a:ext cx="79717" cy="3004457"/>
          </a:xfrm>
          <a:prstGeom prst="rect">
            <a:avLst/>
          </a:prstGeom>
          <a:solidFill>
            <a:srgbClr val="0073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ay"/>
              <a:ea typeface="Play"/>
              <a:cs typeface="Play"/>
              <a:sym typeface="Play"/>
            </a:endParaRPr>
          </a:p>
        </p:txBody>
      </p:sp>
      <p:pic>
        <p:nvPicPr>
          <p:cNvPr id="48" name="Google Shape;48;p2" descr="A screen shot of a cell phone&#10;&#10;Description automatically generated">
            <a:extLst>
              <a:ext uri="{FF2B5EF4-FFF2-40B4-BE49-F238E27FC236}">
                <a16:creationId xmlns:a16="http://schemas.microsoft.com/office/drawing/2014/main" id="{76061D55-7987-987B-A65C-13CAB373ACBC}"/>
              </a:ext>
            </a:extLst>
          </p:cNvPr>
          <p:cNvPicPr preferRelativeResize="0"/>
          <p:nvPr/>
        </p:nvPicPr>
        <p:blipFill rotWithShape="1">
          <a:blip r:embed="rId3">
            <a:alphaModFix/>
          </a:blip>
          <a:srcRect/>
          <a:stretch/>
        </p:blipFill>
        <p:spPr>
          <a:xfrm>
            <a:off x="6983908" y="1089066"/>
            <a:ext cx="4958302" cy="1592490"/>
          </a:xfrm>
          <a:prstGeom prst="rect">
            <a:avLst/>
          </a:prstGeom>
          <a:noFill/>
          <a:ln w="9525" cap="flat" cmpd="sng">
            <a:solidFill>
              <a:srgbClr val="007367"/>
            </a:solidFill>
            <a:prstDash val="solid"/>
            <a:round/>
            <a:headEnd type="none" w="sm" len="sm"/>
            <a:tailEnd type="none" w="sm" len="sm"/>
          </a:ln>
        </p:spPr>
      </p:pic>
      <p:pic>
        <p:nvPicPr>
          <p:cNvPr id="1026" name="Picture 2">
            <a:extLst>
              <a:ext uri="{FF2B5EF4-FFF2-40B4-BE49-F238E27FC236}">
                <a16:creationId xmlns:a16="http://schemas.microsoft.com/office/drawing/2014/main" id="{6A3892BF-B883-77C1-83FE-3C88BCBC03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3908" y="1089065"/>
            <a:ext cx="4958302" cy="159249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7467A90D-82C2-C59F-D69B-4BE7FF24068A}"/>
              </a:ext>
            </a:extLst>
          </p:cNvPr>
          <p:cNvPicPr>
            <a:picLocks noChangeAspect="1"/>
          </p:cNvPicPr>
          <p:nvPr/>
        </p:nvPicPr>
        <p:blipFill>
          <a:blip r:embed="rId5"/>
          <a:stretch>
            <a:fillRect/>
          </a:stretch>
        </p:blipFill>
        <p:spPr>
          <a:xfrm>
            <a:off x="7736441" y="3429000"/>
            <a:ext cx="3647326" cy="1891609"/>
          </a:xfrm>
          <a:prstGeom prst="rect">
            <a:avLst/>
          </a:prstGeom>
        </p:spPr>
      </p:pic>
      <p:pic>
        <p:nvPicPr>
          <p:cNvPr id="4" name="Google Shape;11;p6">
            <a:extLst>
              <a:ext uri="{FF2B5EF4-FFF2-40B4-BE49-F238E27FC236}">
                <a16:creationId xmlns:a16="http://schemas.microsoft.com/office/drawing/2014/main" id="{9F4EABAA-B048-8E73-92D3-6C027166499D}"/>
              </a:ext>
            </a:extLst>
          </p:cNvPr>
          <p:cNvPicPr preferRelativeResize="0"/>
          <p:nvPr/>
        </p:nvPicPr>
        <p:blipFill rotWithShape="1">
          <a:blip r:embed="rId6">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3DD30A7E-04A5-9021-DB05-7288A2E94F3B}"/>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6" name="TextBox 5">
            <a:extLst>
              <a:ext uri="{FF2B5EF4-FFF2-40B4-BE49-F238E27FC236}">
                <a16:creationId xmlns:a16="http://schemas.microsoft.com/office/drawing/2014/main" id="{0EEFF840-6C46-814E-1B13-BA588878D25A}"/>
              </a:ext>
            </a:extLst>
          </p:cNvPr>
          <p:cNvSpPr txBox="1"/>
          <p:nvPr/>
        </p:nvSpPr>
        <p:spPr>
          <a:xfrm>
            <a:off x="8004176" y="2707066"/>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Working/Architecture of the model</a:t>
            </a:r>
          </a:p>
        </p:txBody>
      </p:sp>
      <p:sp>
        <p:nvSpPr>
          <p:cNvPr id="10" name="TextBox 9">
            <a:extLst>
              <a:ext uri="{FF2B5EF4-FFF2-40B4-BE49-F238E27FC236}">
                <a16:creationId xmlns:a16="http://schemas.microsoft.com/office/drawing/2014/main" id="{D20FA8CC-F294-B641-50CE-F2D6382EB434}"/>
              </a:ext>
            </a:extLst>
          </p:cNvPr>
          <p:cNvSpPr txBox="1"/>
          <p:nvPr/>
        </p:nvSpPr>
        <p:spPr>
          <a:xfrm>
            <a:off x="8590153" y="5320609"/>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Equation of the model</a:t>
            </a:r>
          </a:p>
        </p:txBody>
      </p:sp>
    </p:spTree>
    <p:extLst>
      <p:ext uri="{BB962C8B-B14F-4D97-AF65-F5344CB8AC3E}">
        <p14:creationId xmlns:p14="http://schemas.microsoft.com/office/powerpoint/2010/main" val="1072624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DF1601FD-A77C-5E4C-9A01-B0987EF4CC91}"/>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FAE15235-6BDD-D387-B646-BC775DCCA09A}"/>
              </a:ext>
            </a:extLst>
          </p:cNvPr>
          <p:cNvSpPr txBox="1"/>
          <p:nvPr/>
        </p:nvSpPr>
        <p:spPr>
          <a:xfrm>
            <a:off x="285267" y="460595"/>
            <a:ext cx="9846732"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RNN</a:t>
            </a:r>
            <a:r>
              <a:rPr lang="en-US" sz="2800" b="1" dirty="0">
                <a:solidFill>
                  <a:schemeClr val="dk1"/>
                </a:solidFill>
                <a:latin typeface="Inter"/>
                <a:ea typeface="Inter"/>
                <a:cs typeface="Inter"/>
                <a:sym typeface="Inter"/>
              </a:rPr>
              <a:t> </a:t>
            </a:r>
            <a:r>
              <a:rPr lang="en-US" sz="2800" b="1" dirty="0">
                <a:solidFill>
                  <a:srgbClr val="A58255"/>
                </a:solidFill>
                <a:latin typeface="Inter"/>
                <a:ea typeface="Inter"/>
                <a:cs typeface="Inter"/>
                <a:sym typeface="Inter"/>
              </a:rPr>
              <a:t>(RECURRENT NEURAL NETWORK)</a:t>
            </a:r>
            <a:endParaRPr sz="2800" dirty="0">
              <a:latin typeface="Inter"/>
              <a:ea typeface="Inter"/>
              <a:cs typeface="Inter"/>
              <a:sym typeface="Inter"/>
            </a:endParaRPr>
          </a:p>
        </p:txBody>
      </p:sp>
      <p:sp>
        <p:nvSpPr>
          <p:cNvPr id="46" name="Google Shape;46;p2">
            <a:extLst>
              <a:ext uri="{FF2B5EF4-FFF2-40B4-BE49-F238E27FC236}">
                <a16:creationId xmlns:a16="http://schemas.microsoft.com/office/drawing/2014/main" id="{5E5063A1-0E73-4D3D-DB44-27E772F6664E}"/>
              </a:ext>
            </a:extLst>
          </p:cNvPr>
          <p:cNvSpPr txBox="1"/>
          <p:nvPr/>
        </p:nvSpPr>
        <p:spPr>
          <a:xfrm>
            <a:off x="285267" y="1031425"/>
            <a:ext cx="6991432" cy="4308831"/>
          </a:xfrm>
          <a:prstGeom prst="rect">
            <a:avLst/>
          </a:prstGeom>
          <a:noFill/>
          <a:ln>
            <a:noFill/>
          </a:ln>
        </p:spPr>
        <p:txBody>
          <a:bodyPr spcFirstLastPara="1" wrap="square" lIns="91425" tIns="45700" rIns="91425" bIns="45700" anchor="t" anchorCtr="0">
            <a:spAutoFit/>
          </a:bodyPr>
          <a:lstStyle/>
          <a:p>
            <a:pPr rtl="0">
              <a:lnSpc>
                <a:spcPct val="150000"/>
              </a:lnSpc>
              <a:spcBef>
                <a:spcPts val="1200"/>
              </a:spcBef>
              <a:spcAft>
                <a:spcPts val="1200"/>
              </a:spcAft>
            </a:pPr>
            <a:r>
              <a:rPr lang="en-US" sz="1300" b="0" i="0" u="none" strike="noStrike" dirty="0">
                <a:solidFill>
                  <a:schemeClr val="tx1"/>
                </a:solidFill>
                <a:effectLst/>
                <a:latin typeface="Inter" panose="020B0604020202020204" charset="0"/>
                <a:ea typeface="Inter" panose="020B0604020202020204" charset="0"/>
              </a:rPr>
              <a:t>Recurrent Neural Networks (RNNs) are designed to handle sequential data, making them suitable for time series forecasting. They use feedback loops to process input sequences and maintain a hidden state that captures information from previous time steps.</a:t>
            </a:r>
            <a:endParaRPr lang="en-US" sz="1300" b="0" dirty="0">
              <a:solidFill>
                <a:schemeClr val="tx1"/>
              </a:solidFill>
              <a:effectLst/>
              <a:latin typeface="Inter" panose="020B0604020202020204" charset="0"/>
              <a:ea typeface="Inter" panose="020B0604020202020204" charset="0"/>
            </a:endParaRPr>
          </a:p>
          <a:p>
            <a:pPr rtl="0" fontAlgn="base">
              <a:lnSpc>
                <a:spcPct val="150000"/>
              </a:lnSpc>
              <a:spcBef>
                <a:spcPts val="1200"/>
              </a:spcBef>
              <a:buFont typeface="+mj-lt"/>
              <a:buAutoNum type="arabicPeriod"/>
            </a:pPr>
            <a:r>
              <a:rPr lang="en-US" sz="1300" b="0" i="0" u="sng" strike="noStrike" dirty="0">
                <a:solidFill>
                  <a:schemeClr val="tx1"/>
                </a:solidFill>
                <a:effectLst/>
                <a:latin typeface="Inter" panose="020B0604020202020204" charset="0"/>
                <a:ea typeface="Inter" panose="020B0604020202020204" charset="0"/>
              </a:rPr>
              <a:t>Hidden State</a:t>
            </a:r>
            <a:r>
              <a:rPr lang="en-US" sz="1300" b="0" i="0" u="none" strike="noStrike" dirty="0">
                <a:solidFill>
                  <a:schemeClr val="tx1"/>
                </a:solidFill>
                <a:effectLst/>
                <a:latin typeface="Inter" panose="020B0604020202020204" charset="0"/>
                <a:ea typeface="Inter" panose="020B0604020202020204" charset="0"/>
              </a:rPr>
              <a:t>: RNNs maintain a hidden state </a:t>
            </a:r>
            <a:r>
              <a:rPr lang="en-US" sz="1300" b="0" i="0" u="none" strike="noStrike" dirty="0" err="1">
                <a:solidFill>
                  <a:schemeClr val="tx1"/>
                </a:solidFill>
                <a:effectLst/>
                <a:latin typeface="Inter" panose="020B0604020202020204" charset="0"/>
                <a:ea typeface="Inter" panose="020B0604020202020204" charset="0"/>
              </a:rPr>
              <a:t>hth_tht</a:t>
            </a:r>
            <a:r>
              <a:rPr lang="en-US" sz="1300" b="0" i="0" u="none" strike="noStrike" dirty="0">
                <a:solidFill>
                  <a:schemeClr val="tx1"/>
                </a:solidFill>
                <a:effectLst/>
                <a:latin typeface="Inter" panose="020B0604020202020204" charset="0"/>
                <a:ea typeface="Inter" panose="020B0604020202020204" charset="0"/>
              </a:rPr>
              <a:t>​ that updates at each time step </a:t>
            </a:r>
            <a:r>
              <a:rPr lang="en-US" sz="1300" b="0" i="0" u="none" strike="noStrike" dirty="0" err="1">
                <a:solidFill>
                  <a:schemeClr val="tx1"/>
                </a:solidFill>
                <a:effectLst/>
                <a:latin typeface="Inter" panose="020B0604020202020204" charset="0"/>
                <a:ea typeface="Inter" panose="020B0604020202020204" charset="0"/>
              </a:rPr>
              <a:t>ttt</a:t>
            </a:r>
            <a:r>
              <a:rPr lang="en-US" sz="1300" b="0" i="0" u="none" strike="noStrike" dirty="0">
                <a:solidFill>
                  <a:schemeClr val="tx1"/>
                </a:solidFill>
                <a:effectLst/>
                <a:latin typeface="Inter" panose="020B0604020202020204" charset="0"/>
                <a:ea typeface="Inter" panose="020B0604020202020204" charset="0"/>
              </a:rPr>
              <a:t> based on the current input </a:t>
            </a:r>
            <a:r>
              <a:rPr lang="en-US" sz="1300" b="0" i="0" u="none" strike="noStrike" dirty="0" err="1">
                <a:solidFill>
                  <a:schemeClr val="tx1"/>
                </a:solidFill>
                <a:effectLst/>
                <a:latin typeface="Inter" panose="020B0604020202020204" charset="0"/>
                <a:ea typeface="Inter" panose="020B0604020202020204" charset="0"/>
              </a:rPr>
              <a:t>xtx_txt</a:t>
            </a:r>
            <a:r>
              <a:rPr lang="en-US" sz="1300" b="0" i="0" u="none" strike="noStrike" dirty="0">
                <a:solidFill>
                  <a:schemeClr val="tx1"/>
                </a:solidFill>
                <a:effectLst/>
                <a:latin typeface="Inter" panose="020B0604020202020204" charset="0"/>
                <a:ea typeface="Inter" panose="020B0604020202020204" charset="0"/>
              </a:rPr>
              <a:t>​ and the previous hidden state ht−1h_{t-1}ht−1​.</a:t>
            </a:r>
          </a:p>
          <a:p>
            <a:pPr rtl="0" fontAlgn="base">
              <a:lnSpc>
                <a:spcPct val="150000"/>
              </a:lnSpc>
              <a:buFont typeface="+mj-lt"/>
              <a:buAutoNum type="arabicPeriod"/>
            </a:pPr>
            <a:r>
              <a:rPr lang="en-US" sz="1300" b="0" i="0" u="sng" strike="noStrike" dirty="0">
                <a:solidFill>
                  <a:schemeClr val="tx1"/>
                </a:solidFill>
                <a:effectLst/>
                <a:latin typeface="Inter" panose="020B0604020202020204" charset="0"/>
                <a:ea typeface="Inter" panose="020B0604020202020204" charset="0"/>
              </a:rPr>
              <a:t>Sequential Processing</a:t>
            </a:r>
            <a:r>
              <a:rPr lang="en-US" sz="1300" b="0" i="0" u="none" strike="noStrike" dirty="0">
                <a:solidFill>
                  <a:schemeClr val="tx1"/>
                </a:solidFill>
                <a:effectLst/>
                <a:latin typeface="Inter" panose="020B0604020202020204" charset="0"/>
                <a:ea typeface="Inter" panose="020B0604020202020204" charset="0"/>
              </a:rPr>
              <a:t>: The hidden state passes information from one time step to the next, capturing dependencies between the current and previous inputs.</a:t>
            </a:r>
          </a:p>
          <a:p>
            <a:pPr rtl="0" fontAlgn="base">
              <a:lnSpc>
                <a:spcPct val="150000"/>
              </a:lnSpc>
              <a:buFont typeface="+mj-lt"/>
              <a:buAutoNum type="arabicPeriod"/>
            </a:pPr>
            <a:r>
              <a:rPr lang="en-US" sz="1300" b="0" i="0" u="sng" strike="noStrike" dirty="0">
                <a:solidFill>
                  <a:schemeClr val="tx1"/>
                </a:solidFill>
                <a:effectLst/>
                <a:latin typeface="Inter" panose="020B0604020202020204" charset="0"/>
                <a:ea typeface="Inter" panose="020B0604020202020204" charset="0"/>
              </a:rPr>
              <a:t>Output</a:t>
            </a:r>
            <a:r>
              <a:rPr lang="en-US" sz="1300" b="0" i="0" u="none" strike="noStrike" dirty="0">
                <a:solidFill>
                  <a:schemeClr val="tx1"/>
                </a:solidFill>
                <a:effectLst/>
                <a:latin typeface="Inter" panose="020B0604020202020204" charset="0"/>
                <a:ea typeface="Inter" panose="020B0604020202020204" charset="0"/>
              </a:rPr>
              <a:t>: At each time step, the RNN produces an output </a:t>
            </a:r>
            <a:r>
              <a:rPr lang="en-US" sz="1300" b="0" i="0" u="none" strike="noStrike" dirty="0" err="1">
                <a:solidFill>
                  <a:schemeClr val="tx1"/>
                </a:solidFill>
                <a:effectLst/>
                <a:latin typeface="Inter" panose="020B0604020202020204" charset="0"/>
                <a:ea typeface="Inter" panose="020B0604020202020204" charset="0"/>
              </a:rPr>
              <a:t>yty_tyt</a:t>
            </a:r>
            <a:r>
              <a:rPr lang="en-US" sz="1300" b="0" i="0" u="none" strike="noStrike" dirty="0">
                <a:solidFill>
                  <a:schemeClr val="tx1"/>
                </a:solidFill>
                <a:effectLst/>
                <a:latin typeface="Inter" panose="020B0604020202020204" charset="0"/>
                <a:ea typeface="Inter" panose="020B0604020202020204" charset="0"/>
              </a:rPr>
              <a:t>​ based on the hidden state</a:t>
            </a:r>
          </a:p>
          <a:p>
            <a:pPr rtl="0" fontAlgn="base">
              <a:lnSpc>
                <a:spcPct val="150000"/>
              </a:lnSpc>
              <a:spcAft>
                <a:spcPts val="1200"/>
              </a:spcAft>
              <a:buFont typeface="+mj-lt"/>
              <a:buAutoNum type="arabicPeriod"/>
            </a:pPr>
            <a:r>
              <a:rPr lang="en-US" sz="1300" b="0" i="0" u="sng" strike="noStrike" dirty="0">
                <a:solidFill>
                  <a:schemeClr val="tx1"/>
                </a:solidFill>
                <a:effectLst/>
                <a:latin typeface="Inter" panose="020B0604020202020204" charset="0"/>
                <a:ea typeface="Inter" panose="020B0604020202020204" charset="0"/>
              </a:rPr>
              <a:t>Backpropagation Through Time (BPTT): </a:t>
            </a:r>
            <a:r>
              <a:rPr lang="en-US" sz="1300" b="0" i="0" u="none" strike="noStrike" dirty="0">
                <a:solidFill>
                  <a:schemeClr val="tx1"/>
                </a:solidFill>
                <a:effectLst/>
                <a:latin typeface="Inter" panose="020B0604020202020204" charset="0"/>
                <a:ea typeface="Inter" panose="020B0604020202020204" charset="0"/>
              </a:rPr>
              <a:t>During training, RNNs use BPTT to update weights by propagating errors backward through the sequence.</a:t>
            </a:r>
          </a:p>
        </p:txBody>
      </p:sp>
      <p:sp>
        <p:nvSpPr>
          <p:cNvPr id="47" name="Google Shape;47;p2">
            <a:extLst>
              <a:ext uri="{FF2B5EF4-FFF2-40B4-BE49-F238E27FC236}">
                <a16:creationId xmlns:a16="http://schemas.microsoft.com/office/drawing/2014/main" id="{C2E72F0D-27EF-F9F5-DDFF-728D0A509A5C}"/>
              </a:ext>
            </a:extLst>
          </p:cNvPr>
          <p:cNvSpPr/>
          <p:nvPr/>
        </p:nvSpPr>
        <p:spPr>
          <a:xfrm>
            <a:off x="7426653" y="1926771"/>
            <a:ext cx="105352" cy="3004457"/>
          </a:xfrm>
          <a:prstGeom prst="rect">
            <a:avLst/>
          </a:prstGeom>
          <a:solidFill>
            <a:srgbClr val="0073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ay"/>
              <a:ea typeface="Play"/>
              <a:cs typeface="Play"/>
              <a:sym typeface="Play"/>
            </a:endParaRPr>
          </a:p>
        </p:txBody>
      </p:sp>
      <p:pic>
        <p:nvPicPr>
          <p:cNvPr id="2052" name="Picture 4">
            <a:extLst>
              <a:ext uri="{FF2B5EF4-FFF2-40B4-BE49-F238E27FC236}">
                <a16:creationId xmlns:a16="http://schemas.microsoft.com/office/drawing/2014/main" id="{4DCD038D-FDCA-111A-FB80-46D7C82075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3138" y="3550172"/>
            <a:ext cx="3724451" cy="209016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C32CFFF0-D72A-349B-DB9D-9450F2AD95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33138" y="1154614"/>
            <a:ext cx="3554153" cy="1777077"/>
          </a:xfrm>
          <a:prstGeom prst="rect">
            <a:avLst/>
          </a:prstGeom>
          <a:noFill/>
          <a:extLst>
            <a:ext uri="{909E8E84-426E-40DD-AFC4-6F175D3DCCD1}">
              <a14:hiddenFill xmlns:a14="http://schemas.microsoft.com/office/drawing/2010/main">
                <a:solidFill>
                  <a:srgbClr val="FFFFFF"/>
                </a:solidFill>
              </a14:hiddenFill>
            </a:ext>
          </a:extLst>
        </p:spPr>
      </p:pic>
      <p:pic>
        <p:nvPicPr>
          <p:cNvPr id="4" name="Google Shape;11;p6">
            <a:extLst>
              <a:ext uri="{FF2B5EF4-FFF2-40B4-BE49-F238E27FC236}">
                <a16:creationId xmlns:a16="http://schemas.microsoft.com/office/drawing/2014/main" id="{D0A6B223-1E87-7D9E-9382-A5AA2646F11E}"/>
              </a:ext>
            </a:extLst>
          </p:cNvPr>
          <p:cNvPicPr preferRelativeResize="0"/>
          <p:nvPr/>
        </p:nvPicPr>
        <p:blipFill rotWithShape="1">
          <a:blip r:embed="rId5">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CB94587B-D705-10EF-26B6-172F29667B76}"/>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6" name="TextBox 5">
            <a:extLst>
              <a:ext uri="{FF2B5EF4-FFF2-40B4-BE49-F238E27FC236}">
                <a16:creationId xmlns:a16="http://schemas.microsoft.com/office/drawing/2014/main" id="{9607A159-5EC8-6828-982A-14F8CB6A372D}"/>
              </a:ext>
            </a:extLst>
          </p:cNvPr>
          <p:cNvSpPr txBox="1"/>
          <p:nvPr/>
        </p:nvSpPr>
        <p:spPr>
          <a:xfrm>
            <a:off x="8628739" y="2957936"/>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Working/Architecture of the model</a:t>
            </a:r>
          </a:p>
        </p:txBody>
      </p:sp>
      <p:sp>
        <p:nvSpPr>
          <p:cNvPr id="7" name="TextBox 6">
            <a:extLst>
              <a:ext uri="{FF2B5EF4-FFF2-40B4-BE49-F238E27FC236}">
                <a16:creationId xmlns:a16="http://schemas.microsoft.com/office/drawing/2014/main" id="{7D2AB5ED-81BC-39CF-FD22-6D4072D4746A}"/>
              </a:ext>
            </a:extLst>
          </p:cNvPr>
          <p:cNvSpPr txBox="1"/>
          <p:nvPr/>
        </p:nvSpPr>
        <p:spPr>
          <a:xfrm>
            <a:off x="8960253" y="5640339"/>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Equation of the model</a:t>
            </a:r>
          </a:p>
        </p:txBody>
      </p:sp>
    </p:spTree>
    <p:extLst>
      <p:ext uri="{BB962C8B-B14F-4D97-AF65-F5344CB8AC3E}">
        <p14:creationId xmlns:p14="http://schemas.microsoft.com/office/powerpoint/2010/main" val="1888706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F4386C2A-EDAC-AE8E-0EB3-4F86E2C1A0A4}"/>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72865B43-E398-52AC-3E51-CD1C54F4E497}"/>
              </a:ext>
            </a:extLst>
          </p:cNvPr>
          <p:cNvSpPr txBox="1"/>
          <p:nvPr/>
        </p:nvSpPr>
        <p:spPr>
          <a:xfrm>
            <a:off x="295555" y="489612"/>
            <a:ext cx="10010362"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LSTM</a:t>
            </a:r>
            <a:r>
              <a:rPr lang="en-US" sz="2800" b="1" dirty="0">
                <a:solidFill>
                  <a:schemeClr val="dk1"/>
                </a:solidFill>
                <a:latin typeface="Inter"/>
                <a:ea typeface="Inter"/>
                <a:cs typeface="Inter"/>
                <a:sym typeface="Inter"/>
              </a:rPr>
              <a:t> </a:t>
            </a:r>
            <a:r>
              <a:rPr lang="en-US" sz="2800" b="1" dirty="0">
                <a:solidFill>
                  <a:srgbClr val="A58255"/>
                </a:solidFill>
                <a:latin typeface="Inter"/>
                <a:ea typeface="Inter"/>
                <a:cs typeface="Inter"/>
                <a:sym typeface="Inter"/>
              </a:rPr>
              <a:t>(LONG SHORT TERM MEMORY)</a:t>
            </a:r>
            <a:endParaRPr sz="2800" dirty="0">
              <a:latin typeface="Inter"/>
              <a:ea typeface="Inter"/>
              <a:cs typeface="Inter"/>
              <a:sym typeface="Inter"/>
            </a:endParaRPr>
          </a:p>
        </p:txBody>
      </p:sp>
      <p:sp>
        <p:nvSpPr>
          <p:cNvPr id="46" name="Google Shape;46;p2">
            <a:extLst>
              <a:ext uri="{FF2B5EF4-FFF2-40B4-BE49-F238E27FC236}">
                <a16:creationId xmlns:a16="http://schemas.microsoft.com/office/drawing/2014/main" id="{41677923-0356-EFE0-F2EC-C7D9161937B3}"/>
              </a:ext>
            </a:extLst>
          </p:cNvPr>
          <p:cNvSpPr txBox="1"/>
          <p:nvPr/>
        </p:nvSpPr>
        <p:spPr>
          <a:xfrm>
            <a:off x="295555" y="1012792"/>
            <a:ext cx="6297751" cy="4431942"/>
          </a:xfrm>
          <a:prstGeom prst="rect">
            <a:avLst/>
          </a:prstGeom>
          <a:noFill/>
          <a:ln>
            <a:noFill/>
          </a:ln>
        </p:spPr>
        <p:txBody>
          <a:bodyPr spcFirstLastPara="1" wrap="square" lIns="91425" tIns="45700" rIns="91425" bIns="45700" anchor="t" anchorCtr="0">
            <a:spAutoFit/>
          </a:bodyPr>
          <a:lstStyle/>
          <a:p>
            <a:pPr algn="just" rtl="0">
              <a:lnSpc>
                <a:spcPct val="150000"/>
              </a:lnSpc>
              <a:spcBef>
                <a:spcPts val="1200"/>
              </a:spcBef>
              <a:spcAft>
                <a:spcPts val="1200"/>
              </a:spcAft>
            </a:pPr>
            <a:r>
              <a:rPr lang="en-US" b="0" i="0" u="none" strike="noStrike" dirty="0">
                <a:solidFill>
                  <a:schemeClr val="tx1"/>
                </a:solidFill>
                <a:effectLst/>
                <a:latin typeface="Inter" panose="020B0604020202020204" charset="0"/>
                <a:ea typeface="Inter" panose="020B0604020202020204" charset="0"/>
              </a:rPr>
              <a:t>LSTM (Long Short-Term Memory) is a type of recurrent neural network (RNN) designed to capture long-term dependencies in sequential data, making it highly effective for time series forecasting.</a:t>
            </a:r>
            <a:endParaRPr lang="en-US" b="0" dirty="0">
              <a:solidFill>
                <a:schemeClr val="tx1"/>
              </a:solidFill>
              <a:effectLst/>
              <a:latin typeface="Inter" panose="020B0604020202020204" charset="0"/>
              <a:ea typeface="Inter" panose="020B0604020202020204" charset="0"/>
            </a:endParaRPr>
          </a:p>
          <a:p>
            <a:pPr algn="just" rtl="0" fontAlgn="base">
              <a:lnSpc>
                <a:spcPct val="150000"/>
              </a:lnSpc>
              <a:buFont typeface="+mj-lt"/>
              <a:buAutoNum type="arabicPeriod"/>
            </a:pPr>
            <a:r>
              <a:rPr lang="en-US" b="0" i="0" u="sng" strike="noStrike" dirty="0">
                <a:solidFill>
                  <a:schemeClr val="tx1"/>
                </a:solidFill>
                <a:effectLst/>
                <a:latin typeface="Inter" panose="020B0604020202020204" charset="0"/>
                <a:ea typeface="Inter" panose="020B0604020202020204" charset="0"/>
              </a:rPr>
              <a:t>Memory Cells</a:t>
            </a:r>
            <a:r>
              <a:rPr lang="en-US" b="0" i="0" u="none" strike="noStrike" dirty="0">
                <a:solidFill>
                  <a:schemeClr val="tx1"/>
                </a:solidFill>
                <a:effectLst/>
                <a:latin typeface="Inter" panose="020B0604020202020204" charset="0"/>
                <a:ea typeface="Inter" panose="020B0604020202020204" charset="0"/>
              </a:rPr>
              <a:t>: LSTM units contain memory cells that maintain information over time, which helps the model remember patterns in the time series data.</a:t>
            </a:r>
          </a:p>
          <a:p>
            <a:pPr algn="just" rtl="0" fontAlgn="base">
              <a:lnSpc>
                <a:spcPct val="150000"/>
              </a:lnSpc>
              <a:buFont typeface="+mj-lt"/>
              <a:buAutoNum type="arabicPeriod"/>
            </a:pPr>
            <a:r>
              <a:rPr lang="en-US" b="0" i="0" u="sng" strike="noStrike" dirty="0">
                <a:solidFill>
                  <a:schemeClr val="tx1"/>
                </a:solidFill>
                <a:effectLst/>
                <a:latin typeface="Inter" panose="020B0604020202020204" charset="0"/>
                <a:ea typeface="Inter" panose="020B0604020202020204" charset="0"/>
              </a:rPr>
              <a:t>Gates</a:t>
            </a:r>
            <a:r>
              <a:rPr lang="en-US" b="0" i="0" u="none" strike="noStrike" dirty="0">
                <a:solidFill>
                  <a:schemeClr val="tx1"/>
                </a:solidFill>
                <a:effectLst/>
                <a:latin typeface="Inter" panose="020B0604020202020204" charset="0"/>
                <a:ea typeface="Inter" panose="020B0604020202020204" charset="0"/>
              </a:rPr>
              <a:t>: LSTM uses three gates to control the flow of information: Forget Gate, Input Gate, Output Gate</a:t>
            </a:r>
          </a:p>
          <a:p>
            <a:pPr algn="just" rtl="0" fontAlgn="base">
              <a:lnSpc>
                <a:spcPct val="150000"/>
              </a:lnSpc>
              <a:spcAft>
                <a:spcPts val="1200"/>
              </a:spcAft>
              <a:buFont typeface="+mj-lt"/>
              <a:buAutoNum type="arabicPeriod"/>
            </a:pPr>
            <a:r>
              <a:rPr lang="en-US" b="0" i="0" u="sng" strike="noStrike" dirty="0">
                <a:solidFill>
                  <a:schemeClr val="tx1"/>
                </a:solidFill>
                <a:effectLst/>
                <a:latin typeface="Inter" panose="020B0604020202020204" charset="0"/>
                <a:ea typeface="Inter" panose="020B0604020202020204" charset="0"/>
              </a:rPr>
              <a:t>Cell State Update</a:t>
            </a:r>
            <a:r>
              <a:rPr lang="en-US" b="0" i="0" u="none" strike="noStrike" dirty="0">
                <a:solidFill>
                  <a:schemeClr val="tx1"/>
                </a:solidFill>
                <a:effectLst/>
                <a:latin typeface="Inter" panose="020B0604020202020204" charset="0"/>
                <a:ea typeface="Inter" panose="020B0604020202020204" charset="0"/>
              </a:rPr>
              <a:t>: The cell state is updated based on the forget and input gates. It allows LSTM to carry forward relevant information and discard irrelevant data.</a:t>
            </a:r>
          </a:p>
          <a:p>
            <a:pPr marL="0" marR="0" lvl="0" indent="0" algn="just" rtl="0">
              <a:lnSpc>
                <a:spcPct val="150000"/>
              </a:lnSpc>
              <a:spcBef>
                <a:spcPts val="0"/>
              </a:spcBef>
              <a:spcAft>
                <a:spcPts val="0"/>
              </a:spcAft>
              <a:buNone/>
            </a:pPr>
            <a:endParaRPr dirty="0">
              <a:solidFill>
                <a:schemeClr val="tx1"/>
              </a:solidFill>
              <a:latin typeface="Inter" panose="020B0604020202020204" charset="0"/>
              <a:ea typeface="Inter" panose="020B0604020202020204" charset="0"/>
              <a:cs typeface="Inter"/>
              <a:sym typeface="Inter"/>
            </a:endParaRPr>
          </a:p>
        </p:txBody>
      </p:sp>
      <p:sp>
        <p:nvSpPr>
          <p:cNvPr id="47" name="Google Shape;47;p2">
            <a:extLst>
              <a:ext uri="{FF2B5EF4-FFF2-40B4-BE49-F238E27FC236}">
                <a16:creationId xmlns:a16="http://schemas.microsoft.com/office/drawing/2014/main" id="{85CE5588-77DD-BCAE-265C-E5DEF00EEC74}"/>
              </a:ext>
            </a:extLst>
          </p:cNvPr>
          <p:cNvSpPr/>
          <p:nvPr/>
        </p:nvSpPr>
        <p:spPr>
          <a:xfrm>
            <a:off x="6804591" y="1657264"/>
            <a:ext cx="107581" cy="3004457"/>
          </a:xfrm>
          <a:prstGeom prst="rect">
            <a:avLst/>
          </a:prstGeom>
          <a:solidFill>
            <a:srgbClr val="0073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ay"/>
              <a:ea typeface="Play"/>
              <a:cs typeface="Play"/>
              <a:sym typeface="Play"/>
            </a:endParaRPr>
          </a:p>
        </p:txBody>
      </p:sp>
      <p:pic>
        <p:nvPicPr>
          <p:cNvPr id="3074" name="Picture 2">
            <a:extLst>
              <a:ext uri="{FF2B5EF4-FFF2-40B4-BE49-F238E27FC236}">
                <a16:creationId xmlns:a16="http://schemas.microsoft.com/office/drawing/2014/main" id="{9A06F1B1-5749-5275-782D-DD5779CC868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321" t="6897" r="9211" b="11418"/>
          <a:stretch/>
        </p:blipFill>
        <p:spPr bwMode="auto">
          <a:xfrm>
            <a:off x="7221433" y="749301"/>
            <a:ext cx="4567431" cy="279477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F529C354-ABCA-4FE2-08B9-C879C9A66C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21433" y="4119936"/>
            <a:ext cx="4573300" cy="1693617"/>
          </a:xfrm>
          <a:prstGeom prst="rect">
            <a:avLst/>
          </a:prstGeom>
          <a:noFill/>
          <a:extLst>
            <a:ext uri="{909E8E84-426E-40DD-AFC4-6F175D3DCCD1}">
              <a14:hiddenFill xmlns:a14="http://schemas.microsoft.com/office/drawing/2010/main">
                <a:solidFill>
                  <a:srgbClr val="FFFFFF"/>
                </a:solidFill>
              </a14:hiddenFill>
            </a:ext>
          </a:extLst>
        </p:spPr>
      </p:pic>
      <p:pic>
        <p:nvPicPr>
          <p:cNvPr id="4" name="Google Shape;11;p6">
            <a:extLst>
              <a:ext uri="{FF2B5EF4-FFF2-40B4-BE49-F238E27FC236}">
                <a16:creationId xmlns:a16="http://schemas.microsoft.com/office/drawing/2014/main" id="{5E87DF17-AF1E-8912-2028-37D53ED9E3E9}"/>
              </a:ext>
            </a:extLst>
          </p:cNvPr>
          <p:cNvPicPr preferRelativeResize="0"/>
          <p:nvPr/>
        </p:nvPicPr>
        <p:blipFill rotWithShape="1">
          <a:blip r:embed="rId5">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7CCA348E-93F9-B046-E3E1-A936CC99387F}"/>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6" name="TextBox 5">
            <a:extLst>
              <a:ext uri="{FF2B5EF4-FFF2-40B4-BE49-F238E27FC236}">
                <a16:creationId xmlns:a16="http://schemas.microsoft.com/office/drawing/2014/main" id="{28049722-08CC-AC30-2EF4-549EFDAA9955}"/>
              </a:ext>
            </a:extLst>
          </p:cNvPr>
          <p:cNvSpPr txBox="1"/>
          <p:nvPr/>
        </p:nvSpPr>
        <p:spPr>
          <a:xfrm>
            <a:off x="8392945" y="3585784"/>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Working/Architecture of the model</a:t>
            </a:r>
          </a:p>
        </p:txBody>
      </p:sp>
      <p:sp>
        <p:nvSpPr>
          <p:cNvPr id="7" name="TextBox 6">
            <a:extLst>
              <a:ext uri="{FF2B5EF4-FFF2-40B4-BE49-F238E27FC236}">
                <a16:creationId xmlns:a16="http://schemas.microsoft.com/office/drawing/2014/main" id="{9C4994AE-F883-43FC-F17C-DCDA9140E888}"/>
              </a:ext>
            </a:extLst>
          </p:cNvPr>
          <p:cNvSpPr txBox="1"/>
          <p:nvPr/>
        </p:nvSpPr>
        <p:spPr>
          <a:xfrm>
            <a:off x="8512176" y="5826739"/>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Equation of the model</a:t>
            </a:r>
          </a:p>
        </p:txBody>
      </p:sp>
    </p:spTree>
    <p:extLst>
      <p:ext uri="{BB962C8B-B14F-4D97-AF65-F5344CB8AC3E}">
        <p14:creationId xmlns:p14="http://schemas.microsoft.com/office/powerpoint/2010/main" val="2622964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A8D9D04A-F20D-EC1A-1227-DD4A891BD003}"/>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480FC4F7-F54B-0E8D-9C94-FD2ABEC7A866}"/>
              </a:ext>
            </a:extLst>
          </p:cNvPr>
          <p:cNvSpPr txBox="1"/>
          <p:nvPr/>
        </p:nvSpPr>
        <p:spPr>
          <a:xfrm>
            <a:off x="434411" y="288460"/>
            <a:ext cx="8816854"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BI LSTM</a:t>
            </a:r>
            <a:r>
              <a:rPr lang="en-US" sz="2800" b="1" dirty="0">
                <a:solidFill>
                  <a:schemeClr val="dk1"/>
                </a:solidFill>
                <a:latin typeface="Inter"/>
                <a:ea typeface="Inter"/>
                <a:cs typeface="Inter"/>
                <a:sym typeface="Inter"/>
              </a:rPr>
              <a:t> </a:t>
            </a:r>
            <a:r>
              <a:rPr lang="en-US" sz="2800" b="1" dirty="0">
                <a:solidFill>
                  <a:srgbClr val="A58255"/>
                </a:solidFill>
                <a:latin typeface="Inter"/>
                <a:ea typeface="Inter"/>
                <a:cs typeface="Inter"/>
                <a:sym typeface="Inter"/>
              </a:rPr>
              <a:t>(BI-DIRECTIONAL LSTM)</a:t>
            </a:r>
            <a:endParaRPr sz="2800" dirty="0">
              <a:latin typeface="Inter"/>
              <a:ea typeface="Inter"/>
              <a:cs typeface="Inter"/>
              <a:sym typeface="Inter"/>
            </a:endParaRPr>
          </a:p>
        </p:txBody>
      </p:sp>
      <p:sp>
        <p:nvSpPr>
          <p:cNvPr id="47" name="Google Shape;47;p2">
            <a:extLst>
              <a:ext uri="{FF2B5EF4-FFF2-40B4-BE49-F238E27FC236}">
                <a16:creationId xmlns:a16="http://schemas.microsoft.com/office/drawing/2014/main" id="{D82B6573-7ED5-5C40-34E0-05B3976105DC}"/>
              </a:ext>
            </a:extLst>
          </p:cNvPr>
          <p:cNvSpPr/>
          <p:nvPr/>
        </p:nvSpPr>
        <p:spPr>
          <a:xfrm>
            <a:off x="5984217" y="1926771"/>
            <a:ext cx="111783" cy="3004457"/>
          </a:xfrm>
          <a:prstGeom prst="rect">
            <a:avLst/>
          </a:prstGeom>
          <a:solidFill>
            <a:srgbClr val="0073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ay"/>
              <a:ea typeface="Play"/>
              <a:cs typeface="Play"/>
              <a:sym typeface="Play"/>
            </a:endParaRPr>
          </a:p>
        </p:txBody>
      </p:sp>
      <p:sp>
        <p:nvSpPr>
          <p:cNvPr id="4" name="Rectangle 1">
            <a:extLst>
              <a:ext uri="{FF2B5EF4-FFF2-40B4-BE49-F238E27FC236}">
                <a16:creationId xmlns:a16="http://schemas.microsoft.com/office/drawing/2014/main" id="{D8DD5669-8927-4B84-99AD-79637C9AF621}"/>
              </a:ext>
            </a:extLst>
          </p:cNvPr>
          <p:cNvSpPr>
            <a:spLocks noChangeArrowheads="1"/>
          </p:cNvSpPr>
          <p:nvPr/>
        </p:nvSpPr>
        <p:spPr bwMode="auto">
          <a:xfrm>
            <a:off x="434411" y="1089877"/>
            <a:ext cx="531869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Inter" panose="020B0604020202020204" charset="0"/>
                <a:ea typeface="Inter" panose="020B0604020202020204" charset="0"/>
              </a:rPr>
              <a:t>Bi-LSTM (Bidirectional Long Short-Term Memory) </a:t>
            </a: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is a recurrent neural network architecture that enhances traditional LSTM models by processing input sequences in both forward and backward directions which helps to capture both past and future context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Inter" panose="020B0604020202020204" charset="0"/>
              <a:ea typeface="Inter" panose="020B060402020202020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Inter" panose="020B0604020202020204" charset="0"/>
                <a:ea typeface="Inter" panose="020B0604020202020204" charset="0"/>
              </a:rPr>
              <a:t>Architecture Highlights: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i="0" u="sng" strike="noStrike" cap="none" normalizeH="0" baseline="0" dirty="0">
                <a:ln>
                  <a:noFill/>
                </a:ln>
                <a:solidFill>
                  <a:schemeClr val="tx1"/>
                </a:solidFill>
                <a:effectLst/>
                <a:latin typeface="Inter" panose="020B0604020202020204" charset="0"/>
                <a:ea typeface="Inter" panose="020B0604020202020204" charset="0"/>
              </a:rPr>
              <a:t>Two LSTM Layers</a:t>
            </a:r>
            <a:r>
              <a:rPr kumimoji="0" lang="en-US" altLang="en-US" i="0" u="none" strike="noStrike" cap="none" normalizeH="0" baseline="0" dirty="0">
                <a:ln>
                  <a:noFill/>
                </a:ln>
                <a:solidFill>
                  <a:schemeClr val="tx1"/>
                </a:solidFill>
                <a:effectLst/>
                <a:latin typeface="Inter" panose="020B0604020202020204" charset="0"/>
                <a:ea typeface="Inter" panose="020B060402020202020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One processes the sequence from start to end (forward pass).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The other processes it from end to start (backward pass).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i="0" u="sng" strike="noStrike" cap="none" normalizeH="0" baseline="0" dirty="0">
                <a:ln>
                  <a:noFill/>
                </a:ln>
                <a:solidFill>
                  <a:schemeClr val="tx1"/>
                </a:solidFill>
                <a:effectLst/>
                <a:latin typeface="Inter" panose="020B0604020202020204" charset="0"/>
                <a:ea typeface="Inter" panose="020B0604020202020204" charset="0"/>
              </a:rPr>
              <a:t>Concatenation of Outputs</a:t>
            </a:r>
            <a:r>
              <a:rPr kumimoji="0" lang="en-US" altLang="en-US" i="0" u="none" strike="noStrike" cap="none" normalizeH="0" baseline="0" dirty="0">
                <a:ln>
                  <a:noFill/>
                </a:ln>
                <a:solidFill>
                  <a:schemeClr val="tx1"/>
                </a:solidFill>
                <a:effectLst/>
                <a:latin typeface="Inter" panose="020B0604020202020204" charset="0"/>
                <a:ea typeface="Inter" panose="020B060402020202020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Outputs from the forward and backward layers are combined, providing a richer representation of the input data.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i="0" u="sng" strike="noStrike" cap="none" normalizeH="0" baseline="0" dirty="0">
                <a:ln>
                  <a:noFill/>
                </a:ln>
                <a:solidFill>
                  <a:schemeClr val="tx1"/>
                </a:solidFill>
                <a:effectLst/>
                <a:latin typeface="Inter" panose="020B0604020202020204" charset="0"/>
                <a:ea typeface="Inter" panose="020B0604020202020204" charset="0"/>
              </a:rPr>
              <a:t>Memory Cells</a:t>
            </a:r>
            <a:r>
              <a:rPr kumimoji="0" lang="en-US" altLang="en-US" i="0" u="none" strike="noStrike" cap="none" normalizeH="0" baseline="0" dirty="0">
                <a:ln>
                  <a:noFill/>
                </a:ln>
                <a:solidFill>
                  <a:schemeClr val="tx1"/>
                </a:solidFill>
                <a:effectLst/>
                <a:latin typeface="Inter" panose="020B0604020202020204" charset="0"/>
                <a:ea typeface="Inter" panose="020B060402020202020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Uses memory cells and gating mechanisms (input, forget, and output gates) to manage long-term dependencies and mitigate issues like vanishing gradients.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Inter" panose="020B0604020202020204" charset="0"/>
              <a:ea typeface="Inter" panose="020B0604020202020204" charset="0"/>
            </a:endParaRPr>
          </a:p>
        </p:txBody>
      </p:sp>
      <p:pic>
        <p:nvPicPr>
          <p:cNvPr id="6" name="Picture 5">
            <a:extLst>
              <a:ext uri="{FF2B5EF4-FFF2-40B4-BE49-F238E27FC236}">
                <a16:creationId xmlns:a16="http://schemas.microsoft.com/office/drawing/2014/main" id="{CD0315BC-58EA-7589-42E5-57ABC15AFBAE}"/>
              </a:ext>
            </a:extLst>
          </p:cNvPr>
          <p:cNvPicPr>
            <a:picLocks noChangeAspect="1"/>
          </p:cNvPicPr>
          <p:nvPr/>
        </p:nvPicPr>
        <p:blipFill>
          <a:blip r:embed="rId3"/>
          <a:stretch>
            <a:fillRect/>
          </a:stretch>
        </p:blipFill>
        <p:spPr>
          <a:xfrm>
            <a:off x="7461715" y="811640"/>
            <a:ext cx="3512774" cy="2278196"/>
          </a:xfrm>
          <a:prstGeom prst="rect">
            <a:avLst/>
          </a:prstGeom>
        </p:spPr>
      </p:pic>
      <p:pic>
        <p:nvPicPr>
          <p:cNvPr id="8" name="Picture 7">
            <a:extLst>
              <a:ext uri="{FF2B5EF4-FFF2-40B4-BE49-F238E27FC236}">
                <a16:creationId xmlns:a16="http://schemas.microsoft.com/office/drawing/2014/main" id="{14C5C9EC-BA28-1341-B4FF-1E3DFCA8D228}"/>
              </a:ext>
            </a:extLst>
          </p:cNvPr>
          <p:cNvPicPr>
            <a:picLocks noChangeAspect="1"/>
          </p:cNvPicPr>
          <p:nvPr/>
        </p:nvPicPr>
        <p:blipFill>
          <a:blip r:embed="rId4"/>
          <a:stretch>
            <a:fillRect/>
          </a:stretch>
        </p:blipFill>
        <p:spPr>
          <a:xfrm>
            <a:off x="7032475" y="3501942"/>
            <a:ext cx="4437579" cy="2221645"/>
          </a:xfrm>
          <a:prstGeom prst="rect">
            <a:avLst/>
          </a:prstGeom>
        </p:spPr>
      </p:pic>
      <p:pic>
        <p:nvPicPr>
          <p:cNvPr id="5" name="Google Shape;11;p6">
            <a:extLst>
              <a:ext uri="{FF2B5EF4-FFF2-40B4-BE49-F238E27FC236}">
                <a16:creationId xmlns:a16="http://schemas.microsoft.com/office/drawing/2014/main" id="{8FE4CC82-E736-95D2-93A7-BDC732791984}"/>
              </a:ext>
            </a:extLst>
          </p:cNvPr>
          <p:cNvPicPr preferRelativeResize="0"/>
          <p:nvPr/>
        </p:nvPicPr>
        <p:blipFill rotWithShape="1">
          <a:blip r:embed="rId5">
            <a:alphaModFix/>
          </a:blip>
          <a:srcRect/>
          <a:stretch/>
        </p:blipFill>
        <p:spPr>
          <a:xfrm>
            <a:off x="10859781" y="6332369"/>
            <a:ext cx="1256427" cy="534202"/>
          </a:xfrm>
          <a:prstGeom prst="rect">
            <a:avLst/>
          </a:prstGeom>
          <a:noFill/>
          <a:ln>
            <a:noFill/>
          </a:ln>
        </p:spPr>
      </p:pic>
      <p:sp>
        <p:nvSpPr>
          <p:cNvPr id="7" name="Google Shape;10;p6">
            <a:extLst>
              <a:ext uri="{FF2B5EF4-FFF2-40B4-BE49-F238E27FC236}">
                <a16:creationId xmlns:a16="http://schemas.microsoft.com/office/drawing/2014/main" id="{5B803476-175F-0893-8E39-E7190F69BFF9}"/>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9" name="TextBox 8">
            <a:extLst>
              <a:ext uri="{FF2B5EF4-FFF2-40B4-BE49-F238E27FC236}">
                <a16:creationId xmlns:a16="http://schemas.microsoft.com/office/drawing/2014/main" id="{7A9B91B7-1EF2-EFED-8359-D4BFCD60F2B4}"/>
              </a:ext>
            </a:extLst>
          </p:cNvPr>
          <p:cNvSpPr txBox="1"/>
          <p:nvPr/>
        </p:nvSpPr>
        <p:spPr>
          <a:xfrm>
            <a:off x="7958534" y="3089836"/>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Working/Architecture of the model</a:t>
            </a:r>
          </a:p>
        </p:txBody>
      </p:sp>
      <p:sp>
        <p:nvSpPr>
          <p:cNvPr id="10" name="TextBox 9">
            <a:extLst>
              <a:ext uri="{FF2B5EF4-FFF2-40B4-BE49-F238E27FC236}">
                <a16:creationId xmlns:a16="http://schemas.microsoft.com/office/drawing/2014/main" id="{163B7C68-1B71-36A2-4B73-B0EDE1BB2C14}"/>
              </a:ext>
            </a:extLst>
          </p:cNvPr>
          <p:cNvSpPr txBox="1"/>
          <p:nvPr/>
        </p:nvSpPr>
        <p:spPr>
          <a:xfrm>
            <a:off x="7958534" y="5723587"/>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Equation of the model</a:t>
            </a:r>
          </a:p>
        </p:txBody>
      </p:sp>
    </p:spTree>
    <p:extLst>
      <p:ext uri="{BB962C8B-B14F-4D97-AF65-F5344CB8AC3E}">
        <p14:creationId xmlns:p14="http://schemas.microsoft.com/office/powerpoint/2010/main" val="1433087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AFA44E06-E3CD-36EF-869E-6B92E1ED6611}"/>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BDE6021F-C751-0E46-4DF0-BBB4917F682D}"/>
              </a:ext>
            </a:extLst>
          </p:cNvPr>
          <p:cNvSpPr txBox="1"/>
          <p:nvPr/>
        </p:nvSpPr>
        <p:spPr>
          <a:xfrm>
            <a:off x="385035" y="399181"/>
            <a:ext cx="10873868"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GRU </a:t>
            </a:r>
            <a:r>
              <a:rPr lang="en-US" sz="2800" b="1" dirty="0">
                <a:solidFill>
                  <a:srgbClr val="A58255"/>
                </a:solidFill>
                <a:latin typeface="Inter"/>
                <a:ea typeface="Inter"/>
                <a:cs typeface="Inter"/>
                <a:sym typeface="Inter"/>
              </a:rPr>
              <a:t>(GATED RECCURENT UNIT) </a:t>
            </a:r>
            <a:endParaRPr lang="en-US" sz="2800" dirty="0">
              <a:latin typeface="Inter"/>
              <a:ea typeface="Inter"/>
              <a:cs typeface="Inter"/>
              <a:sym typeface="Inter"/>
            </a:endParaRPr>
          </a:p>
        </p:txBody>
      </p:sp>
      <p:sp>
        <p:nvSpPr>
          <p:cNvPr id="46" name="Google Shape;46;p2">
            <a:extLst>
              <a:ext uri="{FF2B5EF4-FFF2-40B4-BE49-F238E27FC236}">
                <a16:creationId xmlns:a16="http://schemas.microsoft.com/office/drawing/2014/main" id="{5254E57C-45ED-1CCD-F350-296C8292EE52}"/>
              </a:ext>
            </a:extLst>
          </p:cNvPr>
          <p:cNvSpPr txBox="1"/>
          <p:nvPr/>
        </p:nvSpPr>
        <p:spPr>
          <a:xfrm>
            <a:off x="385035" y="1029938"/>
            <a:ext cx="5536447" cy="4631997"/>
          </a:xfrm>
          <a:prstGeom prst="rect">
            <a:avLst/>
          </a:prstGeom>
          <a:noFill/>
          <a:ln>
            <a:noFill/>
          </a:ln>
        </p:spPr>
        <p:txBody>
          <a:bodyPr spcFirstLastPara="1" wrap="square" lIns="91425" tIns="45700" rIns="91425" bIns="45700" anchor="t" anchorCtr="0">
            <a:spAutoFit/>
          </a:bodyPr>
          <a:lstStyle/>
          <a:p>
            <a:pPr algn="just" rtl="0">
              <a:spcBef>
                <a:spcPts val="1200"/>
              </a:spcBef>
              <a:spcAft>
                <a:spcPts val="1200"/>
              </a:spcAft>
            </a:pPr>
            <a:r>
              <a:rPr lang="en-US" sz="1300" b="0" i="0" u="none" strike="noStrike" dirty="0">
                <a:solidFill>
                  <a:schemeClr val="tx1"/>
                </a:solidFill>
                <a:effectLst/>
                <a:latin typeface="Inter" panose="020B0604020202020204" charset="0"/>
                <a:ea typeface="Inter" panose="020B0604020202020204" charset="0"/>
              </a:rPr>
              <a:t>GRU (Gated Recurrent Unit) is a type of recurrent neural network (RNN) architecture designed to efficiently capture temporal dependencies in sequential data while mitigating the vanishing gradient problem. It simplifies computation compared to LSTMs by reducing the number of gates. </a:t>
            </a:r>
          </a:p>
          <a:p>
            <a:pPr algn="just" rtl="0">
              <a:spcBef>
                <a:spcPts val="1200"/>
              </a:spcBef>
              <a:spcAft>
                <a:spcPts val="1200"/>
              </a:spcAft>
            </a:pPr>
            <a:r>
              <a:rPr lang="en-US" sz="1300" b="0" i="0" u="none" strike="noStrike" dirty="0">
                <a:solidFill>
                  <a:schemeClr val="tx1"/>
                </a:solidFill>
                <a:effectLst/>
                <a:latin typeface="Inter" panose="020B0604020202020204" charset="0"/>
                <a:ea typeface="Inter" panose="020B0604020202020204" charset="0"/>
              </a:rPr>
              <a:t> </a:t>
            </a:r>
            <a:r>
              <a:rPr lang="en-US" sz="1300" b="1" i="0" u="none" strike="noStrike" dirty="0">
                <a:solidFill>
                  <a:schemeClr val="tx1"/>
                </a:solidFill>
                <a:effectLst/>
                <a:latin typeface="Inter" panose="020B0604020202020204" charset="0"/>
                <a:ea typeface="Inter" panose="020B0604020202020204" charset="0"/>
              </a:rPr>
              <a:t>Architecture Highlights:  </a:t>
            </a:r>
          </a:p>
          <a:p>
            <a:pPr marL="285750" indent="-285750" algn="just" rtl="0">
              <a:spcBef>
                <a:spcPts val="1200"/>
              </a:spcBef>
              <a:spcAft>
                <a:spcPts val="1200"/>
              </a:spcAft>
              <a:buFont typeface="Arial" panose="020B0604020202020204" pitchFamily="34" charset="0"/>
              <a:buChar char="•"/>
            </a:pPr>
            <a:r>
              <a:rPr lang="en-US" sz="1300" b="0" i="0" u="sng" strike="noStrike" dirty="0">
                <a:solidFill>
                  <a:schemeClr val="tx1"/>
                </a:solidFill>
                <a:effectLst/>
                <a:latin typeface="Inter" panose="020B0604020202020204" charset="0"/>
                <a:ea typeface="Inter" panose="020B0604020202020204" charset="0"/>
              </a:rPr>
              <a:t>Gating Mechanism</a:t>
            </a:r>
            <a:r>
              <a:rPr lang="en-US" sz="1300" b="0" i="0" u="none" strike="noStrike" dirty="0">
                <a:solidFill>
                  <a:schemeClr val="tx1"/>
                </a:solidFill>
                <a:effectLst/>
                <a:latin typeface="Inter" panose="020B0604020202020204" charset="0"/>
                <a:ea typeface="Inter" panose="020B0604020202020204" charset="0"/>
              </a:rPr>
              <a:t>: Combines reset and update gates to control the flow of information, determining how much of the past information to keep or discard at each step.</a:t>
            </a:r>
          </a:p>
          <a:p>
            <a:pPr marL="285750" indent="-285750" algn="just" rtl="0">
              <a:spcBef>
                <a:spcPts val="1200"/>
              </a:spcBef>
              <a:spcAft>
                <a:spcPts val="1200"/>
              </a:spcAft>
              <a:buFont typeface="Arial" panose="020B0604020202020204" pitchFamily="34" charset="0"/>
              <a:buChar char="•"/>
            </a:pPr>
            <a:r>
              <a:rPr lang="en-US" sz="1300" b="0" i="0" u="sng" strike="noStrike" dirty="0">
                <a:solidFill>
                  <a:schemeClr val="tx1"/>
                </a:solidFill>
                <a:effectLst/>
                <a:latin typeface="Inter" panose="020B0604020202020204" charset="0"/>
                <a:ea typeface="Inter" panose="020B0604020202020204" charset="0"/>
              </a:rPr>
              <a:t>Compact Design</a:t>
            </a:r>
            <a:r>
              <a:rPr lang="en-US" sz="1300" b="0" i="0" u="none" strike="noStrike" dirty="0">
                <a:solidFill>
                  <a:schemeClr val="tx1"/>
                </a:solidFill>
                <a:effectLst/>
                <a:latin typeface="Inter" panose="020B0604020202020204" charset="0"/>
                <a:ea typeface="Inter" panose="020B0604020202020204" charset="0"/>
              </a:rPr>
              <a:t>: Fewer parameters than LSTM, as it merges the input and forget gates into a single update gate, making it computationally efficient while retaining performance. </a:t>
            </a:r>
          </a:p>
          <a:p>
            <a:pPr marL="285750" indent="-285750" algn="just" rtl="0">
              <a:spcBef>
                <a:spcPts val="1200"/>
              </a:spcBef>
              <a:spcAft>
                <a:spcPts val="1200"/>
              </a:spcAft>
              <a:buFont typeface="Arial" panose="020B0604020202020204" pitchFamily="34" charset="0"/>
              <a:buChar char="•"/>
            </a:pPr>
            <a:r>
              <a:rPr lang="en-US" sz="1300" b="0" i="0" u="sng" strike="noStrike" dirty="0">
                <a:solidFill>
                  <a:schemeClr val="tx1"/>
                </a:solidFill>
                <a:effectLst/>
                <a:latin typeface="Inter" panose="020B0604020202020204" charset="0"/>
                <a:ea typeface="Inter" panose="020B0604020202020204" charset="0"/>
              </a:rPr>
              <a:t>Sequential Learning</a:t>
            </a:r>
            <a:r>
              <a:rPr lang="en-US" sz="1300" b="0" i="0" u="none" strike="noStrike" dirty="0">
                <a:solidFill>
                  <a:schemeClr val="tx1"/>
                </a:solidFill>
                <a:effectLst/>
                <a:latin typeface="Inter" panose="020B0604020202020204" charset="0"/>
                <a:ea typeface="Inter" panose="020B0604020202020204" charset="0"/>
              </a:rPr>
              <a:t>:  Processes data step-by-step to learn temporal patterns, suitable for time-series forecasting, language modeling, and other sequential tasks.</a:t>
            </a:r>
          </a:p>
        </p:txBody>
      </p:sp>
      <p:sp>
        <p:nvSpPr>
          <p:cNvPr id="47" name="Google Shape;47;p2">
            <a:extLst>
              <a:ext uri="{FF2B5EF4-FFF2-40B4-BE49-F238E27FC236}">
                <a16:creationId xmlns:a16="http://schemas.microsoft.com/office/drawing/2014/main" id="{FC0AF30D-4959-AD33-88E0-7EE9DAF34C53}"/>
              </a:ext>
            </a:extLst>
          </p:cNvPr>
          <p:cNvSpPr/>
          <p:nvPr/>
        </p:nvSpPr>
        <p:spPr>
          <a:xfrm>
            <a:off x="6282952" y="1974660"/>
            <a:ext cx="88900" cy="3009900"/>
          </a:xfrm>
          <a:prstGeom prst="rect">
            <a:avLst/>
          </a:prstGeom>
          <a:solidFill>
            <a:srgbClr val="0073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ay"/>
              <a:ea typeface="Play"/>
              <a:cs typeface="Play"/>
              <a:sym typeface="Play"/>
            </a:endParaRPr>
          </a:p>
        </p:txBody>
      </p:sp>
      <p:pic>
        <p:nvPicPr>
          <p:cNvPr id="5" name="Picture 4">
            <a:extLst>
              <a:ext uri="{FF2B5EF4-FFF2-40B4-BE49-F238E27FC236}">
                <a16:creationId xmlns:a16="http://schemas.microsoft.com/office/drawing/2014/main" id="{FF4A6280-6429-5645-7EC2-B395C112E7E7}"/>
              </a:ext>
            </a:extLst>
          </p:cNvPr>
          <p:cNvPicPr>
            <a:picLocks noChangeAspect="1"/>
          </p:cNvPicPr>
          <p:nvPr/>
        </p:nvPicPr>
        <p:blipFill>
          <a:blip r:embed="rId3"/>
          <a:srcRect l="4454" t="10808" r="2818"/>
          <a:stretch/>
        </p:blipFill>
        <p:spPr>
          <a:xfrm>
            <a:off x="6659682" y="1029938"/>
            <a:ext cx="5275748" cy="1747713"/>
          </a:xfrm>
          <a:prstGeom prst="rect">
            <a:avLst/>
          </a:prstGeom>
        </p:spPr>
      </p:pic>
      <p:pic>
        <p:nvPicPr>
          <p:cNvPr id="7" name="Picture 6">
            <a:extLst>
              <a:ext uri="{FF2B5EF4-FFF2-40B4-BE49-F238E27FC236}">
                <a16:creationId xmlns:a16="http://schemas.microsoft.com/office/drawing/2014/main" id="{9FA730BB-2292-B7C4-6B84-1E05A6626A33}"/>
              </a:ext>
            </a:extLst>
          </p:cNvPr>
          <p:cNvPicPr>
            <a:picLocks noChangeAspect="1"/>
          </p:cNvPicPr>
          <p:nvPr/>
        </p:nvPicPr>
        <p:blipFill>
          <a:blip r:embed="rId4"/>
          <a:stretch>
            <a:fillRect/>
          </a:stretch>
        </p:blipFill>
        <p:spPr>
          <a:xfrm>
            <a:off x="7143487" y="3316623"/>
            <a:ext cx="4560737" cy="2210459"/>
          </a:xfrm>
          <a:prstGeom prst="rect">
            <a:avLst/>
          </a:prstGeom>
        </p:spPr>
      </p:pic>
      <p:pic>
        <p:nvPicPr>
          <p:cNvPr id="12" name="Google Shape;11;p6">
            <a:extLst>
              <a:ext uri="{FF2B5EF4-FFF2-40B4-BE49-F238E27FC236}">
                <a16:creationId xmlns:a16="http://schemas.microsoft.com/office/drawing/2014/main" id="{D4909409-7DC6-19EA-019D-2C3DED4E9CE9}"/>
              </a:ext>
            </a:extLst>
          </p:cNvPr>
          <p:cNvPicPr preferRelativeResize="0"/>
          <p:nvPr/>
        </p:nvPicPr>
        <p:blipFill rotWithShape="1">
          <a:blip r:embed="rId5">
            <a:alphaModFix/>
          </a:blip>
          <a:srcRect/>
          <a:stretch/>
        </p:blipFill>
        <p:spPr>
          <a:xfrm>
            <a:off x="10859781" y="6332369"/>
            <a:ext cx="1256427" cy="534202"/>
          </a:xfrm>
          <a:prstGeom prst="rect">
            <a:avLst/>
          </a:prstGeom>
          <a:noFill/>
          <a:ln>
            <a:noFill/>
          </a:ln>
        </p:spPr>
      </p:pic>
      <p:sp>
        <p:nvSpPr>
          <p:cNvPr id="13" name="Google Shape;10;p6">
            <a:extLst>
              <a:ext uri="{FF2B5EF4-FFF2-40B4-BE49-F238E27FC236}">
                <a16:creationId xmlns:a16="http://schemas.microsoft.com/office/drawing/2014/main" id="{74334EF8-1594-B469-4E48-4FB0F95291FC}"/>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14" name="TextBox 13">
            <a:extLst>
              <a:ext uri="{FF2B5EF4-FFF2-40B4-BE49-F238E27FC236}">
                <a16:creationId xmlns:a16="http://schemas.microsoft.com/office/drawing/2014/main" id="{ED57C04F-22FA-7F3A-2C7E-98A5EFD5B355}"/>
              </a:ext>
            </a:extLst>
          </p:cNvPr>
          <p:cNvSpPr txBox="1"/>
          <p:nvPr/>
        </p:nvSpPr>
        <p:spPr>
          <a:xfrm>
            <a:off x="7905169" y="2810963"/>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Working/Architecture of the model</a:t>
            </a:r>
          </a:p>
        </p:txBody>
      </p:sp>
      <p:sp>
        <p:nvSpPr>
          <p:cNvPr id="15" name="TextBox 14">
            <a:extLst>
              <a:ext uri="{FF2B5EF4-FFF2-40B4-BE49-F238E27FC236}">
                <a16:creationId xmlns:a16="http://schemas.microsoft.com/office/drawing/2014/main" id="{9647AAAE-599D-EA7F-3DEF-CCB26A909853}"/>
              </a:ext>
            </a:extLst>
          </p:cNvPr>
          <p:cNvSpPr txBox="1"/>
          <p:nvPr/>
        </p:nvSpPr>
        <p:spPr>
          <a:xfrm>
            <a:off x="8317153" y="5560394"/>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Equation of the model</a:t>
            </a:r>
          </a:p>
        </p:txBody>
      </p:sp>
    </p:spTree>
    <p:extLst>
      <p:ext uri="{BB962C8B-B14F-4D97-AF65-F5344CB8AC3E}">
        <p14:creationId xmlns:p14="http://schemas.microsoft.com/office/powerpoint/2010/main" val="1895629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401E47BE-9DAA-6E9E-2E77-B93F7AF48790}"/>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DBBE2CF2-294F-74B3-8546-3516E8A4BBA9}"/>
              </a:ext>
            </a:extLst>
          </p:cNvPr>
          <p:cNvSpPr txBox="1"/>
          <p:nvPr/>
        </p:nvSpPr>
        <p:spPr>
          <a:xfrm>
            <a:off x="385363" y="297036"/>
            <a:ext cx="10873868"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GNN </a:t>
            </a:r>
            <a:r>
              <a:rPr lang="en-US" sz="2800" b="1" dirty="0">
                <a:solidFill>
                  <a:srgbClr val="A58255"/>
                </a:solidFill>
                <a:latin typeface="Inter"/>
                <a:ea typeface="Inter"/>
                <a:cs typeface="Inter"/>
                <a:sym typeface="Inter"/>
              </a:rPr>
              <a:t>(GRAPH NEURAL NETWORK)</a:t>
            </a:r>
            <a:endParaRPr lang="en-US" sz="2800" dirty="0">
              <a:latin typeface="Inter"/>
              <a:ea typeface="Inter"/>
              <a:cs typeface="Inter"/>
              <a:sym typeface="Inter"/>
            </a:endParaRPr>
          </a:p>
        </p:txBody>
      </p:sp>
      <p:sp>
        <p:nvSpPr>
          <p:cNvPr id="46" name="Google Shape;46;p2">
            <a:extLst>
              <a:ext uri="{FF2B5EF4-FFF2-40B4-BE49-F238E27FC236}">
                <a16:creationId xmlns:a16="http://schemas.microsoft.com/office/drawing/2014/main" id="{34E21B96-2708-6D05-40F8-7E3CD75D1D72}"/>
              </a:ext>
            </a:extLst>
          </p:cNvPr>
          <p:cNvSpPr txBox="1"/>
          <p:nvPr/>
        </p:nvSpPr>
        <p:spPr>
          <a:xfrm>
            <a:off x="436586" y="1125825"/>
            <a:ext cx="5545537" cy="4606349"/>
          </a:xfrm>
          <a:prstGeom prst="rect">
            <a:avLst/>
          </a:prstGeom>
          <a:noFill/>
          <a:ln>
            <a:noFill/>
          </a:ln>
        </p:spPr>
        <p:txBody>
          <a:bodyPr spcFirstLastPara="1" wrap="square" lIns="91425" tIns="45700" rIns="91425" bIns="45700" anchor="t" anchorCtr="0">
            <a:spAutoFit/>
          </a:bodyPr>
          <a:lstStyle/>
          <a:p>
            <a:pPr algn="just" rtl="0">
              <a:spcBef>
                <a:spcPts val="130"/>
              </a:spcBef>
              <a:spcAft>
                <a:spcPts val="130"/>
              </a:spcAft>
            </a:pPr>
            <a:r>
              <a:rPr lang="en-US" b="0" i="0" u="none" strike="noStrike" dirty="0">
                <a:solidFill>
                  <a:schemeClr val="tx1"/>
                </a:solidFill>
                <a:effectLst/>
                <a:latin typeface="Inter" panose="020B0604020202020204" charset="0"/>
                <a:ea typeface="Inter" panose="020B0604020202020204" charset="0"/>
              </a:rPr>
              <a:t>Graph Neural Networks (GNNs) are deep learning models designed to process data represented as graphs, effectively capturing relationships and dependencies between entities (nodes) through their connections (edges). </a:t>
            </a:r>
          </a:p>
          <a:p>
            <a:pPr algn="just" rtl="0">
              <a:spcBef>
                <a:spcPts val="130"/>
              </a:spcBef>
              <a:spcAft>
                <a:spcPts val="130"/>
              </a:spcAft>
            </a:pPr>
            <a:endParaRPr lang="en-US" dirty="0">
              <a:solidFill>
                <a:schemeClr val="tx1"/>
              </a:solidFill>
              <a:latin typeface="Inter" panose="020B0604020202020204" charset="0"/>
              <a:ea typeface="Inter" panose="020B0604020202020204" charset="0"/>
            </a:endParaRPr>
          </a:p>
          <a:p>
            <a:pPr algn="just" rtl="0">
              <a:spcBef>
                <a:spcPts val="130"/>
              </a:spcBef>
              <a:spcAft>
                <a:spcPts val="130"/>
              </a:spcAft>
            </a:pPr>
            <a:r>
              <a:rPr lang="en-US" b="1" i="0" u="none" strike="noStrike" dirty="0">
                <a:solidFill>
                  <a:schemeClr val="tx1"/>
                </a:solidFill>
                <a:effectLst/>
                <a:latin typeface="Inter" panose="020B0604020202020204" charset="0"/>
                <a:ea typeface="Inter" panose="020B0604020202020204" charset="0"/>
              </a:rPr>
              <a:t>Architecture Highlights</a:t>
            </a:r>
            <a:r>
              <a:rPr lang="en-US" b="0" i="0" u="none" strike="noStrike" dirty="0">
                <a:solidFill>
                  <a:schemeClr val="tx1"/>
                </a:solidFill>
                <a:effectLst/>
                <a:latin typeface="Inter" panose="020B0604020202020204" charset="0"/>
                <a:ea typeface="Inter" panose="020B0604020202020204" charset="0"/>
              </a:rPr>
              <a:t>:  </a:t>
            </a:r>
          </a:p>
          <a:p>
            <a:pPr marL="285750" indent="-285750" algn="just" rtl="0">
              <a:spcBef>
                <a:spcPts val="130"/>
              </a:spcBef>
              <a:spcAft>
                <a:spcPts val="130"/>
              </a:spcAft>
              <a:buFont typeface="Arial" panose="020B0604020202020204" pitchFamily="34" charset="0"/>
              <a:buChar char="•"/>
            </a:pPr>
            <a:r>
              <a:rPr lang="en-US" b="0" i="0" u="sng" strike="noStrike" dirty="0">
                <a:solidFill>
                  <a:schemeClr val="tx1"/>
                </a:solidFill>
                <a:effectLst/>
                <a:latin typeface="Inter" panose="020B0604020202020204" charset="0"/>
                <a:ea typeface="Inter" panose="020B0604020202020204" charset="0"/>
              </a:rPr>
              <a:t>Message Passing Framework</a:t>
            </a:r>
            <a:r>
              <a:rPr lang="en-US" b="0" i="0" u="none" strike="noStrike" dirty="0">
                <a:solidFill>
                  <a:schemeClr val="tx1"/>
                </a:solidFill>
                <a:effectLst/>
                <a:latin typeface="Inter" panose="020B0604020202020204" charset="0"/>
                <a:ea typeface="Inter" panose="020B0604020202020204" charset="0"/>
              </a:rPr>
              <a:t>: Nodes aggregate information from their neighbors through iterative message-passing steps, updating their embeddings to capture local and global graph structures.  </a:t>
            </a:r>
          </a:p>
          <a:p>
            <a:pPr algn="just" rtl="0">
              <a:spcBef>
                <a:spcPts val="130"/>
              </a:spcBef>
              <a:spcAft>
                <a:spcPts val="130"/>
              </a:spcAft>
            </a:pPr>
            <a:endParaRPr lang="en-US" dirty="0">
              <a:solidFill>
                <a:schemeClr val="tx1"/>
              </a:solidFill>
              <a:latin typeface="Inter" panose="020B0604020202020204" charset="0"/>
              <a:ea typeface="Inter" panose="020B0604020202020204" charset="0"/>
            </a:endParaRPr>
          </a:p>
          <a:p>
            <a:pPr marL="285750" indent="-285750" algn="just" rtl="0">
              <a:spcBef>
                <a:spcPts val="130"/>
              </a:spcBef>
              <a:spcAft>
                <a:spcPts val="130"/>
              </a:spcAft>
              <a:buFont typeface="Arial" panose="020B0604020202020204" pitchFamily="34" charset="0"/>
              <a:buChar char="•"/>
            </a:pPr>
            <a:r>
              <a:rPr lang="en-US" b="0" i="0" u="sng" strike="noStrike" dirty="0">
                <a:solidFill>
                  <a:schemeClr val="tx1"/>
                </a:solidFill>
                <a:effectLst/>
                <a:latin typeface="Inter" panose="020B0604020202020204" charset="0"/>
                <a:ea typeface="Inter" panose="020B0604020202020204" charset="0"/>
              </a:rPr>
              <a:t>Graph Convolution Layers</a:t>
            </a:r>
            <a:r>
              <a:rPr lang="en-US" b="0" i="0" u="none" strike="noStrike" dirty="0">
                <a:solidFill>
                  <a:schemeClr val="tx1"/>
                </a:solidFill>
                <a:effectLst/>
                <a:latin typeface="Inter" panose="020B0604020202020204" charset="0"/>
                <a:ea typeface="Inter" panose="020B0604020202020204" charset="0"/>
              </a:rPr>
              <a:t>: Utilizes layers like Graph Convolutional Networks (GCN), Graph Attention Networks (GAT), or </a:t>
            </a:r>
            <a:r>
              <a:rPr lang="en-US" b="0" i="0" u="none" strike="noStrike" dirty="0" err="1">
                <a:solidFill>
                  <a:schemeClr val="tx1"/>
                </a:solidFill>
                <a:effectLst/>
                <a:latin typeface="Inter" panose="020B0604020202020204" charset="0"/>
                <a:ea typeface="Inter" panose="020B0604020202020204" charset="0"/>
              </a:rPr>
              <a:t>GraphSAGE</a:t>
            </a:r>
            <a:r>
              <a:rPr lang="en-US" b="0" i="0" u="none" strike="noStrike" dirty="0">
                <a:solidFill>
                  <a:schemeClr val="tx1"/>
                </a:solidFill>
                <a:effectLst/>
                <a:latin typeface="Inter" panose="020B0604020202020204" charset="0"/>
                <a:ea typeface="Inter" panose="020B0604020202020204" charset="0"/>
              </a:rPr>
              <a:t> to compute node embeddings based on adjacency relationships and feature propagation.  </a:t>
            </a:r>
          </a:p>
          <a:p>
            <a:pPr algn="just" rtl="0">
              <a:spcBef>
                <a:spcPts val="130"/>
              </a:spcBef>
              <a:spcAft>
                <a:spcPts val="130"/>
              </a:spcAft>
            </a:pPr>
            <a:endParaRPr lang="en-US" dirty="0">
              <a:solidFill>
                <a:schemeClr val="tx1"/>
              </a:solidFill>
              <a:latin typeface="Inter" panose="020B0604020202020204" charset="0"/>
              <a:ea typeface="Inter" panose="020B0604020202020204" charset="0"/>
            </a:endParaRPr>
          </a:p>
          <a:p>
            <a:pPr marL="285750" indent="-285750" algn="just" rtl="0">
              <a:spcBef>
                <a:spcPts val="130"/>
              </a:spcBef>
              <a:spcAft>
                <a:spcPts val="130"/>
              </a:spcAft>
              <a:buFont typeface="Arial" panose="020B0604020202020204" pitchFamily="34" charset="0"/>
              <a:buChar char="•"/>
            </a:pPr>
            <a:r>
              <a:rPr lang="en-US" b="0" i="0" u="sng" strike="noStrike" dirty="0">
                <a:solidFill>
                  <a:schemeClr val="tx1"/>
                </a:solidFill>
                <a:effectLst/>
                <a:latin typeface="Inter" panose="020B0604020202020204" charset="0"/>
                <a:ea typeface="Inter" panose="020B0604020202020204" charset="0"/>
              </a:rPr>
              <a:t>Hierarchical Pooling</a:t>
            </a:r>
            <a:r>
              <a:rPr lang="en-US" b="0" i="0" u="none" strike="noStrike" dirty="0">
                <a:solidFill>
                  <a:schemeClr val="tx1"/>
                </a:solidFill>
                <a:effectLst/>
                <a:latin typeface="Inter" panose="020B0604020202020204" charset="0"/>
                <a:ea typeface="Inter" panose="020B0604020202020204" charset="0"/>
              </a:rPr>
              <a:t>:  For graph-level tasks, hierarchical pooling methods (e.g., </a:t>
            </a:r>
            <a:r>
              <a:rPr lang="en-US" b="0" i="0" u="none" strike="noStrike" dirty="0" err="1">
                <a:solidFill>
                  <a:schemeClr val="tx1"/>
                </a:solidFill>
                <a:effectLst/>
                <a:latin typeface="Inter" panose="020B0604020202020204" charset="0"/>
                <a:ea typeface="Inter" panose="020B0604020202020204" charset="0"/>
              </a:rPr>
              <a:t>DiffPool</a:t>
            </a:r>
            <a:r>
              <a:rPr lang="en-US" b="0" i="0" u="none" strike="noStrike" dirty="0">
                <a:solidFill>
                  <a:schemeClr val="tx1"/>
                </a:solidFill>
                <a:effectLst/>
                <a:latin typeface="Inter" panose="020B0604020202020204" charset="0"/>
                <a:ea typeface="Inter" panose="020B0604020202020204" charset="0"/>
              </a:rPr>
              <a:t>) summarize graph structures into compact representations for downstream tasks. </a:t>
            </a:r>
            <a:endParaRPr lang="en-US" dirty="0">
              <a:solidFill>
                <a:schemeClr val="tx1"/>
              </a:solidFill>
              <a:latin typeface="Inter" panose="020B0604020202020204" charset="0"/>
              <a:ea typeface="Inter" panose="020B0604020202020204" charset="0"/>
            </a:endParaRPr>
          </a:p>
        </p:txBody>
      </p:sp>
      <p:sp>
        <p:nvSpPr>
          <p:cNvPr id="47" name="Google Shape;47;p2">
            <a:extLst>
              <a:ext uri="{FF2B5EF4-FFF2-40B4-BE49-F238E27FC236}">
                <a16:creationId xmlns:a16="http://schemas.microsoft.com/office/drawing/2014/main" id="{9A165A97-179F-B911-343A-77FF128EEC15}"/>
              </a:ext>
            </a:extLst>
          </p:cNvPr>
          <p:cNvSpPr/>
          <p:nvPr/>
        </p:nvSpPr>
        <p:spPr>
          <a:xfrm>
            <a:off x="6496616" y="2255086"/>
            <a:ext cx="88900" cy="3009900"/>
          </a:xfrm>
          <a:prstGeom prst="rect">
            <a:avLst/>
          </a:prstGeom>
          <a:solidFill>
            <a:srgbClr val="0073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ay"/>
              <a:ea typeface="Play"/>
              <a:cs typeface="Play"/>
              <a:sym typeface="Play"/>
            </a:endParaRPr>
          </a:p>
        </p:txBody>
      </p:sp>
      <p:pic>
        <p:nvPicPr>
          <p:cNvPr id="5" name="Picture 4">
            <a:extLst>
              <a:ext uri="{FF2B5EF4-FFF2-40B4-BE49-F238E27FC236}">
                <a16:creationId xmlns:a16="http://schemas.microsoft.com/office/drawing/2014/main" id="{5FF1E462-4E25-F39B-4A0E-45048440628E}"/>
              </a:ext>
            </a:extLst>
          </p:cNvPr>
          <p:cNvPicPr>
            <a:picLocks noChangeAspect="1"/>
          </p:cNvPicPr>
          <p:nvPr/>
        </p:nvPicPr>
        <p:blipFill>
          <a:blip r:embed="rId3"/>
          <a:stretch>
            <a:fillRect/>
          </a:stretch>
        </p:blipFill>
        <p:spPr>
          <a:xfrm>
            <a:off x="7823200" y="4101238"/>
            <a:ext cx="3436031" cy="1760752"/>
          </a:xfrm>
          <a:prstGeom prst="rect">
            <a:avLst/>
          </a:prstGeom>
        </p:spPr>
      </p:pic>
      <p:pic>
        <p:nvPicPr>
          <p:cNvPr id="7" name="Picture 2" descr="General Architecture of GNN models.">
            <a:extLst>
              <a:ext uri="{FF2B5EF4-FFF2-40B4-BE49-F238E27FC236}">
                <a16:creationId xmlns:a16="http://schemas.microsoft.com/office/drawing/2014/main" id="{C2E3E8C0-A2F6-6BAC-C230-8520471771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64400" y="820216"/>
            <a:ext cx="4109954" cy="2794769"/>
          </a:xfrm>
          <a:prstGeom prst="rect">
            <a:avLst/>
          </a:prstGeom>
          <a:noFill/>
          <a:extLst>
            <a:ext uri="{909E8E84-426E-40DD-AFC4-6F175D3DCCD1}">
              <a14:hiddenFill xmlns:a14="http://schemas.microsoft.com/office/drawing/2010/main">
                <a:solidFill>
                  <a:srgbClr val="FFFFFF"/>
                </a:solidFill>
              </a14:hiddenFill>
            </a:ext>
          </a:extLst>
        </p:spPr>
      </p:pic>
      <p:pic>
        <p:nvPicPr>
          <p:cNvPr id="8" name="Google Shape;11;p6">
            <a:extLst>
              <a:ext uri="{FF2B5EF4-FFF2-40B4-BE49-F238E27FC236}">
                <a16:creationId xmlns:a16="http://schemas.microsoft.com/office/drawing/2014/main" id="{BE10ED7F-792E-4BC6-AD20-25C263F88973}"/>
              </a:ext>
            </a:extLst>
          </p:cNvPr>
          <p:cNvPicPr preferRelativeResize="0"/>
          <p:nvPr/>
        </p:nvPicPr>
        <p:blipFill rotWithShape="1">
          <a:blip r:embed="rId5">
            <a:alphaModFix/>
          </a:blip>
          <a:srcRect/>
          <a:stretch/>
        </p:blipFill>
        <p:spPr>
          <a:xfrm>
            <a:off x="10859781" y="6332369"/>
            <a:ext cx="1256427" cy="534202"/>
          </a:xfrm>
          <a:prstGeom prst="rect">
            <a:avLst/>
          </a:prstGeom>
          <a:noFill/>
          <a:ln>
            <a:noFill/>
          </a:ln>
        </p:spPr>
      </p:pic>
      <p:sp>
        <p:nvSpPr>
          <p:cNvPr id="10" name="Google Shape;10;p6">
            <a:extLst>
              <a:ext uri="{FF2B5EF4-FFF2-40B4-BE49-F238E27FC236}">
                <a16:creationId xmlns:a16="http://schemas.microsoft.com/office/drawing/2014/main" id="{33F82CBB-4683-8EDC-C9B2-2DCD34271AB0}"/>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11" name="TextBox 10">
            <a:extLst>
              <a:ext uri="{FF2B5EF4-FFF2-40B4-BE49-F238E27FC236}">
                <a16:creationId xmlns:a16="http://schemas.microsoft.com/office/drawing/2014/main" id="{2C5E3865-CCDB-4D45-9D39-1A5CD033D378}"/>
              </a:ext>
            </a:extLst>
          </p:cNvPr>
          <p:cNvSpPr txBox="1"/>
          <p:nvPr/>
        </p:nvSpPr>
        <p:spPr>
          <a:xfrm>
            <a:off x="8120739" y="3636925"/>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Working/Architecture of the model</a:t>
            </a:r>
          </a:p>
        </p:txBody>
      </p:sp>
      <p:sp>
        <p:nvSpPr>
          <p:cNvPr id="12" name="TextBox 11">
            <a:extLst>
              <a:ext uri="{FF2B5EF4-FFF2-40B4-BE49-F238E27FC236}">
                <a16:creationId xmlns:a16="http://schemas.microsoft.com/office/drawing/2014/main" id="{F3CE07EE-FCD2-3EE8-01D4-F91AD07BD657}"/>
              </a:ext>
            </a:extLst>
          </p:cNvPr>
          <p:cNvSpPr txBox="1"/>
          <p:nvPr/>
        </p:nvSpPr>
        <p:spPr>
          <a:xfrm>
            <a:off x="8588376" y="5861990"/>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Equation of the model</a:t>
            </a:r>
          </a:p>
        </p:txBody>
      </p:sp>
    </p:spTree>
    <p:extLst>
      <p:ext uri="{BB962C8B-B14F-4D97-AF65-F5344CB8AC3E}">
        <p14:creationId xmlns:p14="http://schemas.microsoft.com/office/powerpoint/2010/main" val="1229179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91182F05-B337-C031-7396-3014B4D947D9}"/>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601DE75E-7911-8BDB-4E29-280196F36FBE}"/>
              </a:ext>
            </a:extLst>
          </p:cNvPr>
          <p:cNvSpPr txBox="1"/>
          <p:nvPr/>
        </p:nvSpPr>
        <p:spPr>
          <a:xfrm>
            <a:off x="307411" y="258530"/>
            <a:ext cx="8785789"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RESNET</a:t>
            </a:r>
            <a:r>
              <a:rPr lang="en-US" sz="2800" b="1" dirty="0">
                <a:solidFill>
                  <a:schemeClr val="dk1"/>
                </a:solidFill>
                <a:latin typeface="Inter"/>
                <a:ea typeface="Inter"/>
                <a:cs typeface="Inter"/>
                <a:sym typeface="Inter"/>
              </a:rPr>
              <a:t> </a:t>
            </a:r>
            <a:r>
              <a:rPr lang="en-US" sz="2800" b="1" dirty="0">
                <a:solidFill>
                  <a:srgbClr val="A58255"/>
                </a:solidFill>
                <a:latin typeface="Inter"/>
                <a:ea typeface="Inter"/>
                <a:cs typeface="Inter"/>
                <a:sym typeface="Inter"/>
              </a:rPr>
              <a:t>(RESIDUAL NETWORK)</a:t>
            </a:r>
            <a:endParaRPr sz="2800" dirty="0">
              <a:latin typeface="Inter"/>
              <a:ea typeface="Inter"/>
              <a:cs typeface="Inter"/>
              <a:sym typeface="Inter"/>
            </a:endParaRPr>
          </a:p>
        </p:txBody>
      </p:sp>
      <p:sp>
        <p:nvSpPr>
          <p:cNvPr id="47" name="Google Shape;47;p2">
            <a:extLst>
              <a:ext uri="{FF2B5EF4-FFF2-40B4-BE49-F238E27FC236}">
                <a16:creationId xmlns:a16="http://schemas.microsoft.com/office/drawing/2014/main" id="{1FDBCE09-ED16-E108-8794-A9967E88866B}"/>
              </a:ext>
            </a:extLst>
          </p:cNvPr>
          <p:cNvSpPr/>
          <p:nvPr/>
        </p:nvSpPr>
        <p:spPr>
          <a:xfrm>
            <a:off x="6112791" y="1926771"/>
            <a:ext cx="88197" cy="3004457"/>
          </a:xfrm>
          <a:prstGeom prst="rect">
            <a:avLst/>
          </a:prstGeom>
          <a:solidFill>
            <a:srgbClr val="0073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ay"/>
              <a:ea typeface="Play"/>
              <a:cs typeface="Play"/>
              <a:sym typeface="Play"/>
            </a:endParaRPr>
          </a:p>
        </p:txBody>
      </p:sp>
      <p:sp>
        <p:nvSpPr>
          <p:cNvPr id="6" name="Rectangle 3">
            <a:extLst>
              <a:ext uri="{FF2B5EF4-FFF2-40B4-BE49-F238E27FC236}">
                <a16:creationId xmlns:a16="http://schemas.microsoft.com/office/drawing/2014/main" id="{4A3BC489-6033-2FFE-6051-C95D81BAAC1B}"/>
              </a:ext>
            </a:extLst>
          </p:cNvPr>
          <p:cNvSpPr>
            <a:spLocks noChangeArrowheads="1"/>
          </p:cNvSpPr>
          <p:nvPr/>
        </p:nvSpPr>
        <p:spPr bwMode="auto">
          <a:xfrm>
            <a:off x="307411" y="1059889"/>
            <a:ext cx="5483789"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i="0" u="none" strike="noStrike" cap="none" normalizeH="0" baseline="0" dirty="0" err="1">
                <a:ln>
                  <a:noFill/>
                </a:ln>
                <a:solidFill>
                  <a:schemeClr val="tx1"/>
                </a:solidFill>
                <a:effectLst/>
                <a:latin typeface="Inter" panose="020B0604020202020204" charset="0"/>
                <a:ea typeface="Inter" panose="020B0604020202020204" charset="0"/>
              </a:rPr>
              <a:t>ResNet</a:t>
            </a:r>
            <a:r>
              <a:rPr kumimoji="0" lang="en-US" altLang="en-US" sz="1300" i="0" u="none" strike="noStrike" cap="none" normalizeH="0" baseline="0" dirty="0">
                <a:ln>
                  <a:noFill/>
                </a:ln>
                <a:solidFill>
                  <a:schemeClr val="tx1"/>
                </a:solidFill>
                <a:effectLst/>
                <a:latin typeface="Inter" panose="020B0604020202020204" charset="0"/>
                <a:ea typeface="Inter" panose="020B0604020202020204" charset="0"/>
              </a:rPr>
              <a:t> (Residual Network) </a:t>
            </a:r>
            <a:r>
              <a:rPr kumimoji="0" lang="en-US" altLang="en-US" sz="1300" b="0" i="0" u="none" strike="noStrike" cap="none" normalizeH="0" baseline="0" dirty="0">
                <a:ln>
                  <a:noFill/>
                </a:ln>
                <a:solidFill>
                  <a:schemeClr val="tx1"/>
                </a:solidFill>
                <a:effectLst/>
                <a:latin typeface="Inter" panose="020B0604020202020204" charset="0"/>
                <a:ea typeface="Inter" panose="020B0604020202020204" charset="0"/>
              </a:rPr>
              <a:t>is a deep learning model designed to address the vanishing gradient problem in deep neural networks by introducing residual connections. It is widely used for image recognition, object detection, and other computer vision tasks.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300" b="1" i="0" u="none" strike="noStrike" cap="none" normalizeH="0" baseline="0" dirty="0">
              <a:ln>
                <a:noFill/>
              </a:ln>
              <a:solidFill>
                <a:schemeClr val="tx1"/>
              </a:solidFill>
              <a:effectLst/>
              <a:latin typeface="Inter" panose="020B0604020202020204" charset="0"/>
              <a:ea typeface="Inter" panose="020B060402020202020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a:ln>
                  <a:noFill/>
                </a:ln>
                <a:solidFill>
                  <a:schemeClr val="tx1"/>
                </a:solidFill>
                <a:effectLst/>
                <a:latin typeface="Inter" panose="020B0604020202020204" charset="0"/>
                <a:ea typeface="Inter" panose="020B0604020202020204" charset="0"/>
              </a:rPr>
              <a:t>Architecture Highlights:</a:t>
            </a: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1300" i="0" u="sng" strike="noStrike" cap="none" normalizeH="0" baseline="0" dirty="0">
                <a:ln>
                  <a:noFill/>
                </a:ln>
                <a:solidFill>
                  <a:schemeClr val="tx1"/>
                </a:solidFill>
                <a:effectLst/>
                <a:latin typeface="Inter" panose="020B0604020202020204" charset="0"/>
                <a:ea typeface="Inter" panose="020B0604020202020204" charset="0"/>
              </a:rPr>
              <a:t>Residual Blocks: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latin typeface="Inter" panose="020B0604020202020204" charset="0"/>
                <a:ea typeface="Inter" panose="020B0604020202020204" charset="0"/>
              </a:rPr>
              <a:t>Each block includes shortcut connections that bypass one or more layers, directly adding the input to the output. </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latin typeface="Inter" panose="020B0604020202020204" charset="0"/>
                <a:ea typeface="Inter" panose="020B0604020202020204" charset="0"/>
              </a:rPr>
              <a:t>These connections help preserve information and make optimization easier. </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1300" i="0" u="sng" strike="noStrike" cap="none" normalizeH="0" baseline="0" dirty="0">
                <a:ln>
                  <a:noFill/>
                </a:ln>
                <a:solidFill>
                  <a:schemeClr val="tx1"/>
                </a:solidFill>
                <a:effectLst/>
                <a:latin typeface="Inter" panose="020B0604020202020204" charset="0"/>
                <a:ea typeface="Inter" panose="020B0604020202020204" charset="0"/>
              </a:rPr>
              <a:t>Deep Stacking:</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err="1">
                <a:ln>
                  <a:noFill/>
                </a:ln>
                <a:solidFill>
                  <a:schemeClr val="tx1"/>
                </a:solidFill>
                <a:effectLst/>
                <a:latin typeface="Inter" panose="020B0604020202020204" charset="0"/>
                <a:ea typeface="Inter" panose="020B0604020202020204" charset="0"/>
              </a:rPr>
              <a:t>ResNet</a:t>
            </a:r>
            <a:r>
              <a:rPr kumimoji="0" lang="en-US" altLang="en-US" sz="1300" b="0" i="0" u="none" strike="noStrike" cap="none" normalizeH="0" baseline="0" dirty="0">
                <a:ln>
                  <a:noFill/>
                </a:ln>
                <a:solidFill>
                  <a:schemeClr val="tx1"/>
                </a:solidFill>
                <a:effectLst/>
                <a:latin typeface="Inter" panose="020B0604020202020204" charset="0"/>
                <a:ea typeface="Inter" panose="020B0604020202020204" charset="0"/>
              </a:rPr>
              <a:t> allows stacking hundreds or even thousands of layers while maintaining efficient training and high accuracy. </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1300" i="0" u="sng" strike="noStrike" cap="none" normalizeH="0" baseline="0" dirty="0">
                <a:ln>
                  <a:noFill/>
                </a:ln>
                <a:solidFill>
                  <a:schemeClr val="tx1"/>
                </a:solidFill>
                <a:effectLst/>
                <a:latin typeface="Inter" panose="020B0604020202020204" charset="0"/>
                <a:ea typeface="Inter" panose="020B0604020202020204" charset="0"/>
              </a:rPr>
              <a:t>Convolutions: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latin typeface="Inter" panose="020B0604020202020204" charset="0"/>
                <a:ea typeface="Inter" panose="020B0604020202020204" charset="0"/>
              </a:rPr>
              <a:t>Uses convolutional layers to extract spatial features, followed by batch normalization and activation functions like </a:t>
            </a:r>
            <a:r>
              <a:rPr kumimoji="0" lang="en-US" altLang="en-US" sz="1300" b="0" i="0" u="none" strike="noStrike" cap="none" normalizeH="0" baseline="0" dirty="0" err="1">
                <a:ln>
                  <a:noFill/>
                </a:ln>
                <a:solidFill>
                  <a:schemeClr val="tx1"/>
                </a:solidFill>
                <a:effectLst/>
                <a:latin typeface="Inter" panose="020B0604020202020204" charset="0"/>
                <a:ea typeface="Inter" panose="020B0604020202020204" charset="0"/>
              </a:rPr>
              <a:t>ReLU</a:t>
            </a:r>
            <a:r>
              <a:rPr kumimoji="0" lang="en-US" altLang="en-US" sz="1300" b="0" i="0" u="none" strike="noStrike" cap="none" normalizeH="0" baseline="0" dirty="0">
                <a:ln>
                  <a:noFill/>
                </a:ln>
                <a:solidFill>
                  <a:schemeClr val="tx1"/>
                </a:solidFill>
                <a:effectLst/>
                <a:latin typeface="Inter" panose="020B0604020202020204" charset="0"/>
                <a:ea typeface="Inter" panose="020B0604020202020204" charset="0"/>
              </a:rPr>
              <a:t>.  </a:t>
            </a:r>
          </a:p>
          <a:p>
            <a:pPr marL="457200" marR="0" lvl="1" indent="0" algn="just" defTabSz="914400" rtl="0" eaLnBrk="0" fontAlgn="base" latinLnBrk="0" hangingPunct="0">
              <a:lnSpc>
                <a:spcPct val="100000"/>
              </a:lnSpc>
              <a:spcBef>
                <a:spcPct val="0"/>
              </a:spcBef>
              <a:spcAft>
                <a:spcPct val="0"/>
              </a:spcAft>
              <a:buClrTx/>
              <a:buSzTx/>
              <a:tabLst/>
            </a:pPr>
            <a:endParaRPr kumimoji="0" lang="en-US" altLang="en-US" sz="1300" b="0" i="0" u="none" strike="noStrike" cap="none" normalizeH="0" baseline="0" dirty="0">
              <a:ln>
                <a:noFill/>
              </a:ln>
              <a:solidFill>
                <a:schemeClr val="tx1"/>
              </a:solidFill>
              <a:effectLst/>
              <a:latin typeface="Inter" panose="020B0604020202020204" charset="0"/>
              <a:ea typeface="Inter" panose="020B060402020202020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chemeClr val="tx1"/>
                </a:solidFill>
                <a:effectLst/>
                <a:latin typeface="Inter" panose="020B0604020202020204" charset="0"/>
                <a:ea typeface="Inter" panose="020B0604020202020204" charset="0"/>
              </a:rPr>
              <a:t>The residual connections enable training of very deep networks, significantly improving performance while mitigating gradient-related issues.</a:t>
            </a:r>
          </a:p>
        </p:txBody>
      </p:sp>
      <p:pic>
        <p:nvPicPr>
          <p:cNvPr id="8" name="Picture 7">
            <a:extLst>
              <a:ext uri="{FF2B5EF4-FFF2-40B4-BE49-F238E27FC236}">
                <a16:creationId xmlns:a16="http://schemas.microsoft.com/office/drawing/2014/main" id="{22B77814-8598-77B1-5D15-E5F54CC7D9DB}"/>
              </a:ext>
            </a:extLst>
          </p:cNvPr>
          <p:cNvPicPr>
            <a:picLocks noChangeAspect="1"/>
          </p:cNvPicPr>
          <p:nvPr/>
        </p:nvPicPr>
        <p:blipFill>
          <a:blip r:embed="rId3"/>
          <a:stretch>
            <a:fillRect/>
          </a:stretch>
        </p:blipFill>
        <p:spPr>
          <a:xfrm>
            <a:off x="7551000" y="825081"/>
            <a:ext cx="3480703" cy="2203380"/>
          </a:xfrm>
          <a:prstGeom prst="rect">
            <a:avLst/>
          </a:prstGeom>
          <a:ln w="12700">
            <a:solidFill>
              <a:schemeClr val="tx1"/>
            </a:solidFill>
          </a:ln>
        </p:spPr>
      </p:pic>
      <p:pic>
        <p:nvPicPr>
          <p:cNvPr id="10" name="Picture 9">
            <a:extLst>
              <a:ext uri="{FF2B5EF4-FFF2-40B4-BE49-F238E27FC236}">
                <a16:creationId xmlns:a16="http://schemas.microsoft.com/office/drawing/2014/main" id="{FEEEE638-9B83-373D-AD5B-69E000F3D4B8}"/>
              </a:ext>
            </a:extLst>
          </p:cNvPr>
          <p:cNvPicPr>
            <a:picLocks noChangeAspect="1"/>
          </p:cNvPicPr>
          <p:nvPr/>
        </p:nvPicPr>
        <p:blipFill>
          <a:blip r:embed="rId4"/>
          <a:srcRect l="1421" r="1050"/>
          <a:stretch/>
        </p:blipFill>
        <p:spPr>
          <a:xfrm>
            <a:off x="6819697" y="3624599"/>
            <a:ext cx="4943311" cy="1828800"/>
          </a:xfrm>
          <a:prstGeom prst="rect">
            <a:avLst/>
          </a:prstGeom>
        </p:spPr>
      </p:pic>
      <p:pic>
        <p:nvPicPr>
          <p:cNvPr id="4" name="Google Shape;11;p6">
            <a:extLst>
              <a:ext uri="{FF2B5EF4-FFF2-40B4-BE49-F238E27FC236}">
                <a16:creationId xmlns:a16="http://schemas.microsoft.com/office/drawing/2014/main" id="{0E8D69C1-5210-CCAE-B6AD-B987BC39047F}"/>
              </a:ext>
            </a:extLst>
          </p:cNvPr>
          <p:cNvPicPr preferRelativeResize="0"/>
          <p:nvPr/>
        </p:nvPicPr>
        <p:blipFill rotWithShape="1">
          <a:blip r:embed="rId5">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76159196-A4ED-2EF7-CFD1-A29240A358E1}"/>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7" name="TextBox 6">
            <a:extLst>
              <a:ext uri="{FF2B5EF4-FFF2-40B4-BE49-F238E27FC236}">
                <a16:creationId xmlns:a16="http://schemas.microsoft.com/office/drawing/2014/main" id="{63F765AF-219C-54F2-5FF9-1986795CB74B}"/>
              </a:ext>
            </a:extLst>
          </p:cNvPr>
          <p:cNvSpPr txBox="1"/>
          <p:nvPr/>
        </p:nvSpPr>
        <p:spPr>
          <a:xfrm>
            <a:off x="7963953" y="3042715"/>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Working/Architecture of the model</a:t>
            </a:r>
          </a:p>
        </p:txBody>
      </p:sp>
      <p:sp>
        <p:nvSpPr>
          <p:cNvPr id="9" name="TextBox 8">
            <a:extLst>
              <a:ext uri="{FF2B5EF4-FFF2-40B4-BE49-F238E27FC236}">
                <a16:creationId xmlns:a16="http://schemas.microsoft.com/office/drawing/2014/main" id="{3F29B075-147D-0A0C-F311-9CD3972AEA1E}"/>
              </a:ext>
            </a:extLst>
          </p:cNvPr>
          <p:cNvSpPr txBox="1"/>
          <p:nvPr/>
        </p:nvSpPr>
        <p:spPr>
          <a:xfrm>
            <a:off x="8392945" y="5457372"/>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Equation of the model</a:t>
            </a:r>
          </a:p>
        </p:txBody>
      </p:sp>
    </p:spTree>
    <p:extLst>
      <p:ext uri="{BB962C8B-B14F-4D97-AF65-F5344CB8AC3E}">
        <p14:creationId xmlns:p14="http://schemas.microsoft.com/office/powerpoint/2010/main" val="3472619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48CC0475-B571-F145-80B7-8757A1FE3B36}"/>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0BD3A937-5A38-E0F0-A799-E09232F55BCF}"/>
              </a:ext>
            </a:extLst>
          </p:cNvPr>
          <p:cNvSpPr txBox="1"/>
          <p:nvPr/>
        </p:nvSpPr>
        <p:spPr>
          <a:xfrm>
            <a:off x="385363" y="297036"/>
            <a:ext cx="10873868"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TRANSFORMER</a:t>
            </a:r>
            <a:endParaRPr lang="en-US" sz="2800" dirty="0">
              <a:latin typeface="Inter"/>
              <a:ea typeface="Inter"/>
              <a:cs typeface="Inter"/>
              <a:sym typeface="Inter"/>
            </a:endParaRPr>
          </a:p>
        </p:txBody>
      </p:sp>
      <p:sp>
        <p:nvSpPr>
          <p:cNvPr id="46" name="Google Shape;46;p2">
            <a:extLst>
              <a:ext uri="{FF2B5EF4-FFF2-40B4-BE49-F238E27FC236}">
                <a16:creationId xmlns:a16="http://schemas.microsoft.com/office/drawing/2014/main" id="{52533B15-64E0-1D64-FFB1-5596C579A1EF}"/>
              </a:ext>
            </a:extLst>
          </p:cNvPr>
          <p:cNvSpPr txBox="1"/>
          <p:nvPr/>
        </p:nvSpPr>
        <p:spPr>
          <a:xfrm>
            <a:off x="431648" y="1029938"/>
            <a:ext cx="6693052" cy="3103373"/>
          </a:xfrm>
          <a:prstGeom prst="rect">
            <a:avLst/>
          </a:prstGeom>
          <a:noFill/>
          <a:ln>
            <a:noFill/>
          </a:ln>
        </p:spPr>
        <p:txBody>
          <a:bodyPr spcFirstLastPara="1" wrap="square" lIns="91425" tIns="45700" rIns="91425" bIns="45700" anchor="t" anchorCtr="0">
            <a:spAutoFit/>
          </a:bodyPr>
          <a:lstStyle/>
          <a:p>
            <a:pPr algn="just" rtl="0">
              <a:spcBef>
                <a:spcPts val="150"/>
              </a:spcBef>
              <a:spcAft>
                <a:spcPts val="150"/>
              </a:spcAft>
            </a:pPr>
            <a:r>
              <a:rPr lang="en-US" sz="1300" b="0" i="0" u="none" strike="noStrike" dirty="0">
                <a:solidFill>
                  <a:schemeClr val="tx1"/>
                </a:solidFill>
                <a:effectLst/>
                <a:latin typeface="Inter" panose="020B0604020202020204" charset="0"/>
                <a:ea typeface="Inter" panose="020B0604020202020204" charset="0"/>
              </a:rPr>
              <a:t>The Transformer is a deep learning model that uses self-attention to capture relationships in sequential data, enabling parallel processing and scalability. It is widely used for tasks like language modeling and time-series analysis. </a:t>
            </a:r>
          </a:p>
          <a:p>
            <a:pPr algn="just" rtl="0">
              <a:spcBef>
                <a:spcPts val="150"/>
              </a:spcBef>
              <a:spcAft>
                <a:spcPts val="150"/>
              </a:spcAft>
            </a:pPr>
            <a:endParaRPr lang="en-US" sz="1300" b="0" i="0" u="none" strike="noStrike" dirty="0">
              <a:solidFill>
                <a:schemeClr val="tx1"/>
              </a:solidFill>
              <a:effectLst/>
              <a:latin typeface="Inter" panose="020B0604020202020204" charset="0"/>
              <a:ea typeface="Inter" panose="020B0604020202020204" charset="0"/>
            </a:endParaRPr>
          </a:p>
          <a:p>
            <a:pPr algn="just" rtl="0">
              <a:spcBef>
                <a:spcPts val="150"/>
              </a:spcBef>
              <a:spcAft>
                <a:spcPts val="150"/>
              </a:spcAft>
            </a:pPr>
            <a:r>
              <a:rPr lang="en-US" sz="1300" b="1" i="0" u="none" strike="noStrike" dirty="0">
                <a:solidFill>
                  <a:schemeClr val="tx1"/>
                </a:solidFill>
                <a:effectLst/>
                <a:latin typeface="Inter" panose="020B0604020202020204" charset="0"/>
                <a:ea typeface="Inter" panose="020B0604020202020204" charset="0"/>
              </a:rPr>
              <a:t>Architecture Highlights:  </a:t>
            </a:r>
          </a:p>
          <a:p>
            <a:pPr marL="285750" indent="-285750" algn="just" rtl="0">
              <a:spcBef>
                <a:spcPts val="150"/>
              </a:spcBef>
              <a:spcAft>
                <a:spcPts val="150"/>
              </a:spcAft>
              <a:buFont typeface="Arial" panose="020B0604020202020204" pitchFamily="34" charset="0"/>
              <a:buChar char="•"/>
            </a:pPr>
            <a:r>
              <a:rPr lang="en-US" sz="1300" b="0" i="0" u="sng" strike="noStrike" dirty="0">
                <a:solidFill>
                  <a:schemeClr val="tx1"/>
                </a:solidFill>
                <a:effectLst/>
                <a:latin typeface="Inter" panose="020B0604020202020204" charset="0"/>
                <a:ea typeface="Inter" panose="020B0604020202020204" charset="0"/>
              </a:rPr>
              <a:t>Self-Attention</a:t>
            </a:r>
            <a:r>
              <a:rPr lang="en-US" sz="1300" b="0" i="0" u="none" strike="noStrike" dirty="0">
                <a:solidFill>
                  <a:schemeClr val="tx1"/>
                </a:solidFill>
                <a:effectLst/>
                <a:latin typeface="Inter" panose="020B0604020202020204" charset="0"/>
                <a:ea typeface="Inter" panose="020B0604020202020204" charset="0"/>
              </a:rPr>
              <a:t>: Focuses on relevant input elements, capturing global dependencies.  </a:t>
            </a:r>
          </a:p>
          <a:p>
            <a:pPr marL="285750" indent="-285750" algn="just" rtl="0">
              <a:spcBef>
                <a:spcPts val="150"/>
              </a:spcBef>
              <a:spcAft>
                <a:spcPts val="150"/>
              </a:spcAft>
              <a:buFont typeface="Arial" panose="020B0604020202020204" pitchFamily="34" charset="0"/>
              <a:buChar char="•"/>
            </a:pPr>
            <a:r>
              <a:rPr lang="en-US" sz="1300" b="0" i="0" u="sng" strike="noStrike" dirty="0">
                <a:solidFill>
                  <a:schemeClr val="tx1"/>
                </a:solidFill>
                <a:effectLst/>
                <a:latin typeface="Inter" panose="020B0604020202020204" charset="0"/>
                <a:ea typeface="Inter" panose="020B0604020202020204" charset="0"/>
              </a:rPr>
              <a:t>Positional Encoding</a:t>
            </a:r>
            <a:r>
              <a:rPr lang="en-US" sz="1300" b="0" i="0" u="none" strike="noStrike" dirty="0">
                <a:solidFill>
                  <a:schemeClr val="tx1"/>
                </a:solidFill>
                <a:effectLst/>
                <a:latin typeface="Inter" panose="020B0604020202020204" charset="0"/>
                <a:ea typeface="Inter" panose="020B0604020202020204" charset="0"/>
              </a:rPr>
              <a:t>: Adds sequence order information to embeddings.  </a:t>
            </a:r>
          </a:p>
          <a:p>
            <a:pPr marL="285750" indent="-285750" algn="just" rtl="0">
              <a:spcBef>
                <a:spcPts val="150"/>
              </a:spcBef>
              <a:spcAft>
                <a:spcPts val="150"/>
              </a:spcAft>
              <a:buFont typeface="Arial" panose="020B0604020202020204" pitchFamily="34" charset="0"/>
              <a:buChar char="•"/>
            </a:pPr>
            <a:r>
              <a:rPr lang="en-US" sz="1300" b="0" i="0" u="sng" strike="noStrike" dirty="0">
                <a:solidFill>
                  <a:schemeClr val="tx1"/>
                </a:solidFill>
                <a:effectLst/>
                <a:latin typeface="Inter" panose="020B0604020202020204" charset="0"/>
                <a:ea typeface="Inter" panose="020B0604020202020204" charset="0"/>
              </a:rPr>
              <a:t>Multi-Head Attention</a:t>
            </a:r>
            <a:r>
              <a:rPr lang="en-US" sz="1300" b="0" i="0" u="none" strike="noStrike" dirty="0">
                <a:solidFill>
                  <a:schemeClr val="tx1"/>
                </a:solidFill>
                <a:effectLst/>
                <a:latin typeface="Inter" panose="020B0604020202020204" charset="0"/>
                <a:ea typeface="Inter" panose="020B0604020202020204" charset="0"/>
              </a:rPr>
              <a:t>: Extracts diverse patterns through multiple attention mechanisms.  </a:t>
            </a:r>
          </a:p>
          <a:p>
            <a:pPr marL="285750" indent="-285750" algn="just" rtl="0">
              <a:spcBef>
                <a:spcPts val="150"/>
              </a:spcBef>
              <a:spcAft>
                <a:spcPts val="150"/>
              </a:spcAft>
              <a:buFont typeface="Arial" panose="020B0604020202020204" pitchFamily="34" charset="0"/>
              <a:buChar char="•"/>
            </a:pPr>
            <a:r>
              <a:rPr lang="en-US" sz="1300" b="0" i="0" u="sng" strike="noStrike" dirty="0">
                <a:solidFill>
                  <a:schemeClr val="tx1"/>
                </a:solidFill>
                <a:effectLst/>
                <a:latin typeface="Inter" panose="020B0604020202020204" charset="0"/>
                <a:ea typeface="Inter" panose="020B0604020202020204" charset="0"/>
              </a:rPr>
              <a:t>Feedforward Layers</a:t>
            </a:r>
            <a:r>
              <a:rPr lang="en-US" sz="1300" b="0" i="0" u="none" strike="noStrike" dirty="0">
                <a:solidFill>
                  <a:schemeClr val="tx1"/>
                </a:solidFill>
                <a:effectLst/>
                <a:latin typeface="Inter" panose="020B0604020202020204" charset="0"/>
                <a:ea typeface="Inter" panose="020B0604020202020204" charset="0"/>
              </a:rPr>
              <a:t>: Refines features with fully connected layers.</a:t>
            </a:r>
          </a:p>
          <a:p>
            <a:pPr marL="285750" indent="-285750" algn="just" rtl="0">
              <a:spcBef>
                <a:spcPts val="150"/>
              </a:spcBef>
              <a:spcAft>
                <a:spcPts val="150"/>
              </a:spcAft>
              <a:buFont typeface="Arial" panose="020B0604020202020204" pitchFamily="34" charset="0"/>
              <a:buChar char="•"/>
            </a:pPr>
            <a:r>
              <a:rPr lang="en-US" sz="1300" b="0" i="0" u="sng" strike="noStrike" dirty="0">
                <a:solidFill>
                  <a:schemeClr val="tx1"/>
                </a:solidFill>
                <a:effectLst/>
                <a:latin typeface="Inter" panose="020B0604020202020204" charset="0"/>
                <a:ea typeface="Inter" panose="020B0604020202020204" charset="0"/>
              </a:rPr>
              <a:t>Encoder-Decoder</a:t>
            </a:r>
            <a:r>
              <a:rPr lang="en-US" sz="1300" b="0" i="0" u="none" strike="noStrike" dirty="0">
                <a:solidFill>
                  <a:schemeClr val="tx1"/>
                </a:solidFill>
                <a:effectLst/>
                <a:latin typeface="Inter" panose="020B0604020202020204" charset="0"/>
                <a:ea typeface="Inter" panose="020B0604020202020204" charset="0"/>
              </a:rPr>
              <a:t>: Encodes input into context and decodes to generate output.</a:t>
            </a:r>
            <a:endParaRPr lang="en-US" sz="1300" dirty="0">
              <a:solidFill>
                <a:schemeClr val="tx1"/>
              </a:solidFill>
              <a:latin typeface="Inter" panose="020B0604020202020204" charset="0"/>
              <a:ea typeface="Inter" panose="020B0604020202020204" charset="0"/>
            </a:endParaRPr>
          </a:p>
        </p:txBody>
      </p:sp>
      <p:sp>
        <p:nvSpPr>
          <p:cNvPr id="47" name="Google Shape;47;p2">
            <a:extLst>
              <a:ext uri="{FF2B5EF4-FFF2-40B4-BE49-F238E27FC236}">
                <a16:creationId xmlns:a16="http://schemas.microsoft.com/office/drawing/2014/main" id="{CDAEA021-1DD5-2FDE-4C9A-AE029A71BE65}"/>
              </a:ext>
            </a:extLst>
          </p:cNvPr>
          <p:cNvSpPr/>
          <p:nvPr/>
        </p:nvSpPr>
        <p:spPr>
          <a:xfrm>
            <a:off x="7395688" y="2139074"/>
            <a:ext cx="88900" cy="3009900"/>
          </a:xfrm>
          <a:prstGeom prst="rect">
            <a:avLst/>
          </a:prstGeom>
          <a:solidFill>
            <a:srgbClr val="0073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ay"/>
              <a:ea typeface="Play"/>
              <a:cs typeface="Play"/>
              <a:sym typeface="Play"/>
            </a:endParaRPr>
          </a:p>
        </p:txBody>
      </p:sp>
      <p:pic>
        <p:nvPicPr>
          <p:cNvPr id="3076" name="Picture 4">
            <a:extLst>
              <a:ext uri="{FF2B5EF4-FFF2-40B4-BE49-F238E27FC236}">
                <a16:creationId xmlns:a16="http://schemas.microsoft.com/office/drawing/2014/main" id="{D91FA77D-DF22-9B4C-6537-E9F36CE9FF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2710" y="820216"/>
            <a:ext cx="3507509" cy="494047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C474550-1287-676A-C57A-9F140A3AA74E}"/>
              </a:ext>
            </a:extLst>
          </p:cNvPr>
          <p:cNvPicPr>
            <a:picLocks noChangeAspect="1"/>
          </p:cNvPicPr>
          <p:nvPr/>
        </p:nvPicPr>
        <p:blipFill>
          <a:blip r:embed="rId4"/>
          <a:stretch>
            <a:fillRect/>
          </a:stretch>
        </p:blipFill>
        <p:spPr>
          <a:xfrm>
            <a:off x="2005525" y="4343033"/>
            <a:ext cx="3712120" cy="1643264"/>
          </a:xfrm>
          <a:prstGeom prst="rect">
            <a:avLst/>
          </a:prstGeom>
        </p:spPr>
      </p:pic>
      <p:pic>
        <p:nvPicPr>
          <p:cNvPr id="7" name="Google Shape;11;p6">
            <a:extLst>
              <a:ext uri="{FF2B5EF4-FFF2-40B4-BE49-F238E27FC236}">
                <a16:creationId xmlns:a16="http://schemas.microsoft.com/office/drawing/2014/main" id="{FF2C549A-3A80-1301-8F67-4C92504F9AF0}"/>
              </a:ext>
            </a:extLst>
          </p:cNvPr>
          <p:cNvPicPr preferRelativeResize="0"/>
          <p:nvPr/>
        </p:nvPicPr>
        <p:blipFill rotWithShape="1">
          <a:blip r:embed="rId5">
            <a:alphaModFix/>
          </a:blip>
          <a:srcRect/>
          <a:stretch/>
        </p:blipFill>
        <p:spPr>
          <a:xfrm>
            <a:off x="10859781" y="6332369"/>
            <a:ext cx="1256427" cy="534202"/>
          </a:xfrm>
          <a:prstGeom prst="rect">
            <a:avLst/>
          </a:prstGeom>
          <a:noFill/>
          <a:ln>
            <a:noFill/>
          </a:ln>
        </p:spPr>
      </p:pic>
      <p:sp>
        <p:nvSpPr>
          <p:cNvPr id="8" name="Google Shape;10;p6">
            <a:extLst>
              <a:ext uri="{FF2B5EF4-FFF2-40B4-BE49-F238E27FC236}">
                <a16:creationId xmlns:a16="http://schemas.microsoft.com/office/drawing/2014/main" id="{B2CCCE14-BA95-A352-6173-FEAB44A553B6}"/>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9" name="TextBox 8">
            <a:extLst>
              <a:ext uri="{FF2B5EF4-FFF2-40B4-BE49-F238E27FC236}">
                <a16:creationId xmlns:a16="http://schemas.microsoft.com/office/drawing/2014/main" id="{A06C8443-29C0-2C1B-3632-3FC61EB93DA2}"/>
              </a:ext>
            </a:extLst>
          </p:cNvPr>
          <p:cNvSpPr txBox="1"/>
          <p:nvPr/>
        </p:nvSpPr>
        <p:spPr>
          <a:xfrm>
            <a:off x="8629174" y="5760690"/>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Working/Architecture of the model</a:t>
            </a:r>
          </a:p>
        </p:txBody>
      </p:sp>
      <p:sp>
        <p:nvSpPr>
          <p:cNvPr id="10" name="TextBox 9">
            <a:extLst>
              <a:ext uri="{FF2B5EF4-FFF2-40B4-BE49-F238E27FC236}">
                <a16:creationId xmlns:a16="http://schemas.microsoft.com/office/drawing/2014/main" id="{BEFA8FE4-9096-60B1-4F6F-7D8AC7FB58FD}"/>
              </a:ext>
            </a:extLst>
          </p:cNvPr>
          <p:cNvSpPr txBox="1"/>
          <p:nvPr/>
        </p:nvSpPr>
        <p:spPr>
          <a:xfrm>
            <a:off x="2890280" y="5986297"/>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Equation of the model</a:t>
            </a:r>
          </a:p>
        </p:txBody>
      </p:sp>
    </p:spTree>
    <p:extLst>
      <p:ext uri="{BB962C8B-B14F-4D97-AF65-F5344CB8AC3E}">
        <p14:creationId xmlns:p14="http://schemas.microsoft.com/office/powerpoint/2010/main" val="1601895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A090A378-2F65-52A8-9815-0F3CC1C627C2}"/>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B3B700D6-2EC3-3C12-C0C3-12CE76B366B3}"/>
              </a:ext>
            </a:extLst>
          </p:cNvPr>
          <p:cNvSpPr txBox="1"/>
          <p:nvPr/>
        </p:nvSpPr>
        <p:spPr>
          <a:xfrm>
            <a:off x="434411" y="393989"/>
            <a:ext cx="47898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DEEP</a:t>
            </a:r>
            <a:r>
              <a:rPr lang="en-US" sz="2800" b="1" dirty="0">
                <a:solidFill>
                  <a:srgbClr val="A58255"/>
                </a:solidFill>
                <a:latin typeface="Inter"/>
                <a:ea typeface="Inter"/>
                <a:cs typeface="Inter"/>
                <a:sym typeface="Inter"/>
              </a:rPr>
              <a:t>AR</a:t>
            </a:r>
            <a:endParaRPr sz="2800" dirty="0">
              <a:latin typeface="Inter"/>
              <a:ea typeface="Inter"/>
              <a:cs typeface="Inter"/>
              <a:sym typeface="Inter"/>
            </a:endParaRPr>
          </a:p>
        </p:txBody>
      </p:sp>
      <p:sp>
        <p:nvSpPr>
          <p:cNvPr id="47" name="Google Shape;47;p2">
            <a:extLst>
              <a:ext uri="{FF2B5EF4-FFF2-40B4-BE49-F238E27FC236}">
                <a16:creationId xmlns:a16="http://schemas.microsoft.com/office/drawing/2014/main" id="{7C911864-4AB6-D7BA-1301-95B4EFA65C8F}"/>
              </a:ext>
            </a:extLst>
          </p:cNvPr>
          <p:cNvSpPr/>
          <p:nvPr/>
        </p:nvSpPr>
        <p:spPr>
          <a:xfrm>
            <a:off x="5638493" y="1926769"/>
            <a:ext cx="126297" cy="3004457"/>
          </a:xfrm>
          <a:prstGeom prst="rect">
            <a:avLst/>
          </a:prstGeom>
          <a:solidFill>
            <a:srgbClr val="0073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ay"/>
              <a:ea typeface="Play"/>
              <a:cs typeface="Play"/>
              <a:sym typeface="Play"/>
            </a:endParaRPr>
          </a:p>
        </p:txBody>
      </p:sp>
      <p:sp>
        <p:nvSpPr>
          <p:cNvPr id="5" name="Rectangle 2">
            <a:extLst>
              <a:ext uri="{FF2B5EF4-FFF2-40B4-BE49-F238E27FC236}">
                <a16:creationId xmlns:a16="http://schemas.microsoft.com/office/drawing/2014/main" id="{0D929DBE-DD57-D8B2-704C-091AF8FD08DE}"/>
              </a:ext>
            </a:extLst>
          </p:cNvPr>
          <p:cNvSpPr>
            <a:spLocks noChangeArrowheads="1"/>
          </p:cNvSpPr>
          <p:nvPr/>
        </p:nvSpPr>
        <p:spPr bwMode="auto">
          <a:xfrm>
            <a:off x="434411" y="1282258"/>
            <a:ext cx="4950389" cy="4293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en-US" altLang="en-US" sz="1300" i="0" u="none" strike="noStrike" cap="none" normalizeH="0" baseline="0" dirty="0" err="1">
                <a:ln>
                  <a:noFill/>
                </a:ln>
                <a:solidFill>
                  <a:schemeClr val="tx1"/>
                </a:solidFill>
                <a:effectLst/>
                <a:latin typeface="Inter" panose="020B0604020202020204" charset="0"/>
                <a:ea typeface="Inter" panose="020B0604020202020204" charset="0"/>
              </a:rPr>
              <a:t>DeepAR</a:t>
            </a:r>
            <a:r>
              <a:rPr kumimoji="0" lang="en-US" altLang="en-US" sz="1300" b="0" i="0" u="none" strike="noStrike" cap="none" normalizeH="0" baseline="0" dirty="0">
                <a:ln>
                  <a:noFill/>
                </a:ln>
                <a:solidFill>
                  <a:schemeClr val="tx1"/>
                </a:solidFill>
                <a:effectLst/>
                <a:latin typeface="Inter" panose="020B0604020202020204" charset="0"/>
                <a:ea typeface="Inter" panose="020B0604020202020204" charset="0"/>
              </a:rPr>
              <a:t> is a probabilistic forecasting model which leverages autoregressive recurrent neural networks (RNNs), specifically using LSTM or GRU units, to predict the probability distribution of future values based on historical data. </a:t>
            </a:r>
          </a:p>
          <a:p>
            <a:pPr marL="0" marR="0" lvl="0" indent="0" algn="l" defTabSz="914400" rtl="0" eaLnBrk="0" fontAlgn="base" latinLnBrk="0" hangingPunct="0">
              <a:spcBef>
                <a:spcPct val="0"/>
              </a:spcBef>
              <a:spcAft>
                <a:spcPct val="0"/>
              </a:spcAft>
              <a:buClrTx/>
              <a:buSzTx/>
              <a:buFontTx/>
              <a:buNone/>
              <a:tabLst/>
            </a:pPr>
            <a:endParaRPr lang="en-US" altLang="en-US" sz="1300" dirty="0">
              <a:solidFill>
                <a:schemeClr val="tx1"/>
              </a:solidFill>
              <a:latin typeface="Inter" panose="020B0604020202020204" charset="0"/>
              <a:ea typeface="Inter" panose="020B0604020202020204" charset="0"/>
            </a:endParaRPr>
          </a:p>
          <a:p>
            <a:pPr marL="0" marR="0" lvl="0" indent="0" algn="l" defTabSz="914400" rtl="0" eaLnBrk="0" fontAlgn="base" latinLnBrk="0" hangingPunct="0">
              <a:spcBef>
                <a:spcPct val="0"/>
              </a:spcBef>
              <a:spcAft>
                <a:spcPct val="0"/>
              </a:spcAft>
              <a:buClrTx/>
              <a:buSzTx/>
              <a:buFontTx/>
              <a:buNone/>
              <a:tabLst/>
            </a:pPr>
            <a:r>
              <a:rPr kumimoji="0" lang="en-US" altLang="en-US" sz="1300" b="1" i="0" u="none" strike="noStrike" cap="none" normalizeH="0" baseline="0" dirty="0">
                <a:ln>
                  <a:noFill/>
                </a:ln>
                <a:solidFill>
                  <a:schemeClr val="tx1"/>
                </a:solidFill>
                <a:effectLst/>
                <a:latin typeface="Inter" panose="020B0604020202020204" charset="0"/>
                <a:ea typeface="Inter" panose="020B0604020202020204" charset="0"/>
              </a:rPr>
              <a:t>Architecture Highlights:</a:t>
            </a:r>
          </a:p>
          <a:p>
            <a:pPr marL="0" marR="0" lvl="0" indent="0" algn="l" defTabSz="914400" rtl="0" eaLnBrk="0" fontAlgn="base" latinLnBrk="0" hangingPunct="0">
              <a:spcBef>
                <a:spcPct val="0"/>
              </a:spcBef>
              <a:spcAft>
                <a:spcPct val="0"/>
              </a:spcAft>
              <a:buClrTx/>
              <a:buSzTx/>
              <a:buFontTx/>
              <a:buAutoNum type="arabicPeriod"/>
              <a:tabLst/>
            </a:pPr>
            <a:r>
              <a:rPr kumimoji="0" lang="en-US" altLang="en-US" sz="1300" i="0" u="sng" strike="noStrike" cap="none" normalizeH="0" baseline="0" dirty="0">
                <a:ln>
                  <a:noFill/>
                </a:ln>
                <a:solidFill>
                  <a:schemeClr val="tx1"/>
                </a:solidFill>
                <a:effectLst/>
                <a:latin typeface="Inter" panose="020B0604020202020204" charset="0"/>
                <a:ea typeface="Inter" panose="020B0604020202020204" charset="0"/>
              </a:rPr>
              <a:t>Autoregressive Framework:</a:t>
            </a:r>
          </a:p>
          <a:p>
            <a:pPr marL="457200" marR="0" lvl="1" indent="0" algn="l" defTabSz="914400" rtl="0" eaLnBrk="0" fontAlgn="base" latinLnBrk="0" hangingPunct="0">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latin typeface="Inter" panose="020B0604020202020204" charset="0"/>
                <a:ea typeface="Inter" panose="020B0604020202020204" charset="0"/>
              </a:rPr>
              <a:t>Predicts the next time step conditioned on past observations and its own previous predictions, allowing sequential forecasting.</a:t>
            </a:r>
            <a:endParaRPr lang="en-US" altLang="en-US" sz="1300" dirty="0">
              <a:solidFill>
                <a:schemeClr val="tx1"/>
              </a:solidFill>
              <a:latin typeface="Inter" panose="020B0604020202020204" charset="0"/>
              <a:ea typeface="Inter" panose="020B0604020202020204" charset="0"/>
            </a:endParaRPr>
          </a:p>
          <a:p>
            <a:pPr marL="457200" marR="0" lvl="1" indent="0" algn="l" defTabSz="914400" rtl="0" eaLnBrk="0" fontAlgn="base" latinLnBrk="0" hangingPunct="0">
              <a:spcBef>
                <a:spcPct val="0"/>
              </a:spcBef>
              <a:spcAft>
                <a:spcPct val="0"/>
              </a:spcAft>
              <a:buClrTx/>
              <a:buSzTx/>
              <a:tabLst/>
            </a:pPr>
            <a:r>
              <a:rPr kumimoji="0" lang="en-US" altLang="en-US" sz="1300" b="0" i="0" u="none" strike="noStrike" cap="none" normalizeH="0" baseline="0" dirty="0">
                <a:ln>
                  <a:noFill/>
                </a:ln>
                <a:solidFill>
                  <a:schemeClr val="tx1"/>
                </a:solidFill>
                <a:effectLst/>
                <a:latin typeface="Inter" panose="020B0604020202020204" charset="0"/>
                <a:ea typeface="Inter" panose="020B0604020202020204" charset="0"/>
              </a:rPr>
              <a:t> </a:t>
            </a:r>
          </a:p>
          <a:p>
            <a:pPr marL="0" marR="0" lvl="0" indent="0" algn="l" defTabSz="914400" rtl="0" eaLnBrk="0" fontAlgn="base" latinLnBrk="0" hangingPunct="0">
              <a:spcBef>
                <a:spcPct val="0"/>
              </a:spcBef>
              <a:spcAft>
                <a:spcPct val="0"/>
              </a:spcAft>
              <a:buClrTx/>
              <a:buSzTx/>
              <a:buFontTx/>
              <a:buAutoNum type="arabicPeriod" startAt="2"/>
              <a:tabLst/>
            </a:pPr>
            <a:r>
              <a:rPr kumimoji="0" lang="en-US" altLang="en-US" sz="1300" i="0" u="sng" strike="noStrike" cap="none" normalizeH="0" baseline="0" dirty="0">
                <a:ln>
                  <a:noFill/>
                </a:ln>
                <a:solidFill>
                  <a:schemeClr val="tx1"/>
                </a:solidFill>
                <a:effectLst/>
                <a:latin typeface="Inter" panose="020B0604020202020204" charset="0"/>
                <a:ea typeface="Inter" panose="020B0604020202020204" charset="0"/>
              </a:rPr>
              <a:t>Recurrent Neural Networks (RNNs):</a:t>
            </a:r>
          </a:p>
          <a:p>
            <a:pPr marL="457200" marR="0" lvl="1" indent="0" algn="l" defTabSz="914400" rtl="0" eaLnBrk="0" fontAlgn="base" latinLnBrk="0" hangingPunct="0">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latin typeface="Inter" panose="020B0604020202020204" charset="0"/>
                <a:ea typeface="Inter" panose="020B0604020202020204" charset="0"/>
              </a:rPr>
              <a:t>Uses LSTM or GRU layers to capture long-term dependencies and temporal patterns in the data. </a:t>
            </a:r>
          </a:p>
          <a:p>
            <a:pPr marL="457200" marR="0" lvl="1" indent="0" algn="l" defTabSz="914400" rtl="0" eaLnBrk="0" fontAlgn="base" latinLnBrk="0" hangingPunct="0">
              <a:spcBef>
                <a:spcPct val="0"/>
              </a:spcBef>
              <a:spcAft>
                <a:spcPct val="0"/>
              </a:spcAft>
              <a:buClrTx/>
              <a:buSzTx/>
              <a:tabLst/>
            </a:pPr>
            <a:endParaRPr kumimoji="0" lang="en-US" altLang="en-US" sz="1300" b="0" i="0" u="none" strike="noStrike" cap="none" normalizeH="0" baseline="0" dirty="0">
              <a:ln>
                <a:noFill/>
              </a:ln>
              <a:solidFill>
                <a:schemeClr val="tx1"/>
              </a:solidFill>
              <a:effectLst/>
              <a:latin typeface="Inter" panose="020B0604020202020204" charset="0"/>
              <a:ea typeface="Inter" panose="020B0604020202020204" charset="0"/>
            </a:endParaRPr>
          </a:p>
          <a:p>
            <a:pPr marL="0" marR="0" lvl="0" indent="0" algn="l" defTabSz="914400" rtl="0" eaLnBrk="0" fontAlgn="base" latinLnBrk="0" hangingPunct="0">
              <a:spcBef>
                <a:spcPct val="0"/>
              </a:spcBef>
              <a:spcAft>
                <a:spcPct val="0"/>
              </a:spcAft>
              <a:buClrTx/>
              <a:buSzTx/>
              <a:buFontTx/>
              <a:buAutoNum type="arabicPeriod" startAt="3"/>
              <a:tabLst/>
            </a:pPr>
            <a:r>
              <a:rPr kumimoji="0" lang="en-US" altLang="en-US" sz="1300" i="0" u="sng" strike="noStrike" cap="none" normalizeH="0" baseline="0" dirty="0">
                <a:ln>
                  <a:noFill/>
                </a:ln>
                <a:solidFill>
                  <a:schemeClr val="tx1"/>
                </a:solidFill>
                <a:effectLst/>
                <a:latin typeface="Inter" panose="020B0604020202020204" charset="0"/>
                <a:ea typeface="Inter" panose="020B0604020202020204" charset="0"/>
              </a:rPr>
              <a:t>Probabilistic Outputs:</a:t>
            </a:r>
          </a:p>
          <a:p>
            <a:pPr marL="457200" marR="0" lvl="1" indent="0" algn="l" defTabSz="914400" rtl="0" eaLnBrk="0" fontAlgn="base" latinLnBrk="0" hangingPunct="0">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latin typeface="Inter" panose="020B0604020202020204" charset="0"/>
                <a:ea typeface="Inter" panose="020B0604020202020204" charset="0"/>
              </a:rPr>
              <a:t>Instead of point predictions, </a:t>
            </a:r>
            <a:r>
              <a:rPr kumimoji="0" lang="en-US" altLang="en-US" sz="1300" b="0" i="0" u="none" strike="noStrike" cap="none" normalizeH="0" baseline="0" dirty="0" err="1">
                <a:ln>
                  <a:noFill/>
                </a:ln>
                <a:solidFill>
                  <a:schemeClr val="tx1"/>
                </a:solidFill>
                <a:effectLst/>
                <a:latin typeface="Inter" panose="020B0604020202020204" charset="0"/>
                <a:ea typeface="Inter" panose="020B0604020202020204" charset="0"/>
              </a:rPr>
              <a:t>DeepAR</a:t>
            </a:r>
            <a:r>
              <a:rPr kumimoji="0" lang="en-US" altLang="en-US" sz="1300" b="0" i="0" u="none" strike="noStrike" cap="none" normalizeH="0" baseline="0" dirty="0">
                <a:ln>
                  <a:noFill/>
                </a:ln>
                <a:solidFill>
                  <a:schemeClr val="tx1"/>
                </a:solidFill>
                <a:effectLst/>
                <a:latin typeface="Inter" panose="020B0604020202020204" charset="0"/>
                <a:ea typeface="Inter" panose="020B0604020202020204" charset="0"/>
              </a:rPr>
              <a:t> models the distribution of future values (e.g., Gaussian or negative binomial), enabling uncertainty quantification. </a:t>
            </a:r>
          </a:p>
        </p:txBody>
      </p:sp>
      <p:pic>
        <p:nvPicPr>
          <p:cNvPr id="7" name="Picture 6">
            <a:extLst>
              <a:ext uri="{FF2B5EF4-FFF2-40B4-BE49-F238E27FC236}">
                <a16:creationId xmlns:a16="http://schemas.microsoft.com/office/drawing/2014/main" id="{31F7344E-AED1-FA49-8F15-5DAF3CE64480}"/>
              </a:ext>
            </a:extLst>
          </p:cNvPr>
          <p:cNvPicPr>
            <a:picLocks noChangeAspect="1"/>
          </p:cNvPicPr>
          <p:nvPr/>
        </p:nvPicPr>
        <p:blipFill>
          <a:blip r:embed="rId3"/>
          <a:srcRect l="50000" b="7165"/>
          <a:stretch/>
        </p:blipFill>
        <p:spPr>
          <a:xfrm>
            <a:off x="7303105" y="769879"/>
            <a:ext cx="3390899" cy="2036907"/>
          </a:xfrm>
          <a:prstGeom prst="rect">
            <a:avLst/>
          </a:prstGeom>
        </p:spPr>
      </p:pic>
      <p:pic>
        <p:nvPicPr>
          <p:cNvPr id="11" name="Picture 10">
            <a:extLst>
              <a:ext uri="{FF2B5EF4-FFF2-40B4-BE49-F238E27FC236}">
                <a16:creationId xmlns:a16="http://schemas.microsoft.com/office/drawing/2014/main" id="{553590B8-E83C-B6A0-2713-E97C7432A3FF}"/>
              </a:ext>
            </a:extLst>
          </p:cNvPr>
          <p:cNvPicPr>
            <a:picLocks noChangeAspect="1"/>
          </p:cNvPicPr>
          <p:nvPr/>
        </p:nvPicPr>
        <p:blipFill>
          <a:blip r:embed="rId4"/>
          <a:stretch>
            <a:fillRect/>
          </a:stretch>
        </p:blipFill>
        <p:spPr>
          <a:xfrm>
            <a:off x="6427211" y="3428998"/>
            <a:ext cx="5142686" cy="2036907"/>
          </a:xfrm>
          <a:prstGeom prst="rect">
            <a:avLst/>
          </a:prstGeom>
        </p:spPr>
      </p:pic>
      <p:pic>
        <p:nvPicPr>
          <p:cNvPr id="4" name="Google Shape;11;p6">
            <a:extLst>
              <a:ext uri="{FF2B5EF4-FFF2-40B4-BE49-F238E27FC236}">
                <a16:creationId xmlns:a16="http://schemas.microsoft.com/office/drawing/2014/main" id="{1EA4E328-B89B-B7A1-B234-790D65C7711C}"/>
              </a:ext>
            </a:extLst>
          </p:cNvPr>
          <p:cNvPicPr preferRelativeResize="0"/>
          <p:nvPr/>
        </p:nvPicPr>
        <p:blipFill rotWithShape="1">
          <a:blip r:embed="rId5">
            <a:alphaModFix/>
          </a:blip>
          <a:srcRect/>
          <a:stretch/>
        </p:blipFill>
        <p:spPr>
          <a:xfrm>
            <a:off x="10859781" y="6332369"/>
            <a:ext cx="1256427" cy="534202"/>
          </a:xfrm>
          <a:prstGeom prst="rect">
            <a:avLst/>
          </a:prstGeom>
          <a:noFill/>
          <a:ln>
            <a:noFill/>
          </a:ln>
        </p:spPr>
      </p:pic>
      <p:sp>
        <p:nvSpPr>
          <p:cNvPr id="6" name="Google Shape;10;p6">
            <a:extLst>
              <a:ext uri="{FF2B5EF4-FFF2-40B4-BE49-F238E27FC236}">
                <a16:creationId xmlns:a16="http://schemas.microsoft.com/office/drawing/2014/main" id="{E98FF264-5F84-557D-7DAD-5AE49C35848C}"/>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8" name="TextBox 7">
            <a:extLst>
              <a:ext uri="{FF2B5EF4-FFF2-40B4-BE49-F238E27FC236}">
                <a16:creationId xmlns:a16="http://schemas.microsoft.com/office/drawing/2014/main" id="{E4DCFA1D-8C4D-A918-6193-9E3F3AA0C9FA}"/>
              </a:ext>
            </a:extLst>
          </p:cNvPr>
          <p:cNvSpPr txBox="1"/>
          <p:nvPr/>
        </p:nvSpPr>
        <p:spPr>
          <a:xfrm>
            <a:off x="7688939" y="2870686"/>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Working/Architecture of the model</a:t>
            </a:r>
          </a:p>
        </p:txBody>
      </p:sp>
      <p:sp>
        <p:nvSpPr>
          <p:cNvPr id="9" name="TextBox 8">
            <a:extLst>
              <a:ext uri="{FF2B5EF4-FFF2-40B4-BE49-F238E27FC236}">
                <a16:creationId xmlns:a16="http://schemas.microsoft.com/office/drawing/2014/main" id="{51BD0E62-6220-CF5E-FB05-1ABD274EA73E}"/>
              </a:ext>
            </a:extLst>
          </p:cNvPr>
          <p:cNvSpPr txBox="1"/>
          <p:nvPr/>
        </p:nvSpPr>
        <p:spPr>
          <a:xfrm>
            <a:off x="7958534" y="5465905"/>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Equation of the model</a:t>
            </a:r>
          </a:p>
        </p:txBody>
      </p:sp>
    </p:spTree>
    <p:extLst>
      <p:ext uri="{BB962C8B-B14F-4D97-AF65-F5344CB8AC3E}">
        <p14:creationId xmlns:p14="http://schemas.microsoft.com/office/powerpoint/2010/main" val="981903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C71A926E-9A0A-6348-1443-657F777770A1}"/>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B72873CD-5E08-B1E9-974B-16CCAF51C5FF}"/>
              </a:ext>
            </a:extLst>
          </p:cNvPr>
          <p:cNvSpPr txBox="1"/>
          <p:nvPr/>
        </p:nvSpPr>
        <p:spPr>
          <a:xfrm>
            <a:off x="434410" y="320085"/>
            <a:ext cx="14003247"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TIMESNET </a:t>
            </a:r>
            <a:endParaRPr sz="2800" dirty="0">
              <a:latin typeface="Inter"/>
              <a:ea typeface="Inter"/>
              <a:cs typeface="Inter"/>
              <a:sym typeface="Inter"/>
            </a:endParaRPr>
          </a:p>
        </p:txBody>
      </p:sp>
      <p:sp>
        <p:nvSpPr>
          <p:cNvPr id="47" name="Google Shape;47;p2">
            <a:extLst>
              <a:ext uri="{FF2B5EF4-FFF2-40B4-BE49-F238E27FC236}">
                <a16:creationId xmlns:a16="http://schemas.microsoft.com/office/drawing/2014/main" id="{CF8BD3D9-3E66-A62D-382D-A07E06F90423}"/>
              </a:ext>
            </a:extLst>
          </p:cNvPr>
          <p:cNvSpPr/>
          <p:nvPr/>
        </p:nvSpPr>
        <p:spPr>
          <a:xfrm>
            <a:off x="6144995" y="1605422"/>
            <a:ext cx="85413" cy="3004457"/>
          </a:xfrm>
          <a:prstGeom prst="rect">
            <a:avLst/>
          </a:prstGeom>
          <a:solidFill>
            <a:srgbClr val="0073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ay"/>
              <a:ea typeface="Play"/>
              <a:cs typeface="Play"/>
              <a:sym typeface="Play"/>
            </a:endParaRPr>
          </a:p>
        </p:txBody>
      </p:sp>
      <p:sp>
        <p:nvSpPr>
          <p:cNvPr id="6" name="Rectangle 3">
            <a:extLst>
              <a:ext uri="{FF2B5EF4-FFF2-40B4-BE49-F238E27FC236}">
                <a16:creationId xmlns:a16="http://schemas.microsoft.com/office/drawing/2014/main" id="{15D5F8AE-66DA-517D-A1F1-A18E592978B3}"/>
              </a:ext>
            </a:extLst>
          </p:cNvPr>
          <p:cNvSpPr>
            <a:spLocks noChangeArrowheads="1"/>
          </p:cNvSpPr>
          <p:nvPr/>
        </p:nvSpPr>
        <p:spPr bwMode="auto">
          <a:xfrm>
            <a:off x="434410" y="1230214"/>
            <a:ext cx="5112691"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Inter" panose="020B0604020202020204" charset="0"/>
                <a:ea typeface="Inter" panose="020B0604020202020204" charset="0"/>
              </a:rPr>
              <a:t>TimesNet</a:t>
            </a:r>
            <a:r>
              <a:rPr lang="en-US" altLang="en-US" dirty="0">
                <a:solidFill>
                  <a:schemeClr val="tx1"/>
                </a:solidFill>
                <a:latin typeface="Inter" panose="020B0604020202020204" charset="0"/>
                <a:ea typeface="Inter" panose="020B0604020202020204" charset="0"/>
              </a:rPr>
              <a:t> (Temporal Inception Multi-Period Embedding Network)</a:t>
            </a: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 leverages a combination of CNNs, which effectively handle 2D or multivariate data, and temporal variation analysis to identify complex patterns that other models might overlook.</a:t>
            </a:r>
          </a:p>
          <a:p>
            <a:pPr marL="0" marR="0" lvl="0" indent="0" algn="just" defTabSz="914400" rtl="0" eaLnBrk="0" fontAlgn="base" latinLnBrk="0" hangingPunct="0">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Inter" panose="020B0604020202020204" charset="0"/>
              <a:ea typeface="Inter" panose="020B0604020202020204" charset="0"/>
            </a:endParaRP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The </a:t>
            </a:r>
            <a:r>
              <a:rPr kumimoji="0" lang="en-US" altLang="en-US" i="0" u="sng" strike="noStrike" cap="none" normalizeH="0" baseline="0" dirty="0" err="1">
                <a:ln>
                  <a:noFill/>
                </a:ln>
                <a:solidFill>
                  <a:schemeClr val="tx1"/>
                </a:solidFill>
                <a:effectLst/>
                <a:latin typeface="Inter" panose="020B0604020202020204" charset="0"/>
                <a:ea typeface="Inter" panose="020B0604020202020204" charset="0"/>
              </a:rPr>
              <a:t>TimesBlock</a:t>
            </a: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 is the core component of </a:t>
            </a:r>
            <a:r>
              <a:rPr kumimoji="0" lang="en-US" altLang="en-US" b="0" i="0" u="none" strike="noStrike" cap="none" normalizeH="0" baseline="0" dirty="0" err="1">
                <a:ln>
                  <a:noFill/>
                </a:ln>
                <a:solidFill>
                  <a:schemeClr val="tx1"/>
                </a:solidFill>
                <a:effectLst/>
                <a:latin typeface="Inter" panose="020B0604020202020204" charset="0"/>
                <a:ea typeface="Inter" panose="020B0604020202020204" charset="0"/>
              </a:rPr>
              <a:t>TimesNet</a:t>
            </a: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 designed to capture multi-periodicity and complex temporal variations.</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It reshapes 1D time series into 2D tensors </a:t>
            </a:r>
            <a:r>
              <a:rPr kumimoji="0" lang="en-US" altLang="en-US" i="0" u="sng" strike="noStrike" cap="none" normalizeH="0" baseline="0" dirty="0">
                <a:ln>
                  <a:noFill/>
                </a:ln>
                <a:solidFill>
                  <a:schemeClr val="tx1"/>
                </a:solidFill>
                <a:effectLst/>
                <a:latin typeface="Inter" panose="020B0604020202020204" charset="0"/>
                <a:ea typeface="Inter" panose="020B0604020202020204" charset="0"/>
              </a:rPr>
              <a:t>using FFT </a:t>
            </a: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to identify periods, separating </a:t>
            </a:r>
            <a:r>
              <a:rPr kumimoji="0" lang="en-US" altLang="en-US" b="0" i="0" u="none" strike="noStrike" cap="none" normalizeH="0" baseline="0" dirty="0" err="1">
                <a:ln>
                  <a:noFill/>
                </a:ln>
                <a:solidFill>
                  <a:schemeClr val="tx1"/>
                </a:solidFill>
                <a:effectLst/>
                <a:latin typeface="Inter" panose="020B0604020202020204" charset="0"/>
                <a:ea typeface="Inter" panose="020B0604020202020204" charset="0"/>
              </a:rPr>
              <a:t>interperiod</a:t>
            </a: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 and </a:t>
            </a:r>
            <a:r>
              <a:rPr kumimoji="0" lang="en-US" altLang="en-US" b="0" i="0" u="none" strike="noStrike" cap="none" normalizeH="0" baseline="0" dirty="0" err="1">
                <a:ln>
                  <a:noFill/>
                </a:ln>
                <a:solidFill>
                  <a:schemeClr val="tx1"/>
                </a:solidFill>
                <a:effectLst/>
                <a:latin typeface="Inter" panose="020B0604020202020204" charset="0"/>
                <a:ea typeface="Inter" panose="020B0604020202020204" charset="0"/>
              </a:rPr>
              <a:t>intraperiod</a:t>
            </a: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 variations into rows and columns, respectively. </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The architecture incorporates </a:t>
            </a:r>
            <a:r>
              <a:rPr kumimoji="0" lang="en-US" altLang="en-US" i="0" u="sng" strike="noStrike" cap="none" normalizeH="0" baseline="0" dirty="0">
                <a:ln>
                  <a:noFill/>
                </a:ln>
                <a:solidFill>
                  <a:schemeClr val="tx1"/>
                </a:solidFill>
                <a:effectLst/>
                <a:latin typeface="Inter" panose="020B0604020202020204" charset="0"/>
                <a:ea typeface="Inter" panose="020B0604020202020204" charset="0"/>
              </a:rPr>
              <a:t>inception blocks</a:t>
            </a:r>
            <a:r>
              <a:rPr kumimoji="0" lang="en-US" altLang="en-US" b="0" i="0" u="none" strike="noStrike" cap="none" normalizeH="0" baseline="0" dirty="0">
                <a:ln>
                  <a:noFill/>
                </a:ln>
                <a:solidFill>
                  <a:schemeClr val="tx1"/>
                </a:solidFill>
                <a:effectLst/>
                <a:latin typeface="Inter" panose="020B0604020202020204" charset="0"/>
                <a:ea typeface="Inter" panose="020B0604020202020204" charset="0"/>
              </a:rPr>
              <a:t>, which efficiently process these 2D tensors to extract intricate patterns and enhance representation capability for diverse time-series tasks.</a:t>
            </a:r>
          </a:p>
        </p:txBody>
      </p:sp>
      <p:pic>
        <p:nvPicPr>
          <p:cNvPr id="10" name="Picture 9">
            <a:extLst>
              <a:ext uri="{FF2B5EF4-FFF2-40B4-BE49-F238E27FC236}">
                <a16:creationId xmlns:a16="http://schemas.microsoft.com/office/drawing/2014/main" id="{9A2F74C0-0578-3C41-D12E-E137D3E482A1}"/>
              </a:ext>
            </a:extLst>
          </p:cNvPr>
          <p:cNvPicPr>
            <a:picLocks noChangeAspect="1"/>
          </p:cNvPicPr>
          <p:nvPr/>
        </p:nvPicPr>
        <p:blipFill>
          <a:blip r:embed="rId3"/>
          <a:srcRect t="6819"/>
          <a:stretch/>
        </p:blipFill>
        <p:spPr>
          <a:xfrm>
            <a:off x="7303055" y="620389"/>
            <a:ext cx="3635376" cy="1964623"/>
          </a:xfrm>
          <a:prstGeom prst="rect">
            <a:avLst/>
          </a:prstGeom>
        </p:spPr>
      </p:pic>
      <p:pic>
        <p:nvPicPr>
          <p:cNvPr id="12" name="Picture 11">
            <a:extLst>
              <a:ext uri="{FF2B5EF4-FFF2-40B4-BE49-F238E27FC236}">
                <a16:creationId xmlns:a16="http://schemas.microsoft.com/office/drawing/2014/main" id="{9AF85842-6E7B-32D7-6AC3-70CEE1CF14BD}"/>
              </a:ext>
            </a:extLst>
          </p:cNvPr>
          <p:cNvPicPr>
            <a:picLocks noChangeAspect="1"/>
          </p:cNvPicPr>
          <p:nvPr/>
        </p:nvPicPr>
        <p:blipFill>
          <a:blip r:embed="rId4"/>
          <a:stretch>
            <a:fillRect/>
          </a:stretch>
        </p:blipFill>
        <p:spPr>
          <a:xfrm>
            <a:off x="6999129" y="2885316"/>
            <a:ext cx="4243229" cy="2939187"/>
          </a:xfrm>
          <a:prstGeom prst="rect">
            <a:avLst/>
          </a:prstGeom>
        </p:spPr>
      </p:pic>
      <p:pic>
        <p:nvPicPr>
          <p:cNvPr id="4" name="Google Shape;11;p6">
            <a:extLst>
              <a:ext uri="{FF2B5EF4-FFF2-40B4-BE49-F238E27FC236}">
                <a16:creationId xmlns:a16="http://schemas.microsoft.com/office/drawing/2014/main" id="{A99123AC-6AA1-31D2-A84B-AD8D9BFEB7E7}"/>
              </a:ext>
            </a:extLst>
          </p:cNvPr>
          <p:cNvPicPr preferRelativeResize="0"/>
          <p:nvPr/>
        </p:nvPicPr>
        <p:blipFill rotWithShape="1">
          <a:blip r:embed="rId5">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78E1F0FD-D19A-C1FF-75C3-37E2048A8083}"/>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7" name="TextBox 6">
            <a:extLst>
              <a:ext uri="{FF2B5EF4-FFF2-40B4-BE49-F238E27FC236}">
                <a16:creationId xmlns:a16="http://schemas.microsoft.com/office/drawing/2014/main" id="{9FFEAF17-2C79-4D04-98C2-27900F3DD008}"/>
              </a:ext>
            </a:extLst>
          </p:cNvPr>
          <p:cNvSpPr txBox="1"/>
          <p:nvPr/>
        </p:nvSpPr>
        <p:spPr>
          <a:xfrm>
            <a:off x="7803239" y="2585012"/>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Working/Architecture of the model</a:t>
            </a:r>
          </a:p>
        </p:txBody>
      </p:sp>
      <p:sp>
        <p:nvSpPr>
          <p:cNvPr id="8" name="TextBox 7">
            <a:extLst>
              <a:ext uri="{FF2B5EF4-FFF2-40B4-BE49-F238E27FC236}">
                <a16:creationId xmlns:a16="http://schemas.microsoft.com/office/drawing/2014/main" id="{8B7A7AA6-45F4-5384-168C-57C87F6A84CA}"/>
              </a:ext>
            </a:extLst>
          </p:cNvPr>
          <p:cNvSpPr txBox="1"/>
          <p:nvPr/>
        </p:nvSpPr>
        <p:spPr>
          <a:xfrm>
            <a:off x="8016876" y="5832214"/>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Equation of the model</a:t>
            </a:r>
          </a:p>
        </p:txBody>
      </p:sp>
    </p:spTree>
    <p:extLst>
      <p:ext uri="{BB962C8B-B14F-4D97-AF65-F5344CB8AC3E}">
        <p14:creationId xmlns:p14="http://schemas.microsoft.com/office/powerpoint/2010/main" val="2101870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8C346486-51F3-2F0E-CBDE-0A5422B7CF35}"/>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E69743D7-D620-42AA-41C0-3A11008B2998}"/>
              </a:ext>
            </a:extLst>
          </p:cNvPr>
          <p:cNvSpPr txBox="1"/>
          <p:nvPr/>
        </p:nvSpPr>
        <p:spPr>
          <a:xfrm>
            <a:off x="434411" y="303011"/>
            <a:ext cx="749897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CNN 3D</a:t>
            </a:r>
            <a:r>
              <a:rPr lang="en-US" sz="2800" b="1" dirty="0">
                <a:solidFill>
                  <a:schemeClr val="dk1"/>
                </a:solidFill>
                <a:latin typeface="Inter"/>
                <a:ea typeface="Inter"/>
                <a:cs typeface="Inter"/>
                <a:sym typeface="Inter"/>
              </a:rPr>
              <a:t> </a:t>
            </a:r>
            <a:r>
              <a:rPr lang="en-US" sz="2800" b="1" dirty="0">
                <a:solidFill>
                  <a:srgbClr val="A58255"/>
                </a:solidFill>
                <a:latin typeface="Inter"/>
                <a:ea typeface="Inter"/>
                <a:cs typeface="Inter"/>
                <a:sym typeface="Inter"/>
              </a:rPr>
              <a:t>+ </a:t>
            </a:r>
            <a:r>
              <a:rPr lang="en-US" sz="2800" b="1" dirty="0">
                <a:solidFill>
                  <a:srgbClr val="007367"/>
                </a:solidFill>
                <a:latin typeface="Inter"/>
                <a:ea typeface="Inter"/>
                <a:cs typeface="Inter"/>
                <a:sym typeface="Inter"/>
              </a:rPr>
              <a:t>TIMESNET</a:t>
            </a:r>
            <a:r>
              <a:rPr lang="en-US" sz="2800" b="1" dirty="0">
                <a:solidFill>
                  <a:srgbClr val="A58255"/>
                </a:solidFill>
                <a:latin typeface="Inter"/>
                <a:ea typeface="Inter"/>
                <a:cs typeface="Inter"/>
                <a:sym typeface="Inter"/>
              </a:rPr>
              <a:t> </a:t>
            </a:r>
            <a:endParaRPr sz="2800" dirty="0">
              <a:latin typeface="Inter"/>
              <a:ea typeface="Inter"/>
              <a:cs typeface="Inter"/>
              <a:sym typeface="Inter"/>
            </a:endParaRPr>
          </a:p>
        </p:txBody>
      </p:sp>
      <p:sp>
        <p:nvSpPr>
          <p:cNvPr id="46" name="Google Shape;46;p2">
            <a:extLst>
              <a:ext uri="{FF2B5EF4-FFF2-40B4-BE49-F238E27FC236}">
                <a16:creationId xmlns:a16="http://schemas.microsoft.com/office/drawing/2014/main" id="{D2144033-BEC2-6625-464F-6EF400BB6C87}"/>
              </a:ext>
            </a:extLst>
          </p:cNvPr>
          <p:cNvSpPr txBox="1"/>
          <p:nvPr/>
        </p:nvSpPr>
        <p:spPr>
          <a:xfrm>
            <a:off x="434411" y="1165999"/>
            <a:ext cx="5802698" cy="4077999"/>
          </a:xfrm>
          <a:prstGeom prst="rect">
            <a:avLst/>
          </a:prstGeom>
          <a:noFill/>
          <a:ln>
            <a:noFill/>
          </a:ln>
        </p:spPr>
        <p:txBody>
          <a:bodyPr spcFirstLastPara="1" wrap="square" lIns="91425" tIns="45700" rIns="91425" bIns="45700" anchor="t" anchorCtr="0">
            <a:spAutoFit/>
          </a:bodyPr>
          <a:lstStyle/>
          <a:p>
            <a:pPr algn="just">
              <a:buFont typeface="+mj-lt"/>
              <a:buAutoNum type="arabicPeriod"/>
            </a:pPr>
            <a:r>
              <a:rPr lang="en-US" u="sng" dirty="0">
                <a:latin typeface="Inter" panose="020B0604020202020204" charset="0"/>
                <a:ea typeface="Inter" panose="020B0604020202020204" charset="0"/>
              </a:rPr>
              <a:t>CNN 3D:</a:t>
            </a:r>
          </a:p>
          <a:p>
            <a:pPr marL="742950" lvl="1" indent="-285750" algn="just">
              <a:buFont typeface="+mj-lt"/>
              <a:buAutoNum type="arabicPeriod"/>
            </a:pPr>
            <a:r>
              <a:rPr lang="en-US" dirty="0">
                <a:latin typeface="Inter" panose="020B0604020202020204" charset="0"/>
                <a:ea typeface="Inter" panose="020B0604020202020204" charset="0"/>
              </a:rPr>
              <a:t>Extracts spatiotemporal patterns (e.g., trends and fluctuations over time) from the reshaped 3D input.</a:t>
            </a:r>
          </a:p>
          <a:p>
            <a:pPr marL="742950" lvl="1" indent="-285750" algn="just">
              <a:buFont typeface="+mj-lt"/>
              <a:buAutoNum type="arabicPeriod"/>
            </a:pPr>
            <a:r>
              <a:rPr lang="en-US" dirty="0">
                <a:latin typeface="Inter" panose="020B0604020202020204" charset="0"/>
                <a:ea typeface="Inter" panose="020B0604020202020204" charset="0"/>
              </a:rPr>
              <a:t>Focuses on capturing how features evolve over time.</a:t>
            </a:r>
          </a:p>
          <a:p>
            <a:pPr algn="just">
              <a:buFont typeface="+mj-lt"/>
              <a:buAutoNum type="arabicPeriod"/>
            </a:pPr>
            <a:r>
              <a:rPr lang="en-US" u="sng" dirty="0" err="1">
                <a:latin typeface="Inter" panose="020B0604020202020204" charset="0"/>
                <a:ea typeface="Inter" panose="020B0604020202020204" charset="0"/>
              </a:rPr>
              <a:t>TimesNet</a:t>
            </a:r>
            <a:r>
              <a:rPr lang="en-US" u="sng" dirty="0">
                <a:latin typeface="Inter" panose="020B0604020202020204" charset="0"/>
                <a:ea typeface="Inter" panose="020B0604020202020204" charset="0"/>
              </a:rPr>
              <a:t>:</a:t>
            </a:r>
          </a:p>
          <a:p>
            <a:pPr marL="742950" lvl="1" indent="-285750" algn="just">
              <a:buFont typeface="+mj-lt"/>
              <a:buAutoNum type="arabicPeriod"/>
            </a:pPr>
            <a:r>
              <a:rPr lang="en-US" dirty="0">
                <a:latin typeface="Inter" panose="020B0604020202020204" charset="0"/>
                <a:ea typeface="Inter" panose="020B0604020202020204" charset="0"/>
              </a:rPr>
              <a:t>Learns feature-specific relationships and dependencies directly from the original data.</a:t>
            </a:r>
          </a:p>
          <a:p>
            <a:pPr marL="742950" lvl="1" indent="-285750" algn="just">
              <a:buFont typeface="+mj-lt"/>
              <a:buAutoNum type="arabicPeriod"/>
            </a:pPr>
            <a:r>
              <a:rPr lang="en-US" dirty="0">
                <a:latin typeface="Inter" panose="020B0604020202020204" charset="0"/>
                <a:ea typeface="Inter" panose="020B0604020202020204" charset="0"/>
              </a:rPr>
              <a:t>Focuses on capturing relationships between features at specific time points.</a:t>
            </a:r>
          </a:p>
          <a:p>
            <a:pPr algn="just">
              <a:buFont typeface="+mj-lt"/>
              <a:buAutoNum type="arabicPeriod"/>
            </a:pPr>
            <a:r>
              <a:rPr lang="en-US" u="sng" dirty="0">
                <a:latin typeface="Inter" panose="020B0604020202020204" charset="0"/>
                <a:ea typeface="Inter" panose="020B0604020202020204" charset="0"/>
              </a:rPr>
              <a:t>Integration:</a:t>
            </a:r>
          </a:p>
          <a:p>
            <a:pPr marL="742950" lvl="1" indent="-285750" algn="just">
              <a:buFont typeface="+mj-lt"/>
              <a:buAutoNum type="arabicPeriod"/>
            </a:pPr>
            <a:r>
              <a:rPr lang="en-US" dirty="0">
                <a:latin typeface="Inter" panose="020B0604020202020204" charset="0"/>
                <a:ea typeface="Inter" panose="020B0604020202020204" charset="0"/>
              </a:rPr>
              <a:t>The outputs of CNN 3D and </a:t>
            </a:r>
            <a:r>
              <a:rPr lang="en-US" dirty="0" err="1">
                <a:latin typeface="Inter" panose="020B0604020202020204" charset="0"/>
                <a:ea typeface="Inter" panose="020B0604020202020204" charset="0"/>
              </a:rPr>
              <a:t>TimesNet</a:t>
            </a:r>
            <a:r>
              <a:rPr lang="en-US" dirty="0">
                <a:latin typeface="Inter" panose="020B0604020202020204" charset="0"/>
                <a:ea typeface="Inter" panose="020B0604020202020204" charset="0"/>
              </a:rPr>
              <a:t> are merged, allowing the model to leverage both spatial-temporal dynamics and feature-specific interactions.</a:t>
            </a:r>
          </a:p>
          <a:p>
            <a:pPr algn="just">
              <a:buFont typeface="+mj-lt"/>
              <a:buAutoNum type="arabicPeriod"/>
            </a:pPr>
            <a:r>
              <a:rPr lang="en-US" u="sng" dirty="0">
                <a:latin typeface="Inter" panose="020B0604020202020204" charset="0"/>
                <a:ea typeface="Inter" panose="020B0604020202020204" charset="0"/>
              </a:rPr>
              <a:t>Final Prediction:</a:t>
            </a:r>
          </a:p>
          <a:p>
            <a:pPr marL="742950" lvl="1" indent="-285750" algn="just">
              <a:buFont typeface="+mj-lt"/>
              <a:buAutoNum type="arabicPeriod"/>
            </a:pPr>
            <a:r>
              <a:rPr lang="en-US" dirty="0">
                <a:latin typeface="Inter" panose="020B0604020202020204" charset="0"/>
                <a:ea typeface="Inter" panose="020B0604020202020204" charset="0"/>
              </a:rPr>
              <a:t>A fully connected network processes the combined features to produce the target variable (e.g., closing price).</a:t>
            </a:r>
          </a:p>
          <a:p>
            <a:pPr marL="0" marR="0" lvl="0" indent="0" algn="just" rtl="0">
              <a:lnSpc>
                <a:spcPct val="150000"/>
              </a:lnSpc>
              <a:spcBef>
                <a:spcPts val="0"/>
              </a:spcBef>
              <a:spcAft>
                <a:spcPts val="0"/>
              </a:spcAft>
              <a:buNone/>
            </a:pPr>
            <a:endParaRPr dirty="0">
              <a:latin typeface="Inter" panose="020B0604020202020204" charset="0"/>
              <a:ea typeface="Inter" panose="020B0604020202020204" charset="0"/>
              <a:cs typeface="Inter"/>
              <a:sym typeface="Inter"/>
            </a:endParaRPr>
          </a:p>
        </p:txBody>
      </p:sp>
      <p:sp>
        <p:nvSpPr>
          <p:cNvPr id="47" name="Google Shape;47;p2">
            <a:extLst>
              <a:ext uri="{FF2B5EF4-FFF2-40B4-BE49-F238E27FC236}">
                <a16:creationId xmlns:a16="http://schemas.microsoft.com/office/drawing/2014/main" id="{A9BB39F4-5316-5932-4393-6AC209ADD672}"/>
              </a:ext>
            </a:extLst>
          </p:cNvPr>
          <p:cNvSpPr/>
          <p:nvPr/>
        </p:nvSpPr>
        <p:spPr>
          <a:xfrm>
            <a:off x="6755540" y="1725236"/>
            <a:ext cx="88197" cy="3004457"/>
          </a:xfrm>
          <a:prstGeom prst="rect">
            <a:avLst/>
          </a:prstGeom>
          <a:solidFill>
            <a:srgbClr val="0073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ay"/>
              <a:ea typeface="Play"/>
              <a:cs typeface="Play"/>
              <a:sym typeface="Play"/>
            </a:endParaRPr>
          </a:p>
        </p:txBody>
      </p:sp>
      <p:pic>
        <p:nvPicPr>
          <p:cNvPr id="7" name="Picture 6">
            <a:extLst>
              <a:ext uri="{FF2B5EF4-FFF2-40B4-BE49-F238E27FC236}">
                <a16:creationId xmlns:a16="http://schemas.microsoft.com/office/drawing/2014/main" id="{FF731481-D6F5-5D97-7665-DD1BF488E629}"/>
              </a:ext>
            </a:extLst>
          </p:cNvPr>
          <p:cNvPicPr>
            <a:picLocks noChangeAspect="1"/>
          </p:cNvPicPr>
          <p:nvPr/>
        </p:nvPicPr>
        <p:blipFill>
          <a:blip r:embed="rId3"/>
          <a:stretch>
            <a:fillRect/>
          </a:stretch>
        </p:blipFill>
        <p:spPr>
          <a:xfrm>
            <a:off x="7362168" y="564601"/>
            <a:ext cx="3489965" cy="5325728"/>
          </a:xfrm>
          <a:prstGeom prst="rect">
            <a:avLst/>
          </a:prstGeom>
        </p:spPr>
      </p:pic>
      <p:pic>
        <p:nvPicPr>
          <p:cNvPr id="4" name="Google Shape;11;p6">
            <a:extLst>
              <a:ext uri="{FF2B5EF4-FFF2-40B4-BE49-F238E27FC236}">
                <a16:creationId xmlns:a16="http://schemas.microsoft.com/office/drawing/2014/main" id="{34046F46-683F-6C72-28F5-5B9EA34D33EC}"/>
              </a:ext>
            </a:extLst>
          </p:cNvPr>
          <p:cNvPicPr preferRelativeResize="0"/>
          <p:nvPr/>
        </p:nvPicPr>
        <p:blipFill rotWithShape="1">
          <a:blip r:embed="rId4">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E51015C9-645D-E3C2-E58B-66443561032A}"/>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6" name="TextBox 5">
            <a:extLst>
              <a:ext uri="{FF2B5EF4-FFF2-40B4-BE49-F238E27FC236}">
                <a16:creationId xmlns:a16="http://schemas.microsoft.com/office/drawing/2014/main" id="{FA7E7928-FBAA-1441-1C50-B0D120D091CC}"/>
              </a:ext>
            </a:extLst>
          </p:cNvPr>
          <p:cNvSpPr txBox="1"/>
          <p:nvPr/>
        </p:nvSpPr>
        <p:spPr>
          <a:xfrm>
            <a:off x="7688939" y="5905698"/>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Working/Architecture of the model</a:t>
            </a:r>
          </a:p>
        </p:txBody>
      </p:sp>
    </p:spTree>
    <p:extLst>
      <p:ext uri="{BB962C8B-B14F-4D97-AF65-F5344CB8AC3E}">
        <p14:creationId xmlns:p14="http://schemas.microsoft.com/office/powerpoint/2010/main" val="1696748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5D174A58-0A16-7FC7-3A24-39D92EC82FCE}"/>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F8119797-6E0F-5BD6-2B52-0CE258E7155D}"/>
              </a:ext>
            </a:extLst>
          </p:cNvPr>
          <p:cNvSpPr txBox="1"/>
          <p:nvPr/>
        </p:nvSpPr>
        <p:spPr>
          <a:xfrm>
            <a:off x="434411" y="303011"/>
            <a:ext cx="749897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GRU</a:t>
            </a:r>
            <a:r>
              <a:rPr lang="en-US" sz="2800" b="1" dirty="0">
                <a:solidFill>
                  <a:schemeClr val="dk1"/>
                </a:solidFill>
                <a:latin typeface="Inter"/>
                <a:ea typeface="Inter"/>
                <a:cs typeface="Inter"/>
                <a:sym typeface="Inter"/>
              </a:rPr>
              <a:t> </a:t>
            </a:r>
            <a:r>
              <a:rPr lang="en-US" sz="2800" b="1" dirty="0">
                <a:solidFill>
                  <a:srgbClr val="A58255"/>
                </a:solidFill>
                <a:latin typeface="Inter"/>
                <a:ea typeface="Inter"/>
                <a:cs typeface="Inter"/>
                <a:sym typeface="Inter"/>
              </a:rPr>
              <a:t>+ </a:t>
            </a:r>
            <a:r>
              <a:rPr lang="en-US" sz="2800" b="1" dirty="0">
                <a:solidFill>
                  <a:srgbClr val="007367"/>
                </a:solidFill>
                <a:latin typeface="Inter"/>
                <a:ea typeface="Inter"/>
                <a:cs typeface="Inter"/>
                <a:sym typeface="Inter"/>
              </a:rPr>
              <a:t>TIMESNET</a:t>
            </a:r>
            <a:r>
              <a:rPr lang="en-US" sz="2800" b="1" dirty="0">
                <a:solidFill>
                  <a:srgbClr val="A58255"/>
                </a:solidFill>
                <a:latin typeface="Inter"/>
                <a:ea typeface="Inter"/>
                <a:cs typeface="Inter"/>
                <a:sym typeface="Inter"/>
              </a:rPr>
              <a:t> </a:t>
            </a:r>
            <a:endParaRPr sz="2800" dirty="0">
              <a:latin typeface="Inter"/>
              <a:ea typeface="Inter"/>
              <a:cs typeface="Inter"/>
              <a:sym typeface="Inter"/>
            </a:endParaRPr>
          </a:p>
        </p:txBody>
      </p:sp>
      <p:sp>
        <p:nvSpPr>
          <p:cNvPr id="46" name="Google Shape;46;p2">
            <a:extLst>
              <a:ext uri="{FF2B5EF4-FFF2-40B4-BE49-F238E27FC236}">
                <a16:creationId xmlns:a16="http://schemas.microsoft.com/office/drawing/2014/main" id="{B4355CB0-FC6F-E85F-F0D2-C4B6BBE558E5}"/>
              </a:ext>
            </a:extLst>
          </p:cNvPr>
          <p:cNvSpPr txBox="1"/>
          <p:nvPr/>
        </p:nvSpPr>
        <p:spPr>
          <a:xfrm>
            <a:off x="434410" y="1165999"/>
            <a:ext cx="5573393" cy="4401164"/>
          </a:xfrm>
          <a:prstGeom prst="rect">
            <a:avLst/>
          </a:prstGeom>
          <a:noFill/>
          <a:ln>
            <a:noFill/>
          </a:ln>
        </p:spPr>
        <p:txBody>
          <a:bodyPr spcFirstLastPara="1" wrap="square" lIns="91425" tIns="45700" rIns="91425" bIns="45700" anchor="t" anchorCtr="0">
            <a:spAutoFit/>
          </a:bodyPr>
          <a:lstStyle/>
          <a:p>
            <a:endParaRPr lang="en-US" dirty="0">
              <a:latin typeface="Inter" panose="020B0604020202020204" charset="0"/>
              <a:ea typeface="Inter" panose="020B0604020202020204" charset="0"/>
            </a:endParaRPr>
          </a:p>
          <a:p>
            <a:pPr>
              <a:buFont typeface="+mj-lt"/>
              <a:buAutoNum type="arabicPeriod"/>
            </a:pPr>
            <a:r>
              <a:rPr lang="en-US" u="sng" dirty="0">
                <a:latin typeface="Inter" panose="020B0604020202020204" charset="0"/>
                <a:ea typeface="Inter" panose="020B0604020202020204" charset="0"/>
              </a:rPr>
              <a:t>GRU:</a:t>
            </a:r>
          </a:p>
          <a:p>
            <a:pPr marL="742950" lvl="1" indent="-285750">
              <a:buFont typeface="+mj-lt"/>
              <a:buAutoNum type="arabicPeriod"/>
            </a:pPr>
            <a:r>
              <a:rPr lang="en-US" dirty="0">
                <a:latin typeface="Inter" panose="020B0604020202020204" charset="0"/>
                <a:ea typeface="Inter" panose="020B0604020202020204" charset="0"/>
              </a:rPr>
              <a:t>Handles sequential patterns and dependencies across time steps.</a:t>
            </a:r>
          </a:p>
          <a:p>
            <a:pPr marL="742950" lvl="1" indent="-285750">
              <a:buFont typeface="+mj-lt"/>
              <a:buAutoNum type="arabicPeriod"/>
            </a:pPr>
            <a:r>
              <a:rPr lang="en-US" dirty="0">
                <a:latin typeface="Inter" panose="020B0604020202020204" charset="0"/>
                <a:ea typeface="Inter" panose="020B0604020202020204" charset="0"/>
              </a:rPr>
              <a:t>Outputs a compressed temporal representation.</a:t>
            </a:r>
          </a:p>
          <a:p>
            <a:pPr marL="457200" lvl="1"/>
            <a:endParaRPr lang="en-US" dirty="0">
              <a:latin typeface="Inter" panose="020B0604020202020204" charset="0"/>
              <a:ea typeface="Inter" panose="020B0604020202020204" charset="0"/>
            </a:endParaRPr>
          </a:p>
          <a:p>
            <a:pPr>
              <a:buFont typeface="+mj-lt"/>
              <a:buAutoNum type="arabicPeriod"/>
            </a:pPr>
            <a:r>
              <a:rPr lang="en-US" u="sng" dirty="0" err="1">
                <a:latin typeface="Inter" panose="020B0604020202020204" charset="0"/>
                <a:ea typeface="Inter" panose="020B0604020202020204" charset="0"/>
              </a:rPr>
              <a:t>TimesNet</a:t>
            </a:r>
            <a:r>
              <a:rPr lang="en-US" u="sng" dirty="0">
                <a:latin typeface="Inter" panose="020B0604020202020204" charset="0"/>
                <a:ea typeface="Inter" panose="020B0604020202020204" charset="0"/>
              </a:rPr>
              <a:t>:</a:t>
            </a:r>
          </a:p>
          <a:p>
            <a:pPr marL="742950" lvl="1" indent="-285750">
              <a:buFont typeface="+mj-lt"/>
              <a:buAutoNum type="arabicPeriod"/>
            </a:pPr>
            <a:r>
              <a:rPr lang="en-US" dirty="0">
                <a:latin typeface="Inter" panose="020B0604020202020204" charset="0"/>
                <a:ea typeface="Inter" panose="020B0604020202020204" charset="0"/>
              </a:rPr>
              <a:t>Focuses on learning relationships between features.</a:t>
            </a:r>
          </a:p>
          <a:p>
            <a:pPr marL="742950" lvl="1" indent="-285750">
              <a:buFont typeface="+mj-lt"/>
              <a:buAutoNum type="arabicPeriod"/>
            </a:pPr>
            <a:r>
              <a:rPr lang="en-US" dirty="0">
                <a:latin typeface="Inter" panose="020B0604020202020204" charset="0"/>
                <a:ea typeface="Inter" panose="020B0604020202020204" charset="0"/>
              </a:rPr>
              <a:t>Outputs feature embeddings.</a:t>
            </a:r>
          </a:p>
          <a:p>
            <a:pPr marL="457200" lvl="1"/>
            <a:endParaRPr lang="en-US" dirty="0">
              <a:latin typeface="Inter" panose="020B0604020202020204" charset="0"/>
              <a:ea typeface="Inter" panose="020B0604020202020204" charset="0"/>
            </a:endParaRPr>
          </a:p>
          <a:p>
            <a:pPr>
              <a:buFont typeface="+mj-lt"/>
              <a:buAutoNum type="arabicPeriod"/>
            </a:pPr>
            <a:r>
              <a:rPr lang="en-US" u="sng" dirty="0">
                <a:latin typeface="Inter" panose="020B0604020202020204" charset="0"/>
                <a:ea typeface="Inter" panose="020B0604020202020204" charset="0"/>
              </a:rPr>
              <a:t>Integration:</a:t>
            </a:r>
          </a:p>
          <a:p>
            <a:pPr marL="742950" lvl="1" indent="-285750">
              <a:buFont typeface="+mj-lt"/>
              <a:buAutoNum type="arabicPeriod"/>
            </a:pPr>
            <a:r>
              <a:rPr lang="en-US" dirty="0">
                <a:latin typeface="Inter" panose="020B0604020202020204" charset="0"/>
                <a:ea typeface="Inter" panose="020B0604020202020204" charset="0"/>
              </a:rPr>
              <a:t>Combines outputs from GRU and </a:t>
            </a:r>
            <a:r>
              <a:rPr lang="en-US" dirty="0" err="1">
                <a:latin typeface="Inter" panose="020B0604020202020204" charset="0"/>
                <a:ea typeface="Inter" panose="020B0604020202020204" charset="0"/>
              </a:rPr>
              <a:t>TimesNet</a:t>
            </a:r>
            <a:r>
              <a:rPr lang="en-US" dirty="0">
                <a:latin typeface="Inter" panose="020B0604020202020204" charset="0"/>
                <a:ea typeface="Inter" panose="020B0604020202020204" charset="0"/>
              </a:rPr>
              <a:t> for holistic learning.</a:t>
            </a:r>
          </a:p>
          <a:p>
            <a:pPr marL="742950" lvl="1" indent="-285750">
              <a:buFont typeface="+mj-lt"/>
              <a:buAutoNum type="arabicPeriod"/>
            </a:pPr>
            <a:r>
              <a:rPr lang="en-US" dirty="0">
                <a:latin typeface="Inter" panose="020B0604020202020204" charset="0"/>
                <a:ea typeface="Inter" panose="020B0604020202020204" charset="0"/>
              </a:rPr>
              <a:t>Allows the model to learn both temporal and feature-specific dynamics.</a:t>
            </a:r>
          </a:p>
          <a:p>
            <a:pPr marL="457200" lvl="1"/>
            <a:endParaRPr lang="en-US" dirty="0">
              <a:latin typeface="Inter" panose="020B0604020202020204" charset="0"/>
              <a:ea typeface="Inter" panose="020B0604020202020204" charset="0"/>
            </a:endParaRPr>
          </a:p>
          <a:p>
            <a:pPr>
              <a:buFont typeface="+mj-lt"/>
              <a:buAutoNum type="arabicPeriod"/>
            </a:pPr>
            <a:r>
              <a:rPr lang="en-US" u="sng" dirty="0">
                <a:latin typeface="Inter" panose="020B0604020202020204" charset="0"/>
                <a:ea typeface="Inter" panose="020B0604020202020204" charset="0"/>
              </a:rPr>
              <a:t>Final Dense Layers:</a:t>
            </a:r>
          </a:p>
          <a:p>
            <a:pPr marL="742950" lvl="1" indent="-285750">
              <a:buFont typeface="+mj-lt"/>
              <a:buAutoNum type="arabicPeriod"/>
            </a:pPr>
            <a:r>
              <a:rPr lang="en-US" dirty="0">
                <a:latin typeface="Inter" panose="020B0604020202020204" charset="0"/>
                <a:ea typeface="Inter" panose="020B0604020202020204" charset="0"/>
              </a:rPr>
              <a:t>Transforms the combined features into a single prediction for the target variable.</a:t>
            </a:r>
          </a:p>
          <a:p>
            <a:endParaRPr lang="en-US" dirty="0">
              <a:latin typeface="Inter" panose="020B0604020202020204" charset="0"/>
              <a:ea typeface="Inter" panose="020B0604020202020204" charset="0"/>
            </a:endParaRPr>
          </a:p>
        </p:txBody>
      </p:sp>
      <p:sp>
        <p:nvSpPr>
          <p:cNvPr id="47" name="Google Shape;47;p2">
            <a:extLst>
              <a:ext uri="{FF2B5EF4-FFF2-40B4-BE49-F238E27FC236}">
                <a16:creationId xmlns:a16="http://schemas.microsoft.com/office/drawing/2014/main" id="{33BDD56B-77C5-7DBF-1180-E849341A95A9}"/>
              </a:ext>
            </a:extLst>
          </p:cNvPr>
          <p:cNvSpPr/>
          <p:nvPr/>
        </p:nvSpPr>
        <p:spPr>
          <a:xfrm>
            <a:off x="6195336" y="1864352"/>
            <a:ext cx="88197" cy="3004457"/>
          </a:xfrm>
          <a:prstGeom prst="rect">
            <a:avLst/>
          </a:prstGeom>
          <a:solidFill>
            <a:srgbClr val="0073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ay"/>
              <a:ea typeface="Play"/>
              <a:cs typeface="Play"/>
              <a:sym typeface="Play"/>
            </a:endParaRPr>
          </a:p>
        </p:txBody>
      </p:sp>
      <p:pic>
        <p:nvPicPr>
          <p:cNvPr id="5" name="Picture 4">
            <a:extLst>
              <a:ext uri="{FF2B5EF4-FFF2-40B4-BE49-F238E27FC236}">
                <a16:creationId xmlns:a16="http://schemas.microsoft.com/office/drawing/2014/main" id="{51595555-594E-1774-A99A-2112B1A69FF5}"/>
              </a:ext>
            </a:extLst>
          </p:cNvPr>
          <p:cNvPicPr>
            <a:picLocks noChangeAspect="1"/>
          </p:cNvPicPr>
          <p:nvPr/>
        </p:nvPicPr>
        <p:blipFill>
          <a:blip r:embed="rId3"/>
          <a:stretch>
            <a:fillRect/>
          </a:stretch>
        </p:blipFill>
        <p:spPr>
          <a:xfrm>
            <a:off x="6699666" y="1165999"/>
            <a:ext cx="4900143" cy="4042618"/>
          </a:xfrm>
          <a:prstGeom prst="rect">
            <a:avLst/>
          </a:prstGeom>
        </p:spPr>
      </p:pic>
      <p:pic>
        <p:nvPicPr>
          <p:cNvPr id="4" name="Google Shape;11;p6">
            <a:extLst>
              <a:ext uri="{FF2B5EF4-FFF2-40B4-BE49-F238E27FC236}">
                <a16:creationId xmlns:a16="http://schemas.microsoft.com/office/drawing/2014/main" id="{54B380F7-C093-D87B-AD14-3663075EBCF5}"/>
              </a:ext>
            </a:extLst>
          </p:cNvPr>
          <p:cNvPicPr preferRelativeResize="0"/>
          <p:nvPr/>
        </p:nvPicPr>
        <p:blipFill rotWithShape="1">
          <a:blip r:embed="rId4">
            <a:alphaModFix/>
          </a:blip>
          <a:srcRect/>
          <a:stretch/>
        </p:blipFill>
        <p:spPr>
          <a:xfrm>
            <a:off x="10859781" y="6332369"/>
            <a:ext cx="1256427" cy="534202"/>
          </a:xfrm>
          <a:prstGeom prst="rect">
            <a:avLst/>
          </a:prstGeom>
          <a:noFill/>
          <a:ln>
            <a:noFill/>
          </a:ln>
        </p:spPr>
      </p:pic>
      <p:sp>
        <p:nvSpPr>
          <p:cNvPr id="6" name="Google Shape;10;p6">
            <a:extLst>
              <a:ext uri="{FF2B5EF4-FFF2-40B4-BE49-F238E27FC236}">
                <a16:creationId xmlns:a16="http://schemas.microsoft.com/office/drawing/2014/main" id="{7071DBFA-FE18-9A40-05FE-7AABFA4C1418}"/>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7" name="TextBox 6">
            <a:extLst>
              <a:ext uri="{FF2B5EF4-FFF2-40B4-BE49-F238E27FC236}">
                <a16:creationId xmlns:a16="http://schemas.microsoft.com/office/drawing/2014/main" id="{41BBF25C-7F76-3A19-DE33-AA884A4E8559}"/>
              </a:ext>
            </a:extLst>
          </p:cNvPr>
          <p:cNvSpPr txBox="1"/>
          <p:nvPr/>
        </p:nvSpPr>
        <p:spPr>
          <a:xfrm>
            <a:off x="7688939" y="5208617"/>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Working/Architecture of the model</a:t>
            </a:r>
          </a:p>
        </p:txBody>
      </p:sp>
    </p:spTree>
    <p:extLst>
      <p:ext uri="{BB962C8B-B14F-4D97-AF65-F5344CB8AC3E}">
        <p14:creationId xmlns:p14="http://schemas.microsoft.com/office/powerpoint/2010/main" val="3707716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62D02C60-54B8-E74D-E314-1DD272F75591}"/>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1BA88810-F4FB-0700-EE62-A3E8AA767F5C}"/>
              </a:ext>
            </a:extLst>
          </p:cNvPr>
          <p:cNvSpPr txBox="1"/>
          <p:nvPr/>
        </p:nvSpPr>
        <p:spPr>
          <a:xfrm>
            <a:off x="434411" y="303011"/>
            <a:ext cx="749897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BI LSTM</a:t>
            </a:r>
            <a:r>
              <a:rPr lang="en-US" sz="2800" b="1" dirty="0">
                <a:solidFill>
                  <a:schemeClr val="dk1"/>
                </a:solidFill>
                <a:latin typeface="Inter"/>
                <a:ea typeface="Inter"/>
                <a:cs typeface="Inter"/>
                <a:sym typeface="Inter"/>
              </a:rPr>
              <a:t> </a:t>
            </a:r>
            <a:r>
              <a:rPr lang="en-US" sz="2800" b="1" dirty="0">
                <a:solidFill>
                  <a:srgbClr val="A58255"/>
                </a:solidFill>
                <a:latin typeface="Inter"/>
                <a:ea typeface="Inter"/>
                <a:cs typeface="Inter"/>
                <a:sym typeface="Inter"/>
              </a:rPr>
              <a:t>+ </a:t>
            </a:r>
            <a:r>
              <a:rPr lang="en-US" sz="2800" b="1" dirty="0">
                <a:solidFill>
                  <a:srgbClr val="007367"/>
                </a:solidFill>
                <a:latin typeface="Inter"/>
                <a:ea typeface="Inter"/>
                <a:cs typeface="Inter"/>
                <a:sym typeface="Inter"/>
              </a:rPr>
              <a:t>TIMESNET</a:t>
            </a:r>
            <a:r>
              <a:rPr lang="en-US" sz="2800" b="1" dirty="0">
                <a:solidFill>
                  <a:srgbClr val="A58255"/>
                </a:solidFill>
                <a:latin typeface="Inter"/>
                <a:ea typeface="Inter"/>
                <a:cs typeface="Inter"/>
                <a:sym typeface="Inter"/>
              </a:rPr>
              <a:t> </a:t>
            </a:r>
            <a:endParaRPr sz="2800" dirty="0">
              <a:latin typeface="Inter"/>
              <a:ea typeface="Inter"/>
              <a:cs typeface="Inter"/>
              <a:sym typeface="Inter"/>
            </a:endParaRPr>
          </a:p>
        </p:txBody>
      </p:sp>
      <p:sp>
        <p:nvSpPr>
          <p:cNvPr id="47" name="Google Shape;47;p2">
            <a:extLst>
              <a:ext uri="{FF2B5EF4-FFF2-40B4-BE49-F238E27FC236}">
                <a16:creationId xmlns:a16="http://schemas.microsoft.com/office/drawing/2014/main" id="{F262F86E-B7D7-9357-9029-09B7A3A93C59}"/>
              </a:ext>
            </a:extLst>
          </p:cNvPr>
          <p:cNvSpPr/>
          <p:nvPr/>
        </p:nvSpPr>
        <p:spPr>
          <a:xfrm>
            <a:off x="6053145" y="1864350"/>
            <a:ext cx="88197" cy="3004457"/>
          </a:xfrm>
          <a:prstGeom prst="rect">
            <a:avLst/>
          </a:prstGeom>
          <a:solidFill>
            <a:srgbClr val="0073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lay"/>
              <a:ea typeface="Play"/>
              <a:cs typeface="Play"/>
              <a:sym typeface="Play"/>
            </a:endParaRPr>
          </a:p>
        </p:txBody>
      </p:sp>
      <p:sp>
        <p:nvSpPr>
          <p:cNvPr id="37" name="Rectangle 33">
            <a:extLst>
              <a:ext uri="{FF2B5EF4-FFF2-40B4-BE49-F238E27FC236}">
                <a16:creationId xmlns:a16="http://schemas.microsoft.com/office/drawing/2014/main" id="{C6223B6C-1879-64CA-C107-5C3B5A02AE70}"/>
              </a:ext>
            </a:extLst>
          </p:cNvPr>
          <p:cNvSpPr>
            <a:spLocks noChangeArrowheads="1"/>
          </p:cNvSpPr>
          <p:nvPr/>
        </p:nvSpPr>
        <p:spPr bwMode="auto">
          <a:xfrm>
            <a:off x="376195" y="1048581"/>
            <a:ext cx="5562254"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a:ln>
                  <a:noFill/>
                </a:ln>
                <a:solidFill>
                  <a:schemeClr val="tx1"/>
                </a:solidFill>
                <a:effectLst/>
                <a:latin typeface="Inter" panose="020B0604020202020204" charset="0"/>
                <a:ea typeface="Inter" panose="020B0604020202020204" charset="0"/>
              </a:rPr>
              <a:t>1. </a:t>
            </a:r>
            <a:r>
              <a:rPr kumimoji="0" lang="en-US" altLang="en-US" sz="1300" b="1" i="0" u="none" strike="noStrike" cap="none" normalizeH="0" baseline="0" dirty="0" err="1">
                <a:ln>
                  <a:noFill/>
                </a:ln>
                <a:solidFill>
                  <a:schemeClr val="tx1"/>
                </a:solidFill>
                <a:effectLst/>
                <a:latin typeface="Inter" panose="020B0604020202020204" charset="0"/>
                <a:ea typeface="Inter" panose="020B0604020202020204" charset="0"/>
              </a:rPr>
              <a:t>BiLSTM</a:t>
            </a:r>
            <a:r>
              <a:rPr kumimoji="0" lang="en-US" altLang="en-US" sz="1300" b="1" i="0" u="none" strike="noStrike" cap="none" normalizeH="0" baseline="0" dirty="0">
                <a:ln>
                  <a:noFill/>
                </a:ln>
                <a:solidFill>
                  <a:schemeClr val="tx1"/>
                </a:solidFill>
                <a:effectLst/>
                <a:latin typeface="Inter" panose="020B0604020202020204" charset="0"/>
                <a:ea typeface="Inter" panose="020B0604020202020204" charset="0"/>
              </a:rPr>
              <a:t> Branch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i="0" u="sng" strike="noStrike" cap="none" normalizeH="0" baseline="0" dirty="0">
                <a:ln>
                  <a:noFill/>
                </a:ln>
                <a:solidFill>
                  <a:schemeClr val="tx1"/>
                </a:solidFill>
                <a:effectLst/>
                <a:latin typeface="Inter" panose="020B0604020202020204" charset="0"/>
                <a:ea typeface="Inter" panose="020B0604020202020204" charset="0"/>
              </a:rPr>
              <a:t>Handles Sequential Patterns: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dirty="0">
                <a:ln>
                  <a:noFill/>
                </a:ln>
                <a:solidFill>
                  <a:schemeClr val="tx1"/>
                </a:solidFill>
                <a:effectLst/>
                <a:latin typeface="Inter" panose="020B0604020202020204" charset="0"/>
                <a:ea typeface="Inter" panose="020B0604020202020204" charset="0"/>
              </a:rPr>
              <a:t>Captures both past and future dependencies effectively, which is essential for sequential data like stock prices.</a:t>
            </a:r>
            <a:endParaRPr lang="en-US" altLang="en-US" sz="1300" dirty="0">
              <a:solidFill>
                <a:schemeClr val="tx1"/>
              </a:solidFill>
              <a:latin typeface="Inter" panose="020B0604020202020204" charset="0"/>
              <a:ea typeface="Inter" panose="020B0604020202020204" charset="0"/>
            </a:endParaRP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1300" b="0" i="0" u="none" strike="noStrike" cap="none" normalizeH="0" baseline="0" dirty="0">
              <a:ln>
                <a:noFill/>
              </a:ln>
              <a:solidFill>
                <a:schemeClr val="tx1"/>
              </a:solidFill>
              <a:effectLst/>
              <a:latin typeface="Inter" panose="020B0604020202020204" charset="0"/>
              <a:ea typeface="Inter" panose="020B060402020202020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chemeClr val="tx1"/>
              </a:solidFill>
              <a:effectLst/>
              <a:latin typeface="Inter" panose="020B0604020202020204" charset="0"/>
              <a:ea typeface="Inter" panose="020B0604020202020204" charset="0"/>
            </a:endParaRPr>
          </a:p>
        </p:txBody>
      </p:sp>
      <p:sp>
        <p:nvSpPr>
          <p:cNvPr id="39" name="TextBox 38">
            <a:extLst>
              <a:ext uri="{FF2B5EF4-FFF2-40B4-BE49-F238E27FC236}">
                <a16:creationId xmlns:a16="http://schemas.microsoft.com/office/drawing/2014/main" id="{DBC6D9F7-D78C-9EB6-C49E-E3E61CBC6649}"/>
              </a:ext>
            </a:extLst>
          </p:cNvPr>
          <p:cNvSpPr txBox="1"/>
          <p:nvPr/>
        </p:nvSpPr>
        <p:spPr>
          <a:xfrm>
            <a:off x="376195" y="2073918"/>
            <a:ext cx="5700400" cy="1292662"/>
          </a:xfrm>
          <a:prstGeom prst="rect">
            <a:avLst/>
          </a:prstGeom>
          <a:noFill/>
        </p:spPr>
        <p:txBody>
          <a:bodyPr wrap="square">
            <a:spAutoFit/>
          </a:bodyPr>
          <a:lstStyle/>
          <a:p>
            <a:r>
              <a:rPr lang="en-US" sz="1300" b="1" dirty="0">
                <a:latin typeface="Inter" panose="020B0604020202020204" charset="0"/>
                <a:ea typeface="Inter" panose="020B0604020202020204" charset="0"/>
              </a:rPr>
              <a:t>2. </a:t>
            </a:r>
            <a:r>
              <a:rPr lang="en-US" sz="1300" b="1" dirty="0" err="1">
                <a:latin typeface="Inter" panose="020B0604020202020204" charset="0"/>
                <a:ea typeface="Inter" panose="020B0604020202020204" charset="0"/>
              </a:rPr>
              <a:t>TimesNet</a:t>
            </a:r>
            <a:r>
              <a:rPr lang="en-US" sz="1300" b="1" dirty="0">
                <a:latin typeface="Inter" panose="020B0604020202020204" charset="0"/>
                <a:ea typeface="Inter" panose="020B0604020202020204" charset="0"/>
              </a:rPr>
              <a:t> Branch</a:t>
            </a:r>
          </a:p>
          <a:p>
            <a:pPr>
              <a:buFont typeface="Arial" panose="020B0604020202020204" pitchFamily="34" charset="0"/>
              <a:buChar char="•"/>
            </a:pPr>
            <a:r>
              <a:rPr lang="en-US" sz="1300" u="sng" dirty="0">
                <a:latin typeface="Inter" panose="020B0604020202020204" charset="0"/>
                <a:ea typeface="Inter" panose="020B0604020202020204" charset="0"/>
              </a:rPr>
              <a:t>Focus on Feature Relationships:</a:t>
            </a:r>
          </a:p>
          <a:p>
            <a:pPr marL="742950" lvl="1" indent="-285750">
              <a:buFont typeface="Arial" panose="020B0604020202020204" pitchFamily="34" charset="0"/>
              <a:buChar char="•"/>
            </a:pPr>
            <a:r>
              <a:rPr lang="en-US" sz="1300" dirty="0">
                <a:latin typeface="Inter" panose="020B0604020202020204" charset="0"/>
                <a:ea typeface="Inter" panose="020B0604020202020204" charset="0"/>
              </a:rPr>
              <a:t>The </a:t>
            </a:r>
            <a:r>
              <a:rPr lang="en-US" sz="1300" dirty="0" err="1">
                <a:latin typeface="Inter" panose="020B0604020202020204" charset="0"/>
                <a:ea typeface="Inter" panose="020B0604020202020204" charset="0"/>
              </a:rPr>
              <a:t>TimesNet</a:t>
            </a:r>
            <a:r>
              <a:rPr lang="en-US" sz="1300" dirty="0">
                <a:latin typeface="Inter" panose="020B0604020202020204" charset="0"/>
                <a:ea typeface="Inter" panose="020B0604020202020204" charset="0"/>
              </a:rPr>
              <a:t> block captures feature-level dependencies using fully connected layers (Dense layers).</a:t>
            </a:r>
          </a:p>
          <a:p>
            <a:pPr marL="742950" lvl="1" indent="-285750">
              <a:buFont typeface="Arial" panose="020B0604020202020204" pitchFamily="34" charset="0"/>
              <a:buChar char="•"/>
            </a:pPr>
            <a:r>
              <a:rPr lang="en-US" sz="1300" dirty="0">
                <a:latin typeface="Inter" panose="020B0604020202020204" charset="0"/>
                <a:ea typeface="Inter" panose="020B0604020202020204" charset="0"/>
              </a:rPr>
              <a:t>Processes the flattened input (ignoring temporal order) to extract high-dimensional feature embeddings.</a:t>
            </a:r>
          </a:p>
        </p:txBody>
      </p:sp>
      <p:sp>
        <p:nvSpPr>
          <p:cNvPr id="41" name="TextBox 40">
            <a:extLst>
              <a:ext uri="{FF2B5EF4-FFF2-40B4-BE49-F238E27FC236}">
                <a16:creationId xmlns:a16="http://schemas.microsoft.com/office/drawing/2014/main" id="{6FD26469-4D84-6849-4B75-D75D1A0B0250}"/>
              </a:ext>
            </a:extLst>
          </p:cNvPr>
          <p:cNvSpPr txBox="1"/>
          <p:nvPr/>
        </p:nvSpPr>
        <p:spPr>
          <a:xfrm>
            <a:off x="293996" y="3491421"/>
            <a:ext cx="5907338" cy="1092607"/>
          </a:xfrm>
          <a:prstGeom prst="rect">
            <a:avLst/>
          </a:prstGeom>
          <a:noFill/>
        </p:spPr>
        <p:txBody>
          <a:bodyPr wrap="square">
            <a:spAutoFit/>
          </a:bodyPr>
          <a:lstStyle/>
          <a:p>
            <a:r>
              <a:rPr lang="en-US" sz="1300" b="1" dirty="0">
                <a:latin typeface="Inter" panose="020B0604020202020204" charset="0"/>
                <a:ea typeface="Inter" panose="020B0604020202020204" charset="0"/>
              </a:rPr>
              <a:t>3. Integration Layer</a:t>
            </a:r>
          </a:p>
          <a:p>
            <a:pPr>
              <a:buFont typeface="Arial" panose="020B0604020202020204" pitchFamily="34" charset="0"/>
              <a:buChar char="•"/>
            </a:pPr>
            <a:r>
              <a:rPr lang="en-US" sz="1300" u="sng" dirty="0">
                <a:latin typeface="Inter" panose="020B0604020202020204" charset="0"/>
                <a:ea typeface="Inter" panose="020B0604020202020204" charset="0"/>
              </a:rPr>
              <a:t>Merging Temporal and Feature Dynamics:</a:t>
            </a:r>
          </a:p>
          <a:p>
            <a:pPr marL="742950" lvl="1" indent="-285750">
              <a:buFont typeface="Arial" panose="020B0604020202020204" pitchFamily="34" charset="0"/>
              <a:buChar char="•"/>
            </a:pPr>
            <a:r>
              <a:rPr lang="en-US" sz="1300" dirty="0">
                <a:latin typeface="Inter" panose="020B0604020202020204" charset="0"/>
                <a:ea typeface="Inter" panose="020B0604020202020204" charset="0"/>
              </a:rPr>
              <a:t>The outputs of the </a:t>
            </a:r>
            <a:r>
              <a:rPr lang="en-US" sz="1300" dirty="0" err="1">
                <a:latin typeface="Inter" panose="020B0604020202020204" charset="0"/>
                <a:ea typeface="Inter" panose="020B0604020202020204" charset="0"/>
              </a:rPr>
              <a:t>BiLSTM</a:t>
            </a:r>
            <a:r>
              <a:rPr lang="en-US" sz="1300" dirty="0">
                <a:latin typeface="Inter" panose="020B0604020202020204" charset="0"/>
                <a:ea typeface="Inter" panose="020B0604020202020204" charset="0"/>
              </a:rPr>
              <a:t> and </a:t>
            </a:r>
            <a:r>
              <a:rPr lang="en-US" sz="1300" dirty="0" err="1">
                <a:latin typeface="Inter" panose="020B0604020202020204" charset="0"/>
                <a:ea typeface="Inter" panose="020B0604020202020204" charset="0"/>
              </a:rPr>
              <a:t>TimesNet</a:t>
            </a:r>
            <a:r>
              <a:rPr lang="en-US" sz="1300" dirty="0">
                <a:latin typeface="Inter" panose="020B0604020202020204" charset="0"/>
                <a:ea typeface="Inter" panose="020B0604020202020204" charset="0"/>
              </a:rPr>
              <a:t> branches are concatenated to combine temporal and feature-specific insights.</a:t>
            </a:r>
          </a:p>
        </p:txBody>
      </p:sp>
      <p:sp>
        <p:nvSpPr>
          <p:cNvPr id="43" name="TextBox 42">
            <a:extLst>
              <a:ext uri="{FF2B5EF4-FFF2-40B4-BE49-F238E27FC236}">
                <a16:creationId xmlns:a16="http://schemas.microsoft.com/office/drawing/2014/main" id="{B8225359-0C2D-A9A0-FD84-D515D309707B}"/>
              </a:ext>
            </a:extLst>
          </p:cNvPr>
          <p:cNvSpPr txBox="1"/>
          <p:nvPr/>
        </p:nvSpPr>
        <p:spPr>
          <a:xfrm>
            <a:off x="332096" y="4716812"/>
            <a:ext cx="5763904" cy="1092607"/>
          </a:xfrm>
          <a:prstGeom prst="rect">
            <a:avLst/>
          </a:prstGeom>
          <a:noFill/>
        </p:spPr>
        <p:txBody>
          <a:bodyPr wrap="square">
            <a:spAutoFit/>
          </a:bodyPr>
          <a:lstStyle/>
          <a:p>
            <a:r>
              <a:rPr lang="en-US" sz="1300" b="1" dirty="0">
                <a:latin typeface="Inter" panose="020B0604020202020204" charset="0"/>
                <a:ea typeface="Inter" panose="020B0604020202020204" charset="0"/>
              </a:rPr>
              <a:t>4. Final Dense Layers</a:t>
            </a:r>
          </a:p>
          <a:p>
            <a:pPr>
              <a:buFont typeface="Arial" panose="020B0604020202020204" pitchFamily="34" charset="0"/>
              <a:buChar char="•"/>
            </a:pPr>
            <a:r>
              <a:rPr lang="en-US" sz="1300" u="sng" dirty="0">
                <a:latin typeface="Inter" panose="020B0604020202020204" charset="0"/>
                <a:ea typeface="Inter" panose="020B0604020202020204" charset="0"/>
              </a:rPr>
              <a:t>Prediction:</a:t>
            </a:r>
          </a:p>
          <a:p>
            <a:pPr marL="742950" lvl="1" indent="-285750">
              <a:buFont typeface="Arial" panose="020B0604020202020204" pitchFamily="34" charset="0"/>
              <a:buChar char="•"/>
            </a:pPr>
            <a:r>
              <a:rPr lang="en-US" sz="1300" dirty="0">
                <a:latin typeface="Inter" panose="020B0604020202020204" charset="0"/>
                <a:ea typeface="Inter" panose="020B0604020202020204" charset="0"/>
              </a:rPr>
              <a:t>A fully connected Dense layer transforms the combined features into a single scalar prediction for the target variable (e.g., the closing price of a stock).</a:t>
            </a:r>
          </a:p>
        </p:txBody>
      </p:sp>
      <p:pic>
        <p:nvPicPr>
          <p:cNvPr id="48" name="Picture 47">
            <a:extLst>
              <a:ext uri="{FF2B5EF4-FFF2-40B4-BE49-F238E27FC236}">
                <a16:creationId xmlns:a16="http://schemas.microsoft.com/office/drawing/2014/main" id="{9FA11122-8C74-E6EA-C92D-655F9941C19A}"/>
              </a:ext>
            </a:extLst>
          </p:cNvPr>
          <p:cNvPicPr>
            <a:picLocks noChangeAspect="1"/>
          </p:cNvPicPr>
          <p:nvPr/>
        </p:nvPicPr>
        <p:blipFill>
          <a:blip r:embed="rId3"/>
          <a:stretch>
            <a:fillRect/>
          </a:stretch>
        </p:blipFill>
        <p:spPr>
          <a:xfrm>
            <a:off x="6518923" y="1270691"/>
            <a:ext cx="5379081" cy="3910909"/>
          </a:xfrm>
          <a:prstGeom prst="rect">
            <a:avLst/>
          </a:prstGeom>
        </p:spPr>
      </p:pic>
      <p:pic>
        <p:nvPicPr>
          <p:cNvPr id="4" name="Google Shape;11;p6">
            <a:extLst>
              <a:ext uri="{FF2B5EF4-FFF2-40B4-BE49-F238E27FC236}">
                <a16:creationId xmlns:a16="http://schemas.microsoft.com/office/drawing/2014/main" id="{D88B31CB-C6FB-6D8C-30E1-644B6338AFF8}"/>
              </a:ext>
            </a:extLst>
          </p:cNvPr>
          <p:cNvPicPr preferRelativeResize="0"/>
          <p:nvPr/>
        </p:nvPicPr>
        <p:blipFill rotWithShape="1">
          <a:blip r:embed="rId4">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3FC2AC01-8FE2-DFED-0BCE-128722CBBB99}"/>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
        <p:nvSpPr>
          <p:cNvPr id="6" name="TextBox 5">
            <a:extLst>
              <a:ext uri="{FF2B5EF4-FFF2-40B4-BE49-F238E27FC236}">
                <a16:creationId xmlns:a16="http://schemas.microsoft.com/office/drawing/2014/main" id="{43CD97BB-69EA-4E15-AD21-62A639033E80}"/>
              </a:ext>
            </a:extLst>
          </p:cNvPr>
          <p:cNvSpPr txBox="1"/>
          <p:nvPr/>
        </p:nvSpPr>
        <p:spPr>
          <a:xfrm>
            <a:off x="7688939" y="5181600"/>
            <a:ext cx="3799055"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Working/Architecture of the model</a:t>
            </a:r>
          </a:p>
        </p:txBody>
      </p:sp>
    </p:spTree>
    <p:extLst>
      <p:ext uri="{BB962C8B-B14F-4D97-AF65-F5344CB8AC3E}">
        <p14:creationId xmlns:p14="http://schemas.microsoft.com/office/powerpoint/2010/main" val="41175373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3"/>
          <p:cNvSpPr txBox="1"/>
          <p:nvPr/>
        </p:nvSpPr>
        <p:spPr>
          <a:xfrm>
            <a:off x="434411" y="414572"/>
            <a:ext cx="10013407" cy="38997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7367"/>
              </a:buClr>
              <a:buSzPts val="3600"/>
              <a:buFont typeface="Play"/>
              <a:buNone/>
            </a:pPr>
            <a:r>
              <a:rPr lang="en-US" sz="2800" b="1" dirty="0">
                <a:solidFill>
                  <a:srgbClr val="007367"/>
                </a:solidFill>
                <a:latin typeface="Inter"/>
                <a:ea typeface="Inter"/>
                <a:cs typeface="Inter"/>
                <a:sym typeface="Inter"/>
              </a:rPr>
              <a:t>MODEL </a:t>
            </a:r>
            <a:r>
              <a:rPr lang="en-US" sz="2800" b="1" dirty="0">
                <a:solidFill>
                  <a:srgbClr val="A58255"/>
                </a:solidFill>
                <a:latin typeface="Inter"/>
                <a:ea typeface="Inter"/>
                <a:cs typeface="Inter"/>
                <a:sym typeface="Inter"/>
              </a:rPr>
              <a:t>PERFORMANCE</a:t>
            </a:r>
            <a:endParaRPr sz="2800" dirty="0">
              <a:latin typeface="Inter"/>
              <a:ea typeface="Inter"/>
              <a:cs typeface="Inter"/>
              <a:sym typeface="Inter"/>
            </a:endParaRPr>
          </a:p>
        </p:txBody>
      </p:sp>
      <p:graphicFrame>
        <p:nvGraphicFramePr>
          <p:cNvPr id="54" name="Google Shape;54;p3"/>
          <p:cNvGraphicFramePr/>
          <p:nvPr>
            <p:extLst>
              <p:ext uri="{D42A27DB-BD31-4B8C-83A1-F6EECF244321}">
                <p14:modId xmlns:p14="http://schemas.microsoft.com/office/powerpoint/2010/main" val="2474936584"/>
              </p:ext>
            </p:extLst>
          </p:nvPr>
        </p:nvGraphicFramePr>
        <p:xfrm>
          <a:off x="1054100" y="1129483"/>
          <a:ext cx="9901719" cy="4599034"/>
        </p:xfrm>
        <a:graphic>
          <a:graphicData uri="http://schemas.openxmlformats.org/drawingml/2006/table">
            <a:tbl>
              <a:tblPr firstRow="1">
                <a:noFill/>
                <a:tableStyleId>{B1C1A5F2-C7F4-42EF-8194-A367FB17F6C2}</a:tableStyleId>
              </a:tblPr>
              <a:tblGrid>
                <a:gridCol w="1570273">
                  <a:extLst>
                    <a:ext uri="{9D8B030D-6E8A-4147-A177-3AD203B41FA5}">
                      <a16:colId xmlns:a16="http://schemas.microsoft.com/office/drawing/2014/main" val="20000"/>
                    </a:ext>
                  </a:extLst>
                </a:gridCol>
                <a:gridCol w="2768279">
                  <a:extLst>
                    <a:ext uri="{9D8B030D-6E8A-4147-A177-3AD203B41FA5}">
                      <a16:colId xmlns:a16="http://schemas.microsoft.com/office/drawing/2014/main" val="20001"/>
                    </a:ext>
                  </a:extLst>
                </a:gridCol>
                <a:gridCol w="1854389">
                  <a:extLst>
                    <a:ext uri="{9D8B030D-6E8A-4147-A177-3AD203B41FA5}">
                      <a16:colId xmlns:a16="http://schemas.microsoft.com/office/drawing/2014/main" val="20002"/>
                    </a:ext>
                  </a:extLst>
                </a:gridCol>
                <a:gridCol w="1854389">
                  <a:extLst>
                    <a:ext uri="{9D8B030D-6E8A-4147-A177-3AD203B41FA5}">
                      <a16:colId xmlns:a16="http://schemas.microsoft.com/office/drawing/2014/main" val="2293997342"/>
                    </a:ext>
                  </a:extLst>
                </a:gridCol>
                <a:gridCol w="1854389">
                  <a:extLst>
                    <a:ext uri="{9D8B030D-6E8A-4147-A177-3AD203B41FA5}">
                      <a16:colId xmlns:a16="http://schemas.microsoft.com/office/drawing/2014/main" val="620359512"/>
                    </a:ext>
                  </a:extLst>
                </a:gridCol>
              </a:tblGrid>
              <a:tr h="418094">
                <a:tc>
                  <a:txBody>
                    <a:bodyPr/>
                    <a:lstStyle/>
                    <a:p>
                      <a:pPr marL="0" marR="0" lvl="0" indent="0" algn="ctr" rtl="0">
                        <a:spcBef>
                          <a:spcPts val="0"/>
                        </a:spcBef>
                        <a:spcAft>
                          <a:spcPts val="0"/>
                        </a:spcAft>
                        <a:buNone/>
                      </a:pPr>
                      <a:r>
                        <a:rPr lang="en-IN" dirty="0">
                          <a:latin typeface="Inter"/>
                          <a:ea typeface="Inter"/>
                          <a:cs typeface="Inter"/>
                          <a:sym typeface="Inter"/>
                        </a:rPr>
                        <a:t>MODEL</a:t>
                      </a:r>
                      <a:endParaRPr dirty="0">
                        <a:latin typeface="Inter"/>
                        <a:ea typeface="Inter"/>
                        <a:cs typeface="Inter"/>
                        <a:sym typeface="Inter"/>
                      </a:endParaRPr>
                    </a:p>
                  </a:txBody>
                  <a:tcPr marL="442950" marR="0" marT="0" marB="0" anchor="ctr">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tc>
                  <a:txBody>
                    <a:bodyPr/>
                    <a:lstStyle/>
                    <a:p>
                      <a:pPr marL="0" marR="0" lvl="0" indent="0" algn="ctr" rtl="0">
                        <a:spcBef>
                          <a:spcPts val="0"/>
                        </a:spcBef>
                        <a:spcAft>
                          <a:spcPts val="0"/>
                        </a:spcAft>
                        <a:buNone/>
                      </a:pPr>
                      <a:r>
                        <a:rPr lang="en-IN" dirty="0">
                          <a:latin typeface="Inter"/>
                          <a:ea typeface="Inter"/>
                          <a:cs typeface="Inter"/>
                          <a:sym typeface="Inter"/>
                        </a:rPr>
                        <a:t>MAE</a:t>
                      </a:r>
                      <a:endParaRPr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tc>
                  <a:txBody>
                    <a:bodyPr/>
                    <a:lstStyle/>
                    <a:p>
                      <a:pPr marL="0" marR="0" lvl="0" indent="0" algn="ctr" rtl="0">
                        <a:spcBef>
                          <a:spcPts val="0"/>
                        </a:spcBef>
                        <a:spcAft>
                          <a:spcPts val="0"/>
                        </a:spcAft>
                        <a:buNone/>
                      </a:pPr>
                      <a:r>
                        <a:rPr lang="en-IN" dirty="0">
                          <a:latin typeface="Inter"/>
                          <a:ea typeface="Inter"/>
                          <a:cs typeface="Inter"/>
                          <a:sym typeface="Inter"/>
                        </a:rPr>
                        <a:t>MSE</a:t>
                      </a:r>
                      <a:endParaRPr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tc>
                  <a:txBody>
                    <a:bodyPr/>
                    <a:lstStyle/>
                    <a:p>
                      <a:pPr marL="0" marR="0" lvl="0" indent="0" algn="ctr" rtl="0">
                        <a:spcBef>
                          <a:spcPts val="0"/>
                        </a:spcBef>
                        <a:spcAft>
                          <a:spcPts val="0"/>
                        </a:spcAft>
                        <a:buNone/>
                      </a:pPr>
                      <a:r>
                        <a:rPr lang="en-IN" dirty="0">
                          <a:latin typeface="Inter"/>
                          <a:ea typeface="Inter"/>
                          <a:cs typeface="Inter"/>
                          <a:sym typeface="Inter"/>
                        </a:rPr>
                        <a:t>RMSE</a:t>
                      </a:r>
                      <a:endParaRPr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tc>
                  <a:txBody>
                    <a:bodyPr/>
                    <a:lstStyle/>
                    <a:p>
                      <a:pPr marL="0" marR="0" lvl="0" indent="0" algn="ctr" rtl="0">
                        <a:spcBef>
                          <a:spcPts val="0"/>
                        </a:spcBef>
                        <a:spcAft>
                          <a:spcPts val="0"/>
                        </a:spcAft>
                        <a:buNone/>
                      </a:pPr>
                      <a:r>
                        <a:rPr lang="en-IN" dirty="0">
                          <a:latin typeface="Inter"/>
                          <a:ea typeface="Inter"/>
                          <a:cs typeface="Inter"/>
                          <a:sym typeface="Inter"/>
                        </a:rPr>
                        <a:t>MAPE</a:t>
                      </a:r>
                      <a:endParaRPr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extLst>
                  <a:ext uri="{0D108BD9-81ED-4DB2-BD59-A6C34878D82A}">
                    <a16:rowId xmlns:a16="http://schemas.microsoft.com/office/drawing/2014/main" val="10000"/>
                  </a:ext>
                </a:extLst>
              </a:tr>
              <a:tr h="418094">
                <a:tc>
                  <a:txBody>
                    <a:bodyPr/>
                    <a:lstStyle/>
                    <a:p>
                      <a:pPr algn="ctr" rtl="0" fontAlgn="b"/>
                      <a:r>
                        <a:rPr lang="en-IN" sz="1400" dirty="0">
                          <a:effectLst/>
                          <a:latin typeface="Inter" panose="020B0604020202020204" charset="0"/>
                          <a:ea typeface="Inter" panose="020B0604020202020204" charset="0"/>
                        </a:rPr>
                        <a:t>CNN 1D</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dirty="0">
                          <a:effectLst/>
                          <a:latin typeface="Inter" panose="020B0604020202020204" charset="0"/>
                          <a:ea typeface="Inter" panose="020B0604020202020204" charset="0"/>
                        </a:rPr>
                        <a:t>1595.166</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effectLst/>
                          <a:latin typeface="Inter" panose="020B0604020202020204" charset="0"/>
                          <a:ea typeface="Inter" panose="020B0604020202020204" charset="0"/>
                        </a:rPr>
                        <a:t>3251346.784</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effectLst/>
                          <a:latin typeface="Inter" panose="020B0604020202020204" charset="0"/>
                          <a:ea typeface="Inter" panose="020B0604020202020204" charset="0"/>
                        </a:rPr>
                        <a:t>1803.149</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dirty="0">
                          <a:effectLst/>
                          <a:latin typeface="Inter" panose="020B0604020202020204" charset="0"/>
                          <a:ea typeface="Inter" panose="020B0604020202020204" charset="0"/>
                        </a:rPr>
                        <a:t>1.8555</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1"/>
                  </a:ext>
                </a:extLst>
              </a:tr>
              <a:tr h="418094">
                <a:tc>
                  <a:txBody>
                    <a:bodyPr/>
                    <a:lstStyle/>
                    <a:p>
                      <a:pPr algn="ctr" rtl="0" fontAlgn="b"/>
                      <a:r>
                        <a:rPr lang="en-IN" sz="1400" dirty="0">
                          <a:effectLst/>
                          <a:latin typeface="Inter" panose="020B0604020202020204" charset="0"/>
                          <a:ea typeface="Inter" panose="020B0604020202020204" charset="0"/>
                        </a:rPr>
                        <a:t>CNN 2D</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4795.0616</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26595498.78</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5157.0824</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dirty="0">
                          <a:solidFill>
                            <a:srgbClr val="1F1F1F"/>
                          </a:solidFill>
                          <a:effectLst/>
                          <a:latin typeface="Inter" panose="020B0604020202020204" charset="0"/>
                          <a:ea typeface="Inter" panose="020B0604020202020204" charset="0"/>
                        </a:rPr>
                        <a:t>0.0552</a:t>
                      </a:r>
                    </a:p>
                  </a:txBody>
                  <a:tcPr marL="19050" marR="19050" marT="12700" marB="12700" anchor="b">
                    <a:lnL w="9525" cap="flat" cmpd="sng" algn="ctr">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3549295759"/>
                  </a:ext>
                </a:extLst>
              </a:tr>
              <a:tr h="418094">
                <a:tc>
                  <a:txBody>
                    <a:bodyPr/>
                    <a:lstStyle/>
                    <a:p>
                      <a:pPr algn="ctr" rtl="0" fontAlgn="b"/>
                      <a:r>
                        <a:rPr lang="en-IN" sz="1400" dirty="0">
                          <a:effectLst/>
                          <a:latin typeface="Inter" panose="020B0604020202020204" charset="0"/>
                          <a:ea typeface="Inter" panose="020B0604020202020204" charset="0"/>
                        </a:rPr>
                        <a:t>CNN 3D</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effectLst/>
                          <a:latin typeface="Inter" panose="020B0604020202020204" charset="0"/>
                          <a:ea typeface="Inter" panose="020B0604020202020204" charset="0"/>
                        </a:rPr>
                        <a:t>1461.777</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effectLst/>
                          <a:latin typeface="Inter" panose="020B0604020202020204" charset="0"/>
                          <a:ea typeface="Inter" panose="020B0604020202020204" charset="0"/>
                        </a:rPr>
                        <a:t>3466656.749</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effectLst/>
                          <a:latin typeface="Inter" panose="020B0604020202020204" charset="0"/>
                          <a:ea typeface="Inter" panose="020B0604020202020204" charset="0"/>
                        </a:rPr>
                        <a:t>1861.896</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dirty="0">
                          <a:effectLst/>
                          <a:latin typeface="Inter" panose="020B0604020202020204" charset="0"/>
                          <a:ea typeface="Inter" panose="020B0604020202020204" charset="0"/>
                        </a:rPr>
                        <a:t>1.7162</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2"/>
                  </a:ext>
                </a:extLst>
              </a:tr>
              <a:tr h="418094">
                <a:tc>
                  <a:txBody>
                    <a:bodyPr/>
                    <a:lstStyle/>
                    <a:p>
                      <a:pPr algn="ctr" rtl="0" fontAlgn="b"/>
                      <a:r>
                        <a:rPr lang="en-IN" sz="1400" dirty="0">
                          <a:effectLst/>
                          <a:latin typeface="Inter" panose="020B0604020202020204" charset="0"/>
                          <a:ea typeface="Inter" panose="020B0604020202020204" charset="0"/>
                        </a:rPr>
                        <a:t>RNN</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8096.682617</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67347192</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8206.533495</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dirty="0">
                          <a:effectLst/>
                          <a:latin typeface="Inter" panose="020B0604020202020204" charset="0"/>
                          <a:ea typeface="Inter" panose="020B0604020202020204" charset="0"/>
                        </a:rPr>
                        <a:t>9.356794506</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3"/>
                  </a:ext>
                </a:extLst>
              </a:tr>
              <a:tr h="418094">
                <a:tc>
                  <a:txBody>
                    <a:bodyPr/>
                    <a:lstStyle/>
                    <a:p>
                      <a:pPr algn="ctr" rtl="0" fontAlgn="b"/>
                      <a:r>
                        <a:rPr lang="en-IN" sz="1400" dirty="0">
                          <a:effectLst/>
                          <a:latin typeface="Inter" panose="020B0604020202020204" charset="0"/>
                          <a:ea typeface="Inter" panose="020B0604020202020204" charset="0"/>
                        </a:rPr>
                        <a:t>LSTM</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416.4977292</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340800.3986</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583.7811222</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dirty="0">
                          <a:solidFill>
                            <a:srgbClr val="1F1F1F"/>
                          </a:solidFill>
                          <a:effectLst/>
                          <a:latin typeface="Inter" panose="020B0604020202020204" charset="0"/>
                          <a:ea typeface="Inter" panose="020B0604020202020204" charset="0"/>
                        </a:rPr>
                        <a:t>0.4892616974</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4"/>
                  </a:ext>
                </a:extLst>
              </a:tr>
              <a:tr h="418094">
                <a:tc>
                  <a:txBody>
                    <a:bodyPr/>
                    <a:lstStyle/>
                    <a:p>
                      <a:pPr algn="ctr" rtl="0" fontAlgn="b"/>
                      <a:r>
                        <a:rPr lang="en-IN" sz="1400" dirty="0">
                          <a:effectLst/>
                          <a:latin typeface="Inter" panose="020B0604020202020204" charset="0"/>
                          <a:ea typeface="Inter" panose="020B0604020202020204" charset="0"/>
                        </a:rPr>
                        <a:t>GRU</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397.408099</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306645.694</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553.7559878</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dirty="0">
                          <a:solidFill>
                            <a:srgbClr val="1F1F1F"/>
                          </a:solidFill>
                          <a:effectLst/>
                          <a:latin typeface="Inter" panose="020B0604020202020204" charset="0"/>
                          <a:ea typeface="Inter" panose="020B0604020202020204" charset="0"/>
                        </a:rPr>
                        <a:t>0.4667090316</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5"/>
                  </a:ext>
                </a:extLst>
              </a:tr>
              <a:tr h="418094">
                <a:tc>
                  <a:txBody>
                    <a:bodyPr/>
                    <a:lstStyle/>
                    <a:p>
                      <a:pPr algn="ctr" rtl="0" fontAlgn="b"/>
                      <a:r>
                        <a:rPr lang="en-IN" sz="1400" dirty="0">
                          <a:effectLst/>
                          <a:latin typeface="Inter" panose="020B0604020202020204" charset="0"/>
                          <a:ea typeface="Inter" panose="020B0604020202020204" charset="0"/>
                        </a:rPr>
                        <a:t>BI-LSTM</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380.599901</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284154.2677</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533.0612232</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dirty="0">
                          <a:solidFill>
                            <a:srgbClr val="1F1F1F"/>
                          </a:solidFill>
                          <a:effectLst/>
                          <a:latin typeface="Inter" panose="020B0604020202020204" charset="0"/>
                          <a:ea typeface="Inter" panose="020B0604020202020204" charset="0"/>
                        </a:rPr>
                        <a:t>0.4468173881</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6"/>
                  </a:ext>
                </a:extLst>
              </a:tr>
              <a:tr h="418094">
                <a:tc>
                  <a:txBody>
                    <a:bodyPr/>
                    <a:lstStyle/>
                    <a:p>
                      <a:pPr algn="ctr" rtl="0" fontAlgn="b"/>
                      <a:r>
                        <a:rPr lang="en-IN" sz="1400" dirty="0">
                          <a:effectLst/>
                          <a:latin typeface="Inter" panose="020B0604020202020204" charset="0"/>
                          <a:ea typeface="Inter" panose="020B0604020202020204" charset="0"/>
                        </a:rPr>
                        <a:t>Transformer</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85759.98959</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a:solidFill>
                            <a:srgbClr val="1F1F1F"/>
                          </a:solidFill>
                          <a:effectLst/>
                          <a:latin typeface="Inter" panose="020B0604020202020204" charset="0"/>
                          <a:ea typeface="Inter" panose="020B0604020202020204" charset="0"/>
                        </a:rPr>
                        <a:t>7358908989</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a:solidFill>
                            <a:srgbClr val="1F1F1F"/>
                          </a:solidFill>
                          <a:effectLst/>
                          <a:latin typeface="Inter" panose="020B0604020202020204" charset="0"/>
                          <a:ea typeface="Inter" panose="020B0604020202020204" charset="0"/>
                        </a:rPr>
                        <a:t>85784.08354</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dirty="0">
                          <a:solidFill>
                            <a:srgbClr val="1F1F1F"/>
                          </a:solidFill>
                          <a:effectLst/>
                          <a:latin typeface="Inter" panose="020B0604020202020204" charset="0"/>
                          <a:ea typeface="Inter" panose="020B0604020202020204" charset="0"/>
                        </a:rPr>
                        <a:t>99.91529682</a:t>
                      </a:r>
                    </a:p>
                  </a:txBody>
                  <a:tcPr marL="19050" marR="19050" marT="12700" marB="12700" anchor="b">
                    <a:lnL w="9525" cap="flat" cmpd="sng" algn="ctr">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2769372627"/>
                  </a:ext>
                </a:extLst>
              </a:tr>
              <a:tr h="418094">
                <a:tc>
                  <a:txBody>
                    <a:bodyPr/>
                    <a:lstStyle/>
                    <a:p>
                      <a:pPr algn="ctr" rtl="0" fontAlgn="b"/>
                      <a:r>
                        <a:rPr lang="en-IN" sz="1400" dirty="0">
                          <a:effectLst/>
                          <a:latin typeface="Inter" panose="020B0604020202020204" charset="0"/>
                          <a:ea typeface="Inter" panose="020B0604020202020204" charset="0"/>
                        </a:rPr>
                        <a:t>GNN</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27714.57227</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a:solidFill>
                            <a:srgbClr val="1F1F1F"/>
                          </a:solidFill>
                          <a:effectLst/>
                          <a:latin typeface="Inter" panose="020B0604020202020204" charset="0"/>
                          <a:ea typeface="Inter" panose="020B0604020202020204" charset="0"/>
                        </a:rPr>
                        <a:t>773981696</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rgbClr val="1F1F1F"/>
                          </a:solidFill>
                          <a:effectLst/>
                          <a:latin typeface="Inter" panose="020B0604020202020204" charset="0"/>
                          <a:ea typeface="Inter" panose="020B0604020202020204" charset="0"/>
                        </a:rPr>
                        <a:t>27820.52652</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dirty="0">
                          <a:solidFill>
                            <a:srgbClr val="1F1F1F"/>
                          </a:solidFill>
                          <a:effectLst/>
                          <a:latin typeface="Inter" panose="020B0604020202020204" charset="0"/>
                          <a:ea typeface="Inter" panose="020B0604020202020204" charset="0"/>
                        </a:rPr>
                        <a:t>32.25002587</a:t>
                      </a:r>
                    </a:p>
                  </a:txBody>
                  <a:tcPr marL="19050" marR="19050" marT="12700" marB="12700" anchor="b">
                    <a:lnL w="9525" cap="flat" cmpd="sng" algn="ctr">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209204105"/>
                  </a:ext>
                </a:extLst>
              </a:tr>
              <a:tr h="418094">
                <a:tc>
                  <a:txBody>
                    <a:bodyPr/>
                    <a:lstStyle/>
                    <a:p>
                      <a:pPr algn="ctr" rtl="0" fontAlgn="b"/>
                      <a:r>
                        <a:rPr lang="en-IN" sz="1400" dirty="0" err="1">
                          <a:effectLst/>
                          <a:latin typeface="Inter" panose="020B0604020202020204" charset="0"/>
                          <a:ea typeface="Inter" panose="020B0604020202020204" charset="0"/>
                        </a:rPr>
                        <a:t>ResNet</a:t>
                      </a:r>
                      <a:endParaRPr lang="en-IN" sz="1400" dirty="0">
                        <a:effectLst/>
                        <a:latin typeface="Inter" panose="020B0604020202020204" charset="0"/>
                        <a:ea typeface="Inter" panose="020B0604020202020204" charset="0"/>
                      </a:endParaRP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4E4C9"/>
                    </a:solidFill>
                  </a:tcPr>
                </a:tc>
                <a:tc>
                  <a:txBody>
                    <a:bodyPr/>
                    <a:lstStyle/>
                    <a:p>
                      <a:pPr algn="ctr" rtl="0" fontAlgn="b"/>
                      <a:r>
                        <a:rPr lang="en-IN" sz="1400" b="0" dirty="0">
                          <a:solidFill>
                            <a:srgbClr val="1F1F1F"/>
                          </a:solidFill>
                          <a:effectLst/>
                          <a:latin typeface="Inter" panose="020B0604020202020204" charset="0"/>
                          <a:ea typeface="Inter" panose="020B0604020202020204" charset="0"/>
                        </a:rPr>
                        <a:t>7633.982422</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4E4C9"/>
                    </a:solidFill>
                  </a:tcPr>
                </a:tc>
                <a:tc>
                  <a:txBody>
                    <a:bodyPr/>
                    <a:lstStyle/>
                    <a:p>
                      <a:pPr algn="ctr" rtl="0" fontAlgn="b"/>
                      <a:r>
                        <a:rPr lang="en-IN" sz="1400" dirty="0">
                          <a:solidFill>
                            <a:srgbClr val="1F1F1F"/>
                          </a:solidFill>
                          <a:effectLst/>
                          <a:latin typeface="Inter" panose="020B0604020202020204" charset="0"/>
                          <a:ea typeface="Inter" panose="020B0604020202020204" charset="0"/>
                        </a:rPr>
                        <a:t>59255288</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4E4C9"/>
                    </a:solidFill>
                  </a:tcPr>
                </a:tc>
                <a:tc>
                  <a:txBody>
                    <a:bodyPr/>
                    <a:lstStyle/>
                    <a:p>
                      <a:pPr algn="ctr" rtl="0" fontAlgn="b"/>
                      <a:r>
                        <a:rPr lang="en-IN" sz="1400" b="0" dirty="0">
                          <a:solidFill>
                            <a:srgbClr val="1F1F1F"/>
                          </a:solidFill>
                          <a:effectLst/>
                          <a:latin typeface="Inter" panose="020B0604020202020204" charset="0"/>
                          <a:ea typeface="Inter" panose="020B0604020202020204" charset="0"/>
                        </a:rPr>
                        <a:t>7697.745644</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4E4C9"/>
                    </a:solidFill>
                  </a:tcPr>
                </a:tc>
                <a:tc>
                  <a:txBody>
                    <a:bodyPr/>
                    <a:lstStyle/>
                    <a:p>
                      <a:pPr algn="ctr" rtl="0" fontAlgn="b"/>
                      <a:r>
                        <a:rPr lang="en-IN" sz="1400" dirty="0">
                          <a:solidFill>
                            <a:srgbClr val="1F1F1F"/>
                          </a:solidFill>
                          <a:effectLst/>
                          <a:latin typeface="Inter" panose="020B0604020202020204" charset="0"/>
                          <a:ea typeface="Inter" panose="020B0604020202020204" charset="0"/>
                        </a:rPr>
                        <a:t>8.877309412</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4E4C9"/>
                    </a:solidFill>
                  </a:tcPr>
                </a:tc>
                <a:extLst>
                  <a:ext uri="{0D108BD9-81ED-4DB2-BD59-A6C34878D82A}">
                    <a16:rowId xmlns:a16="http://schemas.microsoft.com/office/drawing/2014/main" val="10007"/>
                  </a:ext>
                </a:extLst>
              </a:tr>
            </a:tbl>
          </a:graphicData>
        </a:graphic>
      </p:graphicFrame>
      <p:pic>
        <p:nvPicPr>
          <p:cNvPr id="4" name="Google Shape;11;p6">
            <a:extLst>
              <a:ext uri="{FF2B5EF4-FFF2-40B4-BE49-F238E27FC236}">
                <a16:creationId xmlns:a16="http://schemas.microsoft.com/office/drawing/2014/main" id="{74288BDB-C594-5AD5-3590-9F53D2515050}"/>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308DC305-1C99-8C16-A29D-2C2A8892F282}"/>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2">
          <a:extLst>
            <a:ext uri="{FF2B5EF4-FFF2-40B4-BE49-F238E27FC236}">
              <a16:creationId xmlns:a16="http://schemas.microsoft.com/office/drawing/2014/main" id="{D3AC2353-2536-E20D-AE89-DFBD54F961C0}"/>
            </a:ext>
          </a:extLst>
        </p:cNvPr>
        <p:cNvGrpSpPr/>
        <p:nvPr/>
      </p:nvGrpSpPr>
      <p:grpSpPr>
        <a:xfrm>
          <a:off x="0" y="0"/>
          <a:ext cx="0" cy="0"/>
          <a:chOff x="0" y="0"/>
          <a:chExt cx="0" cy="0"/>
        </a:xfrm>
      </p:grpSpPr>
      <p:sp>
        <p:nvSpPr>
          <p:cNvPr id="53" name="Google Shape;53;p3">
            <a:extLst>
              <a:ext uri="{FF2B5EF4-FFF2-40B4-BE49-F238E27FC236}">
                <a16:creationId xmlns:a16="http://schemas.microsoft.com/office/drawing/2014/main" id="{01B9CB58-324F-C708-A2E8-295431454B96}"/>
              </a:ext>
            </a:extLst>
          </p:cNvPr>
          <p:cNvSpPr txBox="1"/>
          <p:nvPr/>
        </p:nvSpPr>
        <p:spPr>
          <a:xfrm>
            <a:off x="434411" y="414572"/>
            <a:ext cx="10013407" cy="38997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7367"/>
              </a:buClr>
              <a:buSzPts val="3600"/>
              <a:buFont typeface="Play"/>
              <a:buNone/>
            </a:pPr>
            <a:r>
              <a:rPr lang="en-US" sz="2800" b="1" dirty="0">
                <a:solidFill>
                  <a:srgbClr val="007367"/>
                </a:solidFill>
                <a:latin typeface="Inter"/>
                <a:ea typeface="Inter"/>
                <a:cs typeface="Inter"/>
                <a:sym typeface="Inter"/>
              </a:rPr>
              <a:t>Continued….</a:t>
            </a:r>
            <a:endParaRPr sz="2800" dirty="0">
              <a:latin typeface="Inter"/>
              <a:ea typeface="Inter"/>
              <a:cs typeface="Inter"/>
              <a:sym typeface="Inter"/>
            </a:endParaRPr>
          </a:p>
        </p:txBody>
      </p:sp>
      <p:graphicFrame>
        <p:nvGraphicFramePr>
          <p:cNvPr id="54" name="Google Shape;54;p3">
            <a:extLst>
              <a:ext uri="{FF2B5EF4-FFF2-40B4-BE49-F238E27FC236}">
                <a16:creationId xmlns:a16="http://schemas.microsoft.com/office/drawing/2014/main" id="{FF17C8DD-7898-6D4E-089A-939754CA90D1}"/>
              </a:ext>
            </a:extLst>
          </p:cNvPr>
          <p:cNvGraphicFramePr/>
          <p:nvPr>
            <p:extLst>
              <p:ext uri="{D42A27DB-BD31-4B8C-83A1-F6EECF244321}">
                <p14:modId xmlns:p14="http://schemas.microsoft.com/office/powerpoint/2010/main" val="359907455"/>
              </p:ext>
            </p:extLst>
          </p:nvPr>
        </p:nvGraphicFramePr>
        <p:xfrm>
          <a:off x="1054100" y="1129483"/>
          <a:ext cx="9901719" cy="4701112"/>
        </p:xfrm>
        <a:graphic>
          <a:graphicData uri="http://schemas.openxmlformats.org/drawingml/2006/table">
            <a:tbl>
              <a:tblPr firstRow="1">
                <a:noFill/>
                <a:tableStyleId>{B1C1A5F2-C7F4-42EF-8194-A367FB17F6C2}</a:tableStyleId>
              </a:tblPr>
              <a:tblGrid>
                <a:gridCol w="1570273">
                  <a:extLst>
                    <a:ext uri="{9D8B030D-6E8A-4147-A177-3AD203B41FA5}">
                      <a16:colId xmlns:a16="http://schemas.microsoft.com/office/drawing/2014/main" val="20000"/>
                    </a:ext>
                  </a:extLst>
                </a:gridCol>
                <a:gridCol w="2768279">
                  <a:extLst>
                    <a:ext uri="{9D8B030D-6E8A-4147-A177-3AD203B41FA5}">
                      <a16:colId xmlns:a16="http://schemas.microsoft.com/office/drawing/2014/main" val="20001"/>
                    </a:ext>
                  </a:extLst>
                </a:gridCol>
                <a:gridCol w="1854389">
                  <a:extLst>
                    <a:ext uri="{9D8B030D-6E8A-4147-A177-3AD203B41FA5}">
                      <a16:colId xmlns:a16="http://schemas.microsoft.com/office/drawing/2014/main" val="20002"/>
                    </a:ext>
                  </a:extLst>
                </a:gridCol>
                <a:gridCol w="1854389">
                  <a:extLst>
                    <a:ext uri="{9D8B030D-6E8A-4147-A177-3AD203B41FA5}">
                      <a16:colId xmlns:a16="http://schemas.microsoft.com/office/drawing/2014/main" val="2293997342"/>
                    </a:ext>
                  </a:extLst>
                </a:gridCol>
                <a:gridCol w="1854389">
                  <a:extLst>
                    <a:ext uri="{9D8B030D-6E8A-4147-A177-3AD203B41FA5}">
                      <a16:colId xmlns:a16="http://schemas.microsoft.com/office/drawing/2014/main" val="620359512"/>
                    </a:ext>
                  </a:extLst>
                </a:gridCol>
              </a:tblGrid>
              <a:tr h="418094">
                <a:tc>
                  <a:txBody>
                    <a:bodyPr/>
                    <a:lstStyle/>
                    <a:p>
                      <a:pPr marL="0" marR="0" lvl="0" indent="0" algn="ctr" rtl="0">
                        <a:spcBef>
                          <a:spcPts val="0"/>
                        </a:spcBef>
                        <a:spcAft>
                          <a:spcPts val="0"/>
                        </a:spcAft>
                        <a:buNone/>
                      </a:pPr>
                      <a:r>
                        <a:rPr lang="en-IN" dirty="0">
                          <a:latin typeface="Inter"/>
                          <a:ea typeface="Inter"/>
                          <a:cs typeface="Inter"/>
                          <a:sym typeface="Inter"/>
                        </a:rPr>
                        <a:t>MODEL</a:t>
                      </a:r>
                      <a:endParaRPr dirty="0">
                        <a:latin typeface="Inter"/>
                        <a:ea typeface="Inter"/>
                        <a:cs typeface="Inter"/>
                        <a:sym typeface="Inter"/>
                      </a:endParaRPr>
                    </a:p>
                  </a:txBody>
                  <a:tcPr marL="442950" marR="0" marT="0" marB="0" anchor="ctr">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tc>
                  <a:txBody>
                    <a:bodyPr/>
                    <a:lstStyle/>
                    <a:p>
                      <a:pPr marL="0" marR="0" lvl="0" indent="0" algn="ctr" rtl="0">
                        <a:spcBef>
                          <a:spcPts val="0"/>
                        </a:spcBef>
                        <a:spcAft>
                          <a:spcPts val="0"/>
                        </a:spcAft>
                        <a:buNone/>
                      </a:pPr>
                      <a:r>
                        <a:rPr lang="en-IN" dirty="0">
                          <a:latin typeface="Inter"/>
                          <a:ea typeface="Inter"/>
                          <a:cs typeface="Inter"/>
                          <a:sym typeface="Inter"/>
                        </a:rPr>
                        <a:t>MAE</a:t>
                      </a:r>
                      <a:endParaRPr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tc>
                  <a:txBody>
                    <a:bodyPr/>
                    <a:lstStyle/>
                    <a:p>
                      <a:pPr marL="0" marR="0" lvl="0" indent="0" algn="ctr" rtl="0">
                        <a:spcBef>
                          <a:spcPts val="0"/>
                        </a:spcBef>
                        <a:spcAft>
                          <a:spcPts val="0"/>
                        </a:spcAft>
                        <a:buNone/>
                      </a:pPr>
                      <a:r>
                        <a:rPr lang="en-IN" dirty="0">
                          <a:latin typeface="Inter"/>
                          <a:ea typeface="Inter"/>
                          <a:cs typeface="Inter"/>
                          <a:sym typeface="Inter"/>
                        </a:rPr>
                        <a:t>MSE</a:t>
                      </a:r>
                      <a:endParaRPr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tc>
                  <a:txBody>
                    <a:bodyPr/>
                    <a:lstStyle/>
                    <a:p>
                      <a:pPr marL="0" marR="0" lvl="0" indent="0" algn="ctr" rtl="0">
                        <a:spcBef>
                          <a:spcPts val="0"/>
                        </a:spcBef>
                        <a:spcAft>
                          <a:spcPts val="0"/>
                        </a:spcAft>
                        <a:buNone/>
                      </a:pPr>
                      <a:r>
                        <a:rPr lang="en-IN" dirty="0">
                          <a:latin typeface="Inter"/>
                          <a:ea typeface="Inter"/>
                          <a:cs typeface="Inter"/>
                          <a:sym typeface="Inter"/>
                        </a:rPr>
                        <a:t>RMSE</a:t>
                      </a:r>
                      <a:endParaRPr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tc>
                  <a:txBody>
                    <a:bodyPr/>
                    <a:lstStyle/>
                    <a:p>
                      <a:pPr marL="0" marR="0" lvl="0" indent="0" algn="ctr" rtl="0">
                        <a:spcBef>
                          <a:spcPts val="0"/>
                        </a:spcBef>
                        <a:spcAft>
                          <a:spcPts val="0"/>
                        </a:spcAft>
                        <a:buNone/>
                      </a:pPr>
                      <a:r>
                        <a:rPr lang="en-IN" dirty="0">
                          <a:latin typeface="Inter"/>
                          <a:ea typeface="Inter"/>
                          <a:cs typeface="Inter"/>
                          <a:sym typeface="Inter"/>
                        </a:rPr>
                        <a:t>MAPE</a:t>
                      </a:r>
                      <a:endParaRPr dirty="0">
                        <a:latin typeface="Inter"/>
                        <a:ea typeface="Inter"/>
                        <a:cs typeface="Inter"/>
                        <a:sym typeface="Inter"/>
                      </a:endParaRPr>
                    </a:p>
                  </a:txBody>
                  <a:tcPr marL="110750" marR="110750" marT="55375" marB="55375" anchor="ctr">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007367"/>
                    </a:solidFill>
                  </a:tcPr>
                </a:tc>
                <a:extLst>
                  <a:ext uri="{0D108BD9-81ED-4DB2-BD59-A6C34878D82A}">
                    <a16:rowId xmlns:a16="http://schemas.microsoft.com/office/drawing/2014/main" val="10000"/>
                  </a:ext>
                </a:extLst>
              </a:tr>
              <a:tr h="418094">
                <a:tc>
                  <a:txBody>
                    <a:bodyPr/>
                    <a:lstStyle/>
                    <a:p>
                      <a:pPr algn="ctr" rtl="0" fontAlgn="b"/>
                      <a:r>
                        <a:rPr lang="en-IN" sz="1400" dirty="0">
                          <a:solidFill>
                            <a:schemeClr val="tx1"/>
                          </a:solidFill>
                          <a:effectLst/>
                          <a:latin typeface="Inter" panose="020B0604020202020204" charset="0"/>
                          <a:ea typeface="Inter" panose="020B0604020202020204" charset="0"/>
                        </a:rPr>
                        <a:t>ARIMA</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15,953</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331024114.1</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18194.068</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18.604</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1"/>
                  </a:ext>
                </a:extLst>
              </a:tr>
              <a:tr h="418094">
                <a:tc>
                  <a:txBody>
                    <a:bodyPr/>
                    <a:lstStyle/>
                    <a:p>
                      <a:pPr algn="ctr" rtl="0" fontAlgn="b"/>
                      <a:r>
                        <a:rPr lang="en-IN" sz="1400">
                          <a:solidFill>
                            <a:schemeClr val="tx1"/>
                          </a:solidFill>
                          <a:effectLst/>
                          <a:latin typeface="Inter" panose="020B0604020202020204" charset="0"/>
                          <a:ea typeface="Inter" panose="020B0604020202020204" charset="0"/>
                        </a:rPr>
                        <a:t>SARIMA</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1579.235</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i="0" u="none" strike="noStrike" cap="none" dirty="0">
                          <a:solidFill>
                            <a:schemeClr val="tx1"/>
                          </a:solidFill>
                          <a:effectLst/>
                          <a:latin typeface="Inter" panose="020B0604020202020204" charset="0"/>
                          <a:ea typeface="Inter" panose="020B0604020202020204" charset="0"/>
                          <a:cs typeface="Calibri"/>
                          <a:sym typeface="Arial"/>
                        </a:rPr>
                        <a:t>4781679.57</a:t>
                      </a:r>
                      <a:endParaRPr lang="en-IN" sz="1400" dirty="0">
                        <a:solidFill>
                          <a:schemeClr val="tx1"/>
                        </a:solidFill>
                        <a:effectLst/>
                        <a:latin typeface="Inter" panose="020B0604020202020204" charset="0"/>
                        <a:ea typeface="Inter" panose="020B0604020202020204" charset="0"/>
                      </a:endParaRP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2186.705</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1.87</a:t>
                      </a:r>
                    </a:p>
                  </a:txBody>
                  <a:tcPr marL="19050" marR="19050" marT="12700" marB="12700" anchor="b">
                    <a:lnL w="9525" cap="flat" cmpd="sng" algn="ctr">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3549295759"/>
                  </a:ext>
                </a:extLst>
              </a:tr>
              <a:tr h="418094">
                <a:tc>
                  <a:txBody>
                    <a:bodyPr/>
                    <a:lstStyle/>
                    <a:p>
                      <a:pPr algn="ctr" rtl="0" fontAlgn="b"/>
                      <a:r>
                        <a:rPr lang="en-IN" sz="1400">
                          <a:solidFill>
                            <a:schemeClr val="tx1"/>
                          </a:solidFill>
                          <a:effectLst/>
                          <a:latin typeface="Inter" panose="020B0604020202020204" charset="0"/>
                          <a:ea typeface="Inter" panose="020B0604020202020204" charset="0"/>
                        </a:rPr>
                        <a:t>GARCH</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1236381.378</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2167756545440</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1472330.311</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123603259.6</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2"/>
                  </a:ext>
                </a:extLst>
              </a:tr>
              <a:tr h="418094">
                <a:tc>
                  <a:txBody>
                    <a:bodyPr/>
                    <a:lstStyle/>
                    <a:p>
                      <a:pPr algn="ctr" rtl="0" fontAlgn="b"/>
                      <a:r>
                        <a:rPr lang="en-IN" sz="1400">
                          <a:solidFill>
                            <a:schemeClr val="tx1"/>
                          </a:solidFill>
                          <a:effectLst/>
                          <a:latin typeface="Inter" panose="020B0604020202020204" charset="0"/>
                          <a:ea typeface="Inter" panose="020B0604020202020204" charset="0"/>
                        </a:rPr>
                        <a:t>Exponential Smoothing</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50635.80787</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2571024935</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50705.27522</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58.97303409</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3"/>
                  </a:ext>
                </a:extLst>
              </a:tr>
              <a:tr h="418094">
                <a:tc>
                  <a:txBody>
                    <a:bodyPr/>
                    <a:lstStyle/>
                    <a:p>
                      <a:pPr algn="ctr" rtl="0" fontAlgn="b"/>
                      <a:r>
                        <a:rPr lang="en-IN" sz="1400">
                          <a:solidFill>
                            <a:schemeClr val="tx1"/>
                          </a:solidFill>
                          <a:effectLst/>
                          <a:latin typeface="Inter" panose="020B0604020202020204" charset="0"/>
                          <a:ea typeface="Inter" panose="020B0604020202020204" charset="0"/>
                        </a:rPr>
                        <a:t>Prophet</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42244.67284</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1791620621</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42327.53974</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49.2</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4"/>
                  </a:ext>
                </a:extLst>
              </a:tr>
              <a:tr h="418094">
                <a:tc>
                  <a:txBody>
                    <a:bodyPr/>
                    <a:lstStyle/>
                    <a:p>
                      <a:pPr algn="ctr" rtl="0" fontAlgn="b"/>
                      <a:r>
                        <a:rPr lang="en-IN" sz="1400">
                          <a:solidFill>
                            <a:schemeClr val="tx1"/>
                          </a:solidFill>
                          <a:effectLst/>
                          <a:latin typeface="Inter" panose="020B0604020202020204" charset="0"/>
                          <a:ea typeface="Inter" panose="020B0604020202020204" charset="0"/>
                        </a:rPr>
                        <a:t>TimesNet</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22276.50127</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496755979.9</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22288.02324</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25.95059166</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5"/>
                  </a:ext>
                </a:extLst>
              </a:tr>
              <a:tr h="418094">
                <a:tc>
                  <a:txBody>
                    <a:bodyPr/>
                    <a:lstStyle/>
                    <a:p>
                      <a:pPr algn="ctr" rtl="0" fontAlgn="b"/>
                      <a:r>
                        <a:rPr lang="en-IN" sz="1400">
                          <a:solidFill>
                            <a:schemeClr val="tx1"/>
                          </a:solidFill>
                          <a:effectLst/>
                          <a:latin typeface="Inter" panose="020B0604020202020204" charset="0"/>
                          <a:ea typeface="Inter" panose="020B0604020202020204" charset="0"/>
                        </a:rPr>
                        <a:t>DeepAR</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2931.89899</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13482604.07</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3671.866565</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3.409159372</a:t>
                      </a:r>
                    </a:p>
                  </a:txBody>
                  <a:tcPr marL="19050" marR="19050" marT="12700" marB="12700" anchor="b">
                    <a:lnL w="9525" cap="flat" cmpd="sng">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10006"/>
                  </a:ext>
                </a:extLst>
              </a:tr>
              <a:tr h="418094">
                <a:tc>
                  <a:txBody>
                    <a:bodyPr/>
                    <a:lstStyle/>
                    <a:p>
                      <a:pPr algn="ctr" rtl="0" fontAlgn="b"/>
                      <a:r>
                        <a:rPr lang="en-IN" sz="1400">
                          <a:solidFill>
                            <a:schemeClr val="tx1"/>
                          </a:solidFill>
                          <a:effectLst/>
                          <a:latin typeface="Inter" panose="020B0604020202020204" charset="0"/>
                          <a:ea typeface="Inter" panose="020B0604020202020204" charset="0"/>
                        </a:rPr>
                        <a:t>CNN 3D + TimesNet</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2844.834344</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8394004.208</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2897.240792</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a:solidFill>
                            <a:schemeClr val="tx1"/>
                          </a:solidFill>
                          <a:effectLst/>
                          <a:latin typeface="Inter" panose="020B0604020202020204" charset="0"/>
                          <a:ea typeface="Inter" panose="020B0604020202020204" charset="0"/>
                        </a:rPr>
                        <a:t>3.319919793</a:t>
                      </a:r>
                    </a:p>
                  </a:txBody>
                  <a:tcPr marL="19050" marR="19050" marT="12700" marB="12700" anchor="b">
                    <a:lnL w="9525" cap="flat" cmpd="sng" algn="ctr">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2769372627"/>
                  </a:ext>
                </a:extLst>
              </a:tr>
              <a:tr h="418094">
                <a:tc>
                  <a:txBody>
                    <a:bodyPr/>
                    <a:lstStyle/>
                    <a:p>
                      <a:pPr algn="ctr" rtl="0" fontAlgn="b"/>
                      <a:r>
                        <a:rPr lang="en-IN" sz="1400" dirty="0" err="1">
                          <a:solidFill>
                            <a:schemeClr val="tx1"/>
                          </a:solidFill>
                          <a:effectLst/>
                          <a:latin typeface="Inter" panose="020B0604020202020204" charset="0"/>
                          <a:ea typeface="Inter" panose="020B0604020202020204" charset="0"/>
                        </a:rPr>
                        <a:t>TimesNet</a:t>
                      </a:r>
                      <a:r>
                        <a:rPr lang="en-IN" sz="1400" dirty="0">
                          <a:solidFill>
                            <a:schemeClr val="tx1"/>
                          </a:solidFill>
                          <a:effectLst/>
                          <a:latin typeface="Inter" panose="020B0604020202020204" charset="0"/>
                          <a:ea typeface="Inter" panose="020B0604020202020204" charset="0"/>
                        </a:rPr>
                        <a:t> + GRU</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401.7646823</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315859.1239</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b="0">
                          <a:solidFill>
                            <a:schemeClr val="tx1"/>
                          </a:solidFill>
                          <a:effectLst/>
                          <a:latin typeface="Inter" panose="020B0604020202020204" charset="0"/>
                          <a:ea typeface="Inter" panose="020B0604020202020204" charset="0"/>
                        </a:rPr>
                        <a:t>562.0134552</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tc>
                  <a:txBody>
                    <a:bodyPr/>
                    <a:lstStyle/>
                    <a:p>
                      <a:pPr algn="ctr" rtl="0" fontAlgn="b"/>
                      <a:r>
                        <a:rPr lang="en-IN" sz="1400" dirty="0">
                          <a:solidFill>
                            <a:schemeClr val="tx1"/>
                          </a:solidFill>
                          <a:effectLst/>
                          <a:latin typeface="Inter" panose="020B0604020202020204" charset="0"/>
                          <a:ea typeface="Inter" panose="020B0604020202020204" charset="0"/>
                        </a:rPr>
                        <a:t>0.4725300889</a:t>
                      </a:r>
                    </a:p>
                  </a:txBody>
                  <a:tcPr marL="19050" marR="19050" marT="12700" marB="12700" anchor="b">
                    <a:lnL w="9525" cap="flat" cmpd="sng" algn="ctr">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9525" cap="flat" cmpd="sng" algn="ctr">
                      <a:solidFill>
                        <a:srgbClr val="A9A9A9"/>
                      </a:solidFill>
                      <a:prstDash val="solid"/>
                      <a:round/>
                      <a:headEnd type="none" w="sm" len="sm"/>
                      <a:tailEnd type="none" w="sm" len="sm"/>
                    </a:lnB>
                    <a:solidFill>
                      <a:srgbClr val="F4E4C9"/>
                    </a:solidFill>
                  </a:tcPr>
                </a:tc>
                <a:extLst>
                  <a:ext uri="{0D108BD9-81ED-4DB2-BD59-A6C34878D82A}">
                    <a16:rowId xmlns:a16="http://schemas.microsoft.com/office/drawing/2014/main" val="209204105"/>
                  </a:ext>
                </a:extLst>
              </a:tr>
              <a:tr h="418094">
                <a:tc>
                  <a:txBody>
                    <a:bodyPr/>
                    <a:lstStyle/>
                    <a:p>
                      <a:pPr algn="ctr" rtl="0" fontAlgn="b"/>
                      <a:r>
                        <a:rPr lang="en-IN" sz="1400" dirty="0" err="1">
                          <a:solidFill>
                            <a:schemeClr val="tx1"/>
                          </a:solidFill>
                          <a:effectLst/>
                          <a:latin typeface="Inter" panose="020B0604020202020204" charset="0"/>
                          <a:ea typeface="Inter" panose="020B0604020202020204" charset="0"/>
                        </a:rPr>
                        <a:t>TimesNet</a:t>
                      </a:r>
                      <a:r>
                        <a:rPr lang="en-IN" sz="1400" dirty="0">
                          <a:solidFill>
                            <a:schemeClr val="tx1"/>
                          </a:solidFill>
                          <a:effectLst/>
                          <a:latin typeface="Inter" panose="020B0604020202020204" charset="0"/>
                          <a:ea typeface="Inter" panose="020B0604020202020204" charset="0"/>
                        </a:rPr>
                        <a:t> + </a:t>
                      </a:r>
                    </a:p>
                    <a:p>
                      <a:pPr algn="ctr" rtl="0" fontAlgn="b"/>
                      <a:r>
                        <a:rPr lang="en-IN" sz="1400" dirty="0">
                          <a:solidFill>
                            <a:schemeClr val="tx1"/>
                          </a:solidFill>
                          <a:effectLst/>
                          <a:latin typeface="Inter" panose="020B0604020202020204" charset="0"/>
                          <a:ea typeface="Inter" panose="020B0604020202020204" charset="0"/>
                        </a:rPr>
                        <a:t>Bi LSTM</a:t>
                      </a:r>
                    </a:p>
                  </a:txBody>
                  <a:tcPr marL="19050" marR="19050" marT="12700" marB="12700" anchor="b">
                    <a:lnL w="9525" cap="flat" cmpd="sng">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rtl="0" fontAlgn="b"/>
                      <a:r>
                        <a:rPr lang="en-IN" sz="1400" b="0" dirty="0">
                          <a:solidFill>
                            <a:schemeClr val="tx1"/>
                          </a:solidFill>
                          <a:effectLst/>
                          <a:latin typeface="Inter" panose="020B0604020202020204" charset="0"/>
                          <a:ea typeface="Inter" panose="020B0604020202020204" charset="0"/>
                        </a:rPr>
                        <a:t>380.7761146</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rtl="0" fontAlgn="b"/>
                      <a:r>
                        <a:rPr lang="en-IN" sz="1400" b="0" dirty="0">
                          <a:solidFill>
                            <a:schemeClr val="tx1"/>
                          </a:solidFill>
                          <a:effectLst/>
                          <a:latin typeface="Inter" panose="020B0604020202020204" charset="0"/>
                          <a:ea typeface="Inter" panose="020B0604020202020204" charset="0"/>
                        </a:rPr>
                        <a:t>279526.0234</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solidFill>
                        <a:srgbClr val="A9A9A9"/>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rtl="0" fontAlgn="b"/>
                      <a:r>
                        <a:rPr lang="en-IN" sz="1400" dirty="0">
                          <a:solidFill>
                            <a:schemeClr val="tx1"/>
                          </a:solidFill>
                          <a:effectLst/>
                          <a:latin typeface="Inter" panose="020B0604020202020204" charset="0"/>
                          <a:ea typeface="Inter" panose="020B0604020202020204" charset="0"/>
                        </a:rPr>
                        <a:t>528.7022067</a:t>
                      </a:r>
                    </a:p>
                  </a:txBody>
                  <a:tcPr marL="19050" marR="19050" marT="12700" marB="12700" anchor="b">
                    <a:lnL w="9525" cap="flat" cmpd="sng" algn="ctr">
                      <a:solidFill>
                        <a:srgbClr val="A9A9A9"/>
                      </a:solidFill>
                      <a:prstDash val="solid"/>
                      <a:round/>
                      <a:headEnd type="none" w="sm" len="sm"/>
                      <a:tailEnd type="none" w="sm" len="sm"/>
                    </a:lnL>
                    <a:lnR w="9525" cap="flat" cmpd="sng" algn="ctr">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rtl="0" fontAlgn="b"/>
                      <a:r>
                        <a:rPr lang="en-IN" sz="1400" b="0" dirty="0">
                          <a:solidFill>
                            <a:schemeClr val="tx1"/>
                          </a:solidFill>
                          <a:effectLst/>
                          <a:latin typeface="Inter" panose="020B0604020202020204" charset="0"/>
                          <a:ea typeface="Inter" panose="020B0604020202020204" charset="0"/>
                        </a:rPr>
                        <a:t>0.4463770718</a:t>
                      </a:r>
                    </a:p>
                  </a:txBody>
                  <a:tcPr marL="19050" marR="19050" marT="12700" marB="12700" anchor="b">
                    <a:lnL w="9525" cap="flat" cmpd="sng" algn="ctr">
                      <a:solidFill>
                        <a:srgbClr val="A9A9A9"/>
                      </a:solidFill>
                      <a:prstDash val="solid"/>
                      <a:round/>
                      <a:headEnd type="none" w="sm" len="sm"/>
                      <a:tailEnd type="none" w="sm" len="sm"/>
                    </a:lnL>
                    <a:lnR w="9525" cap="flat" cmpd="sng">
                      <a:solidFill>
                        <a:srgbClr val="A9A9A9"/>
                      </a:solidFill>
                      <a:prstDash val="solid"/>
                      <a:round/>
                      <a:headEnd type="none" w="sm" len="sm"/>
                      <a:tailEnd type="none" w="sm" len="sm"/>
                    </a:lnR>
                    <a:lnT w="9525" cap="flat" cmpd="sng" algn="ctr">
                      <a:solidFill>
                        <a:srgbClr val="A9A9A9"/>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139602658"/>
                  </a:ext>
                </a:extLst>
              </a:tr>
            </a:tbl>
          </a:graphicData>
        </a:graphic>
      </p:graphicFrame>
      <p:pic>
        <p:nvPicPr>
          <p:cNvPr id="4" name="Google Shape;11;p6">
            <a:extLst>
              <a:ext uri="{FF2B5EF4-FFF2-40B4-BE49-F238E27FC236}">
                <a16:creationId xmlns:a16="http://schemas.microsoft.com/office/drawing/2014/main" id="{095F9D7D-F84C-9D4A-FB32-2153922C30D8}"/>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5" name="Google Shape;10;p6">
            <a:extLst>
              <a:ext uri="{FF2B5EF4-FFF2-40B4-BE49-F238E27FC236}">
                <a16:creationId xmlns:a16="http://schemas.microsoft.com/office/drawing/2014/main" id="{8CA3E497-B1AF-0210-92CF-A5AFBC304B69}"/>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Tree>
    <p:extLst>
      <p:ext uri="{BB962C8B-B14F-4D97-AF65-F5344CB8AC3E}">
        <p14:creationId xmlns:p14="http://schemas.microsoft.com/office/powerpoint/2010/main" val="12305265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
          <a:extLst>
            <a:ext uri="{FF2B5EF4-FFF2-40B4-BE49-F238E27FC236}">
              <a16:creationId xmlns:a16="http://schemas.microsoft.com/office/drawing/2014/main" id="{AC447CEC-4AB6-B56F-5243-6CD3CAF30BCE}"/>
            </a:ext>
          </a:extLst>
        </p:cNvPr>
        <p:cNvGrpSpPr/>
        <p:nvPr/>
      </p:nvGrpSpPr>
      <p:grpSpPr>
        <a:xfrm>
          <a:off x="0" y="0"/>
          <a:ext cx="0" cy="0"/>
          <a:chOff x="0" y="0"/>
          <a:chExt cx="0" cy="0"/>
        </a:xfrm>
      </p:grpSpPr>
      <p:sp>
        <p:nvSpPr>
          <p:cNvPr id="45" name="Google Shape;45;p2">
            <a:extLst>
              <a:ext uri="{FF2B5EF4-FFF2-40B4-BE49-F238E27FC236}">
                <a16:creationId xmlns:a16="http://schemas.microsoft.com/office/drawing/2014/main" id="{112AAD08-8021-D13E-D963-E9DAA59192ED}"/>
              </a:ext>
            </a:extLst>
          </p:cNvPr>
          <p:cNvSpPr txBox="1"/>
          <p:nvPr/>
        </p:nvSpPr>
        <p:spPr>
          <a:xfrm>
            <a:off x="376194" y="300372"/>
            <a:ext cx="9942087"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a:solidFill>
                  <a:srgbClr val="007367"/>
                </a:solidFill>
                <a:latin typeface="Inter"/>
                <a:ea typeface="Inter"/>
                <a:cs typeface="Inter"/>
                <a:sym typeface="Inter"/>
              </a:rPr>
              <a:t>PROPOSED MODEL : </a:t>
            </a:r>
            <a:r>
              <a:rPr lang="en-US" sz="2800" b="1" dirty="0">
                <a:solidFill>
                  <a:srgbClr val="A58255"/>
                </a:solidFill>
                <a:latin typeface="Inter"/>
                <a:ea typeface="Inter"/>
                <a:cs typeface="Inter"/>
                <a:sym typeface="Inter"/>
              </a:rPr>
              <a:t>BI LSTM + TIMESNET </a:t>
            </a:r>
            <a:endParaRPr sz="2800" dirty="0">
              <a:latin typeface="Inter"/>
              <a:ea typeface="Inter"/>
              <a:cs typeface="Inter"/>
              <a:sym typeface="Inter"/>
            </a:endParaRPr>
          </a:p>
        </p:txBody>
      </p:sp>
      <p:sp>
        <p:nvSpPr>
          <p:cNvPr id="4" name="Oval 3">
            <a:extLst>
              <a:ext uri="{FF2B5EF4-FFF2-40B4-BE49-F238E27FC236}">
                <a16:creationId xmlns:a16="http://schemas.microsoft.com/office/drawing/2014/main" id="{186B2939-1C5A-9FF6-137A-436197557722}"/>
              </a:ext>
            </a:extLst>
          </p:cNvPr>
          <p:cNvSpPr/>
          <p:nvPr/>
        </p:nvSpPr>
        <p:spPr>
          <a:xfrm>
            <a:off x="1819173" y="1082142"/>
            <a:ext cx="1799924" cy="165554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E76D10ED-5B11-C68B-A96A-BA4B41370626}"/>
              </a:ext>
            </a:extLst>
          </p:cNvPr>
          <p:cNvSpPr/>
          <p:nvPr/>
        </p:nvSpPr>
        <p:spPr>
          <a:xfrm>
            <a:off x="1929353" y="3742040"/>
            <a:ext cx="1799924" cy="165554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F37C364C-DF92-28E5-E611-E9B4379E6D13}"/>
              </a:ext>
            </a:extLst>
          </p:cNvPr>
          <p:cNvSpPr/>
          <p:nvPr/>
        </p:nvSpPr>
        <p:spPr>
          <a:xfrm>
            <a:off x="7733899" y="1082141"/>
            <a:ext cx="1799924" cy="165554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7" name="Oval 6">
            <a:extLst>
              <a:ext uri="{FF2B5EF4-FFF2-40B4-BE49-F238E27FC236}">
                <a16:creationId xmlns:a16="http://schemas.microsoft.com/office/drawing/2014/main" id="{A6963D54-311E-A839-86BB-7B8C38FD42B8}"/>
              </a:ext>
            </a:extLst>
          </p:cNvPr>
          <p:cNvSpPr/>
          <p:nvPr/>
        </p:nvSpPr>
        <p:spPr>
          <a:xfrm>
            <a:off x="7733899" y="3755150"/>
            <a:ext cx="1799924" cy="165554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221B570E-5E90-F153-9606-04E6968CA0CB}"/>
              </a:ext>
            </a:extLst>
          </p:cNvPr>
          <p:cNvSpPr txBox="1"/>
          <p:nvPr/>
        </p:nvSpPr>
        <p:spPr>
          <a:xfrm>
            <a:off x="2001251" y="1447305"/>
            <a:ext cx="1435767" cy="830997"/>
          </a:xfrm>
          <a:prstGeom prst="rect">
            <a:avLst/>
          </a:prstGeom>
          <a:noFill/>
        </p:spPr>
        <p:txBody>
          <a:bodyPr wrap="square" rtlCol="0">
            <a:spAutoFit/>
          </a:bodyPr>
          <a:lstStyle/>
          <a:p>
            <a:pPr algn="ctr"/>
            <a:r>
              <a:rPr lang="en-IN" sz="2400" b="1" dirty="0">
                <a:solidFill>
                  <a:schemeClr val="bg1"/>
                </a:solidFill>
                <a:latin typeface="Inter" panose="020B0604020202020204" charset="0"/>
                <a:ea typeface="Inter" panose="020B0604020202020204" charset="0"/>
              </a:rPr>
              <a:t>MAE</a:t>
            </a:r>
          </a:p>
          <a:p>
            <a:pPr algn="ctr"/>
            <a:r>
              <a:rPr lang="en-IN" sz="2400" b="1" dirty="0">
                <a:solidFill>
                  <a:schemeClr val="bg1"/>
                </a:solidFill>
                <a:latin typeface="Inter" panose="020B0604020202020204" charset="0"/>
                <a:ea typeface="Inter" panose="020B0604020202020204" charset="0"/>
              </a:rPr>
              <a:t>380.77</a:t>
            </a:r>
          </a:p>
        </p:txBody>
      </p:sp>
      <p:sp>
        <p:nvSpPr>
          <p:cNvPr id="9" name="TextBox 8">
            <a:extLst>
              <a:ext uri="{FF2B5EF4-FFF2-40B4-BE49-F238E27FC236}">
                <a16:creationId xmlns:a16="http://schemas.microsoft.com/office/drawing/2014/main" id="{E7707A58-0BDA-EDDB-ECFF-F9436A0C1321}"/>
              </a:ext>
            </a:extLst>
          </p:cNvPr>
          <p:cNvSpPr txBox="1"/>
          <p:nvPr/>
        </p:nvSpPr>
        <p:spPr>
          <a:xfrm>
            <a:off x="780445" y="2849488"/>
            <a:ext cx="4898461" cy="892552"/>
          </a:xfrm>
          <a:prstGeom prst="rect">
            <a:avLst/>
          </a:prstGeom>
          <a:noFill/>
        </p:spPr>
        <p:txBody>
          <a:bodyPr wrap="square" rtlCol="0">
            <a:spAutoFit/>
          </a:bodyPr>
          <a:lstStyle/>
          <a:p>
            <a:pPr algn="just"/>
            <a:r>
              <a:rPr lang="en-US" sz="1300" dirty="0">
                <a:latin typeface="Inter" panose="020B0604020202020204" charset="0"/>
                <a:ea typeface="Inter" panose="020B0604020202020204" charset="0"/>
              </a:rPr>
              <a:t>The low MAE suggests that the average error (absolute deviation) between predicted and actual values is minimal, showing consistent performance across predictions.</a:t>
            </a:r>
          </a:p>
          <a:p>
            <a:pPr algn="just"/>
            <a:endParaRPr lang="en-IN" sz="1300" dirty="0">
              <a:latin typeface="Inter" panose="020B0604020202020204" charset="0"/>
              <a:ea typeface="Inter" panose="020B0604020202020204" charset="0"/>
            </a:endParaRPr>
          </a:p>
        </p:txBody>
      </p:sp>
      <p:sp>
        <p:nvSpPr>
          <p:cNvPr id="10" name="TextBox 9">
            <a:extLst>
              <a:ext uri="{FF2B5EF4-FFF2-40B4-BE49-F238E27FC236}">
                <a16:creationId xmlns:a16="http://schemas.microsoft.com/office/drawing/2014/main" id="{65E798CB-7F98-0705-1652-6CF1015D8C1F}"/>
              </a:ext>
            </a:extLst>
          </p:cNvPr>
          <p:cNvSpPr txBox="1"/>
          <p:nvPr/>
        </p:nvSpPr>
        <p:spPr>
          <a:xfrm>
            <a:off x="7733899" y="1447305"/>
            <a:ext cx="1799924" cy="769441"/>
          </a:xfrm>
          <a:prstGeom prst="rect">
            <a:avLst/>
          </a:prstGeom>
          <a:noFill/>
        </p:spPr>
        <p:txBody>
          <a:bodyPr wrap="square" rtlCol="0">
            <a:spAutoFit/>
          </a:bodyPr>
          <a:lstStyle/>
          <a:p>
            <a:pPr algn="ctr"/>
            <a:r>
              <a:rPr lang="en-IN" sz="2200" b="1" dirty="0">
                <a:solidFill>
                  <a:schemeClr val="bg1"/>
                </a:solidFill>
                <a:latin typeface="Inter" panose="020B0604020202020204" charset="0"/>
                <a:ea typeface="Inter" panose="020B0604020202020204" charset="0"/>
              </a:rPr>
              <a:t>MSE</a:t>
            </a:r>
          </a:p>
          <a:p>
            <a:pPr algn="ctr"/>
            <a:r>
              <a:rPr lang="en-IN" sz="2200" b="1" dirty="0">
                <a:solidFill>
                  <a:schemeClr val="bg1"/>
                </a:solidFill>
                <a:latin typeface="Inter" panose="020B0604020202020204" charset="0"/>
                <a:ea typeface="Inter" panose="020B0604020202020204" charset="0"/>
              </a:rPr>
              <a:t>279526.02</a:t>
            </a:r>
          </a:p>
        </p:txBody>
      </p:sp>
      <p:sp>
        <p:nvSpPr>
          <p:cNvPr id="11" name="TextBox 10">
            <a:extLst>
              <a:ext uri="{FF2B5EF4-FFF2-40B4-BE49-F238E27FC236}">
                <a16:creationId xmlns:a16="http://schemas.microsoft.com/office/drawing/2014/main" id="{FE1E4AD5-A94D-04E7-6707-12BEA1DAC6E0}"/>
              </a:ext>
            </a:extLst>
          </p:cNvPr>
          <p:cNvSpPr txBox="1"/>
          <p:nvPr/>
        </p:nvSpPr>
        <p:spPr>
          <a:xfrm>
            <a:off x="6805061" y="2849488"/>
            <a:ext cx="3946358" cy="692497"/>
          </a:xfrm>
          <a:prstGeom prst="rect">
            <a:avLst/>
          </a:prstGeom>
          <a:noFill/>
        </p:spPr>
        <p:txBody>
          <a:bodyPr wrap="square" rtlCol="0">
            <a:spAutoFit/>
          </a:bodyPr>
          <a:lstStyle/>
          <a:p>
            <a:pPr algn="just"/>
            <a:r>
              <a:rPr lang="en-US" sz="1300" dirty="0">
                <a:latin typeface="Inter" panose="020B0604020202020204" charset="0"/>
                <a:ea typeface="Inter" panose="020B0604020202020204" charset="0"/>
              </a:rPr>
              <a:t>The model's low MSE indicates that it avoids large deviations between predicted and actual stock prices better than other models.</a:t>
            </a:r>
            <a:endParaRPr lang="en-IN" sz="1300" dirty="0">
              <a:latin typeface="Inter" panose="020B0604020202020204" charset="0"/>
              <a:ea typeface="Inter" panose="020B0604020202020204" charset="0"/>
            </a:endParaRPr>
          </a:p>
        </p:txBody>
      </p:sp>
      <p:sp>
        <p:nvSpPr>
          <p:cNvPr id="12" name="TextBox 11">
            <a:extLst>
              <a:ext uri="{FF2B5EF4-FFF2-40B4-BE49-F238E27FC236}">
                <a16:creationId xmlns:a16="http://schemas.microsoft.com/office/drawing/2014/main" id="{527C3E35-8AB2-6192-97FF-22226CA9AF0B}"/>
              </a:ext>
            </a:extLst>
          </p:cNvPr>
          <p:cNvSpPr txBox="1"/>
          <p:nvPr/>
        </p:nvSpPr>
        <p:spPr>
          <a:xfrm>
            <a:off x="2111431" y="4083023"/>
            <a:ext cx="1435767" cy="830997"/>
          </a:xfrm>
          <a:prstGeom prst="rect">
            <a:avLst/>
          </a:prstGeom>
          <a:noFill/>
        </p:spPr>
        <p:txBody>
          <a:bodyPr wrap="square" rtlCol="0">
            <a:spAutoFit/>
          </a:bodyPr>
          <a:lstStyle/>
          <a:p>
            <a:pPr algn="ctr"/>
            <a:r>
              <a:rPr lang="en-IN" sz="2400" b="1" dirty="0">
                <a:solidFill>
                  <a:schemeClr val="bg1"/>
                </a:solidFill>
                <a:latin typeface="Inter" panose="020B0604020202020204" charset="0"/>
                <a:ea typeface="Inter" panose="020B0604020202020204" charset="0"/>
              </a:rPr>
              <a:t>RMSE</a:t>
            </a:r>
          </a:p>
          <a:p>
            <a:pPr algn="ctr"/>
            <a:r>
              <a:rPr lang="en-IN" sz="2400" b="1" dirty="0">
                <a:solidFill>
                  <a:schemeClr val="bg1"/>
                </a:solidFill>
                <a:latin typeface="Inter" panose="020B0604020202020204" charset="0"/>
                <a:ea typeface="Inter" panose="020B0604020202020204" charset="0"/>
              </a:rPr>
              <a:t>528.70</a:t>
            </a:r>
          </a:p>
        </p:txBody>
      </p:sp>
      <p:sp>
        <p:nvSpPr>
          <p:cNvPr id="13" name="TextBox 12">
            <a:extLst>
              <a:ext uri="{FF2B5EF4-FFF2-40B4-BE49-F238E27FC236}">
                <a16:creationId xmlns:a16="http://schemas.microsoft.com/office/drawing/2014/main" id="{AFB080AC-A78A-49D5-313B-A6B583573917}"/>
              </a:ext>
            </a:extLst>
          </p:cNvPr>
          <p:cNvSpPr txBox="1"/>
          <p:nvPr/>
        </p:nvSpPr>
        <p:spPr>
          <a:xfrm>
            <a:off x="654518" y="5521473"/>
            <a:ext cx="5441482" cy="292388"/>
          </a:xfrm>
          <a:prstGeom prst="rect">
            <a:avLst/>
          </a:prstGeom>
          <a:noFill/>
        </p:spPr>
        <p:txBody>
          <a:bodyPr wrap="square" rtlCol="0">
            <a:spAutoFit/>
          </a:bodyPr>
          <a:lstStyle/>
          <a:p>
            <a:r>
              <a:rPr lang="en-US" sz="1300" dirty="0">
                <a:latin typeface="Inter" panose="020B0604020202020204" charset="0"/>
                <a:ea typeface="Inter" panose="020B0604020202020204" charset="0"/>
              </a:rPr>
              <a:t>Its low RMSE confirms that large errors are effectively minimized.</a:t>
            </a:r>
            <a:endParaRPr lang="en-IN" sz="1300" dirty="0">
              <a:latin typeface="Inter" panose="020B0604020202020204" charset="0"/>
              <a:ea typeface="Inter" panose="020B0604020202020204" charset="0"/>
            </a:endParaRPr>
          </a:p>
        </p:txBody>
      </p:sp>
      <p:sp>
        <p:nvSpPr>
          <p:cNvPr id="14" name="TextBox 13">
            <a:extLst>
              <a:ext uri="{FF2B5EF4-FFF2-40B4-BE49-F238E27FC236}">
                <a16:creationId xmlns:a16="http://schemas.microsoft.com/office/drawing/2014/main" id="{D9B86012-3E9B-DC4F-4A89-AA8E031D1F65}"/>
              </a:ext>
            </a:extLst>
          </p:cNvPr>
          <p:cNvSpPr txBox="1"/>
          <p:nvPr/>
        </p:nvSpPr>
        <p:spPr>
          <a:xfrm>
            <a:off x="7733899" y="4174727"/>
            <a:ext cx="1799924" cy="769441"/>
          </a:xfrm>
          <a:prstGeom prst="rect">
            <a:avLst/>
          </a:prstGeom>
          <a:noFill/>
        </p:spPr>
        <p:txBody>
          <a:bodyPr wrap="square" rtlCol="0">
            <a:spAutoFit/>
          </a:bodyPr>
          <a:lstStyle/>
          <a:p>
            <a:pPr algn="ctr"/>
            <a:r>
              <a:rPr lang="en-IN" sz="2200" b="1" dirty="0">
                <a:solidFill>
                  <a:schemeClr val="bg1"/>
                </a:solidFill>
                <a:latin typeface="Inter" panose="020B0604020202020204" charset="0"/>
                <a:ea typeface="Inter" panose="020B0604020202020204" charset="0"/>
              </a:rPr>
              <a:t>MAPE</a:t>
            </a:r>
          </a:p>
          <a:p>
            <a:pPr algn="ctr"/>
            <a:r>
              <a:rPr lang="en-IN" sz="2200" b="1" dirty="0">
                <a:solidFill>
                  <a:schemeClr val="bg1"/>
                </a:solidFill>
                <a:latin typeface="Inter" panose="020B0604020202020204" charset="0"/>
                <a:ea typeface="Inter" panose="020B0604020202020204" charset="0"/>
              </a:rPr>
              <a:t>0.446%</a:t>
            </a:r>
          </a:p>
        </p:txBody>
      </p:sp>
      <p:sp>
        <p:nvSpPr>
          <p:cNvPr id="15" name="TextBox 14">
            <a:extLst>
              <a:ext uri="{FF2B5EF4-FFF2-40B4-BE49-F238E27FC236}">
                <a16:creationId xmlns:a16="http://schemas.microsoft.com/office/drawing/2014/main" id="{3393EDFB-7872-50BB-2E00-D2F3A8B5AFFA}"/>
              </a:ext>
            </a:extLst>
          </p:cNvPr>
          <p:cNvSpPr txBox="1"/>
          <p:nvPr/>
        </p:nvSpPr>
        <p:spPr>
          <a:xfrm>
            <a:off x="6805061" y="5513144"/>
            <a:ext cx="4061861" cy="492443"/>
          </a:xfrm>
          <a:prstGeom prst="rect">
            <a:avLst/>
          </a:prstGeom>
          <a:noFill/>
        </p:spPr>
        <p:txBody>
          <a:bodyPr wrap="square" rtlCol="0">
            <a:spAutoFit/>
          </a:bodyPr>
          <a:lstStyle/>
          <a:p>
            <a:pPr algn="just"/>
            <a:r>
              <a:rPr lang="en-US" sz="1300" dirty="0">
                <a:latin typeface="Inter" panose="020B0604020202020204" charset="0"/>
                <a:ea typeface="Inter" panose="020B0604020202020204" charset="0"/>
              </a:rPr>
              <a:t>This indicates that the model’s predictions are highly accurate relative to the scale of the data.</a:t>
            </a:r>
            <a:endParaRPr lang="en-IN" sz="1300" dirty="0">
              <a:latin typeface="Inter" panose="020B0604020202020204" charset="0"/>
              <a:ea typeface="Inter" panose="020B0604020202020204" charset="0"/>
            </a:endParaRPr>
          </a:p>
        </p:txBody>
      </p:sp>
      <p:pic>
        <p:nvPicPr>
          <p:cNvPr id="16" name="Google Shape;11;p6">
            <a:extLst>
              <a:ext uri="{FF2B5EF4-FFF2-40B4-BE49-F238E27FC236}">
                <a16:creationId xmlns:a16="http://schemas.microsoft.com/office/drawing/2014/main" id="{BC31CF91-AADA-4DB2-CEB3-A2809DECBAF4}"/>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17" name="Google Shape;10;p6">
            <a:extLst>
              <a:ext uri="{FF2B5EF4-FFF2-40B4-BE49-F238E27FC236}">
                <a16:creationId xmlns:a16="http://schemas.microsoft.com/office/drawing/2014/main" id="{16502F8E-B3F0-A31A-16BC-BBA3D1E777A9}"/>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Tree>
    <p:extLst>
      <p:ext uri="{BB962C8B-B14F-4D97-AF65-F5344CB8AC3E}">
        <p14:creationId xmlns:p14="http://schemas.microsoft.com/office/powerpoint/2010/main" val="29781201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p6">
            <a:extLst>
              <a:ext uri="{FF2B5EF4-FFF2-40B4-BE49-F238E27FC236}">
                <a16:creationId xmlns:a16="http://schemas.microsoft.com/office/drawing/2014/main" id="{2E9E3D3D-1CEC-0004-C781-9DC18D1D4C73}"/>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pic>
        <p:nvPicPr>
          <p:cNvPr id="3" name="Google Shape;11;p6">
            <a:extLst>
              <a:ext uri="{FF2B5EF4-FFF2-40B4-BE49-F238E27FC236}">
                <a16:creationId xmlns:a16="http://schemas.microsoft.com/office/drawing/2014/main" id="{F43555C7-32BC-D3E4-384E-F804C653B854}"/>
              </a:ext>
            </a:extLst>
          </p:cNvPr>
          <p:cNvPicPr preferRelativeResize="0"/>
          <p:nvPr/>
        </p:nvPicPr>
        <p:blipFill rotWithShape="1">
          <a:blip r:embed="rId2">
            <a:alphaModFix/>
          </a:blip>
          <a:srcRect/>
          <a:stretch/>
        </p:blipFill>
        <p:spPr>
          <a:xfrm>
            <a:off x="10859781" y="6332369"/>
            <a:ext cx="1256427" cy="534202"/>
          </a:xfrm>
          <a:prstGeom prst="rect">
            <a:avLst/>
          </a:prstGeom>
          <a:noFill/>
          <a:ln>
            <a:noFill/>
          </a:ln>
        </p:spPr>
      </p:pic>
      <p:pic>
        <p:nvPicPr>
          <p:cNvPr id="5" name="Picture 4">
            <a:extLst>
              <a:ext uri="{FF2B5EF4-FFF2-40B4-BE49-F238E27FC236}">
                <a16:creationId xmlns:a16="http://schemas.microsoft.com/office/drawing/2014/main" id="{396AC4A7-E77D-BE7C-C72F-13C58322F1CC}"/>
              </a:ext>
            </a:extLst>
          </p:cNvPr>
          <p:cNvPicPr>
            <a:picLocks noChangeAspect="1"/>
          </p:cNvPicPr>
          <p:nvPr/>
        </p:nvPicPr>
        <p:blipFill>
          <a:blip r:embed="rId3"/>
          <a:stretch>
            <a:fillRect/>
          </a:stretch>
        </p:blipFill>
        <p:spPr>
          <a:xfrm>
            <a:off x="2163252" y="732864"/>
            <a:ext cx="7865495" cy="4032475"/>
          </a:xfrm>
          <a:prstGeom prst="rect">
            <a:avLst/>
          </a:prstGeom>
        </p:spPr>
      </p:pic>
      <p:sp>
        <p:nvSpPr>
          <p:cNvPr id="6" name="TextBox 5">
            <a:extLst>
              <a:ext uri="{FF2B5EF4-FFF2-40B4-BE49-F238E27FC236}">
                <a16:creationId xmlns:a16="http://schemas.microsoft.com/office/drawing/2014/main" id="{B2C9DD37-D4D7-FD4E-3505-7CBD72841873}"/>
              </a:ext>
            </a:extLst>
          </p:cNvPr>
          <p:cNvSpPr txBox="1"/>
          <p:nvPr/>
        </p:nvSpPr>
        <p:spPr>
          <a:xfrm>
            <a:off x="1249679" y="5384194"/>
            <a:ext cx="9692640" cy="523220"/>
          </a:xfrm>
          <a:prstGeom prst="rect">
            <a:avLst/>
          </a:prstGeom>
          <a:noFill/>
        </p:spPr>
        <p:txBody>
          <a:bodyPr wrap="square" rtlCol="0">
            <a:spAutoFit/>
          </a:bodyPr>
          <a:lstStyle/>
          <a:p>
            <a:pPr algn="just"/>
            <a:r>
              <a:rPr lang="en-US" dirty="0">
                <a:latin typeface="Inter" panose="020B0604020202020204" charset="0"/>
                <a:ea typeface="Inter" panose="020B0604020202020204" charset="0"/>
              </a:rPr>
              <a:t>The </a:t>
            </a:r>
            <a:r>
              <a:rPr lang="en-US" dirty="0" err="1">
                <a:latin typeface="Inter" panose="020B0604020202020204" charset="0"/>
                <a:ea typeface="Inter" panose="020B0604020202020204" charset="0"/>
              </a:rPr>
              <a:t>TimesNet+BiLSTM</a:t>
            </a:r>
            <a:r>
              <a:rPr lang="en-US" dirty="0">
                <a:latin typeface="Inter" panose="020B0604020202020204" charset="0"/>
                <a:ea typeface="Inter" panose="020B0604020202020204" charset="0"/>
              </a:rPr>
              <a:t> model captures the general trend of the actual time series but exhibits limitations in predicting precise price levels and volatility, with a noticeable lag in predictions.</a:t>
            </a:r>
            <a:endParaRPr lang="en-IN" dirty="0">
              <a:latin typeface="Inter" panose="020B0604020202020204" charset="0"/>
              <a:ea typeface="Inter" panose="020B0604020202020204" charset="0"/>
            </a:endParaRPr>
          </a:p>
        </p:txBody>
      </p:sp>
      <p:sp>
        <p:nvSpPr>
          <p:cNvPr id="7" name="TextBox 6">
            <a:extLst>
              <a:ext uri="{FF2B5EF4-FFF2-40B4-BE49-F238E27FC236}">
                <a16:creationId xmlns:a16="http://schemas.microsoft.com/office/drawing/2014/main" id="{05A9911F-13EF-425B-F6D7-48239EB73EEB}"/>
              </a:ext>
            </a:extLst>
          </p:cNvPr>
          <p:cNvSpPr txBox="1"/>
          <p:nvPr/>
        </p:nvSpPr>
        <p:spPr>
          <a:xfrm>
            <a:off x="4383408" y="4836128"/>
            <a:ext cx="4316092" cy="246221"/>
          </a:xfrm>
          <a:prstGeom prst="rect">
            <a:avLst/>
          </a:prstGeom>
          <a:noFill/>
        </p:spPr>
        <p:txBody>
          <a:bodyPr wrap="square" rtlCol="0">
            <a:spAutoFit/>
          </a:bodyPr>
          <a:lstStyle/>
          <a:p>
            <a:r>
              <a:rPr lang="en-IN" sz="1000" dirty="0">
                <a:latin typeface="Inter" panose="020B0604020202020204" charset="0"/>
                <a:ea typeface="Inter" panose="020B0604020202020204" charset="0"/>
              </a:rPr>
              <a:t>Fig : Actual vs Predicted values plot/ graphical representation</a:t>
            </a:r>
          </a:p>
        </p:txBody>
      </p:sp>
    </p:spTree>
    <p:extLst>
      <p:ext uri="{BB962C8B-B14F-4D97-AF65-F5344CB8AC3E}">
        <p14:creationId xmlns:p14="http://schemas.microsoft.com/office/powerpoint/2010/main" val="38887200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DC1276-A413-CB30-8351-E19644DA7764}"/>
              </a:ext>
            </a:extLst>
          </p:cNvPr>
          <p:cNvSpPr txBox="1"/>
          <p:nvPr/>
        </p:nvSpPr>
        <p:spPr>
          <a:xfrm>
            <a:off x="891940" y="2242686"/>
            <a:ext cx="2871537" cy="2677656"/>
          </a:xfrm>
          <a:prstGeom prst="rect">
            <a:avLst/>
          </a:prstGeom>
          <a:solidFill>
            <a:srgbClr val="007367"/>
          </a:solidFill>
        </p:spPr>
        <p:txBody>
          <a:bodyPr wrap="square" rtlCol="0">
            <a:spAutoFit/>
          </a:bodyPr>
          <a:lstStyle/>
          <a:p>
            <a:pPr marL="285750" indent="-285750">
              <a:buFont typeface="Arial" panose="020B0604020202020204" pitchFamily="34" charset="0"/>
              <a:buChar char="•"/>
            </a:pPr>
            <a:r>
              <a:rPr lang="en-US" dirty="0">
                <a:solidFill>
                  <a:schemeClr val="bg1"/>
                </a:solidFill>
                <a:latin typeface="Inter" panose="020B0604020202020204" charset="0"/>
                <a:ea typeface="Inter" panose="020B0604020202020204" charset="0"/>
              </a:rPr>
              <a:t>The input data (features Open, High, Low) is first processed by the Bi-LSTM layer. This layer captures the temporal dependencies from the time-series data.</a:t>
            </a:r>
          </a:p>
          <a:p>
            <a:pPr marL="285750" indent="-285750">
              <a:buFont typeface="Arial" panose="020B0604020202020204" pitchFamily="34" charset="0"/>
              <a:buChar char="•"/>
            </a:pPr>
            <a:r>
              <a:rPr lang="en-US" dirty="0">
                <a:solidFill>
                  <a:schemeClr val="bg1"/>
                </a:solidFill>
                <a:latin typeface="Inter" panose="020B0604020202020204" charset="0"/>
                <a:ea typeface="Inter" panose="020B0604020202020204" charset="0"/>
              </a:rPr>
              <a:t>The output of the Bi-LSTM layer is a vector (size 64), which represents the sequential information extracted from the input data.</a:t>
            </a:r>
          </a:p>
        </p:txBody>
      </p:sp>
      <p:cxnSp>
        <p:nvCxnSpPr>
          <p:cNvPr id="4" name="Straight Arrow Connector 3">
            <a:extLst>
              <a:ext uri="{FF2B5EF4-FFF2-40B4-BE49-F238E27FC236}">
                <a16:creationId xmlns:a16="http://schemas.microsoft.com/office/drawing/2014/main" id="{E88E21A1-8978-F675-5B40-DB2426C01E9E}"/>
              </a:ext>
            </a:extLst>
          </p:cNvPr>
          <p:cNvCxnSpPr>
            <a:cxnSpLocks/>
          </p:cNvCxnSpPr>
          <p:nvPr/>
        </p:nvCxnSpPr>
        <p:spPr>
          <a:xfrm>
            <a:off x="3739415" y="3581514"/>
            <a:ext cx="601578" cy="0"/>
          </a:xfrm>
          <a:prstGeom prst="straightConnector1">
            <a:avLst/>
          </a:prstGeom>
          <a:ln w="38100">
            <a:solidFill>
              <a:schemeClr val="bg2"/>
            </a:solidFill>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D396364C-87CC-19EA-E050-A8CD69435EE2}"/>
              </a:ext>
            </a:extLst>
          </p:cNvPr>
          <p:cNvSpPr txBox="1"/>
          <p:nvPr/>
        </p:nvSpPr>
        <p:spPr>
          <a:xfrm>
            <a:off x="4340994" y="2242686"/>
            <a:ext cx="3676852" cy="2677656"/>
          </a:xfrm>
          <a:prstGeom prst="rect">
            <a:avLst/>
          </a:prstGeom>
          <a:solidFill>
            <a:srgbClr val="007367"/>
          </a:solidFill>
        </p:spPr>
        <p:txBody>
          <a:bodyPr wrap="square" rtlCol="0">
            <a:spAutoFit/>
          </a:bodyPr>
          <a:lstStyle/>
          <a:p>
            <a:pPr marL="285750" indent="-285750">
              <a:buFont typeface="Arial" panose="020B0604020202020204" pitchFamily="34" charset="0"/>
              <a:buChar char="•"/>
            </a:pPr>
            <a:r>
              <a:rPr lang="en-US" dirty="0">
                <a:solidFill>
                  <a:schemeClr val="bg1"/>
                </a:solidFill>
                <a:latin typeface="Inter" panose="020B0604020202020204" charset="0"/>
                <a:ea typeface="Inter" panose="020B0604020202020204" charset="0"/>
              </a:rPr>
              <a:t>After the Bi-LSTM, the same input data (the features Open, High, Low) is processed by the </a:t>
            </a:r>
            <a:r>
              <a:rPr lang="en-US" dirty="0" err="1">
                <a:solidFill>
                  <a:schemeClr val="bg1"/>
                </a:solidFill>
                <a:latin typeface="Inter" panose="020B0604020202020204" charset="0"/>
                <a:ea typeface="Inter" panose="020B0604020202020204" charset="0"/>
              </a:rPr>
              <a:t>TimesNet</a:t>
            </a:r>
            <a:r>
              <a:rPr lang="en-US" dirty="0">
                <a:solidFill>
                  <a:schemeClr val="bg1"/>
                </a:solidFill>
                <a:latin typeface="Inter" panose="020B0604020202020204" charset="0"/>
                <a:ea typeface="Inter" panose="020B0604020202020204" charset="0"/>
              </a:rPr>
              <a:t> block. This block is based on fully connected dense layers and is intended to capture features beyond what the Bi-LSTM layer might extract.</a:t>
            </a:r>
          </a:p>
          <a:p>
            <a:pPr marL="285750" indent="-285750">
              <a:buFont typeface="Arial" panose="020B0604020202020204" pitchFamily="34" charset="0"/>
              <a:buChar char="•"/>
            </a:pPr>
            <a:r>
              <a:rPr lang="en-US" dirty="0">
                <a:solidFill>
                  <a:schemeClr val="bg1"/>
                </a:solidFill>
                <a:latin typeface="Inter" panose="020B0604020202020204" charset="0"/>
                <a:ea typeface="Inter" panose="020B0604020202020204" charset="0"/>
              </a:rPr>
              <a:t>The output of the </a:t>
            </a:r>
            <a:r>
              <a:rPr lang="en-US" dirty="0" err="1">
                <a:solidFill>
                  <a:schemeClr val="bg1"/>
                </a:solidFill>
                <a:latin typeface="Inter" panose="020B0604020202020204" charset="0"/>
                <a:ea typeface="Inter" panose="020B0604020202020204" charset="0"/>
              </a:rPr>
              <a:t>TimesNet</a:t>
            </a:r>
            <a:r>
              <a:rPr lang="en-US" dirty="0">
                <a:solidFill>
                  <a:schemeClr val="bg1"/>
                </a:solidFill>
                <a:latin typeface="Inter" panose="020B0604020202020204" charset="0"/>
                <a:ea typeface="Inter" panose="020B0604020202020204" charset="0"/>
              </a:rPr>
              <a:t> block is also a vector (size 64), which represents different learned features from the same data.</a:t>
            </a:r>
          </a:p>
        </p:txBody>
      </p:sp>
      <p:cxnSp>
        <p:nvCxnSpPr>
          <p:cNvPr id="9" name="Straight Arrow Connector 8">
            <a:extLst>
              <a:ext uri="{FF2B5EF4-FFF2-40B4-BE49-F238E27FC236}">
                <a16:creationId xmlns:a16="http://schemas.microsoft.com/office/drawing/2014/main" id="{4E19CECF-A75D-96F0-82A1-6BD0CC11AC66}"/>
              </a:ext>
            </a:extLst>
          </p:cNvPr>
          <p:cNvCxnSpPr>
            <a:cxnSpLocks/>
          </p:cNvCxnSpPr>
          <p:nvPr/>
        </p:nvCxnSpPr>
        <p:spPr>
          <a:xfrm>
            <a:off x="8120516" y="3473793"/>
            <a:ext cx="577516" cy="0"/>
          </a:xfrm>
          <a:prstGeom prst="straightConnector1">
            <a:avLst/>
          </a:prstGeom>
          <a:ln w="38100">
            <a:solidFill>
              <a:schemeClr val="bg2"/>
            </a:solidFill>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F9F565CB-4FE0-ED46-E668-5E01ECDEDA11}"/>
              </a:ext>
            </a:extLst>
          </p:cNvPr>
          <p:cNvSpPr txBox="1"/>
          <p:nvPr/>
        </p:nvSpPr>
        <p:spPr>
          <a:xfrm>
            <a:off x="8673971" y="2197893"/>
            <a:ext cx="2606838" cy="2677656"/>
          </a:xfrm>
          <a:prstGeom prst="rect">
            <a:avLst/>
          </a:prstGeom>
          <a:solidFill>
            <a:srgbClr val="007367"/>
          </a:solidFill>
        </p:spPr>
        <p:txBody>
          <a:bodyPr wrap="square" rtlCol="0">
            <a:spAutoFit/>
          </a:bodyPr>
          <a:lstStyle/>
          <a:p>
            <a:pPr marL="285750" indent="-285750">
              <a:buFont typeface="Arial" panose="020B0604020202020204" pitchFamily="34" charset="0"/>
              <a:buChar char="•"/>
            </a:pPr>
            <a:r>
              <a:rPr lang="en-US" dirty="0">
                <a:solidFill>
                  <a:schemeClr val="bg1"/>
                </a:solidFill>
                <a:latin typeface="Inter" panose="020B0604020202020204" charset="0"/>
                <a:ea typeface="Inter" panose="020B0604020202020204" charset="0"/>
              </a:rPr>
              <a:t>The outputs of the Bi-LSTM (size 64) and </a:t>
            </a:r>
            <a:r>
              <a:rPr lang="en-US" dirty="0" err="1">
                <a:solidFill>
                  <a:schemeClr val="bg1"/>
                </a:solidFill>
                <a:latin typeface="Inter" panose="020B0604020202020204" charset="0"/>
                <a:ea typeface="Inter" panose="020B0604020202020204" charset="0"/>
              </a:rPr>
              <a:t>TimesNet</a:t>
            </a:r>
            <a:r>
              <a:rPr lang="en-US" dirty="0">
                <a:solidFill>
                  <a:schemeClr val="bg1"/>
                </a:solidFill>
                <a:latin typeface="Inter" panose="020B0604020202020204" charset="0"/>
                <a:ea typeface="Inter" panose="020B0604020202020204" charset="0"/>
              </a:rPr>
              <a:t> (size 64) are concatenated, resulting in a combined vector of size 128.</a:t>
            </a:r>
          </a:p>
          <a:p>
            <a:pPr marL="285750" indent="-285750">
              <a:buFont typeface="Arial" panose="020B0604020202020204" pitchFamily="34" charset="0"/>
              <a:buChar char="•"/>
            </a:pPr>
            <a:r>
              <a:rPr lang="en-US" dirty="0">
                <a:solidFill>
                  <a:schemeClr val="bg1"/>
                </a:solidFill>
                <a:latin typeface="Inter" panose="020B0604020202020204" charset="0"/>
                <a:ea typeface="Inter" panose="020B0604020202020204" charset="0"/>
              </a:rPr>
              <a:t>This concatenated vector is then passed to a Dense layer to generate the final output (the predicted closing price Close).</a:t>
            </a:r>
          </a:p>
        </p:txBody>
      </p:sp>
      <p:sp>
        <p:nvSpPr>
          <p:cNvPr id="16" name="TextBox 15">
            <a:extLst>
              <a:ext uri="{FF2B5EF4-FFF2-40B4-BE49-F238E27FC236}">
                <a16:creationId xmlns:a16="http://schemas.microsoft.com/office/drawing/2014/main" id="{83E565AA-CBEF-8B1D-0AFB-63E0DC2116C6}"/>
              </a:ext>
            </a:extLst>
          </p:cNvPr>
          <p:cNvSpPr txBox="1"/>
          <p:nvPr/>
        </p:nvSpPr>
        <p:spPr>
          <a:xfrm>
            <a:off x="1158238" y="1828561"/>
            <a:ext cx="2338939" cy="369332"/>
          </a:xfrm>
          <a:prstGeom prst="rect">
            <a:avLst/>
          </a:prstGeom>
          <a:noFill/>
        </p:spPr>
        <p:txBody>
          <a:bodyPr wrap="square" rtlCol="0">
            <a:spAutoFit/>
          </a:bodyPr>
          <a:lstStyle/>
          <a:p>
            <a:pPr algn="ctr"/>
            <a:r>
              <a:rPr lang="en-IN" sz="1800" b="1" dirty="0">
                <a:latin typeface="Inter" panose="020B0604020202020204" charset="0"/>
                <a:ea typeface="Inter" panose="020B0604020202020204" charset="0"/>
              </a:rPr>
              <a:t>Bi LSTM BRANCH</a:t>
            </a:r>
          </a:p>
        </p:txBody>
      </p:sp>
      <p:sp>
        <p:nvSpPr>
          <p:cNvPr id="17" name="TextBox 16">
            <a:extLst>
              <a:ext uri="{FF2B5EF4-FFF2-40B4-BE49-F238E27FC236}">
                <a16:creationId xmlns:a16="http://schemas.microsoft.com/office/drawing/2014/main" id="{D2466911-180E-1BAD-FF3E-CF32CC57A468}"/>
              </a:ext>
            </a:extLst>
          </p:cNvPr>
          <p:cNvSpPr txBox="1"/>
          <p:nvPr/>
        </p:nvSpPr>
        <p:spPr>
          <a:xfrm>
            <a:off x="5009950" y="1828561"/>
            <a:ext cx="2338939" cy="369332"/>
          </a:xfrm>
          <a:prstGeom prst="rect">
            <a:avLst/>
          </a:prstGeom>
          <a:noFill/>
        </p:spPr>
        <p:txBody>
          <a:bodyPr wrap="square" rtlCol="0">
            <a:spAutoFit/>
          </a:bodyPr>
          <a:lstStyle/>
          <a:p>
            <a:pPr algn="ctr"/>
            <a:r>
              <a:rPr lang="en-IN" sz="1800" b="1" dirty="0" err="1">
                <a:latin typeface="Inter" panose="020B0604020202020204" charset="0"/>
                <a:ea typeface="Inter" panose="020B0604020202020204" charset="0"/>
              </a:rPr>
              <a:t>TimesNet</a:t>
            </a:r>
            <a:r>
              <a:rPr lang="en-IN" sz="1800" b="1" dirty="0">
                <a:latin typeface="Inter" panose="020B0604020202020204" charset="0"/>
                <a:ea typeface="Inter" panose="020B0604020202020204" charset="0"/>
              </a:rPr>
              <a:t> BRANCH</a:t>
            </a:r>
          </a:p>
        </p:txBody>
      </p:sp>
      <p:sp>
        <p:nvSpPr>
          <p:cNvPr id="18" name="TextBox 17">
            <a:extLst>
              <a:ext uri="{FF2B5EF4-FFF2-40B4-BE49-F238E27FC236}">
                <a16:creationId xmlns:a16="http://schemas.microsoft.com/office/drawing/2014/main" id="{199443E0-4D1B-ECD3-39DC-BBD370527347}"/>
              </a:ext>
            </a:extLst>
          </p:cNvPr>
          <p:cNvSpPr txBox="1"/>
          <p:nvPr/>
        </p:nvSpPr>
        <p:spPr>
          <a:xfrm>
            <a:off x="8807920" y="1828561"/>
            <a:ext cx="2338939" cy="369332"/>
          </a:xfrm>
          <a:prstGeom prst="rect">
            <a:avLst/>
          </a:prstGeom>
          <a:noFill/>
        </p:spPr>
        <p:txBody>
          <a:bodyPr wrap="square" rtlCol="0">
            <a:spAutoFit/>
          </a:bodyPr>
          <a:lstStyle/>
          <a:p>
            <a:pPr algn="ctr"/>
            <a:r>
              <a:rPr lang="en-IN" sz="1800" b="1" dirty="0">
                <a:latin typeface="Inter" panose="020B0604020202020204" charset="0"/>
                <a:ea typeface="Inter" panose="020B0604020202020204" charset="0"/>
              </a:rPr>
              <a:t>CONCATENATE</a:t>
            </a:r>
          </a:p>
        </p:txBody>
      </p:sp>
      <p:sp>
        <p:nvSpPr>
          <p:cNvPr id="19" name="Google Shape;10;p6">
            <a:extLst>
              <a:ext uri="{FF2B5EF4-FFF2-40B4-BE49-F238E27FC236}">
                <a16:creationId xmlns:a16="http://schemas.microsoft.com/office/drawing/2014/main" id="{3829C5AB-FA77-1ACA-D445-A3EE733F9074}"/>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pic>
        <p:nvPicPr>
          <p:cNvPr id="20" name="Google Shape;11;p6">
            <a:extLst>
              <a:ext uri="{FF2B5EF4-FFF2-40B4-BE49-F238E27FC236}">
                <a16:creationId xmlns:a16="http://schemas.microsoft.com/office/drawing/2014/main" id="{4A6B754B-2C38-80E5-EC5A-7A92B2002BFB}"/>
              </a:ext>
            </a:extLst>
          </p:cNvPr>
          <p:cNvPicPr preferRelativeResize="0"/>
          <p:nvPr/>
        </p:nvPicPr>
        <p:blipFill rotWithShape="1">
          <a:blip r:embed="rId2">
            <a:alphaModFix/>
          </a:blip>
          <a:srcRect/>
          <a:stretch/>
        </p:blipFill>
        <p:spPr>
          <a:xfrm>
            <a:off x="10859781" y="6332369"/>
            <a:ext cx="1256427" cy="534202"/>
          </a:xfrm>
          <a:prstGeom prst="rect">
            <a:avLst/>
          </a:prstGeom>
          <a:noFill/>
          <a:ln>
            <a:noFill/>
          </a:ln>
        </p:spPr>
      </p:pic>
    </p:spTree>
    <p:extLst>
      <p:ext uri="{BB962C8B-B14F-4D97-AF65-F5344CB8AC3E}">
        <p14:creationId xmlns:p14="http://schemas.microsoft.com/office/powerpoint/2010/main" val="17659280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39B622B-B446-CF4A-6C0E-0E0B759402FD}"/>
              </a:ext>
            </a:extLst>
          </p:cNvPr>
          <p:cNvSpPr txBox="1"/>
          <p:nvPr/>
        </p:nvSpPr>
        <p:spPr>
          <a:xfrm>
            <a:off x="336884" y="434340"/>
            <a:ext cx="2213811" cy="954107"/>
          </a:xfrm>
          <a:prstGeom prst="rect">
            <a:avLst/>
          </a:prstGeom>
          <a:solidFill>
            <a:srgbClr val="007367"/>
          </a:solidFill>
        </p:spPr>
        <p:txBody>
          <a:bodyPr wrap="square" rtlCol="0">
            <a:spAutoFit/>
          </a:bodyPr>
          <a:lstStyle/>
          <a:p>
            <a:pPr algn="ctr"/>
            <a:r>
              <a:rPr lang="en-IN" dirty="0">
                <a:solidFill>
                  <a:schemeClr val="bg1"/>
                </a:solidFill>
                <a:latin typeface="Inter" panose="020B0604020202020204" charset="0"/>
                <a:ea typeface="Inter" panose="020B0604020202020204" charset="0"/>
              </a:rPr>
              <a:t>Import all the libraries</a:t>
            </a:r>
          </a:p>
          <a:p>
            <a:pPr algn="ctr"/>
            <a:r>
              <a:rPr lang="en-IN" dirty="0">
                <a:solidFill>
                  <a:schemeClr val="bg1"/>
                </a:solidFill>
                <a:latin typeface="Inter" panose="020B0604020202020204" charset="0"/>
                <a:ea typeface="Inter" panose="020B0604020202020204" charset="0"/>
              </a:rPr>
              <a:t>(</a:t>
            </a:r>
            <a:r>
              <a:rPr lang="en-IN" dirty="0" err="1">
                <a:solidFill>
                  <a:schemeClr val="bg1"/>
                </a:solidFill>
                <a:latin typeface="Inter" panose="020B0604020202020204" charset="0"/>
                <a:ea typeface="Inter" panose="020B0604020202020204" charset="0"/>
              </a:rPr>
              <a:t>Numpy,Pandas</a:t>
            </a:r>
            <a:r>
              <a:rPr lang="en-IN" dirty="0">
                <a:solidFill>
                  <a:schemeClr val="bg1"/>
                </a:solidFill>
                <a:latin typeface="Inter" panose="020B0604020202020204" charset="0"/>
                <a:ea typeface="Inter" panose="020B0604020202020204" charset="0"/>
              </a:rPr>
              <a:t>, </a:t>
            </a:r>
            <a:r>
              <a:rPr lang="en-IN" dirty="0" err="1">
                <a:solidFill>
                  <a:schemeClr val="bg1"/>
                </a:solidFill>
                <a:latin typeface="Inter" panose="020B0604020202020204" charset="0"/>
                <a:ea typeface="Inter" panose="020B0604020202020204" charset="0"/>
              </a:rPr>
              <a:t>Tensorflow</a:t>
            </a:r>
            <a:r>
              <a:rPr lang="en-IN" dirty="0">
                <a:solidFill>
                  <a:schemeClr val="bg1"/>
                </a:solidFill>
                <a:latin typeface="Inter" panose="020B0604020202020204" charset="0"/>
                <a:ea typeface="Inter" panose="020B0604020202020204" charset="0"/>
              </a:rPr>
              <a:t>, </a:t>
            </a:r>
            <a:r>
              <a:rPr lang="en-IN" dirty="0" err="1">
                <a:solidFill>
                  <a:schemeClr val="bg1"/>
                </a:solidFill>
                <a:latin typeface="Inter" panose="020B0604020202020204" charset="0"/>
                <a:ea typeface="Inter" panose="020B0604020202020204" charset="0"/>
              </a:rPr>
              <a:t>Keras</a:t>
            </a:r>
            <a:r>
              <a:rPr lang="en-IN" dirty="0">
                <a:solidFill>
                  <a:schemeClr val="bg1"/>
                </a:solidFill>
                <a:latin typeface="Inter" panose="020B0604020202020204" charset="0"/>
                <a:ea typeface="Inter" panose="020B0604020202020204" charset="0"/>
              </a:rPr>
              <a:t>, </a:t>
            </a:r>
            <a:r>
              <a:rPr lang="en-IN" dirty="0" err="1">
                <a:solidFill>
                  <a:schemeClr val="bg1"/>
                </a:solidFill>
                <a:latin typeface="Inter" panose="020B0604020202020204" charset="0"/>
                <a:ea typeface="Inter" panose="020B0604020202020204" charset="0"/>
              </a:rPr>
              <a:t>Sklearn</a:t>
            </a:r>
            <a:r>
              <a:rPr lang="en-IN" dirty="0">
                <a:solidFill>
                  <a:schemeClr val="bg1"/>
                </a:solidFill>
                <a:latin typeface="Inter" panose="020B0604020202020204" charset="0"/>
                <a:ea typeface="Inter" panose="020B0604020202020204" charset="0"/>
              </a:rPr>
              <a:t>, Matplotlib)</a:t>
            </a:r>
          </a:p>
        </p:txBody>
      </p:sp>
      <p:cxnSp>
        <p:nvCxnSpPr>
          <p:cNvPr id="6" name="Straight Arrow Connector 5">
            <a:extLst>
              <a:ext uri="{FF2B5EF4-FFF2-40B4-BE49-F238E27FC236}">
                <a16:creationId xmlns:a16="http://schemas.microsoft.com/office/drawing/2014/main" id="{39D2E201-6F0B-F6BD-CCB4-661811D64F9C}"/>
              </a:ext>
            </a:extLst>
          </p:cNvPr>
          <p:cNvCxnSpPr>
            <a:cxnSpLocks/>
            <a:stCxn id="3" idx="3"/>
          </p:cNvCxnSpPr>
          <p:nvPr/>
        </p:nvCxnSpPr>
        <p:spPr>
          <a:xfrm flipV="1">
            <a:off x="2550695" y="911393"/>
            <a:ext cx="462012" cy="1"/>
          </a:xfrm>
          <a:prstGeom prst="straightConnector1">
            <a:avLst/>
          </a:prstGeom>
          <a:ln w="38100">
            <a:solidFill>
              <a:schemeClr val="accent3">
                <a:lumMod val="10000"/>
              </a:schemeClr>
            </a:solidFill>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88964686-7231-3DB8-1DC7-03C2B5A90CDD}"/>
              </a:ext>
            </a:extLst>
          </p:cNvPr>
          <p:cNvSpPr txBox="1"/>
          <p:nvPr/>
        </p:nvSpPr>
        <p:spPr>
          <a:xfrm>
            <a:off x="3012707" y="434340"/>
            <a:ext cx="2213811" cy="1169551"/>
          </a:xfrm>
          <a:prstGeom prst="rect">
            <a:avLst/>
          </a:prstGeom>
          <a:solidFill>
            <a:srgbClr val="007367"/>
          </a:solidFill>
        </p:spPr>
        <p:txBody>
          <a:bodyPr wrap="square" rtlCol="0">
            <a:spAutoFit/>
          </a:bodyPr>
          <a:lstStyle/>
          <a:p>
            <a:pPr algn="ctr"/>
            <a:r>
              <a:rPr lang="en-IN" dirty="0" err="1">
                <a:solidFill>
                  <a:schemeClr val="bg1"/>
                </a:solidFill>
                <a:latin typeface="Inter" panose="020B0604020202020204" charset="0"/>
                <a:ea typeface="Inter" panose="020B0604020202020204" charset="0"/>
              </a:rPr>
              <a:t>TimesNet</a:t>
            </a:r>
            <a:r>
              <a:rPr lang="en-IN" dirty="0">
                <a:solidFill>
                  <a:schemeClr val="bg1"/>
                </a:solidFill>
                <a:latin typeface="Inter" panose="020B0604020202020204" charset="0"/>
                <a:ea typeface="Inter" panose="020B0604020202020204" charset="0"/>
              </a:rPr>
              <a:t> Algorithm </a:t>
            </a:r>
          </a:p>
          <a:p>
            <a:pPr algn="ctr"/>
            <a:r>
              <a:rPr lang="en-IN" dirty="0">
                <a:solidFill>
                  <a:schemeClr val="bg1"/>
                </a:solidFill>
                <a:latin typeface="Inter" panose="020B0604020202020204" charset="0"/>
                <a:ea typeface="Inter" panose="020B0604020202020204" charset="0"/>
              </a:rPr>
              <a:t>(It takes an input tensor, applies 2 dense layers with </a:t>
            </a:r>
            <a:r>
              <a:rPr lang="en-IN" dirty="0" err="1">
                <a:solidFill>
                  <a:schemeClr val="bg1"/>
                </a:solidFill>
                <a:latin typeface="Inter" panose="020B0604020202020204" charset="0"/>
                <a:ea typeface="Inter" panose="020B0604020202020204" charset="0"/>
              </a:rPr>
              <a:t>ReLY</a:t>
            </a:r>
            <a:r>
              <a:rPr lang="en-IN" dirty="0">
                <a:solidFill>
                  <a:schemeClr val="bg1"/>
                </a:solidFill>
                <a:latin typeface="Inter" panose="020B0604020202020204" charset="0"/>
                <a:ea typeface="Inter" panose="020B0604020202020204" charset="0"/>
              </a:rPr>
              <a:t> activations)</a:t>
            </a:r>
          </a:p>
        </p:txBody>
      </p:sp>
      <p:cxnSp>
        <p:nvCxnSpPr>
          <p:cNvPr id="10" name="Straight Arrow Connector 9">
            <a:extLst>
              <a:ext uri="{FF2B5EF4-FFF2-40B4-BE49-F238E27FC236}">
                <a16:creationId xmlns:a16="http://schemas.microsoft.com/office/drawing/2014/main" id="{C04E2F0A-08CA-E22A-8594-1E2DFB3129CE}"/>
              </a:ext>
            </a:extLst>
          </p:cNvPr>
          <p:cNvCxnSpPr>
            <a:cxnSpLocks/>
            <a:stCxn id="9" idx="3"/>
          </p:cNvCxnSpPr>
          <p:nvPr/>
        </p:nvCxnSpPr>
        <p:spPr>
          <a:xfrm>
            <a:off x="5226518" y="1019116"/>
            <a:ext cx="462012" cy="0"/>
          </a:xfrm>
          <a:prstGeom prst="straightConnector1">
            <a:avLst/>
          </a:prstGeom>
          <a:ln w="38100">
            <a:solidFill>
              <a:schemeClr val="accent3">
                <a:lumMod val="10000"/>
              </a:schemeClr>
            </a:solidFill>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5AE01B88-1DCC-EAC7-9D30-EF5A95E601F1}"/>
              </a:ext>
            </a:extLst>
          </p:cNvPr>
          <p:cNvSpPr txBox="1"/>
          <p:nvPr/>
        </p:nvSpPr>
        <p:spPr>
          <a:xfrm>
            <a:off x="5688530" y="434339"/>
            <a:ext cx="2213811" cy="1384995"/>
          </a:xfrm>
          <a:prstGeom prst="rect">
            <a:avLst/>
          </a:prstGeom>
          <a:solidFill>
            <a:srgbClr val="007367"/>
          </a:solidFill>
        </p:spPr>
        <p:txBody>
          <a:bodyPr wrap="square" rtlCol="0">
            <a:spAutoFit/>
          </a:bodyPr>
          <a:lstStyle/>
          <a:p>
            <a:pPr algn="ctr"/>
            <a:r>
              <a:rPr lang="en-IN" dirty="0">
                <a:solidFill>
                  <a:schemeClr val="bg1"/>
                </a:solidFill>
                <a:latin typeface="Inter" panose="020B0604020202020204" charset="0"/>
                <a:ea typeface="Inter" panose="020B0604020202020204" charset="0"/>
              </a:rPr>
              <a:t>Load Data</a:t>
            </a:r>
          </a:p>
          <a:p>
            <a:pPr algn="ctr"/>
            <a:r>
              <a:rPr lang="en-IN" dirty="0">
                <a:solidFill>
                  <a:schemeClr val="bg1"/>
                </a:solidFill>
                <a:latin typeface="Inter" panose="020B0604020202020204" charset="0"/>
                <a:ea typeface="Inter" panose="020B0604020202020204" charset="0"/>
              </a:rPr>
              <a:t>(Load both Training and Testing csv files into </a:t>
            </a:r>
            <a:r>
              <a:rPr lang="en-IN" dirty="0" err="1">
                <a:solidFill>
                  <a:schemeClr val="bg1"/>
                </a:solidFill>
                <a:latin typeface="Inter" panose="020B0604020202020204" charset="0"/>
                <a:ea typeface="Inter" panose="020B0604020202020204" charset="0"/>
              </a:rPr>
              <a:t>train_data</a:t>
            </a:r>
            <a:r>
              <a:rPr lang="en-IN" dirty="0">
                <a:solidFill>
                  <a:schemeClr val="bg1"/>
                </a:solidFill>
                <a:latin typeface="Inter" panose="020B0604020202020204" charset="0"/>
                <a:ea typeface="Inter" panose="020B0604020202020204" charset="0"/>
              </a:rPr>
              <a:t> and </a:t>
            </a:r>
            <a:r>
              <a:rPr lang="en-IN" dirty="0" err="1">
                <a:solidFill>
                  <a:schemeClr val="bg1"/>
                </a:solidFill>
                <a:latin typeface="Inter" panose="020B0604020202020204" charset="0"/>
                <a:ea typeface="Inter" panose="020B0604020202020204" charset="0"/>
              </a:rPr>
              <a:t>test_data</a:t>
            </a:r>
            <a:r>
              <a:rPr lang="en-IN" dirty="0">
                <a:solidFill>
                  <a:schemeClr val="bg1"/>
                </a:solidFill>
                <a:latin typeface="Inter" panose="020B0604020202020204" charset="0"/>
                <a:ea typeface="Inter" panose="020B0604020202020204" charset="0"/>
              </a:rPr>
              <a:t> </a:t>
            </a:r>
            <a:r>
              <a:rPr lang="en-IN" dirty="0" err="1">
                <a:solidFill>
                  <a:schemeClr val="bg1"/>
                </a:solidFill>
                <a:latin typeface="Inter" panose="020B0604020202020204" charset="0"/>
                <a:ea typeface="Inter" panose="020B0604020202020204" charset="0"/>
              </a:rPr>
              <a:t>DataFrames</a:t>
            </a:r>
            <a:r>
              <a:rPr lang="en-IN" dirty="0">
                <a:solidFill>
                  <a:schemeClr val="bg1"/>
                </a:solidFill>
                <a:latin typeface="Inter" panose="020B0604020202020204" charset="0"/>
                <a:ea typeface="Inter" panose="020B0604020202020204" charset="0"/>
              </a:rPr>
              <a:t> using </a:t>
            </a:r>
            <a:r>
              <a:rPr lang="en-IN" dirty="0" err="1">
                <a:solidFill>
                  <a:schemeClr val="bg1"/>
                </a:solidFill>
                <a:latin typeface="Inter" panose="020B0604020202020204" charset="0"/>
                <a:ea typeface="Inter" panose="020B0604020202020204" charset="0"/>
              </a:rPr>
              <a:t>pd.read_csv</a:t>
            </a:r>
            <a:r>
              <a:rPr lang="en-IN" dirty="0">
                <a:solidFill>
                  <a:schemeClr val="bg1"/>
                </a:solidFill>
                <a:latin typeface="Inter" panose="020B0604020202020204" charset="0"/>
                <a:ea typeface="Inter" panose="020B0604020202020204" charset="0"/>
              </a:rPr>
              <a:t>)</a:t>
            </a:r>
          </a:p>
        </p:txBody>
      </p:sp>
      <p:cxnSp>
        <p:nvCxnSpPr>
          <p:cNvPr id="13" name="Straight Arrow Connector 12">
            <a:extLst>
              <a:ext uri="{FF2B5EF4-FFF2-40B4-BE49-F238E27FC236}">
                <a16:creationId xmlns:a16="http://schemas.microsoft.com/office/drawing/2014/main" id="{219283AB-A4E2-903B-0F02-220B5905A5C0}"/>
              </a:ext>
            </a:extLst>
          </p:cNvPr>
          <p:cNvCxnSpPr>
            <a:cxnSpLocks/>
            <a:stCxn id="12" idx="3"/>
          </p:cNvCxnSpPr>
          <p:nvPr/>
        </p:nvCxnSpPr>
        <p:spPr>
          <a:xfrm>
            <a:off x="7902341" y="1126837"/>
            <a:ext cx="462012" cy="0"/>
          </a:xfrm>
          <a:prstGeom prst="straightConnector1">
            <a:avLst/>
          </a:prstGeom>
          <a:ln w="38100">
            <a:solidFill>
              <a:schemeClr val="accent3">
                <a:lumMod val="10000"/>
              </a:schemeClr>
            </a:solidFill>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D284EC37-E723-D752-5A20-1897D2F45DB8}"/>
              </a:ext>
            </a:extLst>
          </p:cNvPr>
          <p:cNvSpPr txBox="1"/>
          <p:nvPr/>
        </p:nvSpPr>
        <p:spPr>
          <a:xfrm>
            <a:off x="8364353" y="434340"/>
            <a:ext cx="3234089" cy="1600438"/>
          </a:xfrm>
          <a:prstGeom prst="rect">
            <a:avLst/>
          </a:prstGeom>
          <a:solidFill>
            <a:srgbClr val="007367"/>
          </a:solidFill>
        </p:spPr>
        <p:txBody>
          <a:bodyPr wrap="square" rtlCol="0">
            <a:spAutoFit/>
          </a:bodyPr>
          <a:lstStyle/>
          <a:p>
            <a:pPr algn="ctr"/>
            <a:r>
              <a:rPr lang="en-IN" dirty="0">
                <a:solidFill>
                  <a:schemeClr val="bg1"/>
                </a:solidFill>
                <a:latin typeface="Inter" panose="020B0604020202020204" charset="0"/>
                <a:ea typeface="Inter" panose="020B0604020202020204" charset="0"/>
              </a:rPr>
              <a:t>Data Cleaning</a:t>
            </a:r>
          </a:p>
          <a:p>
            <a:pPr algn="ctr"/>
            <a:r>
              <a:rPr lang="en-IN" dirty="0">
                <a:solidFill>
                  <a:schemeClr val="bg1"/>
                </a:solidFill>
                <a:latin typeface="Inter" panose="020B0604020202020204" charset="0"/>
                <a:ea typeface="Inter" panose="020B0604020202020204" charset="0"/>
              </a:rPr>
              <a:t>(</a:t>
            </a:r>
            <a:r>
              <a:rPr lang="en-US" dirty="0">
                <a:solidFill>
                  <a:schemeClr val="bg1"/>
                </a:solidFill>
                <a:latin typeface="Inter" panose="020B0604020202020204" charset="0"/>
                <a:ea typeface="Inter" panose="020B0604020202020204" charset="0"/>
              </a:rPr>
              <a:t>Converts columns Close, Open, High, and Low into numeric values using </a:t>
            </a:r>
            <a:r>
              <a:rPr lang="en-US" dirty="0" err="1">
                <a:solidFill>
                  <a:schemeClr val="bg1"/>
                </a:solidFill>
                <a:latin typeface="Inter" panose="020B0604020202020204" charset="0"/>
                <a:ea typeface="Inter" panose="020B0604020202020204" charset="0"/>
              </a:rPr>
              <a:t>pd.to_numeric</a:t>
            </a:r>
            <a:r>
              <a:rPr lang="en-US" dirty="0">
                <a:solidFill>
                  <a:schemeClr val="bg1"/>
                </a:solidFill>
                <a:latin typeface="Inter" panose="020B0604020202020204" charset="0"/>
                <a:ea typeface="Inter" panose="020B0604020202020204" charset="0"/>
              </a:rPr>
              <a:t>(), handling any non-numeric entries by coercing them into </a:t>
            </a:r>
            <a:r>
              <a:rPr lang="en-US" dirty="0" err="1">
                <a:solidFill>
                  <a:schemeClr val="bg1"/>
                </a:solidFill>
                <a:latin typeface="Inter" panose="020B0604020202020204" charset="0"/>
                <a:ea typeface="Inter" panose="020B0604020202020204" charset="0"/>
              </a:rPr>
              <a:t>NaN</a:t>
            </a:r>
            <a:r>
              <a:rPr lang="en-US" dirty="0">
                <a:solidFill>
                  <a:schemeClr val="bg1"/>
                </a:solidFill>
                <a:latin typeface="Inter" panose="020B0604020202020204" charset="0"/>
                <a:ea typeface="Inter" panose="020B0604020202020204" charset="0"/>
              </a:rPr>
              <a:t> and drop rows with </a:t>
            </a:r>
            <a:r>
              <a:rPr lang="en-US" dirty="0" err="1">
                <a:solidFill>
                  <a:schemeClr val="bg1"/>
                </a:solidFill>
                <a:latin typeface="Inter" panose="020B0604020202020204" charset="0"/>
                <a:ea typeface="Inter" panose="020B0604020202020204" charset="0"/>
              </a:rPr>
              <a:t>NaN</a:t>
            </a:r>
            <a:r>
              <a:rPr lang="en-US" dirty="0">
                <a:solidFill>
                  <a:schemeClr val="bg1"/>
                </a:solidFill>
                <a:latin typeface="Inter" panose="020B0604020202020204" charset="0"/>
                <a:ea typeface="Inter" panose="020B0604020202020204" charset="0"/>
              </a:rPr>
              <a:t> values.)</a:t>
            </a:r>
          </a:p>
        </p:txBody>
      </p:sp>
      <p:cxnSp>
        <p:nvCxnSpPr>
          <p:cNvPr id="18" name="Straight Arrow Connector 17">
            <a:extLst>
              <a:ext uri="{FF2B5EF4-FFF2-40B4-BE49-F238E27FC236}">
                <a16:creationId xmlns:a16="http://schemas.microsoft.com/office/drawing/2014/main" id="{51350B70-F7DD-E43D-B02D-F31C3253D22A}"/>
              </a:ext>
            </a:extLst>
          </p:cNvPr>
          <p:cNvCxnSpPr>
            <a:cxnSpLocks/>
            <a:stCxn id="15" idx="2"/>
          </p:cNvCxnSpPr>
          <p:nvPr/>
        </p:nvCxnSpPr>
        <p:spPr>
          <a:xfrm>
            <a:off x="9981398" y="2034778"/>
            <a:ext cx="0" cy="48824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2FC2C52E-007A-5B39-7C80-9D317DEA0579}"/>
              </a:ext>
            </a:extLst>
          </p:cNvPr>
          <p:cNvSpPr txBox="1"/>
          <p:nvPr/>
        </p:nvSpPr>
        <p:spPr>
          <a:xfrm>
            <a:off x="7902338" y="2523022"/>
            <a:ext cx="3696102" cy="1600438"/>
          </a:xfrm>
          <a:prstGeom prst="rect">
            <a:avLst/>
          </a:prstGeom>
          <a:solidFill>
            <a:srgbClr val="007367"/>
          </a:solidFill>
        </p:spPr>
        <p:txBody>
          <a:bodyPr wrap="square" rtlCol="0">
            <a:spAutoFit/>
          </a:bodyPr>
          <a:lstStyle/>
          <a:p>
            <a:pPr algn="ctr"/>
            <a:r>
              <a:rPr lang="en-IN" dirty="0">
                <a:solidFill>
                  <a:schemeClr val="bg1"/>
                </a:solidFill>
                <a:latin typeface="Inter" panose="020B0604020202020204" charset="0"/>
                <a:ea typeface="Inter" panose="020B0604020202020204" charset="0"/>
              </a:rPr>
              <a:t>Prepare Features and Target</a:t>
            </a:r>
          </a:p>
          <a:p>
            <a:pPr algn="ctr"/>
            <a:r>
              <a:rPr lang="en-IN" dirty="0">
                <a:solidFill>
                  <a:schemeClr val="bg1"/>
                </a:solidFill>
                <a:latin typeface="Inter" panose="020B0604020202020204" charset="0"/>
                <a:ea typeface="Inter" panose="020B0604020202020204" charset="0"/>
              </a:rPr>
              <a:t>(</a:t>
            </a:r>
            <a:r>
              <a:rPr lang="en-US" dirty="0">
                <a:solidFill>
                  <a:schemeClr val="bg1"/>
                </a:solidFill>
                <a:latin typeface="Inter" panose="020B0604020202020204" charset="0"/>
                <a:ea typeface="Inter" panose="020B0604020202020204" charset="0"/>
              </a:rPr>
              <a:t>Features (</a:t>
            </a:r>
            <a:r>
              <a:rPr lang="en-US" dirty="0" err="1">
                <a:solidFill>
                  <a:schemeClr val="bg1"/>
                </a:solidFill>
                <a:latin typeface="Inter" panose="020B0604020202020204" charset="0"/>
                <a:ea typeface="Inter" panose="020B0604020202020204" charset="0"/>
              </a:rPr>
              <a:t>X_train_full</a:t>
            </a:r>
            <a:r>
              <a:rPr lang="en-US" dirty="0">
                <a:solidFill>
                  <a:schemeClr val="bg1"/>
                </a:solidFill>
                <a:latin typeface="Inter" panose="020B0604020202020204" charset="0"/>
                <a:ea typeface="Inter" panose="020B0604020202020204" charset="0"/>
              </a:rPr>
              <a:t> and </a:t>
            </a:r>
            <a:r>
              <a:rPr lang="en-US" dirty="0" err="1">
                <a:solidFill>
                  <a:schemeClr val="bg1"/>
                </a:solidFill>
                <a:latin typeface="Inter" panose="020B0604020202020204" charset="0"/>
                <a:ea typeface="Inter" panose="020B0604020202020204" charset="0"/>
              </a:rPr>
              <a:t>X_test</a:t>
            </a:r>
            <a:r>
              <a:rPr lang="en-US" dirty="0">
                <a:solidFill>
                  <a:schemeClr val="bg1"/>
                </a:solidFill>
                <a:latin typeface="Inter" panose="020B0604020202020204" charset="0"/>
                <a:ea typeface="Inter" panose="020B0604020202020204" charset="0"/>
              </a:rPr>
              <a:t>): Extracts the Open, High, and Low columns from the training and test datasets.</a:t>
            </a:r>
          </a:p>
          <a:p>
            <a:pPr algn="ctr"/>
            <a:r>
              <a:rPr lang="en-US" dirty="0">
                <a:solidFill>
                  <a:schemeClr val="bg1"/>
                </a:solidFill>
                <a:latin typeface="Inter" panose="020B0604020202020204" charset="0"/>
                <a:ea typeface="Inter" panose="020B0604020202020204" charset="0"/>
              </a:rPr>
              <a:t>Target (</a:t>
            </a:r>
            <a:r>
              <a:rPr lang="en-US" dirty="0" err="1">
                <a:solidFill>
                  <a:schemeClr val="bg1"/>
                </a:solidFill>
                <a:latin typeface="Inter" panose="020B0604020202020204" charset="0"/>
                <a:ea typeface="Inter" panose="020B0604020202020204" charset="0"/>
              </a:rPr>
              <a:t>y_train_full</a:t>
            </a:r>
            <a:r>
              <a:rPr lang="en-US" dirty="0">
                <a:solidFill>
                  <a:schemeClr val="bg1"/>
                </a:solidFill>
                <a:latin typeface="Inter" panose="020B0604020202020204" charset="0"/>
                <a:ea typeface="Inter" panose="020B0604020202020204" charset="0"/>
              </a:rPr>
              <a:t> and </a:t>
            </a:r>
            <a:r>
              <a:rPr lang="en-US" dirty="0" err="1">
                <a:solidFill>
                  <a:schemeClr val="bg1"/>
                </a:solidFill>
                <a:latin typeface="Inter" panose="020B0604020202020204" charset="0"/>
                <a:ea typeface="Inter" panose="020B0604020202020204" charset="0"/>
              </a:rPr>
              <a:t>y_test</a:t>
            </a:r>
            <a:r>
              <a:rPr lang="en-US" dirty="0">
                <a:solidFill>
                  <a:schemeClr val="bg1"/>
                </a:solidFill>
                <a:latin typeface="Inter" panose="020B0604020202020204" charset="0"/>
                <a:ea typeface="Inter" panose="020B0604020202020204" charset="0"/>
              </a:rPr>
              <a:t>): Uses the Close column as the target variable.)</a:t>
            </a:r>
            <a:endParaRPr lang="en-IN" dirty="0">
              <a:solidFill>
                <a:schemeClr val="bg1"/>
              </a:solidFill>
              <a:latin typeface="Inter" panose="020B0604020202020204" charset="0"/>
              <a:ea typeface="Inter" panose="020B0604020202020204" charset="0"/>
            </a:endParaRPr>
          </a:p>
        </p:txBody>
      </p:sp>
      <p:cxnSp>
        <p:nvCxnSpPr>
          <p:cNvPr id="25" name="Straight Arrow Connector 24">
            <a:extLst>
              <a:ext uri="{FF2B5EF4-FFF2-40B4-BE49-F238E27FC236}">
                <a16:creationId xmlns:a16="http://schemas.microsoft.com/office/drawing/2014/main" id="{6656034C-02F2-3879-8B2E-40F191CB97D0}"/>
              </a:ext>
            </a:extLst>
          </p:cNvPr>
          <p:cNvCxnSpPr>
            <a:cxnSpLocks/>
          </p:cNvCxnSpPr>
          <p:nvPr/>
        </p:nvCxnSpPr>
        <p:spPr>
          <a:xfrm flipH="1">
            <a:off x="7430701" y="3378498"/>
            <a:ext cx="462012" cy="0"/>
          </a:xfrm>
          <a:prstGeom prst="straightConnector1">
            <a:avLst/>
          </a:prstGeom>
          <a:ln w="38100">
            <a:solidFill>
              <a:schemeClr val="tx2">
                <a:lumMod val="1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B036544-1B4D-A9DC-7AB6-C14F420F06BA}"/>
              </a:ext>
            </a:extLst>
          </p:cNvPr>
          <p:cNvSpPr txBox="1"/>
          <p:nvPr/>
        </p:nvSpPr>
        <p:spPr>
          <a:xfrm>
            <a:off x="5005135" y="2523022"/>
            <a:ext cx="2425566" cy="1384995"/>
          </a:xfrm>
          <a:prstGeom prst="rect">
            <a:avLst/>
          </a:prstGeom>
          <a:solidFill>
            <a:srgbClr val="007367"/>
          </a:solidFill>
        </p:spPr>
        <p:txBody>
          <a:bodyPr wrap="square" rtlCol="0">
            <a:spAutoFit/>
          </a:bodyPr>
          <a:lstStyle/>
          <a:p>
            <a:pPr algn="ctr"/>
            <a:r>
              <a:rPr lang="en-IN" dirty="0">
                <a:solidFill>
                  <a:schemeClr val="bg1"/>
                </a:solidFill>
                <a:latin typeface="Inter" panose="020B0604020202020204" charset="0"/>
                <a:ea typeface="Inter" panose="020B0604020202020204" charset="0"/>
              </a:rPr>
              <a:t>Train-Test Split</a:t>
            </a:r>
          </a:p>
          <a:p>
            <a:pPr algn="ctr"/>
            <a:r>
              <a:rPr lang="en-IN" dirty="0">
                <a:solidFill>
                  <a:schemeClr val="bg1"/>
                </a:solidFill>
                <a:latin typeface="Inter" panose="020B0604020202020204" charset="0"/>
                <a:ea typeface="Inter" panose="020B0604020202020204" charset="0"/>
              </a:rPr>
              <a:t>(</a:t>
            </a:r>
            <a:r>
              <a:rPr lang="en-US" dirty="0">
                <a:solidFill>
                  <a:schemeClr val="bg1"/>
                </a:solidFill>
                <a:latin typeface="Inter" panose="020B0604020202020204" charset="0"/>
                <a:ea typeface="Inter" panose="020B0604020202020204" charset="0"/>
              </a:rPr>
              <a:t>The training dataset is split into an 80% training and 20% validation set using </a:t>
            </a:r>
            <a:r>
              <a:rPr lang="en-US" dirty="0" err="1">
                <a:solidFill>
                  <a:schemeClr val="bg1"/>
                </a:solidFill>
                <a:latin typeface="Inter" panose="020B0604020202020204" charset="0"/>
                <a:ea typeface="Inter" panose="020B0604020202020204" charset="0"/>
              </a:rPr>
              <a:t>train_test_split</a:t>
            </a:r>
            <a:r>
              <a:rPr lang="en-US" dirty="0">
                <a:solidFill>
                  <a:schemeClr val="bg1"/>
                </a:solidFill>
                <a:latin typeface="Inter" panose="020B0604020202020204" charset="0"/>
                <a:ea typeface="Inter" panose="020B0604020202020204" charset="0"/>
              </a:rPr>
              <a:t> from </a:t>
            </a:r>
            <a:r>
              <a:rPr lang="en-US" dirty="0" err="1">
                <a:solidFill>
                  <a:schemeClr val="bg1"/>
                </a:solidFill>
                <a:latin typeface="Inter" panose="020B0604020202020204" charset="0"/>
                <a:ea typeface="Inter" panose="020B0604020202020204" charset="0"/>
              </a:rPr>
              <a:t>sklearn.model_selection</a:t>
            </a:r>
            <a:r>
              <a:rPr lang="en-US" dirty="0">
                <a:solidFill>
                  <a:schemeClr val="bg1"/>
                </a:solidFill>
                <a:latin typeface="Inter" panose="020B0604020202020204" charset="0"/>
                <a:ea typeface="Inter" panose="020B0604020202020204" charset="0"/>
              </a:rPr>
              <a:t>.</a:t>
            </a:r>
            <a:r>
              <a:rPr lang="en-IN" dirty="0">
                <a:solidFill>
                  <a:schemeClr val="bg1"/>
                </a:solidFill>
                <a:latin typeface="Inter" panose="020B0604020202020204" charset="0"/>
                <a:ea typeface="Inter" panose="020B0604020202020204" charset="0"/>
              </a:rPr>
              <a:t>)</a:t>
            </a:r>
            <a:endParaRPr lang="en-US" dirty="0">
              <a:solidFill>
                <a:schemeClr val="bg1"/>
              </a:solidFill>
              <a:latin typeface="Inter" panose="020B0604020202020204" charset="0"/>
              <a:ea typeface="Inter" panose="020B0604020202020204" charset="0"/>
            </a:endParaRPr>
          </a:p>
        </p:txBody>
      </p:sp>
      <p:cxnSp>
        <p:nvCxnSpPr>
          <p:cNvPr id="28" name="Straight Arrow Connector 27">
            <a:extLst>
              <a:ext uri="{FF2B5EF4-FFF2-40B4-BE49-F238E27FC236}">
                <a16:creationId xmlns:a16="http://schemas.microsoft.com/office/drawing/2014/main" id="{7431248A-1645-03CA-E593-BE9B43960B68}"/>
              </a:ext>
            </a:extLst>
          </p:cNvPr>
          <p:cNvCxnSpPr>
            <a:cxnSpLocks/>
          </p:cNvCxnSpPr>
          <p:nvPr/>
        </p:nvCxnSpPr>
        <p:spPr>
          <a:xfrm flipH="1">
            <a:off x="4533499" y="3393261"/>
            <a:ext cx="462012" cy="0"/>
          </a:xfrm>
          <a:prstGeom prst="straightConnector1">
            <a:avLst/>
          </a:prstGeom>
          <a:ln w="38100">
            <a:solidFill>
              <a:schemeClr val="tx2">
                <a:lumMod val="1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E7F59D5-B0B8-F61F-B7A3-D3875900C06B}"/>
              </a:ext>
            </a:extLst>
          </p:cNvPr>
          <p:cNvSpPr txBox="1"/>
          <p:nvPr/>
        </p:nvSpPr>
        <p:spPr>
          <a:xfrm>
            <a:off x="336885" y="2523022"/>
            <a:ext cx="4196614" cy="1600438"/>
          </a:xfrm>
          <a:prstGeom prst="rect">
            <a:avLst/>
          </a:prstGeom>
          <a:solidFill>
            <a:srgbClr val="007367"/>
          </a:solidFill>
        </p:spPr>
        <p:txBody>
          <a:bodyPr wrap="square" rtlCol="0">
            <a:spAutoFit/>
          </a:bodyPr>
          <a:lstStyle/>
          <a:p>
            <a:pPr algn="ctr"/>
            <a:r>
              <a:rPr lang="en-IN" dirty="0">
                <a:solidFill>
                  <a:schemeClr val="bg1"/>
                </a:solidFill>
                <a:latin typeface="Inter" panose="020B0604020202020204" charset="0"/>
                <a:ea typeface="Inter" panose="020B0604020202020204" charset="0"/>
              </a:rPr>
              <a:t>Reshape Data for LSTM</a:t>
            </a:r>
          </a:p>
          <a:p>
            <a:r>
              <a:rPr lang="en-IN" dirty="0">
                <a:solidFill>
                  <a:schemeClr val="bg1"/>
                </a:solidFill>
                <a:latin typeface="Inter" panose="020B0604020202020204" charset="0"/>
                <a:ea typeface="Inter" panose="020B0604020202020204" charset="0"/>
              </a:rPr>
              <a:t>(- </a:t>
            </a:r>
            <a:r>
              <a:rPr lang="en-US" dirty="0">
                <a:solidFill>
                  <a:schemeClr val="bg1"/>
                </a:solidFill>
                <a:latin typeface="Inter" panose="020B0604020202020204" charset="0"/>
                <a:ea typeface="Inter" panose="020B0604020202020204" charset="0"/>
              </a:rPr>
              <a:t>The LSTM layer expects the data in a specific format: (samples, timesteps, features).</a:t>
            </a:r>
          </a:p>
          <a:p>
            <a:r>
              <a:rPr lang="en-US" dirty="0">
                <a:solidFill>
                  <a:schemeClr val="bg1"/>
                </a:solidFill>
                <a:latin typeface="Inter" panose="020B0604020202020204" charset="0"/>
                <a:ea typeface="Inter" panose="020B0604020202020204" charset="0"/>
              </a:rPr>
              <a:t>  - Reshapes </a:t>
            </a:r>
            <a:r>
              <a:rPr lang="en-US" dirty="0" err="1">
                <a:solidFill>
                  <a:schemeClr val="bg1"/>
                </a:solidFill>
                <a:latin typeface="Inter" panose="020B0604020202020204" charset="0"/>
                <a:ea typeface="Inter" panose="020B0604020202020204" charset="0"/>
              </a:rPr>
              <a:t>X_train</a:t>
            </a:r>
            <a:r>
              <a:rPr lang="en-US" dirty="0">
                <a:solidFill>
                  <a:schemeClr val="bg1"/>
                </a:solidFill>
                <a:latin typeface="Inter" panose="020B0604020202020204" charset="0"/>
                <a:ea typeface="Inter" panose="020B0604020202020204" charset="0"/>
              </a:rPr>
              <a:t>, </a:t>
            </a:r>
            <a:r>
              <a:rPr lang="en-US" dirty="0" err="1">
                <a:solidFill>
                  <a:schemeClr val="bg1"/>
                </a:solidFill>
                <a:latin typeface="Inter" panose="020B0604020202020204" charset="0"/>
                <a:ea typeface="Inter" panose="020B0604020202020204" charset="0"/>
              </a:rPr>
              <a:t>X_val</a:t>
            </a:r>
            <a:r>
              <a:rPr lang="en-US" dirty="0">
                <a:solidFill>
                  <a:schemeClr val="bg1"/>
                </a:solidFill>
                <a:latin typeface="Inter" panose="020B0604020202020204" charset="0"/>
                <a:ea typeface="Inter" panose="020B0604020202020204" charset="0"/>
              </a:rPr>
              <a:t>, and </a:t>
            </a:r>
            <a:r>
              <a:rPr lang="en-US" dirty="0" err="1">
                <a:solidFill>
                  <a:schemeClr val="bg1"/>
                </a:solidFill>
                <a:latin typeface="Inter" panose="020B0604020202020204" charset="0"/>
                <a:ea typeface="Inter" panose="020B0604020202020204" charset="0"/>
              </a:rPr>
              <a:t>X_test</a:t>
            </a:r>
            <a:r>
              <a:rPr lang="en-US" dirty="0">
                <a:solidFill>
                  <a:schemeClr val="bg1"/>
                </a:solidFill>
                <a:latin typeface="Inter" panose="020B0604020202020204" charset="0"/>
                <a:ea typeface="Inter" panose="020B0604020202020204" charset="0"/>
              </a:rPr>
              <a:t> to have 1 timestep (since the data seems to be processed at a single timestep per input).)</a:t>
            </a:r>
            <a:endParaRPr lang="en-IN" dirty="0">
              <a:solidFill>
                <a:schemeClr val="bg1"/>
              </a:solidFill>
              <a:latin typeface="Inter" panose="020B0604020202020204" charset="0"/>
              <a:ea typeface="Inter" panose="020B0604020202020204" charset="0"/>
            </a:endParaRPr>
          </a:p>
        </p:txBody>
      </p:sp>
      <p:cxnSp>
        <p:nvCxnSpPr>
          <p:cNvPr id="32" name="Straight Arrow Connector 31">
            <a:extLst>
              <a:ext uri="{FF2B5EF4-FFF2-40B4-BE49-F238E27FC236}">
                <a16:creationId xmlns:a16="http://schemas.microsoft.com/office/drawing/2014/main" id="{A6AA700D-6BA1-BF35-3971-DAA6527AEBDF}"/>
              </a:ext>
            </a:extLst>
          </p:cNvPr>
          <p:cNvCxnSpPr>
            <a:cxnSpLocks/>
          </p:cNvCxnSpPr>
          <p:nvPr/>
        </p:nvCxnSpPr>
        <p:spPr>
          <a:xfrm>
            <a:off x="2550695" y="4123061"/>
            <a:ext cx="0" cy="48824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3" name="TextBox 32">
            <a:extLst>
              <a:ext uri="{FF2B5EF4-FFF2-40B4-BE49-F238E27FC236}">
                <a16:creationId xmlns:a16="http://schemas.microsoft.com/office/drawing/2014/main" id="{9DEC209F-A02C-3AC6-1544-C9CADED24A5C}"/>
              </a:ext>
            </a:extLst>
          </p:cNvPr>
          <p:cNvSpPr txBox="1"/>
          <p:nvPr/>
        </p:nvSpPr>
        <p:spPr>
          <a:xfrm>
            <a:off x="336884" y="4611305"/>
            <a:ext cx="4331366" cy="1892826"/>
          </a:xfrm>
          <a:prstGeom prst="rect">
            <a:avLst/>
          </a:prstGeom>
          <a:solidFill>
            <a:srgbClr val="007367"/>
          </a:solidFill>
        </p:spPr>
        <p:txBody>
          <a:bodyPr wrap="square" rtlCol="0">
            <a:spAutoFit/>
          </a:bodyPr>
          <a:lstStyle/>
          <a:p>
            <a:pPr algn="ctr"/>
            <a:r>
              <a:rPr lang="en-IN" sz="1300" dirty="0">
                <a:solidFill>
                  <a:schemeClr val="bg1"/>
                </a:solidFill>
                <a:latin typeface="Inter" panose="020B0604020202020204" charset="0"/>
                <a:ea typeface="Inter" panose="020B0604020202020204" charset="0"/>
              </a:rPr>
              <a:t>Define the Hybrid Model</a:t>
            </a:r>
          </a:p>
          <a:p>
            <a:r>
              <a:rPr lang="en-IN" sz="1300" dirty="0">
                <a:solidFill>
                  <a:schemeClr val="bg1"/>
                </a:solidFill>
                <a:latin typeface="Inter" panose="020B0604020202020204" charset="0"/>
                <a:ea typeface="Inter" panose="020B0604020202020204" charset="0"/>
              </a:rPr>
              <a:t>(- Input layer: Defines input tensor</a:t>
            </a:r>
          </a:p>
          <a:p>
            <a:r>
              <a:rPr lang="en-IN" sz="1300" dirty="0">
                <a:solidFill>
                  <a:schemeClr val="bg1"/>
                </a:solidFill>
                <a:latin typeface="Inter" panose="020B0604020202020204" charset="0"/>
                <a:ea typeface="Inter" panose="020B0604020202020204" charset="0"/>
              </a:rPr>
              <a:t>  - Bi LSTM layer: A bi LSTM layer with 64 units</a:t>
            </a:r>
          </a:p>
          <a:p>
            <a:r>
              <a:rPr lang="en-IN" sz="1300" dirty="0">
                <a:solidFill>
                  <a:schemeClr val="bg1"/>
                </a:solidFill>
                <a:latin typeface="Inter" panose="020B0604020202020204" charset="0"/>
                <a:ea typeface="Inter" panose="020B0604020202020204" charset="0"/>
              </a:rPr>
              <a:t>  - </a:t>
            </a:r>
            <a:r>
              <a:rPr lang="en-IN" sz="1300" dirty="0" err="1">
                <a:solidFill>
                  <a:schemeClr val="bg1"/>
                </a:solidFill>
                <a:latin typeface="Inter" panose="020B0604020202020204" charset="0"/>
                <a:ea typeface="Inter" panose="020B0604020202020204" charset="0"/>
              </a:rPr>
              <a:t>TimesNet</a:t>
            </a:r>
            <a:r>
              <a:rPr lang="en-IN" sz="1300" dirty="0">
                <a:solidFill>
                  <a:schemeClr val="bg1"/>
                </a:solidFill>
                <a:latin typeface="Inter" panose="020B0604020202020204" charset="0"/>
                <a:ea typeface="Inter" panose="020B0604020202020204" charset="0"/>
              </a:rPr>
              <a:t> Block: Input is flattened and passed which returns processed vector</a:t>
            </a:r>
          </a:p>
          <a:p>
            <a:r>
              <a:rPr lang="en-IN" sz="1300" dirty="0">
                <a:solidFill>
                  <a:schemeClr val="bg1"/>
                </a:solidFill>
                <a:latin typeface="Inter" panose="020B0604020202020204" charset="0"/>
                <a:ea typeface="Inter" panose="020B0604020202020204" charset="0"/>
              </a:rPr>
              <a:t>   - Concatenation: Output of Bi LSTM and </a:t>
            </a:r>
            <a:r>
              <a:rPr lang="en-IN" sz="1300" dirty="0" err="1">
                <a:solidFill>
                  <a:schemeClr val="bg1"/>
                </a:solidFill>
                <a:latin typeface="Inter" panose="020B0604020202020204" charset="0"/>
                <a:ea typeface="Inter" panose="020B0604020202020204" charset="0"/>
              </a:rPr>
              <a:t>TimesNet</a:t>
            </a:r>
            <a:r>
              <a:rPr lang="en-IN" sz="1300" dirty="0">
                <a:solidFill>
                  <a:schemeClr val="bg1"/>
                </a:solidFill>
                <a:latin typeface="Inter" panose="020B0604020202020204" charset="0"/>
                <a:ea typeface="Inter" panose="020B0604020202020204" charset="0"/>
              </a:rPr>
              <a:t> concatenated into one combined tensor.</a:t>
            </a:r>
          </a:p>
          <a:p>
            <a:r>
              <a:rPr lang="en-IN" sz="1300" dirty="0">
                <a:solidFill>
                  <a:schemeClr val="bg1"/>
                </a:solidFill>
                <a:latin typeface="Inter" panose="020B0604020202020204" charset="0"/>
                <a:ea typeface="Inter" panose="020B0604020202020204" charset="0"/>
              </a:rPr>
              <a:t>  - Output Layer: Dense layer that outputs single value (predicted Close Value)</a:t>
            </a:r>
          </a:p>
        </p:txBody>
      </p:sp>
      <p:cxnSp>
        <p:nvCxnSpPr>
          <p:cNvPr id="34" name="Straight Arrow Connector 33">
            <a:extLst>
              <a:ext uri="{FF2B5EF4-FFF2-40B4-BE49-F238E27FC236}">
                <a16:creationId xmlns:a16="http://schemas.microsoft.com/office/drawing/2014/main" id="{40E1D0DE-DF92-F948-9E10-579A390F1CFF}"/>
              </a:ext>
            </a:extLst>
          </p:cNvPr>
          <p:cNvCxnSpPr>
            <a:cxnSpLocks/>
          </p:cNvCxnSpPr>
          <p:nvPr/>
        </p:nvCxnSpPr>
        <p:spPr>
          <a:xfrm flipV="1">
            <a:off x="4668250" y="5526868"/>
            <a:ext cx="462012" cy="1"/>
          </a:xfrm>
          <a:prstGeom prst="straightConnector1">
            <a:avLst/>
          </a:prstGeom>
          <a:ln w="38100">
            <a:solidFill>
              <a:schemeClr val="accent3">
                <a:lumMod val="10000"/>
              </a:schemeClr>
            </a:solidFill>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88585AA4-228F-D711-C739-678C6D80F4FC}"/>
              </a:ext>
            </a:extLst>
          </p:cNvPr>
          <p:cNvSpPr txBox="1"/>
          <p:nvPr/>
        </p:nvSpPr>
        <p:spPr>
          <a:xfrm>
            <a:off x="5111013" y="4611305"/>
            <a:ext cx="1905805" cy="1815882"/>
          </a:xfrm>
          <a:prstGeom prst="rect">
            <a:avLst/>
          </a:prstGeom>
          <a:solidFill>
            <a:srgbClr val="007367"/>
          </a:solidFill>
        </p:spPr>
        <p:txBody>
          <a:bodyPr wrap="square" rtlCol="0">
            <a:spAutoFit/>
          </a:bodyPr>
          <a:lstStyle/>
          <a:p>
            <a:pPr algn="ctr"/>
            <a:r>
              <a:rPr lang="en-IN" dirty="0">
                <a:solidFill>
                  <a:schemeClr val="bg1"/>
                </a:solidFill>
                <a:latin typeface="Inter" panose="020B0604020202020204" charset="0"/>
                <a:ea typeface="Inter" panose="020B0604020202020204" charset="0"/>
              </a:rPr>
              <a:t>Compile the Model</a:t>
            </a:r>
          </a:p>
          <a:p>
            <a:pPr algn="ctr"/>
            <a:r>
              <a:rPr lang="en-IN" dirty="0">
                <a:solidFill>
                  <a:schemeClr val="bg1"/>
                </a:solidFill>
                <a:latin typeface="Inter" panose="020B0604020202020204" charset="0"/>
                <a:ea typeface="Inter" panose="020B0604020202020204" charset="0"/>
              </a:rPr>
              <a:t>(The model is compiled with Adam optimizer, which helps minimize loss during training and MSE loss function.) </a:t>
            </a:r>
          </a:p>
        </p:txBody>
      </p:sp>
      <p:cxnSp>
        <p:nvCxnSpPr>
          <p:cNvPr id="36" name="Straight Arrow Connector 35">
            <a:extLst>
              <a:ext uri="{FF2B5EF4-FFF2-40B4-BE49-F238E27FC236}">
                <a16:creationId xmlns:a16="http://schemas.microsoft.com/office/drawing/2014/main" id="{9E4519F8-2012-2BF1-3E31-0E0B48973553}"/>
              </a:ext>
            </a:extLst>
          </p:cNvPr>
          <p:cNvCxnSpPr>
            <a:cxnSpLocks/>
          </p:cNvCxnSpPr>
          <p:nvPr/>
        </p:nvCxnSpPr>
        <p:spPr>
          <a:xfrm flipV="1">
            <a:off x="7016818" y="5485258"/>
            <a:ext cx="462012" cy="1"/>
          </a:xfrm>
          <a:prstGeom prst="straightConnector1">
            <a:avLst/>
          </a:prstGeom>
          <a:ln w="38100">
            <a:solidFill>
              <a:schemeClr val="accent3">
                <a:lumMod val="10000"/>
              </a:schemeClr>
            </a:solidFill>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BA31E013-D9D9-5BD4-859B-444127C2D194}"/>
              </a:ext>
            </a:extLst>
          </p:cNvPr>
          <p:cNvSpPr txBox="1"/>
          <p:nvPr/>
        </p:nvSpPr>
        <p:spPr>
          <a:xfrm>
            <a:off x="7478831" y="4611305"/>
            <a:ext cx="1520786" cy="1815882"/>
          </a:xfrm>
          <a:prstGeom prst="rect">
            <a:avLst/>
          </a:prstGeom>
          <a:solidFill>
            <a:srgbClr val="007367"/>
          </a:solidFill>
        </p:spPr>
        <p:txBody>
          <a:bodyPr wrap="square" rtlCol="0">
            <a:spAutoFit/>
          </a:bodyPr>
          <a:lstStyle/>
          <a:p>
            <a:pPr algn="ctr"/>
            <a:r>
              <a:rPr lang="en-IN" dirty="0">
                <a:solidFill>
                  <a:schemeClr val="bg1"/>
                </a:solidFill>
                <a:latin typeface="Inter" panose="020B0604020202020204" charset="0"/>
                <a:ea typeface="Inter" panose="020B0604020202020204" charset="0"/>
              </a:rPr>
              <a:t>Train the Model</a:t>
            </a:r>
          </a:p>
          <a:p>
            <a:pPr algn="ctr"/>
            <a:r>
              <a:rPr lang="en-IN" dirty="0">
                <a:solidFill>
                  <a:schemeClr val="bg1"/>
                </a:solidFill>
                <a:latin typeface="Inter" panose="020B0604020202020204" charset="0"/>
                <a:ea typeface="Inter" panose="020B0604020202020204" charset="0"/>
              </a:rPr>
              <a:t>(</a:t>
            </a:r>
            <a:r>
              <a:rPr lang="en-US" dirty="0">
                <a:solidFill>
                  <a:schemeClr val="bg1"/>
                </a:solidFill>
                <a:latin typeface="Inter" panose="020B0604020202020204" charset="0"/>
                <a:ea typeface="Inter" panose="020B0604020202020204" charset="0"/>
              </a:rPr>
              <a:t>The model is trained using the fit() method, with 40 epochs and a batch size of 32.)</a:t>
            </a:r>
          </a:p>
        </p:txBody>
      </p:sp>
      <p:cxnSp>
        <p:nvCxnSpPr>
          <p:cNvPr id="39" name="Straight Arrow Connector 38">
            <a:extLst>
              <a:ext uri="{FF2B5EF4-FFF2-40B4-BE49-F238E27FC236}">
                <a16:creationId xmlns:a16="http://schemas.microsoft.com/office/drawing/2014/main" id="{8CEF8528-6201-81B5-45B4-9A1E0BE0EA6A}"/>
              </a:ext>
            </a:extLst>
          </p:cNvPr>
          <p:cNvCxnSpPr>
            <a:cxnSpLocks/>
          </p:cNvCxnSpPr>
          <p:nvPr/>
        </p:nvCxnSpPr>
        <p:spPr>
          <a:xfrm flipV="1">
            <a:off x="9009245" y="5462057"/>
            <a:ext cx="462012" cy="1"/>
          </a:xfrm>
          <a:prstGeom prst="straightConnector1">
            <a:avLst/>
          </a:prstGeom>
          <a:ln w="38100">
            <a:solidFill>
              <a:schemeClr val="accent3">
                <a:lumMod val="10000"/>
              </a:schemeClr>
            </a:solidFill>
            <a:tailEnd type="triangle"/>
          </a:ln>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9F2080E1-D9DE-FDD4-6CF8-EDEB502ABB8A}"/>
              </a:ext>
            </a:extLst>
          </p:cNvPr>
          <p:cNvSpPr txBox="1"/>
          <p:nvPr/>
        </p:nvSpPr>
        <p:spPr>
          <a:xfrm>
            <a:off x="9471256" y="4618927"/>
            <a:ext cx="2483321" cy="1892826"/>
          </a:xfrm>
          <a:prstGeom prst="rect">
            <a:avLst/>
          </a:prstGeom>
          <a:solidFill>
            <a:srgbClr val="007367"/>
          </a:solidFill>
        </p:spPr>
        <p:txBody>
          <a:bodyPr wrap="square" rtlCol="0">
            <a:spAutoFit/>
          </a:bodyPr>
          <a:lstStyle/>
          <a:p>
            <a:pPr algn="ctr"/>
            <a:r>
              <a:rPr lang="en-US" sz="1300" dirty="0">
                <a:solidFill>
                  <a:schemeClr val="bg1"/>
                </a:solidFill>
                <a:latin typeface="Inter" panose="020B0604020202020204" charset="0"/>
                <a:ea typeface="Inter" panose="020B0604020202020204" charset="0"/>
              </a:rPr>
              <a:t>Make Predictions</a:t>
            </a:r>
          </a:p>
          <a:p>
            <a:pPr algn="ctr"/>
            <a:r>
              <a:rPr lang="en-US" sz="1300" dirty="0">
                <a:solidFill>
                  <a:schemeClr val="bg1"/>
                </a:solidFill>
                <a:latin typeface="Inter" panose="020B0604020202020204" charset="0"/>
                <a:ea typeface="Inter" panose="020B0604020202020204" charset="0"/>
              </a:rPr>
              <a:t>(After training, predictions are made on both the validation and test datasets using </a:t>
            </a:r>
            <a:r>
              <a:rPr lang="en-US" sz="1300" dirty="0" err="1">
                <a:solidFill>
                  <a:schemeClr val="bg1"/>
                </a:solidFill>
                <a:latin typeface="Inter" panose="020B0604020202020204" charset="0"/>
                <a:ea typeface="Inter" panose="020B0604020202020204" charset="0"/>
              </a:rPr>
              <a:t>model.predict</a:t>
            </a:r>
            <a:r>
              <a:rPr lang="en-US" sz="1300" dirty="0">
                <a:solidFill>
                  <a:schemeClr val="bg1"/>
                </a:solidFill>
                <a:latin typeface="Inter" panose="020B0604020202020204" charset="0"/>
                <a:ea typeface="Inter" panose="020B0604020202020204" charset="0"/>
              </a:rPr>
              <a:t>().</a:t>
            </a:r>
          </a:p>
          <a:p>
            <a:pPr algn="ctr"/>
            <a:r>
              <a:rPr lang="en-US" sz="1300" dirty="0">
                <a:solidFill>
                  <a:schemeClr val="bg1"/>
                </a:solidFill>
                <a:latin typeface="Inter" panose="020B0604020202020204" charset="0"/>
                <a:ea typeface="Inter" panose="020B0604020202020204" charset="0"/>
              </a:rPr>
              <a:t>Predictions for Test Set: </a:t>
            </a:r>
            <a:r>
              <a:rPr lang="en-US" sz="1300" dirty="0" err="1">
                <a:solidFill>
                  <a:schemeClr val="bg1"/>
                </a:solidFill>
                <a:latin typeface="Inter" panose="020B0604020202020204" charset="0"/>
                <a:ea typeface="Inter" panose="020B0604020202020204" charset="0"/>
              </a:rPr>
              <a:t>pred_test</a:t>
            </a:r>
            <a:r>
              <a:rPr lang="en-US" sz="1300" dirty="0">
                <a:solidFill>
                  <a:schemeClr val="bg1"/>
                </a:solidFill>
                <a:latin typeface="Inter" panose="020B0604020202020204" charset="0"/>
                <a:ea typeface="Inter" panose="020B0604020202020204" charset="0"/>
              </a:rPr>
              <a:t> contains the model's predictions for the test set.)</a:t>
            </a:r>
          </a:p>
        </p:txBody>
      </p:sp>
    </p:spTree>
    <p:extLst>
      <p:ext uri="{BB962C8B-B14F-4D97-AF65-F5344CB8AC3E}">
        <p14:creationId xmlns:p14="http://schemas.microsoft.com/office/powerpoint/2010/main" val="5340907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4"/>
          <p:cNvSpPr txBox="1"/>
          <p:nvPr/>
        </p:nvSpPr>
        <p:spPr>
          <a:xfrm>
            <a:off x="434411" y="132625"/>
            <a:ext cx="8333707"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rgbClr val="007367"/>
                </a:solidFill>
                <a:latin typeface="Inter"/>
                <a:ea typeface="Inter"/>
                <a:cs typeface="Inter"/>
                <a:sym typeface="Inter"/>
              </a:rPr>
              <a:t>CHALLENGES</a:t>
            </a:r>
            <a:endParaRPr sz="2800" dirty="0">
              <a:latin typeface="Inter"/>
              <a:ea typeface="Inter"/>
              <a:cs typeface="Inter"/>
              <a:sym typeface="Inter"/>
            </a:endParaRPr>
          </a:p>
        </p:txBody>
      </p:sp>
      <p:sp>
        <p:nvSpPr>
          <p:cNvPr id="61" name="Google Shape;61;p4"/>
          <p:cNvSpPr/>
          <p:nvPr/>
        </p:nvSpPr>
        <p:spPr>
          <a:xfrm rot="-5400000">
            <a:off x="1242911" y="535248"/>
            <a:ext cx="1004186" cy="1880872"/>
          </a:xfrm>
          <a:prstGeom prst="round2SameRect">
            <a:avLst>
              <a:gd name="adj1" fmla="val 0"/>
              <a:gd name="adj2" fmla="val 0"/>
            </a:avLst>
          </a:prstGeom>
          <a:solidFill>
            <a:srgbClr val="007367"/>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Play"/>
              <a:ea typeface="Play"/>
              <a:cs typeface="Play"/>
              <a:sym typeface="Play"/>
            </a:endParaRPr>
          </a:p>
        </p:txBody>
      </p:sp>
      <p:sp>
        <p:nvSpPr>
          <p:cNvPr id="62" name="Google Shape;62;p4"/>
          <p:cNvSpPr/>
          <p:nvPr/>
        </p:nvSpPr>
        <p:spPr>
          <a:xfrm>
            <a:off x="2687881" y="984237"/>
            <a:ext cx="3082832" cy="1004186"/>
          </a:xfrm>
          <a:prstGeom prst="roundRect">
            <a:avLst>
              <a:gd name="adj" fmla="val 0"/>
            </a:avLst>
          </a:prstGeom>
          <a:solidFill>
            <a:schemeClr val="lt1"/>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Play"/>
              <a:ea typeface="Play"/>
              <a:cs typeface="Play"/>
              <a:sym typeface="Play"/>
            </a:endParaRPr>
          </a:p>
        </p:txBody>
      </p:sp>
      <p:sp>
        <p:nvSpPr>
          <p:cNvPr id="63" name="Google Shape;63;p4"/>
          <p:cNvSpPr txBox="1"/>
          <p:nvPr/>
        </p:nvSpPr>
        <p:spPr>
          <a:xfrm>
            <a:off x="1088698" y="1169625"/>
            <a:ext cx="1285987" cy="349968"/>
          </a:xfrm>
          <a:prstGeom prst="rect">
            <a:avLst/>
          </a:prstGeom>
          <a:no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Clr>
                <a:schemeClr val="lt1"/>
              </a:buClr>
              <a:buSzPts val="1400"/>
              <a:buFont typeface="Play"/>
              <a:buNone/>
            </a:pPr>
            <a:r>
              <a:rPr lang="en-IN" dirty="0">
                <a:solidFill>
                  <a:schemeClr val="bg1"/>
                </a:solidFill>
                <a:latin typeface="Inter" panose="020B0604020202020204" charset="0"/>
                <a:ea typeface="Inter" panose="020B0604020202020204" charset="0"/>
              </a:rPr>
              <a:t>Model Suitability</a:t>
            </a:r>
            <a:endParaRPr dirty="0">
              <a:solidFill>
                <a:schemeClr val="bg1"/>
              </a:solidFill>
              <a:latin typeface="Inter" panose="020B0604020202020204" charset="0"/>
              <a:ea typeface="Inter" panose="020B0604020202020204" charset="0"/>
              <a:cs typeface="Inter"/>
              <a:sym typeface="Inter"/>
            </a:endParaRPr>
          </a:p>
        </p:txBody>
      </p:sp>
      <p:sp>
        <p:nvSpPr>
          <p:cNvPr id="64" name="Google Shape;64;p4"/>
          <p:cNvSpPr txBox="1"/>
          <p:nvPr/>
        </p:nvSpPr>
        <p:spPr>
          <a:xfrm>
            <a:off x="2673463" y="1025268"/>
            <a:ext cx="3120628" cy="617861"/>
          </a:xfrm>
          <a:prstGeom prst="rect">
            <a:avLst/>
          </a:prstGeom>
          <a:noFill/>
          <a:ln>
            <a:noFill/>
          </a:ln>
        </p:spPr>
        <p:txBody>
          <a:bodyPr spcFirstLastPara="1" wrap="square" lIns="91425" tIns="45700" rIns="91425" bIns="45700" anchor="t" anchorCtr="0">
            <a:noAutofit/>
          </a:bodyPr>
          <a:lstStyle/>
          <a:p>
            <a:pPr algn="just">
              <a:lnSpc>
                <a:spcPct val="150000"/>
              </a:lnSpc>
              <a:buClr>
                <a:srgbClr val="595959"/>
              </a:buClr>
              <a:buSzPts val="1200"/>
            </a:pPr>
            <a:r>
              <a:rPr lang="en-US" sz="1100" dirty="0">
                <a:latin typeface="Inter" panose="020B0604020202020204" charset="0"/>
                <a:ea typeface="Inter" panose="020B0604020202020204" charset="0"/>
              </a:rPr>
              <a:t>Not all models are designed for time-series data like stock prices and may not capture temporal dependencies effectively.</a:t>
            </a:r>
          </a:p>
          <a:p>
            <a:pPr marL="0" marR="0" lvl="0" indent="0" algn="l" rtl="0">
              <a:lnSpc>
                <a:spcPct val="150000"/>
              </a:lnSpc>
              <a:spcBef>
                <a:spcPts val="0"/>
              </a:spcBef>
              <a:spcAft>
                <a:spcPts val="0"/>
              </a:spcAft>
              <a:buClr>
                <a:srgbClr val="595959"/>
              </a:buClr>
              <a:buSzPts val="1200"/>
              <a:buFont typeface="Play"/>
              <a:buNone/>
            </a:pPr>
            <a:endParaRPr sz="1100" dirty="0">
              <a:solidFill>
                <a:schemeClr val="dk1"/>
              </a:solidFill>
              <a:latin typeface="Inter" panose="020B0604020202020204" charset="0"/>
              <a:ea typeface="Inter" panose="020B0604020202020204" charset="0"/>
              <a:cs typeface="Inter"/>
              <a:sym typeface="Inter"/>
            </a:endParaRPr>
          </a:p>
        </p:txBody>
      </p:sp>
      <p:sp>
        <p:nvSpPr>
          <p:cNvPr id="66" name="Google Shape;66;p4"/>
          <p:cNvSpPr/>
          <p:nvPr/>
        </p:nvSpPr>
        <p:spPr>
          <a:xfrm rot="-5400000">
            <a:off x="6701672" y="540005"/>
            <a:ext cx="1004186" cy="1880872"/>
          </a:xfrm>
          <a:prstGeom prst="round2SameRect">
            <a:avLst>
              <a:gd name="adj1" fmla="val 0"/>
              <a:gd name="adj2" fmla="val 0"/>
            </a:avLst>
          </a:prstGeom>
          <a:solidFill>
            <a:srgbClr val="007367"/>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dirty="0">
              <a:solidFill>
                <a:schemeClr val="lt1"/>
              </a:solidFill>
              <a:latin typeface="Play"/>
              <a:ea typeface="Play"/>
              <a:cs typeface="Play"/>
              <a:sym typeface="Play"/>
            </a:endParaRPr>
          </a:p>
        </p:txBody>
      </p:sp>
      <p:sp>
        <p:nvSpPr>
          <p:cNvPr id="67" name="Google Shape;67;p4"/>
          <p:cNvSpPr/>
          <p:nvPr/>
        </p:nvSpPr>
        <p:spPr>
          <a:xfrm>
            <a:off x="8116172" y="984237"/>
            <a:ext cx="3082832" cy="1004186"/>
          </a:xfrm>
          <a:prstGeom prst="roundRect">
            <a:avLst>
              <a:gd name="adj" fmla="val 0"/>
            </a:avLst>
          </a:prstGeom>
          <a:solidFill>
            <a:schemeClr val="lt1"/>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Play"/>
              <a:ea typeface="Play"/>
              <a:cs typeface="Play"/>
              <a:sym typeface="Play"/>
            </a:endParaRPr>
          </a:p>
        </p:txBody>
      </p:sp>
      <p:sp>
        <p:nvSpPr>
          <p:cNvPr id="68" name="Google Shape;68;p4"/>
          <p:cNvSpPr txBox="1"/>
          <p:nvPr/>
        </p:nvSpPr>
        <p:spPr>
          <a:xfrm>
            <a:off x="6517449" y="984237"/>
            <a:ext cx="1388641" cy="349962"/>
          </a:xfrm>
          <a:prstGeom prst="rect">
            <a:avLst/>
          </a:prstGeom>
          <a:no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Clr>
                <a:schemeClr val="lt1"/>
              </a:buClr>
              <a:buSzPts val="1400"/>
              <a:buFont typeface="Play"/>
              <a:buNone/>
            </a:pPr>
            <a:r>
              <a:rPr lang="en-US" dirty="0">
                <a:solidFill>
                  <a:schemeClr val="lt1"/>
                </a:solidFill>
                <a:latin typeface="Inter"/>
                <a:ea typeface="Inter"/>
                <a:cs typeface="Inter"/>
                <a:sym typeface="Inter"/>
              </a:rPr>
              <a:t>Evaluation Metrics Misalignment</a:t>
            </a:r>
            <a:endParaRPr sz="1800" dirty="0">
              <a:solidFill>
                <a:schemeClr val="lt1"/>
              </a:solidFill>
              <a:latin typeface="Inter"/>
              <a:ea typeface="Inter"/>
              <a:cs typeface="Inter"/>
              <a:sym typeface="Inter"/>
            </a:endParaRPr>
          </a:p>
        </p:txBody>
      </p:sp>
      <p:sp>
        <p:nvSpPr>
          <p:cNvPr id="69" name="Google Shape;69;p4"/>
          <p:cNvSpPr txBox="1"/>
          <p:nvPr/>
        </p:nvSpPr>
        <p:spPr>
          <a:xfrm>
            <a:off x="8160210" y="963097"/>
            <a:ext cx="2858282" cy="617861"/>
          </a:xfrm>
          <a:prstGeom prst="rect">
            <a:avLst/>
          </a:prstGeom>
          <a:noFill/>
          <a:ln>
            <a:noFill/>
          </a:ln>
        </p:spPr>
        <p:txBody>
          <a:bodyPr spcFirstLastPara="1" wrap="square" lIns="91425" tIns="45700" rIns="91425" bIns="45700" anchor="t" anchorCtr="0">
            <a:noAutofit/>
          </a:bodyPr>
          <a:lstStyle/>
          <a:p>
            <a:pPr algn="just">
              <a:lnSpc>
                <a:spcPct val="150000"/>
              </a:lnSpc>
            </a:pPr>
            <a:r>
              <a:rPr lang="en-US" sz="1100" dirty="0">
                <a:latin typeface="Inter" panose="020B0604020202020204" charset="0"/>
                <a:ea typeface="Inter" panose="020B0604020202020204" charset="0"/>
              </a:rPr>
              <a:t>Metrics like RMSE or MAPE can vary significantly across models depending on the nature of predictions (e.g., scale, bias towards larger values).</a:t>
            </a:r>
          </a:p>
        </p:txBody>
      </p:sp>
      <p:sp>
        <p:nvSpPr>
          <p:cNvPr id="71" name="Google Shape;71;p4"/>
          <p:cNvSpPr/>
          <p:nvPr/>
        </p:nvSpPr>
        <p:spPr>
          <a:xfrm rot="-5400000">
            <a:off x="1301410" y="3140994"/>
            <a:ext cx="1004186" cy="1880872"/>
          </a:xfrm>
          <a:prstGeom prst="round2SameRect">
            <a:avLst>
              <a:gd name="adj1" fmla="val 0"/>
              <a:gd name="adj2" fmla="val 0"/>
            </a:avLst>
          </a:prstGeom>
          <a:solidFill>
            <a:srgbClr val="007367"/>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dirty="0">
              <a:solidFill>
                <a:schemeClr val="lt1"/>
              </a:solidFill>
              <a:latin typeface="Play"/>
              <a:ea typeface="Play"/>
              <a:cs typeface="Play"/>
              <a:sym typeface="Play"/>
            </a:endParaRPr>
          </a:p>
        </p:txBody>
      </p:sp>
      <p:sp>
        <p:nvSpPr>
          <p:cNvPr id="72" name="Google Shape;72;p4"/>
          <p:cNvSpPr/>
          <p:nvPr/>
        </p:nvSpPr>
        <p:spPr>
          <a:xfrm>
            <a:off x="2687881" y="3579708"/>
            <a:ext cx="3082832" cy="1004186"/>
          </a:xfrm>
          <a:prstGeom prst="roundRect">
            <a:avLst>
              <a:gd name="adj" fmla="val 0"/>
            </a:avLst>
          </a:prstGeom>
          <a:solidFill>
            <a:schemeClr val="lt1"/>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Play"/>
              <a:ea typeface="Play"/>
              <a:cs typeface="Play"/>
              <a:sym typeface="Play"/>
            </a:endParaRPr>
          </a:p>
        </p:txBody>
      </p:sp>
      <p:sp>
        <p:nvSpPr>
          <p:cNvPr id="73" name="Google Shape;73;p4"/>
          <p:cNvSpPr txBox="1"/>
          <p:nvPr/>
        </p:nvSpPr>
        <p:spPr>
          <a:xfrm>
            <a:off x="987807" y="3743552"/>
            <a:ext cx="1550896" cy="398161"/>
          </a:xfrm>
          <a:prstGeom prst="rect">
            <a:avLst/>
          </a:prstGeom>
          <a:no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Clr>
                <a:schemeClr val="lt1"/>
              </a:buClr>
              <a:buSzPts val="1400"/>
              <a:buFont typeface="Play"/>
              <a:buNone/>
            </a:pPr>
            <a:r>
              <a:rPr lang="en-US" dirty="0">
                <a:solidFill>
                  <a:schemeClr val="lt1"/>
                </a:solidFill>
                <a:latin typeface="Inter"/>
                <a:ea typeface="Inter"/>
                <a:cs typeface="Inter"/>
                <a:sym typeface="Inter"/>
              </a:rPr>
              <a:t>Dataset Characteristics</a:t>
            </a:r>
            <a:endParaRPr sz="1800" dirty="0">
              <a:solidFill>
                <a:schemeClr val="lt1"/>
              </a:solidFill>
              <a:latin typeface="Inter"/>
              <a:ea typeface="Inter"/>
              <a:cs typeface="Inter"/>
              <a:sym typeface="Inter"/>
            </a:endParaRPr>
          </a:p>
        </p:txBody>
      </p:sp>
      <p:sp>
        <p:nvSpPr>
          <p:cNvPr id="74" name="Google Shape;74;p4"/>
          <p:cNvSpPr txBox="1"/>
          <p:nvPr/>
        </p:nvSpPr>
        <p:spPr>
          <a:xfrm>
            <a:off x="2687880" y="3607771"/>
            <a:ext cx="3027533" cy="777856"/>
          </a:xfrm>
          <a:prstGeom prst="rect">
            <a:avLst/>
          </a:prstGeom>
          <a:noFill/>
          <a:ln>
            <a:noFill/>
          </a:ln>
        </p:spPr>
        <p:txBody>
          <a:bodyPr spcFirstLastPara="1" wrap="square" lIns="91425" tIns="45700" rIns="91425" bIns="45700" anchor="t" anchorCtr="0">
            <a:noAutofit/>
          </a:bodyPr>
          <a:lstStyle/>
          <a:p>
            <a:pPr algn="just">
              <a:lnSpc>
                <a:spcPct val="150000"/>
              </a:lnSpc>
            </a:pPr>
            <a:r>
              <a:rPr lang="en-US" sz="1100" dirty="0">
                <a:latin typeface="Inter" panose="020B0604020202020204" charset="0"/>
                <a:ea typeface="Inter" panose="020B0604020202020204" charset="0"/>
              </a:rPr>
              <a:t>Stock market data often contains noise, non-stationarity, and sudden jumps (due to market events). </a:t>
            </a:r>
          </a:p>
        </p:txBody>
      </p:sp>
      <p:sp>
        <p:nvSpPr>
          <p:cNvPr id="76" name="Google Shape;76;p4"/>
          <p:cNvSpPr/>
          <p:nvPr/>
        </p:nvSpPr>
        <p:spPr>
          <a:xfrm rot="-5400000">
            <a:off x="6673642" y="3141365"/>
            <a:ext cx="1004186" cy="1880872"/>
          </a:xfrm>
          <a:prstGeom prst="round2SameRect">
            <a:avLst>
              <a:gd name="adj1" fmla="val 0"/>
              <a:gd name="adj2" fmla="val 0"/>
            </a:avLst>
          </a:prstGeom>
          <a:solidFill>
            <a:srgbClr val="007367"/>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Play"/>
              <a:ea typeface="Play"/>
              <a:cs typeface="Play"/>
              <a:sym typeface="Play"/>
            </a:endParaRPr>
          </a:p>
        </p:txBody>
      </p:sp>
      <p:sp>
        <p:nvSpPr>
          <p:cNvPr id="77" name="Google Shape;77;p4"/>
          <p:cNvSpPr/>
          <p:nvPr/>
        </p:nvSpPr>
        <p:spPr>
          <a:xfrm>
            <a:off x="8116172" y="3579708"/>
            <a:ext cx="3082832" cy="1004186"/>
          </a:xfrm>
          <a:prstGeom prst="roundRect">
            <a:avLst>
              <a:gd name="adj" fmla="val 0"/>
            </a:avLst>
          </a:prstGeom>
          <a:solidFill>
            <a:schemeClr val="lt1"/>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Play"/>
              <a:ea typeface="Play"/>
              <a:cs typeface="Play"/>
              <a:sym typeface="Play"/>
            </a:endParaRPr>
          </a:p>
        </p:txBody>
      </p:sp>
      <p:sp>
        <p:nvSpPr>
          <p:cNvPr id="78" name="Google Shape;78;p4"/>
          <p:cNvSpPr txBox="1"/>
          <p:nvPr/>
        </p:nvSpPr>
        <p:spPr>
          <a:xfrm>
            <a:off x="6542861" y="3740412"/>
            <a:ext cx="1285987" cy="349968"/>
          </a:xfrm>
          <a:prstGeom prst="rect">
            <a:avLst/>
          </a:prstGeom>
          <a:no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Clr>
                <a:schemeClr val="lt1"/>
              </a:buClr>
              <a:buSzPts val="1400"/>
              <a:buFont typeface="Play"/>
              <a:buNone/>
            </a:pPr>
            <a:r>
              <a:rPr lang="en-US" dirty="0">
                <a:solidFill>
                  <a:schemeClr val="lt1"/>
                </a:solidFill>
                <a:latin typeface="Inter"/>
                <a:ea typeface="Inter"/>
                <a:cs typeface="Inter"/>
                <a:sym typeface="Inter"/>
              </a:rPr>
              <a:t>Integration Issues</a:t>
            </a:r>
            <a:endParaRPr sz="1800" dirty="0">
              <a:solidFill>
                <a:schemeClr val="lt1"/>
              </a:solidFill>
              <a:latin typeface="Inter"/>
              <a:ea typeface="Inter"/>
              <a:cs typeface="Inter"/>
              <a:sym typeface="Inter"/>
            </a:endParaRPr>
          </a:p>
        </p:txBody>
      </p:sp>
      <p:sp>
        <p:nvSpPr>
          <p:cNvPr id="79" name="Google Shape;79;p4"/>
          <p:cNvSpPr txBox="1"/>
          <p:nvPr/>
        </p:nvSpPr>
        <p:spPr>
          <a:xfrm>
            <a:off x="8116171" y="3523852"/>
            <a:ext cx="3058412" cy="617861"/>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595959"/>
              </a:buClr>
              <a:buSzPts val="1200"/>
              <a:buFont typeface="Play"/>
              <a:buNone/>
            </a:pPr>
            <a:r>
              <a:rPr lang="en-US" sz="1100" dirty="0">
                <a:latin typeface="Inter" panose="020B0604020202020204" charset="0"/>
                <a:ea typeface="Inter" panose="020B0604020202020204" charset="0"/>
              </a:rPr>
              <a:t>Implementing certain models like CNN 3D or Bi-LSTM might introduce errors due to improper data preprocessing or feature extraction.</a:t>
            </a:r>
            <a:endParaRPr sz="1100" dirty="0">
              <a:solidFill>
                <a:schemeClr val="dk1"/>
              </a:solidFill>
              <a:latin typeface="Inter" panose="020B0604020202020204" charset="0"/>
              <a:ea typeface="Inter" panose="020B0604020202020204" charset="0"/>
              <a:cs typeface="Inter"/>
              <a:sym typeface="Inter"/>
            </a:endParaRPr>
          </a:p>
        </p:txBody>
      </p:sp>
      <p:sp>
        <p:nvSpPr>
          <p:cNvPr id="81" name="Google Shape;81;p4"/>
          <p:cNvSpPr/>
          <p:nvPr/>
        </p:nvSpPr>
        <p:spPr>
          <a:xfrm rot="-5400000">
            <a:off x="1245351" y="1843631"/>
            <a:ext cx="1004186" cy="1880872"/>
          </a:xfrm>
          <a:prstGeom prst="round2SameRect">
            <a:avLst>
              <a:gd name="adj1" fmla="val 0"/>
              <a:gd name="adj2" fmla="val 0"/>
            </a:avLst>
          </a:prstGeom>
          <a:solidFill>
            <a:srgbClr val="007367"/>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dirty="0">
              <a:solidFill>
                <a:schemeClr val="lt1"/>
              </a:solidFill>
              <a:latin typeface="Play"/>
              <a:ea typeface="Play"/>
              <a:cs typeface="Play"/>
              <a:sym typeface="Play"/>
            </a:endParaRPr>
          </a:p>
        </p:txBody>
      </p:sp>
      <p:sp>
        <p:nvSpPr>
          <p:cNvPr id="82" name="Google Shape;82;p4"/>
          <p:cNvSpPr/>
          <p:nvPr/>
        </p:nvSpPr>
        <p:spPr>
          <a:xfrm>
            <a:off x="2687881" y="2281973"/>
            <a:ext cx="3082832" cy="1004186"/>
          </a:xfrm>
          <a:prstGeom prst="roundRect">
            <a:avLst>
              <a:gd name="adj" fmla="val 0"/>
            </a:avLst>
          </a:prstGeom>
          <a:solidFill>
            <a:schemeClr val="lt1"/>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Play"/>
              <a:ea typeface="Play"/>
              <a:cs typeface="Play"/>
              <a:sym typeface="Play"/>
            </a:endParaRPr>
          </a:p>
        </p:txBody>
      </p:sp>
      <p:sp>
        <p:nvSpPr>
          <p:cNvPr id="86" name="Google Shape;86;p4"/>
          <p:cNvSpPr txBox="1"/>
          <p:nvPr/>
        </p:nvSpPr>
        <p:spPr>
          <a:xfrm>
            <a:off x="870148" y="2456867"/>
            <a:ext cx="1723088" cy="398167"/>
          </a:xfrm>
          <a:prstGeom prst="rect">
            <a:avLst/>
          </a:prstGeom>
          <a:no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Clr>
                <a:schemeClr val="lt1"/>
              </a:buClr>
              <a:buSzPts val="1400"/>
              <a:buFont typeface="Play"/>
              <a:buNone/>
            </a:pPr>
            <a:r>
              <a:rPr lang="en-US" dirty="0">
                <a:solidFill>
                  <a:schemeClr val="lt1"/>
                </a:solidFill>
                <a:latin typeface="Inter"/>
                <a:ea typeface="Inter"/>
                <a:cs typeface="Inter"/>
                <a:sym typeface="Inter"/>
              </a:rPr>
              <a:t>Hyperparameter Tuning</a:t>
            </a:r>
            <a:endParaRPr sz="1800" dirty="0">
              <a:solidFill>
                <a:schemeClr val="lt1"/>
              </a:solidFill>
              <a:latin typeface="Inter"/>
              <a:ea typeface="Inter"/>
              <a:cs typeface="Inter"/>
              <a:sym typeface="Inter"/>
            </a:endParaRPr>
          </a:p>
        </p:txBody>
      </p:sp>
      <p:sp>
        <p:nvSpPr>
          <p:cNvPr id="87" name="Google Shape;87;p4"/>
          <p:cNvSpPr txBox="1"/>
          <p:nvPr/>
        </p:nvSpPr>
        <p:spPr>
          <a:xfrm>
            <a:off x="2727973" y="2347021"/>
            <a:ext cx="2772180" cy="617861"/>
          </a:xfrm>
          <a:prstGeom prst="rect">
            <a:avLst/>
          </a:prstGeom>
          <a:noFill/>
          <a:ln>
            <a:noFill/>
          </a:ln>
        </p:spPr>
        <p:txBody>
          <a:bodyPr spcFirstLastPara="1" wrap="square" lIns="91425" tIns="45700" rIns="91425" bIns="45700" anchor="t" anchorCtr="0">
            <a:noAutofit/>
          </a:bodyPr>
          <a:lstStyle/>
          <a:p>
            <a:pPr algn="just">
              <a:lnSpc>
                <a:spcPct val="150000"/>
              </a:lnSpc>
            </a:pPr>
            <a:r>
              <a:rPr lang="en-US" sz="1100" dirty="0">
                <a:latin typeface="Inter" panose="020B0604020202020204" charset="0"/>
                <a:ea typeface="Inter" panose="020B0604020202020204" charset="0"/>
              </a:rPr>
              <a:t>Some models are sensitive to hyperparameter choices like learning rate, batch size, and number of layers.</a:t>
            </a:r>
          </a:p>
        </p:txBody>
      </p:sp>
      <p:sp>
        <p:nvSpPr>
          <p:cNvPr id="89" name="Google Shape;89;p4"/>
          <p:cNvSpPr/>
          <p:nvPr/>
        </p:nvSpPr>
        <p:spPr>
          <a:xfrm rot="-5400000">
            <a:off x="6710113" y="1820109"/>
            <a:ext cx="1004186" cy="1880872"/>
          </a:xfrm>
          <a:prstGeom prst="round2SameRect">
            <a:avLst>
              <a:gd name="adj1" fmla="val 1799"/>
              <a:gd name="adj2" fmla="val 0"/>
            </a:avLst>
          </a:prstGeom>
          <a:solidFill>
            <a:srgbClr val="007367"/>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dirty="0">
              <a:solidFill>
                <a:schemeClr val="lt1"/>
              </a:solidFill>
              <a:latin typeface="Play"/>
              <a:ea typeface="Play"/>
              <a:cs typeface="Play"/>
              <a:sym typeface="Play"/>
            </a:endParaRPr>
          </a:p>
        </p:txBody>
      </p:sp>
      <p:sp>
        <p:nvSpPr>
          <p:cNvPr id="90" name="Google Shape;90;p4"/>
          <p:cNvSpPr/>
          <p:nvPr/>
        </p:nvSpPr>
        <p:spPr>
          <a:xfrm>
            <a:off x="8103961" y="2264341"/>
            <a:ext cx="3082832" cy="1004186"/>
          </a:xfrm>
          <a:prstGeom prst="roundRect">
            <a:avLst>
              <a:gd name="adj" fmla="val 0"/>
            </a:avLst>
          </a:prstGeom>
          <a:solidFill>
            <a:schemeClr val="lt1"/>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Play"/>
              <a:ea typeface="Play"/>
              <a:cs typeface="Play"/>
              <a:sym typeface="Play"/>
            </a:endParaRPr>
          </a:p>
        </p:txBody>
      </p:sp>
      <p:sp>
        <p:nvSpPr>
          <p:cNvPr id="91" name="Google Shape;91;p4"/>
          <p:cNvSpPr txBox="1"/>
          <p:nvPr/>
        </p:nvSpPr>
        <p:spPr>
          <a:xfrm>
            <a:off x="6655197" y="2585561"/>
            <a:ext cx="1285987" cy="349968"/>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Clr>
                <a:schemeClr val="lt1"/>
              </a:buClr>
              <a:buSzPts val="1400"/>
              <a:buFont typeface="Play"/>
              <a:buNone/>
            </a:pPr>
            <a:r>
              <a:rPr lang="en-US" sz="1400" dirty="0">
                <a:solidFill>
                  <a:schemeClr val="lt1"/>
                </a:solidFill>
                <a:latin typeface="Inter"/>
                <a:ea typeface="Inter"/>
                <a:cs typeface="Inter"/>
                <a:sym typeface="Inter"/>
              </a:rPr>
              <a:t>Overfitting</a:t>
            </a:r>
            <a:endParaRPr sz="1800" dirty="0">
              <a:solidFill>
                <a:schemeClr val="lt1"/>
              </a:solidFill>
              <a:latin typeface="Inter"/>
              <a:ea typeface="Inter"/>
              <a:cs typeface="Inter"/>
              <a:sym typeface="Inter"/>
            </a:endParaRPr>
          </a:p>
        </p:txBody>
      </p:sp>
      <p:sp>
        <p:nvSpPr>
          <p:cNvPr id="92" name="Google Shape;92;p4"/>
          <p:cNvSpPr txBox="1"/>
          <p:nvPr/>
        </p:nvSpPr>
        <p:spPr>
          <a:xfrm>
            <a:off x="8116171" y="2296838"/>
            <a:ext cx="3033991" cy="767580"/>
          </a:xfrm>
          <a:prstGeom prst="rect">
            <a:avLst/>
          </a:prstGeom>
          <a:noFill/>
          <a:ln>
            <a:noFill/>
          </a:ln>
        </p:spPr>
        <p:txBody>
          <a:bodyPr spcFirstLastPara="1" wrap="square" lIns="91425" tIns="45700" rIns="91425" bIns="45700" anchor="t" anchorCtr="0">
            <a:noAutofit/>
          </a:bodyPr>
          <a:lstStyle/>
          <a:p>
            <a:pPr algn="just">
              <a:lnSpc>
                <a:spcPct val="150000"/>
              </a:lnSpc>
            </a:pPr>
            <a:r>
              <a:rPr lang="en-US" sz="1100" dirty="0">
                <a:latin typeface="Inter" panose="020B0604020202020204" charset="0"/>
                <a:ea typeface="Inter" panose="020B0604020202020204" charset="0"/>
              </a:rPr>
              <a:t>Complex models might overfit the training data, resulting in poor generalization and high errors on the test set.</a:t>
            </a:r>
          </a:p>
        </p:txBody>
      </p:sp>
      <p:sp>
        <p:nvSpPr>
          <p:cNvPr id="4" name="Google Shape;61;p4">
            <a:extLst>
              <a:ext uri="{FF2B5EF4-FFF2-40B4-BE49-F238E27FC236}">
                <a16:creationId xmlns:a16="http://schemas.microsoft.com/office/drawing/2014/main" id="{1F30439B-8DA4-1AB7-C40E-3C38B151C280}"/>
              </a:ext>
            </a:extLst>
          </p:cNvPr>
          <p:cNvSpPr/>
          <p:nvPr/>
        </p:nvSpPr>
        <p:spPr>
          <a:xfrm rot="-5400000">
            <a:off x="1293792" y="4449376"/>
            <a:ext cx="1004186" cy="1880872"/>
          </a:xfrm>
          <a:prstGeom prst="round2SameRect">
            <a:avLst>
              <a:gd name="adj1" fmla="val 0"/>
              <a:gd name="adj2" fmla="val 0"/>
            </a:avLst>
          </a:prstGeom>
          <a:solidFill>
            <a:srgbClr val="007367"/>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Play"/>
              <a:ea typeface="Play"/>
              <a:cs typeface="Play"/>
              <a:sym typeface="Play"/>
            </a:endParaRPr>
          </a:p>
        </p:txBody>
      </p:sp>
      <p:sp>
        <p:nvSpPr>
          <p:cNvPr id="5" name="Google Shape;62;p4">
            <a:extLst>
              <a:ext uri="{FF2B5EF4-FFF2-40B4-BE49-F238E27FC236}">
                <a16:creationId xmlns:a16="http://schemas.microsoft.com/office/drawing/2014/main" id="{6BB48CE6-FB64-166E-C947-D1D3F44D7F7B}"/>
              </a:ext>
            </a:extLst>
          </p:cNvPr>
          <p:cNvSpPr/>
          <p:nvPr/>
        </p:nvSpPr>
        <p:spPr>
          <a:xfrm>
            <a:off x="2687881" y="4895074"/>
            <a:ext cx="3082832" cy="1004186"/>
          </a:xfrm>
          <a:prstGeom prst="roundRect">
            <a:avLst>
              <a:gd name="adj" fmla="val 0"/>
            </a:avLst>
          </a:prstGeom>
          <a:solidFill>
            <a:schemeClr val="lt1"/>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dirty="0">
              <a:solidFill>
                <a:schemeClr val="lt1"/>
              </a:solidFill>
              <a:latin typeface="Play"/>
              <a:ea typeface="Play"/>
              <a:cs typeface="Play"/>
              <a:sym typeface="Play"/>
            </a:endParaRPr>
          </a:p>
        </p:txBody>
      </p:sp>
      <p:sp>
        <p:nvSpPr>
          <p:cNvPr id="6" name="Google Shape;63;p4">
            <a:extLst>
              <a:ext uri="{FF2B5EF4-FFF2-40B4-BE49-F238E27FC236}">
                <a16:creationId xmlns:a16="http://schemas.microsoft.com/office/drawing/2014/main" id="{C4CA8F8E-483B-24AE-63D8-7DE90DE8B093}"/>
              </a:ext>
            </a:extLst>
          </p:cNvPr>
          <p:cNvSpPr txBox="1"/>
          <p:nvPr/>
        </p:nvSpPr>
        <p:spPr>
          <a:xfrm>
            <a:off x="1333515" y="5047199"/>
            <a:ext cx="1285987" cy="349968"/>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Clr>
                <a:schemeClr val="lt1"/>
              </a:buClr>
              <a:buSzPts val="1400"/>
              <a:buFont typeface="Play"/>
              <a:buNone/>
            </a:pPr>
            <a:r>
              <a:rPr lang="en-IN" dirty="0">
                <a:solidFill>
                  <a:schemeClr val="lt1"/>
                </a:solidFill>
                <a:latin typeface="Inter"/>
                <a:ea typeface="Inter"/>
                <a:cs typeface="Inter"/>
                <a:sym typeface="Inter"/>
              </a:rPr>
              <a:t>Training Duration</a:t>
            </a:r>
            <a:endParaRPr dirty="0">
              <a:solidFill>
                <a:schemeClr val="lt1"/>
              </a:solidFill>
              <a:latin typeface="Inter"/>
              <a:ea typeface="Inter"/>
              <a:cs typeface="Inter"/>
              <a:sym typeface="Inter"/>
            </a:endParaRPr>
          </a:p>
        </p:txBody>
      </p:sp>
      <p:sp>
        <p:nvSpPr>
          <p:cNvPr id="7" name="Google Shape;64;p4">
            <a:extLst>
              <a:ext uri="{FF2B5EF4-FFF2-40B4-BE49-F238E27FC236}">
                <a16:creationId xmlns:a16="http://schemas.microsoft.com/office/drawing/2014/main" id="{2ADA0434-2E7A-0F0A-A4C1-782056E79E2C}"/>
              </a:ext>
            </a:extLst>
          </p:cNvPr>
          <p:cNvSpPr txBox="1"/>
          <p:nvPr/>
        </p:nvSpPr>
        <p:spPr>
          <a:xfrm>
            <a:off x="2688639" y="4877442"/>
            <a:ext cx="3026774" cy="617861"/>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595959"/>
              </a:buClr>
              <a:buSzPts val="1200"/>
              <a:buFont typeface="Play"/>
              <a:buNone/>
            </a:pPr>
            <a:r>
              <a:rPr lang="en-US" sz="1100" dirty="0">
                <a:latin typeface="Inter" panose="020B0604020202020204" charset="0"/>
                <a:ea typeface="Inter" panose="020B0604020202020204" charset="0"/>
              </a:rPr>
              <a:t>Some complex models require substantial data and training time and if  trained on limited stock data or for a short time, they might underperform.</a:t>
            </a:r>
            <a:endParaRPr sz="1100" dirty="0">
              <a:solidFill>
                <a:schemeClr val="dk1"/>
              </a:solidFill>
              <a:latin typeface="Inter" panose="020B0604020202020204" charset="0"/>
              <a:ea typeface="Inter" panose="020B0604020202020204" charset="0"/>
              <a:cs typeface="Inter"/>
              <a:sym typeface="Inter"/>
            </a:endParaRPr>
          </a:p>
        </p:txBody>
      </p:sp>
      <p:sp>
        <p:nvSpPr>
          <p:cNvPr id="9" name="Google Shape;66;p4">
            <a:extLst>
              <a:ext uri="{FF2B5EF4-FFF2-40B4-BE49-F238E27FC236}">
                <a16:creationId xmlns:a16="http://schemas.microsoft.com/office/drawing/2014/main" id="{D6753642-FB1B-BBB3-9586-03712073BB49}"/>
              </a:ext>
            </a:extLst>
          </p:cNvPr>
          <p:cNvSpPr/>
          <p:nvPr/>
        </p:nvSpPr>
        <p:spPr>
          <a:xfrm rot="-5400000">
            <a:off x="6673642" y="4456732"/>
            <a:ext cx="1004186" cy="1880872"/>
          </a:xfrm>
          <a:prstGeom prst="round2SameRect">
            <a:avLst>
              <a:gd name="adj1" fmla="val 0"/>
              <a:gd name="adj2" fmla="val 0"/>
            </a:avLst>
          </a:prstGeom>
          <a:solidFill>
            <a:srgbClr val="007367"/>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Play"/>
              <a:ea typeface="Play"/>
              <a:cs typeface="Play"/>
              <a:sym typeface="Play"/>
            </a:endParaRPr>
          </a:p>
        </p:txBody>
      </p:sp>
      <p:sp>
        <p:nvSpPr>
          <p:cNvPr id="10" name="Google Shape;67;p4">
            <a:extLst>
              <a:ext uri="{FF2B5EF4-FFF2-40B4-BE49-F238E27FC236}">
                <a16:creationId xmlns:a16="http://schemas.microsoft.com/office/drawing/2014/main" id="{9AAA593D-F411-A068-89C3-12E002CEB04F}"/>
              </a:ext>
            </a:extLst>
          </p:cNvPr>
          <p:cNvSpPr/>
          <p:nvPr/>
        </p:nvSpPr>
        <p:spPr>
          <a:xfrm>
            <a:off x="8116172" y="4895074"/>
            <a:ext cx="3082832" cy="1004186"/>
          </a:xfrm>
          <a:prstGeom prst="roundRect">
            <a:avLst>
              <a:gd name="adj" fmla="val 0"/>
            </a:avLst>
          </a:prstGeom>
          <a:solidFill>
            <a:schemeClr val="lt1"/>
          </a:solidFill>
          <a:ln>
            <a:noFill/>
          </a:ln>
          <a:effectLst>
            <a:outerShdw blurRad="419100" dist="419100" dir="5400000" algn="t" rotWithShape="0">
              <a:srgbClr val="000000">
                <a:alpha val="352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Play"/>
              <a:ea typeface="Play"/>
              <a:cs typeface="Play"/>
              <a:sym typeface="Play"/>
            </a:endParaRPr>
          </a:p>
        </p:txBody>
      </p:sp>
      <p:sp>
        <p:nvSpPr>
          <p:cNvPr id="11" name="Google Shape;68;p4">
            <a:extLst>
              <a:ext uri="{FF2B5EF4-FFF2-40B4-BE49-F238E27FC236}">
                <a16:creationId xmlns:a16="http://schemas.microsoft.com/office/drawing/2014/main" id="{515A2065-1FE4-0BB1-C087-543344121317}"/>
              </a:ext>
            </a:extLst>
          </p:cNvPr>
          <p:cNvSpPr txBox="1"/>
          <p:nvPr/>
        </p:nvSpPr>
        <p:spPr>
          <a:xfrm>
            <a:off x="6560772" y="4909990"/>
            <a:ext cx="1285987" cy="349968"/>
          </a:xfrm>
          <a:prstGeom prst="rect">
            <a:avLst/>
          </a:prstGeom>
          <a:noFill/>
          <a:ln>
            <a:noFill/>
          </a:ln>
        </p:spPr>
        <p:txBody>
          <a:bodyPr spcFirstLastPara="1" wrap="square" lIns="91425" tIns="45700" rIns="91425" bIns="45700" anchor="t" anchorCtr="0">
            <a:noAutofit/>
          </a:bodyPr>
          <a:lstStyle/>
          <a:p>
            <a:pPr marL="0" marR="0" lvl="0" indent="0" algn="ctr" rtl="0">
              <a:lnSpc>
                <a:spcPct val="130000"/>
              </a:lnSpc>
              <a:spcBef>
                <a:spcPts val="0"/>
              </a:spcBef>
              <a:spcAft>
                <a:spcPts val="0"/>
              </a:spcAft>
              <a:buClr>
                <a:schemeClr val="lt1"/>
              </a:buClr>
              <a:buSzPts val="1400"/>
              <a:buFont typeface="Play"/>
              <a:buNone/>
            </a:pPr>
            <a:r>
              <a:rPr lang="en-IN" dirty="0">
                <a:solidFill>
                  <a:schemeClr val="lt1"/>
                </a:solidFill>
                <a:latin typeface="Inter"/>
                <a:ea typeface="Inter"/>
                <a:cs typeface="Inter"/>
                <a:sym typeface="Inter"/>
              </a:rPr>
              <a:t>Model Architecture Adjustments</a:t>
            </a:r>
            <a:endParaRPr dirty="0">
              <a:solidFill>
                <a:schemeClr val="lt1"/>
              </a:solidFill>
              <a:latin typeface="Inter"/>
              <a:ea typeface="Inter"/>
              <a:cs typeface="Inter"/>
              <a:sym typeface="Inter"/>
            </a:endParaRPr>
          </a:p>
        </p:txBody>
      </p:sp>
      <p:sp>
        <p:nvSpPr>
          <p:cNvPr id="12" name="Google Shape;69;p4">
            <a:extLst>
              <a:ext uri="{FF2B5EF4-FFF2-40B4-BE49-F238E27FC236}">
                <a16:creationId xmlns:a16="http://schemas.microsoft.com/office/drawing/2014/main" id="{1220A335-7518-7BEE-97E8-A27C08808AAD}"/>
              </a:ext>
            </a:extLst>
          </p:cNvPr>
          <p:cNvSpPr txBox="1"/>
          <p:nvPr/>
        </p:nvSpPr>
        <p:spPr>
          <a:xfrm>
            <a:off x="8172230" y="4923137"/>
            <a:ext cx="3026773" cy="617861"/>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rgbClr val="595959"/>
              </a:buClr>
              <a:buSzPts val="1200"/>
              <a:buFont typeface="Play"/>
              <a:buNone/>
            </a:pPr>
            <a:r>
              <a:rPr lang="en-US" sz="1100" dirty="0">
                <a:latin typeface="Inter" panose="020B0604020202020204" charset="0"/>
                <a:ea typeface="Inter" panose="020B0604020202020204" charset="0"/>
              </a:rPr>
              <a:t>Some models may require architectural tweaks to better adapt to stock market data.</a:t>
            </a:r>
            <a:endParaRPr sz="1100" dirty="0">
              <a:solidFill>
                <a:schemeClr val="dk1"/>
              </a:solidFill>
              <a:latin typeface="Inter" panose="020B0604020202020204" charset="0"/>
              <a:ea typeface="Inter" panose="020B0604020202020204" charset="0"/>
              <a:cs typeface="Inter"/>
              <a:sym typeface="Inter"/>
            </a:endParaRPr>
          </a:p>
        </p:txBody>
      </p:sp>
      <p:pic>
        <p:nvPicPr>
          <p:cNvPr id="32" name="Google Shape;11;p6">
            <a:extLst>
              <a:ext uri="{FF2B5EF4-FFF2-40B4-BE49-F238E27FC236}">
                <a16:creationId xmlns:a16="http://schemas.microsoft.com/office/drawing/2014/main" id="{6A46AE08-F3FE-A859-EF63-4C0DA5A6E519}"/>
              </a:ext>
            </a:extLst>
          </p:cNvPr>
          <p:cNvPicPr preferRelativeResize="0"/>
          <p:nvPr/>
        </p:nvPicPr>
        <p:blipFill rotWithShape="1">
          <a:blip r:embed="rId3">
            <a:alphaModFix/>
          </a:blip>
          <a:srcRect/>
          <a:stretch/>
        </p:blipFill>
        <p:spPr>
          <a:xfrm>
            <a:off x="10859781" y="6332369"/>
            <a:ext cx="1256427" cy="534202"/>
          </a:xfrm>
          <a:prstGeom prst="rect">
            <a:avLst/>
          </a:prstGeom>
          <a:noFill/>
          <a:ln>
            <a:noFill/>
          </a:ln>
        </p:spPr>
      </p:pic>
      <p:sp>
        <p:nvSpPr>
          <p:cNvPr id="33" name="Google Shape;10;p6">
            <a:extLst>
              <a:ext uri="{FF2B5EF4-FFF2-40B4-BE49-F238E27FC236}">
                <a16:creationId xmlns:a16="http://schemas.microsoft.com/office/drawing/2014/main" id="{CAC62FF9-DD5D-F01E-ECE6-EBE03EA0B329}"/>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5"/>
          <p:cNvSpPr txBox="1"/>
          <p:nvPr/>
        </p:nvSpPr>
        <p:spPr>
          <a:xfrm>
            <a:off x="707572" y="3001566"/>
            <a:ext cx="4706257" cy="8617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000" b="1">
                <a:solidFill>
                  <a:srgbClr val="007367"/>
                </a:solidFill>
                <a:latin typeface="Inter"/>
                <a:ea typeface="Inter"/>
                <a:cs typeface="Inter"/>
                <a:sym typeface="Inter"/>
              </a:rPr>
              <a:t>Thank You</a:t>
            </a:r>
            <a:endParaRPr>
              <a:latin typeface="Inter"/>
              <a:ea typeface="Inter"/>
              <a:cs typeface="Inter"/>
              <a:sym typeface="Inter"/>
            </a:endParaRPr>
          </a:p>
        </p:txBody>
      </p:sp>
      <p:sp>
        <p:nvSpPr>
          <p:cNvPr id="124" name="Google Shape;124;p5"/>
          <p:cNvSpPr/>
          <p:nvPr/>
        </p:nvSpPr>
        <p:spPr>
          <a:xfrm>
            <a:off x="10692817" y="360212"/>
            <a:ext cx="284482" cy="28448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23672"/>
              </a:solidFill>
              <a:latin typeface="Play"/>
              <a:ea typeface="Play"/>
              <a:cs typeface="Play"/>
              <a:sym typeface="Play"/>
            </a:endParaRPr>
          </a:p>
        </p:txBody>
      </p:sp>
      <p:sp>
        <p:nvSpPr>
          <p:cNvPr id="125" name="Google Shape;125;p5"/>
          <p:cNvSpPr/>
          <p:nvPr/>
        </p:nvSpPr>
        <p:spPr>
          <a:xfrm>
            <a:off x="10755442" y="423468"/>
            <a:ext cx="159232" cy="157970"/>
          </a:xfrm>
          <a:custGeom>
            <a:avLst/>
            <a:gdLst/>
            <a:ahLst/>
            <a:cxnLst/>
            <a:rect l="l" t="t" r="r" b="b"/>
            <a:pathLst>
              <a:path w="444" h="443" extrusionOk="0">
                <a:moveTo>
                  <a:pt x="257" y="257"/>
                </a:moveTo>
                <a:lnTo>
                  <a:pt x="257" y="257"/>
                </a:lnTo>
                <a:cubicBezTo>
                  <a:pt x="222" y="292"/>
                  <a:pt x="177" y="327"/>
                  <a:pt x="160" y="310"/>
                </a:cubicBezTo>
                <a:cubicBezTo>
                  <a:pt x="133" y="283"/>
                  <a:pt x="115" y="265"/>
                  <a:pt x="62" y="310"/>
                </a:cubicBezTo>
                <a:cubicBezTo>
                  <a:pt x="0" y="354"/>
                  <a:pt x="44" y="389"/>
                  <a:pt x="71" y="407"/>
                </a:cubicBezTo>
                <a:cubicBezTo>
                  <a:pt x="97" y="442"/>
                  <a:pt x="204" y="416"/>
                  <a:pt x="310" y="310"/>
                </a:cubicBezTo>
                <a:cubicBezTo>
                  <a:pt x="416" y="204"/>
                  <a:pt x="443" y="97"/>
                  <a:pt x="416" y="61"/>
                </a:cubicBezTo>
                <a:cubicBezTo>
                  <a:pt x="390" y="35"/>
                  <a:pt x="363" y="0"/>
                  <a:pt x="319" y="53"/>
                </a:cubicBezTo>
                <a:cubicBezTo>
                  <a:pt x="275" y="106"/>
                  <a:pt x="293" y="123"/>
                  <a:pt x="319" y="151"/>
                </a:cubicBezTo>
                <a:cubicBezTo>
                  <a:pt x="337" y="167"/>
                  <a:pt x="302" y="212"/>
                  <a:pt x="257" y="257"/>
                </a:cubicBezTo>
              </a:path>
            </a:pathLst>
          </a:custGeom>
          <a:solidFill>
            <a:srgbClr val="017069"/>
          </a:solidFill>
          <a:ln>
            <a:noFill/>
          </a:ln>
        </p:spPr>
        <p:txBody>
          <a:bodyPr spcFirstLastPara="1" wrap="square" lIns="34275" tIns="17125" rIns="34275" bIns="17125" anchor="ctr" anchorCtr="0">
            <a:noAutofit/>
          </a:bodyPr>
          <a:lstStyle/>
          <a:p>
            <a:pPr marL="0" marR="0" lvl="0" indent="0" algn="l" rtl="0">
              <a:spcBef>
                <a:spcPts val="0"/>
              </a:spcBef>
              <a:spcAft>
                <a:spcPts val="0"/>
              </a:spcAft>
              <a:buNone/>
            </a:pPr>
            <a:endParaRPr sz="1800">
              <a:solidFill>
                <a:srgbClr val="023672"/>
              </a:solidFill>
              <a:latin typeface="Play"/>
              <a:ea typeface="Play"/>
              <a:cs typeface="Play"/>
              <a:sym typeface="Play"/>
            </a:endParaRPr>
          </a:p>
        </p:txBody>
      </p:sp>
      <p:sp>
        <p:nvSpPr>
          <p:cNvPr id="126" name="Google Shape;126;p5"/>
          <p:cNvSpPr/>
          <p:nvPr/>
        </p:nvSpPr>
        <p:spPr>
          <a:xfrm>
            <a:off x="11108103" y="360212"/>
            <a:ext cx="284482" cy="28448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23672"/>
              </a:solidFill>
              <a:latin typeface="Play"/>
              <a:ea typeface="Play"/>
              <a:cs typeface="Play"/>
              <a:sym typeface="Play"/>
            </a:endParaRPr>
          </a:p>
        </p:txBody>
      </p:sp>
      <p:sp>
        <p:nvSpPr>
          <p:cNvPr id="127" name="Google Shape;127;p5"/>
          <p:cNvSpPr/>
          <p:nvPr/>
        </p:nvSpPr>
        <p:spPr>
          <a:xfrm>
            <a:off x="11173901" y="455187"/>
            <a:ext cx="152886" cy="94532"/>
          </a:xfrm>
          <a:custGeom>
            <a:avLst/>
            <a:gdLst/>
            <a:ahLst/>
            <a:cxnLst/>
            <a:rect l="l" t="t" r="r" b="b"/>
            <a:pathLst>
              <a:path w="461" h="285" extrusionOk="0">
                <a:moveTo>
                  <a:pt x="18" y="27"/>
                </a:moveTo>
                <a:lnTo>
                  <a:pt x="18" y="27"/>
                </a:lnTo>
                <a:cubicBezTo>
                  <a:pt x="35" y="35"/>
                  <a:pt x="203" y="125"/>
                  <a:pt x="203" y="125"/>
                </a:cubicBezTo>
                <a:cubicBezTo>
                  <a:pt x="212" y="133"/>
                  <a:pt x="221" y="133"/>
                  <a:pt x="231" y="133"/>
                </a:cubicBezTo>
                <a:cubicBezTo>
                  <a:pt x="239" y="133"/>
                  <a:pt x="248" y="133"/>
                  <a:pt x="248" y="125"/>
                </a:cubicBezTo>
                <a:cubicBezTo>
                  <a:pt x="256" y="125"/>
                  <a:pt x="425" y="35"/>
                  <a:pt x="434" y="27"/>
                </a:cubicBezTo>
                <a:cubicBezTo>
                  <a:pt x="452" y="18"/>
                  <a:pt x="460" y="0"/>
                  <a:pt x="443" y="0"/>
                </a:cubicBezTo>
                <a:cubicBezTo>
                  <a:pt x="18" y="0"/>
                  <a:pt x="18" y="0"/>
                  <a:pt x="18" y="0"/>
                </a:cubicBezTo>
                <a:cubicBezTo>
                  <a:pt x="0" y="0"/>
                  <a:pt x="9" y="18"/>
                  <a:pt x="18" y="27"/>
                </a:cubicBezTo>
                <a:close/>
                <a:moveTo>
                  <a:pt x="443" y="80"/>
                </a:moveTo>
                <a:lnTo>
                  <a:pt x="443" y="80"/>
                </a:lnTo>
                <a:cubicBezTo>
                  <a:pt x="434" y="80"/>
                  <a:pt x="256" y="169"/>
                  <a:pt x="248" y="178"/>
                </a:cubicBezTo>
                <a:cubicBezTo>
                  <a:pt x="248" y="178"/>
                  <a:pt x="239" y="178"/>
                  <a:pt x="231" y="178"/>
                </a:cubicBezTo>
                <a:cubicBezTo>
                  <a:pt x="221" y="178"/>
                  <a:pt x="212" y="178"/>
                  <a:pt x="203" y="178"/>
                </a:cubicBezTo>
                <a:cubicBezTo>
                  <a:pt x="194" y="169"/>
                  <a:pt x="27" y="80"/>
                  <a:pt x="18" y="80"/>
                </a:cubicBezTo>
                <a:cubicBezTo>
                  <a:pt x="9" y="72"/>
                  <a:pt x="9" y="80"/>
                  <a:pt x="9" y="80"/>
                </a:cubicBezTo>
                <a:cubicBezTo>
                  <a:pt x="9" y="88"/>
                  <a:pt x="9" y="266"/>
                  <a:pt x="9" y="266"/>
                </a:cubicBezTo>
                <a:cubicBezTo>
                  <a:pt x="9" y="275"/>
                  <a:pt x="18" y="284"/>
                  <a:pt x="35" y="284"/>
                </a:cubicBezTo>
                <a:cubicBezTo>
                  <a:pt x="425" y="284"/>
                  <a:pt x="425" y="284"/>
                  <a:pt x="425" y="284"/>
                </a:cubicBezTo>
                <a:cubicBezTo>
                  <a:pt x="443" y="284"/>
                  <a:pt x="452" y="275"/>
                  <a:pt x="452" y="266"/>
                </a:cubicBezTo>
                <a:cubicBezTo>
                  <a:pt x="452" y="266"/>
                  <a:pt x="452" y="88"/>
                  <a:pt x="452" y="80"/>
                </a:cubicBezTo>
                <a:cubicBezTo>
                  <a:pt x="452" y="80"/>
                  <a:pt x="452" y="72"/>
                  <a:pt x="443" y="80"/>
                </a:cubicBezTo>
                <a:close/>
              </a:path>
            </a:pathLst>
          </a:custGeom>
          <a:solidFill>
            <a:srgbClr val="017069"/>
          </a:solidFill>
          <a:ln>
            <a:noFill/>
          </a:ln>
        </p:spPr>
        <p:txBody>
          <a:bodyPr spcFirstLastPara="1" wrap="square" lIns="34275" tIns="17125" rIns="34275" bIns="17125" anchor="ctr" anchorCtr="0">
            <a:noAutofit/>
          </a:bodyPr>
          <a:lstStyle/>
          <a:p>
            <a:pPr marL="0" marR="0" lvl="0" indent="0" algn="l" rtl="0">
              <a:spcBef>
                <a:spcPts val="0"/>
              </a:spcBef>
              <a:spcAft>
                <a:spcPts val="0"/>
              </a:spcAft>
              <a:buNone/>
            </a:pPr>
            <a:endParaRPr sz="1800">
              <a:solidFill>
                <a:srgbClr val="023672"/>
              </a:solidFill>
              <a:latin typeface="Play"/>
              <a:ea typeface="Play"/>
              <a:cs typeface="Play"/>
              <a:sym typeface="Play"/>
            </a:endParaRPr>
          </a:p>
        </p:txBody>
      </p:sp>
      <p:sp>
        <p:nvSpPr>
          <p:cNvPr id="128" name="Google Shape;128;p5"/>
          <p:cNvSpPr/>
          <p:nvPr/>
        </p:nvSpPr>
        <p:spPr>
          <a:xfrm>
            <a:off x="11523389" y="360212"/>
            <a:ext cx="284482" cy="28448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23672"/>
              </a:solidFill>
              <a:latin typeface="Play"/>
              <a:ea typeface="Play"/>
              <a:cs typeface="Play"/>
              <a:sym typeface="Play"/>
            </a:endParaRPr>
          </a:p>
        </p:txBody>
      </p:sp>
      <p:sp>
        <p:nvSpPr>
          <p:cNvPr id="129" name="Google Shape;129;p5"/>
          <p:cNvSpPr/>
          <p:nvPr/>
        </p:nvSpPr>
        <p:spPr>
          <a:xfrm>
            <a:off x="11624228" y="414630"/>
            <a:ext cx="82804" cy="175646"/>
          </a:xfrm>
          <a:custGeom>
            <a:avLst/>
            <a:gdLst/>
            <a:ahLst/>
            <a:cxnLst/>
            <a:rect l="l" t="t" r="r" b="b"/>
            <a:pathLst>
              <a:path w="232" h="498" extrusionOk="0">
                <a:moveTo>
                  <a:pt x="178" y="0"/>
                </a:moveTo>
                <a:lnTo>
                  <a:pt x="178" y="0"/>
                </a:lnTo>
                <a:cubicBezTo>
                  <a:pt x="213" y="0"/>
                  <a:pt x="222" y="27"/>
                  <a:pt x="222" y="53"/>
                </a:cubicBezTo>
                <a:cubicBezTo>
                  <a:pt x="222" y="80"/>
                  <a:pt x="196" y="115"/>
                  <a:pt x="160" y="115"/>
                </a:cubicBezTo>
                <a:cubicBezTo>
                  <a:pt x="125" y="115"/>
                  <a:pt x="107" y="97"/>
                  <a:pt x="107" y="62"/>
                </a:cubicBezTo>
                <a:cubicBezTo>
                  <a:pt x="107" y="35"/>
                  <a:pt x="134" y="0"/>
                  <a:pt x="178" y="0"/>
                </a:cubicBezTo>
                <a:close/>
                <a:moveTo>
                  <a:pt x="72" y="497"/>
                </a:moveTo>
                <a:lnTo>
                  <a:pt x="72" y="497"/>
                </a:lnTo>
                <a:cubicBezTo>
                  <a:pt x="45" y="497"/>
                  <a:pt x="28" y="478"/>
                  <a:pt x="45" y="407"/>
                </a:cubicBezTo>
                <a:cubicBezTo>
                  <a:pt x="81" y="284"/>
                  <a:pt x="81" y="284"/>
                  <a:pt x="81" y="284"/>
                </a:cubicBezTo>
                <a:cubicBezTo>
                  <a:pt x="81" y="266"/>
                  <a:pt x="81" y="257"/>
                  <a:pt x="81" y="257"/>
                </a:cubicBezTo>
                <a:cubicBezTo>
                  <a:pt x="72" y="257"/>
                  <a:pt x="37" y="275"/>
                  <a:pt x="19" y="284"/>
                </a:cubicBezTo>
                <a:cubicBezTo>
                  <a:pt x="0" y="266"/>
                  <a:pt x="0" y="266"/>
                  <a:pt x="0" y="266"/>
                </a:cubicBezTo>
                <a:cubicBezTo>
                  <a:pt x="63" y="213"/>
                  <a:pt x="143" y="178"/>
                  <a:pt x="169" y="178"/>
                </a:cubicBezTo>
                <a:cubicBezTo>
                  <a:pt x="196" y="178"/>
                  <a:pt x="205" y="213"/>
                  <a:pt x="187" y="257"/>
                </a:cubicBezTo>
                <a:cubicBezTo>
                  <a:pt x="151" y="390"/>
                  <a:pt x="151" y="390"/>
                  <a:pt x="151" y="390"/>
                </a:cubicBezTo>
                <a:cubicBezTo>
                  <a:pt x="151" y="416"/>
                  <a:pt x="151" y="425"/>
                  <a:pt x="160" y="425"/>
                </a:cubicBezTo>
                <a:cubicBezTo>
                  <a:pt x="160" y="425"/>
                  <a:pt x="187" y="407"/>
                  <a:pt x="213" y="390"/>
                </a:cubicBezTo>
                <a:cubicBezTo>
                  <a:pt x="231" y="407"/>
                  <a:pt x="231" y="407"/>
                  <a:pt x="231" y="407"/>
                </a:cubicBezTo>
                <a:cubicBezTo>
                  <a:pt x="169" y="478"/>
                  <a:pt x="98" y="497"/>
                  <a:pt x="72" y="497"/>
                </a:cubicBezTo>
                <a:close/>
              </a:path>
            </a:pathLst>
          </a:custGeom>
          <a:solidFill>
            <a:srgbClr val="017069"/>
          </a:solidFill>
          <a:ln>
            <a:noFill/>
          </a:ln>
        </p:spPr>
        <p:txBody>
          <a:bodyPr spcFirstLastPara="1" wrap="square" lIns="34275" tIns="17125" rIns="34275" bIns="17125" anchor="ctr" anchorCtr="0">
            <a:noAutofit/>
          </a:bodyPr>
          <a:lstStyle/>
          <a:p>
            <a:pPr marL="0" marR="0" lvl="0" indent="0" algn="l" rtl="0">
              <a:spcBef>
                <a:spcPts val="0"/>
              </a:spcBef>
              <a:spcAft>
                <a:spcPts val="0"/>
              </a:spcAft>
              <a:buNone/>
            </a:pPr>
            <a:endParaRPr sz="1800">
              <a:solidFill>
                <a:srgbClr val="023672"/>
              </a:solidFill>
              <a:latin typeface="Play"/>
              <a:ea typeface="Play"/>
              <a:cs typeface="Play"/>
              <a:sym typeface="Play"/>
            </a:endParaRPr>
          </a:p>
        </p:txBody>
      </p:sp>
      <p:sp>
        <p:nvSpPr>
          <p:cNvPr id="130" name="Google Shape;130;p5"/>
          <p:cNvSpPr/>
          <p:nvPr/>
        </p:nvSpPr>
        <p:spPr>
          <a:xfrm>
            <a:off x="783772" y="2945605"/>
            <a:ext cx="899884" cy="52507"/>
          </a:xfrm>
          <a:prstGeom prst="rect">
            <a:avLst/>
          </a:prstGeom>
          <a:solidFill>
            <a:srgbClr val="A582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 name="Google Shape;11;p6">
            <a:extLst>
              <a:ext uri="{FF2B5EF4-FFF2-40B4-BE49-F238E27FC236}">
                <a16:creationId xmlns:a16="http://schemas.microsoft.com/office/drawing/2014/main" id="{1B984D33-DB91-2C3C-15C7-0A14BA0B6925}"/>
              </a:ext>
            </a:extLst>
          </p:cNvPr>
          <p:cNvPicPr preferRelativeResize="0"/>
          <p:nvPr/>
        </p:nvPicPr>
        <p:blipFill rotWithShape="1">
          <a:blip r:embed="rId3">
            <a:alphaModFix/>
          </a:blip>
          <a:srcRect/>
          <a:stretch/>
        </p:blipFill>
        <p:spPr>
          <a:xfrm>
            <a:off x="9657588" y="5780138"/>
            <a:ext cx="2100001" cy="900000"/>
          </a:xfrm>
          <a:prstGeom prst="rect">
            <a:avLst/>
          </a:prstGeom>
          <a:noFill/>
          <a:ln>
            <a:noFill/>
          </a:ln>
        </p:spPr>
      </p:pic>
      <p:sp>
        <p:nvSpPr>
          <p:cNvPr id="4" name="Google Shape;10;p6">
            <a:extLst>
              <a:ext uri="{FF2B5EF4-FFF2-40B4-BE49-F238E27FC236}">
                <a16:creationId xmlns:a16="http://schemas.microsoft.com/office/drawing/2014/main" id="{8ACC8849-F157-6EF0-95EA-D95ED4DC82FE}"/>
              </a:ext>
            </a:extLst>
          </p:cNvPr>
          <p:cNvSpPr txBox="1"/>
          <p:nvPr/>
        </p:nvSpPr>
        <p:spPr>
          <a:xfrm>
            <a:off x="0" y="6526270"/>
            <a:ext cx="47898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b="0" i="0" u="none" strike="noStrike" cap="none" dirty="0" err="1">
                <a:solidFill>
                  <a:srgbClr val="7F7F7F"/>
                </a:solidFill>
                <a:latin typeface="Inter" panose="020B0604020202020204" charset="0"/>
                <a:ea typeface="Inter" panose="020B0604020202020204" charset="0"/>
                <a:cs typeface="Open Sans"/>
                <a:sym typeface="Open Sans"/>
              </a:rPr>
              <a:t>GSoT</a:t>
            </a:r>
            <a:r>
              <a:rPr lang="en-US" b="0" i="0" u="none" strike="noStrike" cap="none" dirty="0">
                <a:solidFill>
                  <a:srgbClr val="7F7F7F"/>
                </a:solidFill>
                <a:latin typeface="Inter" panose="020B0604020202020204" charset="0"/>
                <a:ea typeface="Inter" panose="020B0604020202020204" charset="0"/>
                <a:cs typeface="Open Sans"/>
                <a:sym typeface="Open Sans"/>
              </a:rPr>
              <a:t>, Computer Science &amp; Engineering</a:t>
            </a:r>
            <a:endParaRPr b="0" i="0" u="none" strike="noStrike" cap="none" dirty="0">
              <a:solidFill>
                <a:srgbClr val="7F7F7F"/>
              </a:solidFill>
              <a:latin typeface="Inter" panose="020B0604020202020204" charset="0"/>
              <a:ea typeface="Inter" panose="020B0604020202020204" charset="0"/>
              <a:cs typeface="Open Sans"/>
              <a:sym typeface="Open Sans"/>
            </a:endParaRPr>
          </a:p>
        </p:txBody>
      </p:sp>
    </p:spTree>
  </p:cSld>
  <p:clrMapOvr>
    <a:masterClrMapping/>
  </p:clrMapOvr>
</p:sld>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2082</TotalTime>
  <Words>4098</Words>
  <Application>Microsoft Office PowerPoint</Application>
  <PresentationFormat>Widescreen</PresentationFormat>
  <Paragraphs>453</Paragraphs>
  <Slides>30</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Inter</vt:lpstr>
      <vt:lpstr>Calibri</vt:lpstr>
      <vt:lpstr>Plus Jakarta Sans</vt:lpstr>
      <vt:lpstr>Play</vt:lpstr>
      <vt:lpstr>Open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GITAM</dc:creator>
  <cp:lastModifiedBy>SRI VAISHNAVI VASA</cp:lastModifiedBy>
  <cp:revision>12</cp:revision>
  <dcterms:created xsi:type="dcterms:W3CDTF">2022-05-23T07:15:42Z</dcterms:created>
  <dcterms:modified xsi:type="dcterms:W3CDTF">2025-01-23T23:55:35Z</dcterms:modified>
</cp:coreProperties>
</file>